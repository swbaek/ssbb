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x="9905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초기 THD</c:v>
                </c:pt>
              </c:strCache>
            </c:strRef>
          </c:tx>
          <c:spPr>
            <a:solidFill>
              <a:srgbClr val="757575"/>
            </a:solidFill>
            <a:ln w="22860">
              <a:solidFill>
                <a:srgbClr val="757575"/>
              </a:solidFill>
            </a:ln>
          </c:spPr>
          <c:marker>
            <c:symbol val="circle"/>
            <c:size val="4"/>
            <c:spPr>
              <a:solidFill>
                <a:srgbClr val="757575"/>
              </a:solidFill>
              <a:ln>
                <a:solidFill>
                  <a:srgbClr val="757575"/>
                </a:solidFill>
              </a:ln>
            </c:spPr>
          </c:marker>
          <c:cat>
            <c:strRef>
              <c:f>Sheet1!$A$2:$A$4</c:f>
              <c:strCache>
                <c:ptCount val="3"/>
                <c:pt idx="0">
                  <c:v>900</c:v>
                </c:pt>
                <c:pt idx="1">
                  <c:v>1100</c:v>
                </c:pt>
                <c:pt idx="2">
                  <c:v>1400</c:v>
                </c:pt>
              </c:strCache>
            </c:strRef>
          </c:cat>
          <c:val>
            <c:numRef>
              <c:f>Sheet1!$B$2:$B$4</c:f>
              <c:numCache>
                <c:formatCode>General</c:formatCode>
                <c:ptCount val="3"/>
                <c:pt idx="0">
                  <c:v>7.126820074230282</c:v>
                </c:pt>
                <c:pt idx="1">
                  <c:v>6.042265882750629</c:v>
                </c:pt>
                <c:pt idx="2">
                  <c:v>4.917690685440881</c:v>
                </c:pt>
              </c:numCache>
            </c:numRef>
          </c:val>
          <c:smooth val="0"/>
        </c:ser>
        <c:ser>
          <c:idx val="1"/>
          <c:order val="1"/>
          <c:tx>
            <c:strRef>
              <c:f>Sheet1!$C$1</c:f>
              <c:strCache>
                <c:ptCount val="1"/>
                <c:pt idx="0">
                  <c:v>잠정 한계</c:v>
                </c:pt>
              </c:strCache>
            </c:strRef>
          </c:tx>
          <c:spPr>
            <a:solidFill>
              <a:srgbClr val="C00000"/>
            </a:solidFill>
            <a:ln w="22860">
              <a:solidFill>
                <a:srgbClr val="C00000"/>
              </a:solidFill>
              <a:prstDash val="dash"/>
            </a:ln>
          </c:spPr>
          <c:marker>
            <c:symbol val="circle"/>
            <c:size val="4"/>
            <c:spPr>
              <a:solidFill>
                <a:srgbClr val="C00000"/>
              </a:solidFill>
              <a:ln>
                <a:solidFill>
                  <a:srgbClr val="C00000"/>
                </a:solidFill>
              </a:ln>
            </c:spPr>
          </c:marker>
          <c:cat>
            <c:strRef>
              <c:f>Sheet1!$A$2:$A$4</c:f>
              <c:strCache>
                <c:ptCount val="3"/>
                <c:pt idx="0">
                  <c:v>900</c:v>
                </c:pt>
                <c:pt idx="1">
                  <c:v>1100</c:v>
                </c:pt>
                <c:pt idx="2">
                  <c:v>1400</c:v>
                </c:pt>
              </c:strCache>
            </c:strRef>
          </c:cat>
          <c:val>
            <c:numRef>
              <c:f>Sheet1!$C$2:$C$4</c:f>
              <c:numCache>
                <c:formatCode>General</c:formatCode>
                <c:ptCount val="3"/>
                <c:pt idx="0">
                  <c:v>5.0</c:v>
                </c:pt>
                <c:pt idx="1">
                  <c:v>5.0</c:v>
                </c:pt>
                <c:pt idx="2">
                  <c:v>5.0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noMultiLvlLbl val="0"/>
      </c:catAx>
      <c:valAx>
        <c:axId val="2140495176"/>
        <c:scaling>
          <c:max val="8.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majorUnit val="2.0"/>
      </c:valAx>
    </c:plotArea>
    <c:legend>
      <c:legendPos val="b"/>
      <c:layout/>
      <c:overlay val="0"/>
      <c:txPr>
        <a:bodyPr/>
        <a:lstStyle/>
        <a:p>
          <a:pPr>
            <a:defRPr sz="1000">
              <a:latin typeface="Malgun Gothic"/>
            </a:defRPr>
          </a:pPr>
        </a:p>
      </c:txPr>
    </c:legend>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THD</c:v>
                </c:pt>
              </c:strCache>
            </c:strRef>
          </c:tx>
          <c:spPr>
            <a:solidFill>
              <a:srgbClr val="008000"/>
            </a:solidFill>
            <a:ln w="22860">
              <a:solidFill>
                <a:srgbClr val="008000"/>
              </a:solidFill>
            </a:ln>
          </c:spPr>
          <c:cat>
            <c:strRef>
              <c:f>Sheet1!$A$2:$A$6</c:f>
              <c:strCache>
                <c:ptCount val="5"/>
                <c:pt idx="0">
                  <c:v>잔류오차
제거</c:v>
                </c:pt>
                <c:pt idx="1">
                  <c:v>초기</c:v>
                </c:pt>
                <c:pt idx="2">
                  <c:v>3차</c:v>
                </c:pt>
                <c:pt idx="3">
                  <c:v>3+5차</c:v>
                </c:pt>
                <c:pt idx="4">
                  <c:v>3+5+7차</c:v>
                </c:pt>
              </c:strCache>
            </c:strRef>
          </c:cat>
          <c:val>
            <c:numRef>
              <c:f>Sheet1!$B$2:$B$6</c:f>
              <c:numCache>
                <c:formatCode>General</c:formatCode>
                <c:ptCount val="5"/>
                <c:pt idx="0">
                  <c:v>0.0370653243693966</c:v>
                </c:pt>
                <c:pt idx="1">
                  <c:v>7.13133933497705</c:v>
                </c:pt>
                <c:pt idx="2">
                  <c:v>4.51316756105128</c:v>
                </c:pt>
                <c:pt idx="3">
                  <c:v>3.37612596631458</c:v>
                </c:pt>
                <c:pt idx="4">
                  <c:v>2.77321081406975</c:v>
                </c:pt>
              </c:numCache>
            </c:numRef>
          </c:val>
        </c:ser>
        <c:dLbls>
          <c:numFmt formatCode="0.00" sourceLinked="0"/>
          <c:txPr>
            <a:bodyPr/>
            <a:lstStyle/>
            <a:p>
              <a:pPr>
                <a:defRPr sz="1000">
                  <a:latin typeface="Malgun Gothic"/>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13994440"/>
        <c:crosses val="autoZero"/>
        <c:auto val="1"/>
        <c:lblAlgn val="ctr"/>
        <c:lblOffset val="100"/>
        <c:noMultiLvlLbl val="0"/>
      </c:catAx>
      <c:valAx>
        <c:axId val="-2113994440"/>
        <c:scaling>
          <c:max val="8.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068027336"/>
        <c:crosses val="autoZero"/>
        <c:majorUnit val="2.0"/>
      </c:valAx>
    </c:plotArea>
    <c:dispBlanksAs val="gap"/>
  </c:chart>
  <c:txPr>
    <a:bodyPr/>
    <a:lstStyle/>
    <a:p>
      <a:pPr>
        <a:defRPr sz="1000">
          <a:latin typeface="Malgun Gothic"/>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초기</c:v>
                </c:pt>
              </c:strCache>
            </c:strRef>
          </c:tx>
          <c:spPr>
            <a:solidFill>
              <a:srgbClr val="757575"/>
            </a:solidFill>
            <a:ln w="22860">
              <a:solidFill>
                <a:srgbClr val="757575"/>
              </a:solidFill>
            </a:ln>
          </c:spPr>
          <c:marker>
            <c:symbol val="circle"/>
            <c:size val="4"/>
            <c:spPr>
              <a:solidFill>
                <a:srgbClr val="757575"/>
              </a:solidFill>
              <a:ln>
                <a:solidFill>
                  <a:srgbClr val="757575"/>
                </a:solidFill>
              </a:ln>
            </c:spPr>
          </c:marker>
          <c:cat>
            <c:strRef>
              <c:f>Sheet1!$A$2:$A$8</c:f>
              <c:strCache>
                <c:ptCount val="7"/>
                <c:pt idx="0">
                  <c:v>-90</c:v>
                </c:pt>
                <c:pt idx="1">
                  <c:v>-60</c:v>
                </c:pt>
                <c:pt idx="2">
                  <c:v>-30</c:v>
                </c:pt>
                <c:pt idx="3">
                  <c:v>0</c:v>
                </c:pt>
                <c:pt idx="4">
                  <c:v>30</c:v>
                </c:pt>
                <c:pt idx="5">
                  <c:v>60</c:v>
                </c:pt>
                <c:pt idx="6">
                  <c:v>90</c:v>
                </c:pt>
              </c:strCache>
            </c:strRef>
          </c:cat>
          <c:val>
            <c:numRef>
              <c:f>Sheet1!$B$2:$B$8</c:f>
              <c:numCache>
                <c:formatCode>General</c:formatCode>
                <c:ptCount val="7"/>
                <c:pt idx="0">
                  <c:v>7.13944200160555</c:v>
                </c:pt>
                <c:pt idx="1">
                  <c:v>7.12962312442978</c:v>
                </c:pt>
                <c:pt idx="2">
                  <c:v>7.15006360083798</c:v>
                </c:pt>
                <c:pt idx="3">
                  <c:v>7.13133933497705</c:v>
                </c:pt>
                <c:pt idx="4">
                  <c:v>7.13150878375903</c:v>
                </c:pt>
                <c:pt idx="5">
                  <c:v>7.14505152596995</c:v>
                </c:pt>
                <c:pt idx="6">
                  <c:v>7.14455586505626</c:v>
                </c:pt>
              </c:numCache>
            </c:numRef>
          </c:val>
          <c:smooth val="0"/>
        </c:ser>
        <c:ser>
          <c:idx val="1"/>
          <c:order val="1"/>
          <c:tx>
            <c:strRef>
              <c:f>Sheet1!$C$1</c:f>
              <c:strCache>
                <c:ptCount val="1"/>
                <c:pt idx="0">
                  <c:v>개선</c:v>
                </c:pt>
              </c:strCache>
            </c:strRef>
          </c:tx>
          <c:spPr>
            <a:solidFill>
              <a:srgbClr val="008000"/>
            </a:solidFill>
            <a:ln w="22860">
              <a:solidFill>
                <a:srgbClr val="008000"/>
              </a:solidFill>
            </a:ln>
          </c:spPr>
          <c:marker>
            <c:symbol val="circle"/>
            <c:size val="4"/>
            <c:spPr>
              <a:solidFill>
                <a:srgbClr val="008000"/>
              </a:solidFill>
              <a:ln>
                <a:solidFill>
                  <a:srgbClr val="008000"/>
                </a:solidFill>
              </a:ln>
            </c:spPr>
          </c:marker>
          <c:cat>
            <c:strRef>
              <c:f>Sheet1!$A$2:$A$8</c:f>
              <c:strCache>
                <c:ptCount val="7"/>
                <c:pt idx="0">
                  <c:v>-90</c:v>
                </c:pt>
                <c:pt idx="1">
                  <c:v>-60</c:v>
                </c:pt>
                <c:pt idx="2">
                  <c:v>-30</c:v>
                </c:pt>
                <c:pt idx="3">
                  <c:v>0</c:v>
                </c:pt>
                <c:pt idx="4">
                  <c:v>30</c:v>
                </c:pt>
                <c:pt idx="5">
                  <c:v>60</c:v>
                </c:pt>
                <c:pt idx="6">
                  <c:v>90</c:v>
                </c:pt>
              </c:strCache>
            </c:strRef>
          </c:cat>
          <c:val>
            <c:numRef>
              <c:f>Sheet1!$C$2:$C$8</c:f>
              <c:numCache>
                <c:formatCode>General</c:formatCode>
                <c:ptCount val="7"/>
                <c:pt idx="0">
                  <c:v>2.77533929067815</c:v>
                </c:pt>
                <c:pt idx="1">
                  <c:v>2.76198393476361</c:v>
                </c:pt>
                <c:pt idx="2">
                  <c:v>2.75977401594336</c:v>
                </c:pt>
                <c:pt idx="3">
                  <c:v>2.77321081406975</c:v>
                </c:pt>
                <c:pt idx="4">
                  <c:v>2.75979652398156</c:v>
                </c:pt>
                <c:pt idx="5">
                  <c:v>2.7589035196612</c:v>
                </c:pt>
                <c:pt idx="6">
                  <c:v>2.77541873316332</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noMultiLvlLbl val="0"/>
      </c:catAx>
      <c:valAx>
        <c:axId val="2140495176"/>
        <c:scaling>
          <c:max val="9.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majorUnit val="3.0"/>
      </c:valAx>
    </c:plotArea>
    <c:legend>
      <c:legendPos val="b"/>
      <c:layout/>
      <c:overlay val="0"/>
      <c:txPr>
        <a:bodyPr/>
        <a:lstStyle/>
        <a:p>
          <a:pPr>
            <a:defRPr sz="1000">
              <a:latin typeface="Malgun Gothic"/>
            </a:defRPr>
          </a:pPr>
        </a:p>
      </c:txPr>
    </c:legend>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평균 THD</c:v>
                </c:pt>
              </c:strCache>
            </c:strRef>
          </c:tx>
          <c:spPr>
            <a:solidFill>
              <a:srgbClr val="008000"/>
            </a:solidFill>
            <a:ln w="22860">
              <a:solidFill>
                <a:srgbClr val="008000"/>
              </a:solidFill>
            </a:ln>
          </c:spPr>
          <c:marker>
            <c:symbol val="circle"/>
            <c:size val="4"/>
            <c:spPr>
              <a:solidFill>
                <a:srgbClr val="008000"/>
              </a:solidFill>
              <a:ln>
                <a:solidFill>
                  <a:srgbClr val="008000"/>
                </a:solidFill>
              </a:ln>
            </c:spPr>
          </c:marker>
          <c:cat>
            <c:strRef>
              <c:f>Sheet1!$A$2:$A$4</c:f>
              <c:strCache>
                <c:ptCount val="3"/>
                <c:pt idx="0">
                  <c:v>8</c:v>
                </c:pt>
                <c:pt idx="1">
                  <c:v>16</c:v>
                </c:pt>
                <c:pt idx="2">
                  <c:v>24</c:v>
                </c:pt>
              </c:strCache>
            </c:strRef>
          </c:cat>
          <c:val>
            <c:numRef>
              <c:f>Sheet1!$B$2:$B$4</c:f>
              <c:numCache>
                <c:formatCode>General</c:formatCode>
                <c:ptCount val="3"/>
                <c:pt idx="0">
                  <c:v>3.85482681336832</c:v>
                </c:pt>
                <c:pt idx="1">
                  <c:v>3.3182231195528</c:v>
                </c:pt>
                <c:pt idx="2">
                  <c:v>3.12056636256032</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noMultiLvlLbl val="0"/>
      </c:catAx>
      <c:valAx>
        <c:axId val="2140495176"/>
        <c:scaling>
          <c:max val="5.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majorUnit val="1.0"/>
      </c:valAx>
    </c:plotArea>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평균 THD</c:v>
                </c:pt>
              </c:strCache>
            </c:strRef>
          </c:tx>
          <c:spPr>
            <a:solidFill>
              <a:srgbClr val="008000"/>
            </a:solidFill>
            <a:ln w="22860">
              <a:solidFill>
                <a:srgbClr val="008000"/>
              </a:solidFill>
            </a:ln>
          </c:spPr>
          <c:marker>
            <c:symbol val="circle"/>
            <c:size val="4"/>
            <c:spPr>
              <a:solidFill>
                <a:srgbClr val="008000"/>
              </a:solidFill>
              <a:ln>
                <a:solidFill>
                  <a:srgbClr val="008000"/>
                </a:solidFill>
              </a:ln>
            </c:spPr>
          </c:marker>
          <c:cat>
            <c:strRef>
              <c:f>Sheet1!$A$2:$A$4</c:f>
              <c:strCache>
                <c:ptCount val="3"/>
                <c:pt idx="0">
                  <c:v>2</c:v>
                </c:pt>
                <c:pt idx="1">
                  <c:v>5</c:v>
                </c:pt>
                <c:pt idx="2">
                  <c:v>10</c:v>
                </c:pt>
              </c:strCache>
            </c:strRef>
          </c:cat>
          <c:val>
            <c:numRef>
              <c:f>Sheet1!$B$2:$B$4</c:f>
              <c:numCache>
                <c:formatCode>General</c:formatCode>
                <c:ptCount val="3"/>
                <c:pt idx="0">
                  <c:v>3.40418812363917</c:v>
                </c:pt>
                <c:pt idx="1">
                  <c:v>3.44072701924574</c:v>
                </c:pt>
                <c:pt idx="2">
                  <c:v>3.44870115259653</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noMultiLvlLbl val="0"/>
      </c:catAx>
      <c:valAx>
        <c:axId val="2140495176"/>
        <c:scaling>
          <c:max val="5.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majorUnit val="1.0"/>
      </c:valAx>
    </c:plotArea>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평균 THD</c:v>
                </c:pt>
              </c:strCache>
            </c:strRef>
          </c:tx>
          <c:spPr>
            <a:solidFill>
              <a:srgbClr val="008000"/>
            </a:solidFill>
            <a:ln w="22860">
              <a:solidFill>
                <a:srgbClr val="008000"/>
              </a:solidFill>
            </a:ln>
          </c:spPr>
          <c:marker>
            <c:symbol val="circle"/>
            <c:size val="4"/>
            <c:spPr>
              <a:solidFill>
                <a:srgbClr val="008000"/>
              </a:solidFill>
              <a:ln>
                <a:solidFill>
                  <a:srgbClr val="008000"/>
                </a:solidFill>
              </a:ln>
            </c:spPr>
          </c:marker>
          <c:cat>
            <c:strRef>
              <c:f>Sheet1!$A$2:$A$4</c:f>
              <c:strCache>
                <c:ptCount val="3"/>
                <c:pt idx="0">
                  <c:v>3</c:v>
                </c:pt>
                <c:pt idx="1">
                  <c:v>3,5</c:v>
                </c:pt>
                <c:pt idx="2">
                  <c:v>3,5,7</c:v>
                </c:pt>
              </c:strCache>
            </c:strRef>
          </c:cat>
          <c:val>
            <c:numRef>
              <c:f>Sheet1!$B$2:$B$4</c:f>
              <c:numCache>
                <c:formatCode>General</c:formatCode>
                <c:ptCount val="3"/>
                <c:pt idx="0">
                  <c:v>4.1023699231732</c:v>
                </c:pt>
                <c:pt idx="1">
                  <c:v>3.30234524276234</c:v>
                </c:pt>
                <c:pt idx="2">
                  <c:v>2.8889011295459</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noMultiLvlLbl val="0"/>
      </c:catAx>
      <c:valAx>
        <c:axId val="2140495176"/>
        <c:scaling>
          <c:max val="5.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majorUnit val="1.0"/>
      </c:valAx>
    </c:plotArea>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3차</c:v>
                </c:pt>
              </c:strCache>
            </c:strRef>
          </c:tx>
          <c:spPr>
            <a:solidFill>
              <a:srgbClr val="0056A6"/>
            </a:solidFill>
            <a:ln w="22860">
              <a:solidFill>
                <a:srgbClr val="0056A6"/>
              </a:solidFill>
            </a:ln>
          </c:spPr>
          <c:marker>
            <c:symbol val="circle"/>
            <c:size val="4"/>
            <c:spPr>
              <a:solidFill>
                <a:srgbClr val="0056A6"/>
              </a:solidFill>
              <a:ln>
                <a:solidFill>
                  <a:srgbClr val="0056A6"/>
                </a:solidFill>
              </a:ln>
            </c:spPr>
          </c:marker>
          <c:cat>
            <c:strRef>
              <c:f>Sheet1!$A$2:$A$4</c:f>
              <c:strCache>
                <c:ptCount val="3"/>
                <c:pt idx="0">
                  <c:v>8</c:v>
                </c:pt>
                <c:pt idx="1">
                  <c:v>16</c:v>
                </c:pt>
                <c:pt idx="2">
                  <c:v>24</c:v>
                </c:pt>
              </c:strCache>
            </c:strRef>
          </c:cat>
          <c:val>
            <c:numRef>
              <c:f>Sheet1!$B$2:$B$4</c:f>
              <c:numCache>
                <c:formatCode>General</c:formatCode>
                <c:ptCount val="3"/>
                <c:pt idx="0">
                  <c:v>4.373884595949543</c:v>
                </c:pt>
                <c:pt idx="1">
                  <c:v>4.027953426413076</c:v>
                </c:pt>
                <c:pt idx="2">
                  <c:v>3.905271747156971</c:v>
                </c:pt>
              </c:numCache>
            </c:numRef>
          </c:val>
          <c:smooth val="0"/>
        </c:ser>
        <c:ser>
          <c:idx val="1"/>
          <c:order val="1"/>
          <c:tx>
            <c:strRef>
              <c:f>Sheet1!$C$1</c:f>
              <c:strCache>
                <c:ptCount val="1"/>
                <c:pt idx="0">
                  <c:v>3·5차</c:v>
                </c:pt>
              </c:strCache>
            </c:strRef>
          </c:tx>
          <c:spPr>
            <a:solidFill>
              <a:srgbClr val="C00000"/>
            </a:solidFill>
            <a:ln w="22860">
              <a:solidFill>
                <a:srgbClr val="C00000"/>
              </a:solidFill>
            </a:ln>
          </c:spPr>
          <c:marker>
            <c:symbol val="circle"/>
            <c:size val="4"/>
            <c:spPr>
              <a:solidFill>
                <a:srgbClr val="C00000"/>
              </a:solidFill>
              <a:ln>
                <a:solidFill>
                  <a:srgbClr val="C00000"/>
                </a:solidFill>
              </a:ln>
            </c:spPr>
          </c:marker>
          <c:cat>
            <c:strRef>
              <c:f>Sheet1!$A$2:$A$4</c:f>
              <c:strCache>
                <c:ptCount val="3"/>
                <c:pt idx="0">
                  <c:v>8</c:v>
                </c:pt>
                <c:pt idx="1">
                  <c:v>16</c:v>
                </c:pt>
                <c:pt idx="2">
                  <c:v>24</c:v>
                </c:pt>
              </c:strCache>
            </c:strRef>
          </c:cat>
          <c:val>
            <c:numRef>
              <c:f>Sheet1!$C$2:$C$4</c:f>
              <c:numCache>
                <c:formatCode>General</c:formatCode>
                <c:ptCount val="3"/>
                <c:pt idx="0">
                  <c:v>3.742232836556666</c:v>
                </c:pt>
                <c:pt idx="1">
                  <c:v>3.1833308571535586</c:v>
                </c:pt>
                <c:pt idx="2">
                  <c:v>2.981472034576789</c:v>
                </c:pt>
              </c:numCache>
            </c:numRef>
          </c:val>
          <c:smooth val="0"/>
        </c:ser>
        <c:ser>
          <c:idx val="2"/>
          <c:order val="2"/>
          <c:tx>
            <c:strRef>
              <c:f>Sheet1!$D$1</c:f>
              <c:strCache>
                <c:ptCount val="1"/>
                <c:pt idx="0">
                  <c:v>3·5·7차</c:v>
                </c:pt>
              </c:strCache>
            </c:strRef>
          </c:tx>
          <c:spPr>
            <a:solidFill>
              <a:srgbClr val="008000"/>
            </a:solidFill>
            <a:ln w="22860">
              <a:solidFill>
                <a:srgbClr val="008000"/>
              </a:solidFill>
            </a:ln>
          </c:spPr>
          <c:marker>
            <c:symbol val="circle"/>
            <c:size val="4"/>
            <c:spPr>
              <a:solidFill>
                <a:srgbClr val="008000"/>
              </a:solidFill>
              <a:ln>
                <a:solidFill>
                  <a:srgbClr val="008000"/>
                </a:solidFill>
              </a:ln>
            </c:spPr>
          </c:marker>
          <c:cat>
            <c:strRef>
              <c:f>Sheet1!$A$2:$A$4</c:f>
              <c:strCache>
                <c:ptCount val="3"/>
                <c:pt idx="0">
                  <c:v>8</c:v>
                </c:pt>
                <c:pt idx="1">
                  <c:v>16</c:v>
                </c:pt>
                <c:pt idx="2">
                  <c:v>24</c:v>
                </c:pt>
              </c:strCache>
            </c:strRef>
          </c:cat>
          <c:val>
            <c:numRef>
              <c:f>Sheet1!$D$2:$D$4</c:f>
              <c:numCache>
                <c:formatCode>General</c:formatCode>
                <c:ptCount val="3"/>
                <c:pt idx="0">
                  <c:v>3.448363007598751</c:v>
                </c:pt>
                <c:pt idx="1">
                  <c:v>2.7433850750917657</c:v>
                </c:pt>
                <c:pt idx="2">
                  <c:v>2.474955305947193</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noMultiLvlLbl val="0"/>
      </c:catAx>
      <c:valAx>
        <c:axId val="2140495176"/>
        <c:scaling>
          <c:max val="4.6"/>
          <c:min val="2.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majorUnit val="0.5"/>
      </c:valAx>
    </c:plotArea>
    <c:legend>
      <c:legendPos val="b"/>
      <c:layout/>
      <c:overlay val="0"/>
      <c:txPr>
        <a:bodyPr/>
        <a:lstStyle/>
        <a:p>
          <a:pPr>
            <a:defRPr sz="1000">
              <a:latin typeface="Malgun Gothic"/>
            </a:defRPr>
          </a:pPr>
        </a:p>
      </c:txPr>
    </c:legend>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초기</c:v>
                </c:pt>
              </c:strCache>
            </c:strRef>
          </c:tx>
          <c:spPr>
            <a:solidFill>
              <a:srgbClr val="757575"/>
            </a:solidFill>
            <a:ln w="22860">
              <a:noFill/>
            </a:ln>
          </c:spPr>
          <c:marker>
            <c:symbol val="circle"/>
            <c:size val="4"/>
            <c:spPr>
              <a:solidFill>
                <a:srgbClr val="757575"/>
              </a:solidFill>
              <a:ln>
                <a:solidFill>
                  <a:srgbClr val="757575"/>
                </a:solidFill>
              </a:ln>
            </c:spPr>
          </c:marker>
          <c:cat>
            <c:strRef>
              <c:f>Sheet1!$A$2:$A$64</c:f>
              <c:strCache>
                <c:ptCount val="63"/>
                <c:pt idx="0">
                  <c:v>M001</c:v>
                </c:pt>
                <c:pt idx="1">
                  <c:v/>
                </c:pt>
                <c:pt idx="2">
                  <c:v/>
                </c:pt>
                <c:pt idx="3">
                  <c:v/>
                </c:pt>
                <c:pt idx="4">
                  <c:v/>
                </c:pt>
                <c:pt idx="5">
                  <c:v/>
                </c:pt>
                <c:pt idx="6">
                  <c:v/>
                </c:pt>
                <c:pt idx="7">
                  <c:v/>
                </c:pt>
                <c:pt idx="8">
                  <c:v/>
                </c:pt>
                <c:pt idx="9">
                  <c:v/>
                </c:pt>
                <c:pt idx="10">
                  <c:v/>
                </c:pt>
                <c:pt idx="11">
                  <c:v/>
                </c:pt>
                <c:pt idx="12">
                  <c:v/>
                </c:pt>
                <c:pt idx="13">
                  <c:v/>
                </c:pt>
                <c:pt idx="14">
                  <c:v>M015</c:v>
                </c:pt>
                <c:pt idx="15">
                  <c:v/>
                </c:pt>
                <c:pt idx="16">
                  <c:v/>
                </c:pt>
                <c:pt idx="17">
                  <c:v/>
                </c:pt>
                <c:pt idx="18">
                  <c:v/>
                </c:pt>
                <c:pt idx="19">
                  <c:v/>
                </c:pt>
                <c:pt idx="20">
                  <c:v/>
                </c:pt>
                <c:pt idx="21">
                  <c:v/>
                </c:pt>
                <c:pt idx="22">
                  <c:v/>
                </c:pt>
                <c:pt idx="23">
                  <c:v/>
                </c:pt>
                <c:pt idx="24">
                  <c:v/>
                </c:pt>
                <c:pt idx="25">
                  <c:v/>
                </c:pt>
                <c:pt idx="26">
                  <c:v/>
                </c:pt>
                <c:pt idx="27">
                  <c:v/>
                </c:pt>
                <c:pt idx="28">
                  <c:v>M029</c:v>
                </c:pt>
                <c:pt idx="29">
                  <c:v/>
                </c:pt>
                <c:pt idx="30">
                  <c:v/>
                </c:pt>
                <c:pt idx="31">
                  <c:v/>
                </c:pt>
                <c:pt idx="32">
                  <c:v/>
                </c:pt>
                <c:pt idx="33">
                  <c:v/>
                </c:pt>
                <c:pt idx="34">
                  <c:v/>
                </c:pt>
                <c:pt idx="35">
                  <c:v/>
                </c:pt>
                <c:pt idx="36">
                  <c:v/>
                </c:pt>
                <c:pt idx="37">
                  <c:v/>
                </c:pt>
                <c:pt idx="38">
                  <c:v/>
                </c:pt>
                <c:pt idx="39">
                  <c:v/>
                </c:pt>
                <c:pt idx="40">
                  <c:v/>
                </c:pt>
                <c:pt idx="41">
                  <c:v/>
                </c:pt>
                <c:pt idx="42">
                  <c:v>M043</c:v>
                </c:pt>
                <c:pt idx="43">
                  <c:v/>
                </c:pt>
                <c:pt idx="44">
                  <c:v/>
                </c:pt>
                <c:pt idx="45">
                  <c:v/>
                </c:pt>
                <c:pt idx="46">
                  <c:v/>
                </c:pt>
                <c:pt idx="47">
                  <c:v/>
                </c:pt>
                <c:pt idx="48">
                  <c:v/>
                </c:pt>
                <c:pt idx="49">
                  <c:v/>
                </c:pt>
                <c:pt idx="50">
                  <c:v/>
                </c:pt>
                <c:pt idx="51">
                  <c:v/>
                </c:pt>
                <c:pt idx="52">
                  <c:v/>
                </c:pt>
                <c:pt idx="53">
                  <c:v/>
                </c:pt>
                <c:pt idx="54">
                  <c:v/>
                </c:pt>
                <c:pt idx="55">
                  <c:v/>
                </c:pt>
                <c:pt idx="56">
                  <c:v>M057</c:v>
                </c:pt>
                <c:pt idx="57">
                  <c:v/>
                </c:pt>
                <c:pt idx="58">
                  <c:v/>
                </c:pt>
                <c:pt idx="59">
                  <c:v/>
                </c:pt>
                <c:pt idx="60">
                  <c:v/>
                </c:pt>
                <c:pt idx="61">
                  <c:v/>
                </c:pt>
                <c:pt idx="62">
                  <c:v>M063</c:v>
                </c:pt>
              </c:strCache>
            </c:strRef>
          </c:cat>
          <c:val>
            <c:numRef>
              <c:f>Sheet1!$B$2:$B$64</c:f>
              <c:numCache>
                <c:formatCode>General</c:formatCode>
                <c:ptCount val="63"/>
                <c:pt idx="0">
                  <c:v>6.55016814407474</c:v>
                </c:pt>
                <c:pt idx="1">
                  <c:v>6.54059962112837</c:v>
                </c:pt>
                <c:pt idx="2">
                  <c:v>6.55482418763374</c:v>
                </c:pt>
                <c:pt idx="3">
                  <c:v>6.55524949838582</c:v>
                </c:pt>
                <c:pt idx="4">
                  <c:v>6.54324279027394</c:v>
                </c:pt>
                <c:pt idx="5">
                  <c:v>6.5537022577299</c:v>
                </c:pt>
                <c:pt idx="6">
                  <c:v>6.5455534123368</c:v>
                </c:pt>
                <c:pt idx="7">
                  <c:v>5.53378358770886</c:v>
                </c:pt>
                <c:pt idx="8">
                  <c:v>5.52765576782505</c:v>
                </c:pt>
                <c:pt idx="9">
                  <c:v>5.52556831485591</c:v>
                </c:pt>
                <c:pt idx="10">
                  <c:v>5.5269483971024</c:v>
                </c:pt>
                <c:pt idx="11">
                  <c:v>5.52812625080309</c:v>
                </c:pt>
                <c:pt idx="12">
                  <c:v>5.52840759939389</c:v>
                </c:pt>
                <c:pt idx="13">
                  <c:v>5.53205599617835</c:v>
                </c:pt>
                <c:pt idx="14">
                  <c:v>4.47821028406578</c:v>
                </c:pt>
                <c:pt idx="15">
                  <c:v>4.48538744435274</c:v>
                </c:pt>
                <c:pt idx="16">
                  <c:v>4.48718514348673</c:v>
                </c:pt>
                <c:pt idx="17">
                  <c:v>4.47495154351131</c:v>
                </c:pt>
                <c:pt idx="18">
                  <c:v>4.48278526269548</c:v>
                </c:pt>
                <c:pt idx="19">
                  <c:v>4.48288764989211</c:v>
                </c:pt>
                <c:pt idx="20">
                  <c:v>4.47859072503636</c:v>
                </c:pt>
                <c:pt idx="21">
                  <c:v>7.13944200160555</c:v>
                </c:pt>
                <c:pt idx="22">
                  <c:v>7.12962312442978</c:v>
                </c:pt>
                <c:pt idx="23">
                  <c:v>7.15006360083798</c:v>
                </c:pt>
                <c:pt idx="24">
                  <c:v>7.13133933497705</c:v>
                </c:pt>
                <c:pt idx="25">
                  <c:v>7.13150878375903</c:v>
                </c:pt>
                <c:pt idx="26">
                  <c:v>7.14505152596995</c:v>
                </c:pt>
                <c:pt idx="27">
                  <c:v>7.14455586505626</c:v>
                </c:pt>
                <c:pt idx="28">
                  <c:v>6.0507854018006</c:v>
                </c:pt>
                <c:pt idx="29">
                  <c:v>6.05481695019936</c:v>
                </c:pt>
                <c:pt idx="30">
                  <c:v>6.0468899887535</c:v>
                </c:pt>
                <c:pt idx="31">
                  <c:v>6.05052681904212</c:v>
                </c:pt>
                <c:pt idx="32">
                  <c:v>6.056139827167</c:v>
                </c:pt>
                <c:pt idx="33">
                  <c:v>6.04527236110257</c:v>
                </c:pt>
                <c:pt idx="34">
                  <c:v>6.04871726830777</c:v>
                </c:pt>
                <c:pt idx="35">
                  <c:v>4.9272777506308</c:v>
                </c:pt>
                <c:pt idx="36">
                  <c:v>4.92460959866753</c:v>
                </c:pt>
                <c:pt idx="37">
                  <c:v>4.92435538562655</c:v>
                </c:pt>
                <c:pt idx="38">
                  <c:v>4.92026227456532</c:v>
                </c:pt>
                <c:pt idx="39">
                  <c:v>4.92289915313944</c:v>
                </c:pt>
                <c:pt idx="40">
                  <c:v>4.9271135606946</c:v>
                </c:pt>
                <c:pt idx="41">
                  <c:v>4.92538434156755</c:v>
                </c:pt>
                <c:pt idx="42">
                  <c:v>7.69482288471715</c:v>
                </c:pt>
                <c:pt idx="43">
                  <c:v>7.69822496539659</c:v>
                </c:pt>
                <c:pt idx="44">
                  <c:v>7.69296666753927</c:v>
                </c:pt>
                <c:pt idx="45">
                  <c:v>7.6910709619814</c:v>
                </c:pt>
                <c:pt idx="46">
                  <c:v>7.69767499730284</c:v>
                </c:pt>
                <c:pt idx="47">
                  <c:v>7.6940517134177</c:v>
                </c:pt>
                <c:pt idx="48">
                  <c:v>7.67948522028206</c:v>
                </c:pt>
                <c:pt idx="49">
                  <c:v>6.54969211977421</c:v>
                </c:pt>
                <c:pt idx="50">
                  <c:v>6.54342498075848</c:v>
                </c:pt>
                <c:pt idx="51">
                  <c:v>6.55343067430475</c:v>
                </c:pt>
                <c:pt idx="52">
                  <c:v>6.55007849204227</c:v>
                </c:pt>
                <c:pt idx="53">
                  <c:v>6.54476645509258</c:v>
                </c:pt>
                <c:pt idx="54">
                  <c:v>6.54527083287558</c:v>
                </c:pt>
                <c:pt idx="55">
                  <c:v>6.54522545267485</c:v>
                </c:pt>
                <c:pt idx="56">
                  <c:v>5.34549723266977</c:v>
                </c:pt>
                <c:pt idx="57">
                  <c:v>5.34574184761245</c:v>
                </c:pt>
                <c:pt idx="58">
                  <c:v>5.35148542551136</c:v>
                </c:pt>
                <c:pt idx="59">
                  <c:v>5.34596555504712</c:v>
                </c:pt>
                <c:pt idx="60">
                  <c:v>5.34702244173156</c:v>
                </c:pt>
                <c:pt idx="61">
                  <c:v>5.35000809654689</c:v>
                </c:pt>
                <c:pt idx="62">
                  <c:v>5.34388367720705</c:v>
                </c:pt>
              </c:numCache>
            </c:numRef>
          </c:val>
          <c:smooth val="0"/>
        </c:ser>
        <c:ser>
          <c:idx val="1"/>
          <c:order val="1"/>
          <c:tx>
            <c:strRef>
              <c:f>Sheet1!$C$1</c:f>
              <c:strCache>
                <c:ptCount val="1"/>
                <c:pt idx="0">
                  <c:v>개선</c:v>
                </c:pt>
              </c:strCache>
            </c:strRef>
          </c:tx>
          <c:spPr>
            <a:solidFill>
              <a:srgbClr val="008000"/>
            </a:solidFill>
            <a:ln w="22860">
              <a:noFill/>
            </a:ln>
          </c:spPr>
          <c:marker>
            <c:symbol val="circle"/>
            <c:size val="4"/>
            <c:spPr>
              <a:solidFill>
                <a:srgbClr val="008000"/>
              </a:solidFill>
              <a:ln>
                <a:solidFill>
                  <a:srgbClr val="008000"/>
                </a:solidFill>
              </a:ln>
            </c:spPr>
          </c:marker>
          <c:cat>
            <c:strRef>
              <c:f>Sheet1!$A$2:$A$64</c:f>
              <c:strCache>
                <c:ptCount val="63"/>
                <c:pt idx="0">
                  <c:v>M001</c:v>
                </c:pt>
                <c:pt idx="1">
                  <c:v/>
                </c:pt>
                <c:pt idx="2">
                  <c:v/>
                </c:pt>
                <c:pt idx="3">
                  <c:v/>
                </c:pt>
                <c:pt idx="4">
                  <c:v/>
                </c:pt>
                <c:pt idx="5">
                  <c:v/>
                </c:pt>
                <c:pt idx="6">
                  <c:v/>
                </c:pt>
                <c:pt idx="7">
                  <c:v/>
                </c:pt>
                <c:pt idx="8">
                  <c:v/>
                </c:pt>
                <c:pt idx="9">
                  <c:v/>
                </c:pt>
                <c:pt idx="10">
                  <c:v/>
                </c:pt>
                <c:pt idx="11">
                  <c:v/>
                </c:pt>
                <c:pt idx="12">
                  <c:v/>
                </c:pt>
                <c:pt idx="13">
                  <c:v/>
                </c:pt>
                <c:pt idx="14">
                  <c:v>M015</c:v>
                </c:pt>
                <c:pt idx="15">
                  <c:v/>
                </c:pt>
                <c:pt idx="16">
                  <c:v/>
                </c:pt>
                <c:pt idx="17">
                  <c:v/>
                </c:pt>
                <c:pt idx="18">
                  <c:v/>
                </c:pt>
                <c:pt idx="19">
                  <c:v/>
                </c:pt>
                <c:pt idx="20">
                  <c:v/>
                </c:pt>
                <c:pt idx="21">
                  <c:v/>
                </c:pt>
                <c:pt idx="22">
                  <c:v/>
                </c:pt>
                <c:pt idx="23">
                  <c:v/>
                </c:pt>
                <c:pt idx="24">
                  <c:v/>
                </c:pt>
                <c:pt idx="25">
                  <c:v/>
                </c:pt>
                <c:pt idx="26">
                  <c:v/>
                </c:pt>
                <c:pt idx="27">
                  <c:v/>
                </c:pt>
                <c:pt idx="28">
                  <c:v>M029</c:v>
                </c:pt>
                <c:pt idx="29">
                  <c:v/>
                </c:pt>
                <c:pt idx="30">
                  <c:v/>
                </c:pt>
                <c:pt idx="31">
                  <c:v/>
                </c:pt>
                <c:pt idx="32">
                  <c:v/>
                </c:pt>
                <c:pt idx="33">
                  <c:v/>
                </c:pt>
                <c:pt idx="34">
                  <c:v/>
                </c:pt>
                <c:pt idx="35">
                  <c:v/>
                </c:pt>
                <c:pt idx="36">
                  <c:v/>
                </c:pt>
                <c:pt idx="37">
                  <c:v/>
                </c:pt>
                <c:pt idx="38">
                  <c:v/>
                </c:pt>
                <c:pt idx="39">
                  <c:v/>
                </c:pt>
                <c:pt idx="40">
                  <c:v/>
                </c:pt>
                <c:pt idx="41">
                  <c:v/>
                </c:pt>
                <c:pt idx="42">
                  <c:v>M043</c:v>
                </c:pt>
                <c:pt idx="43">
                  <c:v/>
                </c:pt>
                <c:pt idx="44">
                  <c:v/>
                </c:pt>
                <c:pt idx="45">
                  <c:v/>
                </c:pt>
                <c:pt idx="46">
                  <c:v/>
                </c:pt>
                <c:pt idx="47">
                  <c:v/>
                </c:pt>
                <c:pt idx="48">
                  <c:v/>
                </c:pt>
                <c:pt idx="49">
                  <c:v/>
                </c:pt>
                <c:pt idx="50">
                  <c:v/>
                </c:pt>
                <c:pt idx="51">
                  <c:v/>
                </c:pt>
                <c:pt idx="52">
                  <c:v/>
                </c:pt>
                <c:pt idx="53">
                  <c:v/>
                </c:pt>
                <c:pt idx="54">
                  <c:v/>
                </c:pt>
                <c:pt idx="55">
                  <c:v/>
                </c:pt>
                <c:pt idx="56">
                  <c:v>M057</c:v>
                </c:pt>
                <c:pt idx="57">
                  <c:v/>
                </c:pt>
                <c:pt idx="58">
                  <c:v/>
                </c:pt>
                <c:pt idx="59">
                  <c:v/>
                </c:pt>
                <c:pt idx="60">
                  <c:v/>
                </c:pt>
                <c:pt idx="61">
                  <c:v/>
                </c:pt>
                <c:pt idx="62">
                  <c:v>M063</c:v>
                </c:pt>
              </c:strCache>
            </c:strRef>
          </c:cat>
          <c:val>
            <c:numRef>
              <c:f>Sheet1!$C$2:$C$64</c:f>
              <c:numCache>
                <c:formatCode>General</c:formatCode>
                <c:ptCount val="63"/>
                <c:pt idx="0">
                  <c:v>2.58091470415242</c:v>
                </c:pt>
                <c:pt idx="1">
                  <c:v>2.58316411395822</c:v>
                </c:pt>
                <c:pt idx="2">
                  <c:v>2.59061381387076</c:v>
                </c:pt>
                <c:pt idx="3">
                  <c:v>2.57645032688834</c:v>
                </c:pt>
                <c:pt idx="4">
                  <c:v>2.58466353058748</c:v>
                </c:pt>
                <c:pt idx="5">
                  <c:v>2.59788555882564</c:v>
                </c:pt>
                <c:pt idx="6">
                  <c:v>2.57737220391206</c:v>
                </c:pt>
                <c:pt idx="7">
                  <c:v>2.27003711664806</c:v>
                </c:pt>
                <c:pt idx="8">
                  <c:v>2.27428852269087</c:v>
                </c:pt>
                <c:pt idx="9">
                  <c:v>2.27280199510837</c:v>
                </c:pt>
                <c:pt idx="10">
                  <c:v>2.27501817842793</c:v>
                </c:pt>
                <c:pt idx="11">
                  <c:v>2.2752336095987</c:v>
                </c:pt>
                <c:pt idx="12">
                  <c:v>2.27058668473637</c:v>
                </c:pt>
                <c:pt idx="13">
                  <c:v>2.27278108650366</c:v>
                </c:pt>
                <c:pt idx="14">
                  <c:v>1.90613967193761</c:v>
                </c:pt>
                <c:pt idx="15">
                  <c:v>1.91498725189583</c:v>
                </c:pt>
                <c:pt idx="16">
                  <c:v>1.91492460511536</c:v>
                </c:pt>
                <c:pt idx="17">
                  <c:v>1.91002514289218</c:v>
                </c:pt>
                <c:pt idx="18">
                  <c:v>1.91581216086547</c:v>
                </c:pt>
                <c:pt idx="19">
                  <c:v>1.91721171806361</c:v>
                </c:pt>
                <c:pt idx="20">
                  <c:v>1.90567907567223</c:v>
                </c:pt>
                <c:pt idx="21">
                  <c:v>2.77533929067815</c:v>
                </c:pt>
                <c:pt idx="22">
                  <c:v>2.76198393476361</c:v>
                </c:pt>
                <c:pt idx="23">
                  <c:v>2.75977401594336</c:v>
                </c:pt>
                <c:pt idx="24">
                  <c:v>2.77321081406975</c:v>
                </c:pt>
                <c:pt idx="25">
                  <c:v>2.75979652398156</c:v>
                </c:pt>
                <c:pt idx="26">
                  <c:v>2.7589035196612</c:v>
                </c:pt>
                <c:pt idx="27">
                  <c:v>2.77541873316332</c:v>
                </c:pt>
                <c:pt idx="28">
                  <c:v>2.42684485430941</c:v>
                </c:pt>
                <c:pt idx="29">
                  <c:v>2.42928924832319</c:v>
                </c:pt>
                <c:pt idx="30">
                  <c:v>2.43614941510781</c:v>
                </c:pt>
                <c:pt idx="31">
                  <c:v>2.43858493803381</c:v>
                </c:pt>
                <c:pt idx="32">
                  <c:v>2.42651720156277</c:v>
                </c:pt>
                <c:pt idx="33">
                  <c:v>2.43072057920848</c:v>
                </c:pt>
                <c:pt idx="34">
                  <c:v>2.42619864800989</c:v>
                </c:pt>
                <c:pt idx="35">
                  <c:v>2.06266476370808</c:v>
                </c:pt>
                <c:pt idx="36">
                  <c:v>2.07276952518972</c:v>
                </c:pt>
                <c:pt idx="37">
                  <c:v>2.06741544340483</c:v>
                </c:pt>
                <c:pt idx="38">
                  <c:v>2.05864894881585</c:v>
                </c:pt>
                <c:pt idx="39">
                  <c:v>2.06963780571066</c:v>
                </c:pt>
                <c:pt idx="40">
                  <c:v>2.06834874228539</c:v>
                </c:pt>
                <c:pt idx="41">
                  <c:v>2.06195924652188</c:v>
                </c:pt>
                <c:pt idx="42">
                  <c:v>2.92429635107409</c:v>
                </c:pt>
                <c:pt idx="43">
                  <c:v>2.9323140404571</c:v>
                </c:pt>
                <c:pt idx="44">
                  <c:v>2.91573875888489</c:v>
                </c:pt>
                <c:pt idx="45">
                  <c:v>2.92453924662413</c:v>
                </c:pt>
                <c:pt idx="46">
                  <c:v>2.92732837040816</c:v>
                </c:pt>
                <c:pt idx="47">
                  <c:v>2.91682494648764</c:v>
                </c:pt>
                <c:pt idx="48">
                  <c:v>2.91938354667404</c:v>
                </c:pt>
                <c:pt idx="49">
                  <c:v>2.5814928293775</c:v>
                </c:pt>
                <c:pt idx="50">
                  <c:v>2.58417282841331</c:v>
                </c:pt>
                <c:pt idx="51">
                  <c:v>2.59123017198731</c:v>
                </c:pt>
                <c:pt idx="52">
                  <c:v>2.58005478178838</c:v>
                </c:pt>
                <c:pt idx="53">
                  <c:v>2.58306719141626</c:v>
                </c:pt>
                <c:pt idx="54">
                  <c:v>2.5975150519702</c:v>
                </c:pt>
                <c:pt idx="55">
                  <c:v>2.577712594909</c:v>
                </c:pt>
                <c:pt idx="56">
                  <c:v>2.21231239325634</c:v>
                </c:pt>
                <c:pt idx="57">
                  <c:v>2.20336977264895</c:v>
                </c:pt>
                <c:pt idx="58">
                  <c:v>2.20897672502928</c:v>
                </c:pt>
                <c:pt idx="59">
                  <c:v>2.21091387756115</c:v>
                </c:pt>
                <c:pt idx="60">
                  <c:v>2.20321544611178</c:v>
                </c:pt>
                <c:pt idx="61">
                  <c:v>2.20829914525412</c:v>
                </c:pt>
                <c:pt idx="62">
                  <c:v>2.20975663826751</c:v>
                </c:pt>
              </c:numCache>
            </c:numRef>
          </c:val>
          <c:smooth val="0"/>
        </c:ser>
        <c:ser>
          <c:idx val="2"/>
          <c:order val="2"/>
          <c:tx>
            <c:strRef>
              <c:f>Sheet1!$D$1</c:f>
              <c:strCache>
                <c:ptCount val="1"/>
                <c:pt idx="0">
                  <c:v>잠정 한계</c:v>
                </c:pt>
              </c:strCache>
            </c:strRef>
          </c:tx>
          <c:spPr>
            <a:solidFill>
              <a:srgbClr val="C00000"/>
            </a:solidFill>
            <a:ln w="22860">
              <a:solidFill>
                <a:srgbClr val="C00000"/>
              </a:solidFill>
              <a:prstDash val="dash"/>
            </a:ln>
          </c:spPr>
          <c:marker>
            <c:symbol val="none"/>
          </c:marker>
          <c:cat>
            <c:strRef>
              <c:f>Sheet1!$A$2:$A$64</c:f>
              <c:strCache>
                <c:ptCount val="63"/>
                <c:pt idx="0">
                  <c:v>M001</c:v>
                </c:pt>
                <c:pt idx="1">
                  <c:v/>
                </c:pt>
                <c:pt idx="2">
                  <c:v/>
                </c:pt>
                <c:pt idx="3">
                  <c:v/>
                </c:pt>
                <c:pt idx="4">
                  <c:v/>
                </c:pt>
                <c:pt idx="5">
                  <c:v/>
                </c:pt>
                <c:pt idx="6">
                  <c:v/>
                </c:pt>
                <c:pt idx="7">
                  <c:v/>
                </c:pt>
                <c:pt idx="8">
                  <c:v/>
                </c:pt>
                <c:pt idx="9">
                  <c:v/>
                </c:pt>
                <c:pt idx="10">
                  <c:v/>
                </c:pt>
                <c:pt idx="11">
                  <c:v/>
                </c:pt>
                <c:pt idx="12">
                  <c:v/>
                </c:pt>
                <c:pt idx="13">
                  <c:v/>
                </c:pt>
                <c:pt idx="14">
                  <c:v>M015</c:v>
                </c:pt>
                <c:pt idx="15">
                  <c:v/>
                </c:pt>
                <c:pt idx="16">
                  <c:v/>
                </c:pt>
                <c:pt idx="17">
                  <c:v/>
                </c:pt>
                <c:pt idx="18">
                  <c:v/>
                </c:pt>
                <c:pt idx="19">
                  <c:v/>
                </c:pt>
                <c:pt idx="20">
                  <c:v/>
                </c:pt>
                <c:pt idx="21">
                  <c:v/>
                </c:pt>
                <c:pt idx="22">
                  <c:v/>
                </c:pt>
                <c:pt idx="23">
                  <c:v/>
                </c:pt>
                <c:pt idx="24">
                  <c:v/>
                </c:pt>
                <c:pt idx="25">
                  <c:v/>
                </c:pt>
                <c:pt idx="26">
                  <c:v/>
                </c:pt>
                <c:pt idx="27">
                  <c:v/>
                </c:pt>
                <c:pt idx="28">
                  <c:v>M029</c:v>
                </c:pt>
                <c:pt idx="29">
                  <c:v/>
                </c:pt>
                <c:pt idx="30">
                  <c:v/>
                </c:pt>
                <c:pt idx="31">
                  <c:v/>
                </c:pt>
                <c:pt idx="32">
                  <c:v/>
                </c:pt>
                <c:pt idx="33">
                  <c:v/>
                </c:pt>
                <c:pt idx="34">
                  <c:v/>
                </c:pt>
                <c:pt idx="35">
                  <c:v/>
                </c:pt>
                <c:pt idx="36">
                  <c:v/>
                </c:pt>
                <c:pt idx="37">
                  <c:v/>
                </c:pt>
                <c:pt idx="38">
                  <c:v/>
                </c:pt>
                <c:pt idx="39">
                  <c:v/>
                </c:pt>
                <c:pt idx="40">
                  <c:v/>
                </c:pt>
                <c:pt idx="41">
                  <c:v/>
                </c:pt>
                <c:pt idx="42">
                  <c:v>M043</c:v>
                </c:pt>
                <c:pt idx="43">
                  <c:v/>
                </c:pt>
                <c:pt idx="44">
                  <c:v/>
                </c:pt>
                <c:pt idx="45">
                  <c:v/>
                </c:pt>
                <c:pt idx="46">
                  <c:v/>
                </c:pt>
                <c:pt idx="47">
                  <c:v/>
                </c:pt>
                <c:pt idx="48">
                  <c:v/>
                </c:pt>
                <c:pt idx="49">
                  <c:v/>
                </c:pt>
                <c:pt idx="50">
                  <c:v/>
                </c:pt>
                <c:pt idx="51">
                  <c:v/>
                </c:pt>
                <c:pt idx="52">
                  <c:v/>
                </c:pt>
                <c:pt idx="53">
                  <c:v/>
                </c:pt>
                <c:pt idx="54">
                  <c:v/>
                </c:pt>
                <c:pt idx="55">
                  <c:v/>
                </c:pt>
                <c:pt idx="56">
                  <c:v>M057</c:v>
                </c:pt>
                <c:pt idx="57">
                  <c:v/>
                </c:pt>
                <c:pt idx="58">
                  <c:v/>
                </c:pt>
                <c:pt idx="59">
                  <c:v/>
                </c:pt>
                <c:pt idx="60">
                  <c:v/>
                </c:pt>
                <c:pt idx="61">
                  <c:v/>
                </c:pt>
                <c:pt idx="62">
                  <c:v>M063</c:v>
                </c:pt>
              </c:strCache>
            </c:strRef>
          </c:cat>
          <c:val>
            <c:numRef>
              <c:f>Sheet1!$D$2:$D$64</c:f>
              <c:numCache>
                <c:formatCode>General</c:formatCode>
                <c:ptCount val="63"/>
                <c:pt idx="0">
                  <c:v>5.0</c:v>
                </c:pt>
                <c:pt idx="1">
                  <c:v>5.0</c:v>
                </c:pt>
                <c:pt idx="2">
                  <c:v>5.0</c:v>
                </c:pt>
                <c:pt idx="3">
                  <c:v>5.0</c:v>
                </c:pt>
                <c:pt idx="4">
                  <c:v>5.0</c:v>
                </c:pt>
                <c:pt idx="5">
                  <c:v>5.0</c:v>
                </c:pt>
                <c:pt idx="6">
                  <c:v>5.0</c:v>
                </c:pt>
                <c:pt idx="7">
                  <c:v>5.0</c:v>
                </c:pt>
                <c:pt idx="8">
                  <c:v>5.0</c:v>
                </c:pt>
                <c:pt idx="9">
                  <c:v>5.0</c:v>
                </c:pt>
                <c:pt idx="10">
                  <c:v>5.0</c:v>
                </c:pt>
                <c:pt idx="11">
                  <c:v>5.0</c:v>
                </c:pt>
                <c:pt idx="12">
                  <c:v>5.0</c:v>
                </c:pt>
                <c:pt idx="13">
                  <c:v>5.0</c:v>
                </c:pt>
                <c:pt idx="14">
                  <c:v>5.0</c:v>
                </c:pt>
                <c:pt idx="15">
                  <c:v>5.0</c:v>
                </c:pt>
                <c:pt idx="16">
                  <c:v>5.0</c:v>
                </c:pt>
                <c:pt idx="17">
                  <c:v>5.0</c:v>
                </c:pt>
                <c:pt idx="18">
                  <c:v>5.0</c:v>
                </c:pt>
                <c:pt idx="19">
                  <c:v>5.0</c:v>
                </c:pt>
                <c:pt idx="20">
                  <c:v>5.0</c:v>
                </c:pt>
                <c:pt idx="21">
                  <c:v>5.0</c:v>
                </c:pt>
                <c:pt idx="22">
                  <c:v>5.0</c:v>
                </c:pt>
                <c:pt idx="23">
                  <c:v>5.0</c:v>
                </c:pt>
                <c:pt idx="24">
                  <c:v>5.0</c:v>
                </c:pt>
                <c:pt idx="25">
                  <c:v>5.0</c:v>
                </c:pt>
                <c:pt idx="26">
                  <c:v>5.0</c:v>
                </c:pt>
                <c:pt idx="27">
                  <c:v>5.0</c:v>
                </c:pt>
                <c:pt idx="28">
                  <c:v>5.0</c:v>
                </c:pt>
                <c:pt idx="29">
                  <c:v>5.0</c:v>
                </c:pt>
                <c:pt idx="30">
                  <c:v>5.0</c:v>
                </c:pt>
                <c:pt idx="31">
                  <c:v>5.0</c:v>
                </c:pt>
                <c:pt idx="32">
                  <c:v>5.0</c:v>
                </c:pt>
                <c:pt idx="33">
                  <c:v>5.0</c:v>
                </c:pt>
                <c:pt idx="34">
                  <c:v>5.0</c:v>
                </c:pt>
                <c:pt idx="35">
                  <c:v>5.0</c:v>
                </c:pt>
                <c:pt idx="36">
                  <c:v>5.0</c:v>
                </c:pt>
                <c:pt idx="37">
                  <c:v>5.0</c:v>
                </c:pt>
                <c:pt idx="38">
                  <c:v>5.0</c:v>
                </c:pt>
                <c:pt idx="39">
                  <c:v>5.0</c:v>
                </c:pt>
                <c:pt idx="40">
                  <c:v>5.0</c:v>
                </c:pt>
                <c:pt idx="41">
                  <c:v>5.0</c:v>
                </c:pt>
                <c:pt idx="42">
                  <c:v>5.0</c:v>
                </c:pt>
                <c:pt idx="43">
                  <c:v>5.0</c:v>
                </c:pt>
                <c:pt idx="44">
                  <c:v>5.0</c:v>
                </c:pt>
                <c:pt idx="45">
                  <c:v>5.0</c:v>
                </c:pt>
                <c:pt idx="46">
                  <c:v>5.0</c:v>
                </c:pt>
                <c:pt idx="47">
                  <c:v>5.0</c:v>
                </c:pt>
                <c:pt idx="48">
                  <c:v>5.0</c:v>
                </c:pt>
                <c:pt idx="49">
                  <c:v>5.0</c:v>
                </c:pt>
                <c:pt idx="50">
                  <c:v>5.0</c:v>
                </c:pt>
                <c:pt idx="51">
                  <c:v>5.0</c:v>
                </c:pt>
                <c:pt idx="52">
                  <c:v>5.0</c:v>
                </c:pt>
                <c:pt idx="53">
                  <c:v>5.0</c:v>
                </c:pt>
                <c:pt idx="54">
                  <c:v>5.0</c:v>
                </c:pt>
                <c:pt idx="55">
                  <c:v>5.0</c:v>
                </c:pt>
                <c:pt idx="56">
                  <c:v>5.0</c:v>
                </c:pt>
                <c:pt idx="57">
                  <c:v>5.0</c:v>
                </c:pt>
                <c:pt idx="58">
                  <c:v>5.0</c:v>
                </c:pt>
                <c:pt idx="59">
                  <c:v>5.0</c:v>
                </c:pt>
                <c:pt idx="60">
                  <c:v>5.0</c:v>
                </c:pt>
                <c:pt idx="61">
                  <c:v>5.0</c:v>
                </c:pt>
                <c:pt idx="62">
                  <c:v>5.0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tickLblSkip val="1"/>
        <c:tickMarkSkip val="1"/>
        <c:noMultiLvlLbl val="0"/>
      </c:catAx>
      <c:valAx>
        <c:axId val="2140495176"/>
        <c:scaling>
          <c:max val="9.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majorUnit val="3.0"/>
      </c:valAx>
    </c:plotArea>
    <c:legend>
      <c:legendPos val="b"/>
      <c:layout/>
      <c:overlay val="0"/>
      <c:txPr>
        <a:bodyPr/>
        <a:lstStyle/>
        <a:p>
          <a:pPr>
            <a:defRPr sz="1000">
              <a:latin typeface="Malgun Gothic"/>
            </a:defRPr>
          </a:pPr>
        </a:p>
      </c:txPr>
    </c:legend>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THD 감소량</c:v>
                </c:pt>
              </c:strCache>
            </c:strRef>
          </c:tx>
          <c:spPr>
            <a:solidFill>
              <a:srgbClr val="0056A6"/>
            </a:solidFill>
            <a:ln w="22860">
              <a:noFill/>
            </a:ln>
          </c:spPr>
          <c:marker>
            <c:symbol val="circle"/>
            <c:size val="4"/>
            <c:spPr>
              <a:solidFill>
                <a:srgbClr val="0056A6"/>
              </a:solidFill>
              <a:ln>
                <a:solidFill>
                  <a:srgbClr val="0056A6"/>
                </a:solidFill>
              </a:ln>
            </c:spPr>
          </c:marker>
          <c:cat>
            <c:strRef>
              <c:f>Sheet1!$A$2:$A$64</c:f>
              <c:strCache>
                <c:ptCount val="63"/>
                <c:pt idx="0">
                  <c:v>M001</c:v>
                </c:pt>
                <c:pt idx="1">
                  <c:v/>
                </c:pt>
                <c:pt idx="2">
                  <c:v/>
                </c:pt>
                <c:pt idx="3">
                  <c:v/>
                </c:pt>
                <c:pt idx="4">
                  <c:v/>
                </c:pt>
                <c:pt idx="5">
                  <c:v/>
                </c:pt>
                <c:pt idx="6">
                  <c:v/>
                </c:pt>
                <c:pt idx="7">
                  <c:v/>
                </c:pt>
                <c:pt idx="8">
                  <c:v/>
                </c:pt>
                <c:pt idx="9">
                  <c:v/>
                </c:pt>
                <c:pt idx="10">
                  <c:v>M011</c:v>
                </c:pt>
                <c:pt idx="11">
                  <c:v/>
                </c:pt>
                <c:pt idx="12">
                  <c:v/>
                </c:pt>
                <c:pt idx="13">
                  <c:v/>
                </c:pt>
                <c:pt idx="14">
                  <c:v/>
                </c:pt>
                <c:pt idx="15">
                  <c:v/>
                </c:pt>
                <c:pt idx="16">
                  <c:v/>
                </c:pt>
                <c:pt idx="17">
                  <c:v/>
                </c:pt>
                <c:pt idx="18">
                  <c:v/>
                </c:pt>
                <c:pt idx="19">
                  <c:v/>
                </c:pt>
                <c:pt idx="20">
                  <c:v>M021</c:v>
                </c:pt>
                <c:pt idx="21">
                  <c:v/>
                </c:pt>
                <c:pt idx="22">
                  <c:v/>
                </c:pt>
                <c:pt idx="23">
                  <c:v/>
                </c:pt>
                <c:pt idx="24">
                  <c:v/>
                </c:pt>
                <c:pt idx="25">
                  <c:v/>
                </c:pt>
                <c:pt idx="26">
                  <c:v/>
                </c:pt>
                <c:pt idx="27">
                  <c:v/>
                </c:pt>
                <c:pt idx="28">
                  <c:v/>
                </c:pt>
                <c:pt idx="29">
                  <c:v/>
                </c:pt>
                <c:pt idx="30">
                  <c:v>M031</c:v>
                </c:pt>
                <c:pt idx="31">
                  <c:v/>
                </c:pt>
                <c:pt idx="32">
                  <c:v/>
                </c:pt>
                <c:pt idx="33">
                  <c:v/>
                </c:pt>
                <c:pt idx="34">
                  <c:v/>
                </c:pt>
                <c:pt idx="35">
                  <c:v/>
                </c:pt>
                <c:pt idx="36">
                  <c:v/>
                </c:pt>
                <c:pt idx="37">
                  <c:v/>
                </c:pt>
                <c:pt idx="38">
                  <c:v/>
                </c:pt>
                <c:pt idx="39">
                  <c:v/>
                </c:pt>
                <c:pt idx="40">
                  <c:v>M041</c:v>
                </c:pt>
                <c:pt idx="41">
                  <c:v/>
                </c:pt>
                <c:pt idx="42">
                  <c:v/>
                </c:pt>
                <c:pt idx="43">
                  <c:v/>
                </c:pt>
                <c:pt idx="44">
                  <c:v/>
                </c:pt>
                <c:pt idx="45">
                  <c:v/>
                </c:pt>
                <c:pt idx="46">
                  <c:v/>
                </c:pt>
                <c:pt idx="47">
                  <c:v/>
                </c:pt>
                <c:pt idx="48">
                  <c:v/>
                </c:pt>
                <c:pt idx="49">
                  <c:v/>
                </c:pt>
                <c:pt idx="50">
                  <c:v>M051</c:v>
                </c:pt>
                <c:pt idx="51">
                  <c:v/>
                </c:pt>
                <c:pt idx="52">
                  <c:v/>
                </c:pt>
                <c:pt idx="53">
                  <c:v/>
                </c:pt>
                <c:pt idx="54">
                  <c:v/>
                </c:pt>
                <c:pt idx="55">
                  <c:v/>
                </c:pt>
                <c:pt idx="56">
                  <c:v/>
                </c:pt>
                <c:pt idx="57">
                  <c:v/>
                </c:pt>
                <c:pt idx="58">
                  <c:v/>
                </c:pt>
                <c:pt idx="59">
                  <c:v/>
                </c:pt>
                <c:pt idx="60">
                  <c:v>M061</c:v>
                </c:pt>
                <c:pt idx="61">
                  <c:v/>
                </c:pt>
                <c:pt idx="62">
                  <c:v>M063</c:v>
                </c:pt>
              </c:strCache>
            </c:strRef>
          </c:cat>
          <c:val>
            <c:numRef>
              <c:f>Sheet1!$B$2:$B$64</c:f>
              <c:numCache>
                <c:formatCode>General</c:formatCode>
                <c:ptCount val="63"/>
                <c:pt idx="0">
                  <c:v>3.96925343992232</c:v>
                </c:pt>
                <c:pt idx="1">
                  <c:v>3.95743550717015</c:v>
                </c:pt>
                <c:pt idx="2">
                  <c:v>3.96421037376298</c:v>
                </c:pt>
                <c:pt idx="3">
                  <c:v>3.97879917149748</c:v>
                </c:pt>
                <c:pt idx="4">
                  <c:v>3.95857925968646</c:v>
                </c:pt>
                <c:pt idx="5">
                  <c:v>3.95581669890426</c:v>
                </c:pt>
                <c:pt idx="6">
                  <c:v>3.96818120842474</c:v>
                </c:pt>
                <c:pt idx="7">
                  <c:v>3.2637464710608</c:v>
                </c:pt>
                <c:pt idx="8">
                  <c:v>3.25336724513418</c:v>
                </c:pt>
                <c:pt idx="9">
                  <c:v>3.25276631974754</c:v>
                </c:pt>
                <c:pt idx="10">
                  <c:v>3.25193021867447</c:v>
                </c:pt>
                <c:pt idx="11">
                  <c:v>3.2528926412043897</c:v>
                </c:pt>
                <c:pt idx="12">
                  <c:v>3.25782091465752</c:v>
                </c:pt>
                <c:pt idx="13">
                  <c:v>3.2592749096746902</c:v>
                </c:pt>
                <c:pt idx="14">
                  <c:v>2.5720706121281696</c:v>
                </c:pt>
                <c:pt idx="15">
                  <c:v>2.5704001924569098</c:v>
                </c:pt>
                <c:pt idx="16">
                  <c:v>2.5722605383713706</c:v>
                </c:pt>
                <c:pt idx="17">
                  <c:v>2.5649264006191297</c:v>
                </c:pt>
                <c:pt idx="18">
                  <c:v>2.56697310183001</c:v>
                </c:pt>
                <c:pt idx="19">
                  <c:v>2.5656759318285</c:v>
                </c:pt>
                <c:pt idx="20">
                  <c:v>2.5729116493641304</c:v>
                </c:pt>
                <c:pt idx="21">
                  <c:v>4.3641027109274</c:v>
                </c:pt>
                <c:pt idx="22">
                  <c:v>4.3676391896661695</c:v>
                </c:pt>
                <c:pt idx="23">
                  <c:v>4.390289584894619</c:v>
                </c:pt>
                <c:pt idx="24">
                  <c:v>4.3581285209073</c:v>
                </c:pt>
                <c:pt idx="25">
                  <c:v>4.37171225977747</c:v>
                </c:pt>
                <c:pt idx="26">
                  <c:v>4.3861480063087495</c:v>
                </c:pt>
                <c:pt idx="27">
                  <c:v>4.36913713189294</c:v>
                </c:pt>
                <c:pt idx="28">
                  <c:v>3.6239405474911903</c:v>
                </c:pt>
                <c:pt idx="29">
                  <c:v>3.62552770187617</c:v>
                </c:pt>
                <c:pt idx="30">
                  <c:v>3.61074057364569</c:v>
                </c:pt>
                <c:pt idx="31">
                  <c:v>3.61194188100831</c:v>
                </c:pt>
                <c:pt idx="32">
                  <c:v>3.6296226256042297</c:v>
                </c:pt>
                <c:pt idx="33">
                  <c:v>3.61455178189409</c:v>
                </c:pt>
                <c:pt idx="34">
                  <c:v>3.62251862029788</c:v>
                </c:pt>
                <c:pt idx="35">
                  <c:v>2.86461298692272</c:v>
                </c:pt>
                <c:pt idx="36">
                  <c:v>2.85184007347781</c:v>
                </c:pt>
                <c:pt idx="37">
                  <c:v>2.8569399422217194</c:v>
                </c:pt>
                <c:pt idx="38">
                  <c:v>2.86161332574947</c:v>
                </c:pt>
                <c:pt idx="39">
                  <c:v>2.85326134742878</c:v>
                </c:pt>
                <c:pt idx="40">
                  <c:v>2.8587648184092105</c:v>
                </c:pt>
                <c:pt idx="41">
                  <c:v>2.863425095045669</c:v>
                </c:pt>
                <c:pt idx="42">
                  <c:v>4.77052653364306</c:v>
                </c:pt>
                <c:pt idx="43">
                  <c:v>4.76591092493949</c:v>
                </c:pt>
                <c:pt idx="44">
                  <c:v>4.77722790865438</c:v>
                </c:pt>
                <c:pt idx="45">
                  <c:v>4.766531715357271</c:v>
                </c:pt>
                <c:pt idx="46">
                  <c:v>4.77034662689468</c:v>
                </c:pt>
                <c:pt idx="47">
                  <c:v>4.77722676693006</c:v>
                </c:pt>
                <c:pt idx="48">
                  <c:v>4.76010167360802</c:v>
                </c:pt>
                <c:pt idx="49">
                  <c:v>3.9681992903967114</c:v>
                </c:pt>
                <c:pt idx="50">
                  <c:v>3.9592521523451696</c:v>
                </c:pt>
                <c:pt idx="51">
                  <c:v>3.96220050231744</c:v>
                </c:pt>
                <c:pt idx="52">
                  <c:v>3.97002371025389</c:v>
                </c:pt>
                <c:pt idx="53">
                  <c:v>3.96169926367632</c:v>
                </c:pt>
                <c:pt idx="54">
                  <c:v>3.94775578090538</c:v>
                </c:pt>
                <c:pt idx="55">
                  <c:v>3.96751285776585</c:v>
                </c:pt>
                <c:pt idx="56">
                  <c:v>3.1331848394134294</c:v>
                </c:pt>
                <c:pt idx="57">
                  <c:v>3.1423720749635</c:v>
                </c:pt>
                <c:pt idx="58">
                  <c:v>3.14250870048208</c:v>
                </c:pt>
                <c:pt idx="59">
                  <c:v>3.13505167748597</c:v>
                </c:pt>
                <c:pt idx="60">
                  <c:v>3.14380699561978</c:v>
                </c:pt>
                <c:pt idx="61">
                  <c:v>3.1417089512927703</c:v>
                </c:pt>
                <c:pt idx="62">
                  <c:v>3.1341270389395404</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tickLblSkip val="1"/>
        <c:tickMarkSkip val="1"/>
        <c:noMultiLvlLbl val="0"/>
      </c:catAx>
      <c:valAx>
        <c:axId val="2140495176"/>
        <c:scaling>
          <c:max val="5.2"/>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majorUnit val="1.0"/>
      </c:valAx>
    </c:plotArea>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초기</c:v>
                </c:pt>
              </c:strCache>
            </c:strRef>
          </c:tx>
          <c:spPr>
            <a:solidFill>
              <a:srgbClr val="757575"/>
            </a:solidFill>
            <a:ln w="22860">
              <a:solidFill>
                <a:srgbClr val="757575"/>
              </a:solidFill>
            </a:ln>
          </c:spPr>
          <c:marker>
            <c:symbol val="none"/>
          </c:marker>
          <c:cat>
            <c:strRef>
              <c:f>Sheet1!$A$2:$A$161</c:f>
              <c:strCache>
                <c:ptCount val="160"/>
                <c:pt idx="0">
                  <c:v>0.0</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5.0</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10.0</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15.0</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19.9</c:v>
                </c:pt>
              </c:strCache>
            </c:strRef>
          </c:cat>
          <c:val>
            <c:numRef>
              <c:f>Sheet1!$B$2:$B$161</c:f>
              <c:numCache>
                <c:formatCode>General</c:formatCode>
                <c:ptCount val="160"/>
                <c:pt idx="0">
                  <c:v>2.431861</c:v>
                </c:pt>
                <c:pt idx="1">
                  <c:v>2.658735</c:v>
                </c:pt>
                <c:pt idx="2">
                  <c:v>2.879558</c:v>
                </c:pt>
                <c:pt idx="3">
                  <c:v>3.094138</c:v>
                </c:pt>
                <c:pt idx="4">
                  <c:v>3.298752</c:v>
                </c:pt>
                <c:pt idx="5">
                  <c:v>3.503004</c:v>
                </c:pt>
                <c:pt idx="6">
                  <c:v>3.696064</c:v>
                </c:pt>
                <c:pt idx="7">
                  <c:v>3.883889</c:v>
                </c:pt>
                <c:pt idx="8">
                  <c:v>4.0621</c:v>
                </c:pt>
                <c:pt idx="9">
                  <c:v>4.232979</c:v>
                </c:pt>
                <c:pt idx="10">
                  <c:v>4.395273</c:v>
                </c:pt>
                <c:pt idx="11">
                  <c:v>4.550986</c:v>
                </c:pt>
                <c:pt idx="12">
                  <c:v>4.698634</c:v>
                </c:pt>
                <c:pt idx="13">
                  <c:v>4.836617</c:v>
                </c:pt>
                <c:pt idx="14">
                  <c:v>4.963251</c:v>
                </c:pt>
                <c:pt idx="15">
                  <c:v>5.080133</c:v>
                </c:pt>
                <c:pt idx="16">
                  <c:v>5.192149</c:v>
                </c:pt>
                <c:pt idx="17">
                  <c:v>5.287217</c:v>
                </c:pt>
                <c:pt idx="18">
                  <c:v>5.380224</c:v>
                </c:pt>
                <c:pt idx="19">
                  <c:v>5.46567</c:v>
                </c:pt>
                <c:pt idx="20">
                  <c:v>5.534706</c:v>
                </c:pt>
                <c:pt idx="21">
                  <c:v>5.59531</c:v>
                </c:pt>
                <c:pt idx="22">
                  <c:v>5.645286</c:v>
                </c:pt>
                <c:pt idx="23">
                  <c:v>5.685783</c:v>
                </c:pt>
                <c:pt idx="24">
                  <c:v>5.71793</c:v>
                </c:pt>
                <c:pt idx="25">
                  <c:v>5.739489</c:v>
                </c:pt>
                <c:pt idx="26">
                  <c:v>5.751596</c:v>
                </c:pt>
                <c:pt idx="27">
                  <c:v>5.748635</c:v>
                </c:pt>
                <c:pt idx="28">
                  <c:v>5.741923</c:v>
                </c:pt>
                <c:pt idx="29">
                  <c:v>5.722484</c:v>
                </c:pt>
                <c:pt idx="30">
                  <c:v>5.691573</c:v>
                </c:pt>
                <c:pt idx="31">
                  <c:v>5.650466</c:v>
                </c:pt>
                <c:pt idx="32">
                  <c:v>5.600472</c:v>
                </c:pt>
                <c:pt idx="33">
                  <c:v>5.542982</c:v>
                </c:pt>
                <c:pt idx="34">
                  <c:v>5.472691</c:v>
                </c:pt>
                <c:pt idx="35">
                  <c:v>5.394515</c:v>
                </c:pt>
                <c:pt idx="36">
                  <c:v>5.306694</c:v>
                </c:pt>
                <c:pt idx="37">
                  <c:v>5.210922</c:v>
                </c:pt>
                <c:pt idx="38">
                  <c:v>5.10565</c:v>
                </c:pt>
                <c:pt idx="39">
                  <c:v>4.989406</c:v>
                </c:pt>
                <c:pt idx="40">
                  <c:v>4.864242</c:v>
                </c:pt>
                <c:pt idx="41">
                  <c:v>4.728934</c:v>
                </c:pt>
                <c:pt idx="42">
                  <c:v>4.589141</c:v>
                </c:pt>
                <c:pt idx="43">
                  <c:v>4.44051</c:v>
                </c:pt>
                <c:pt idx="44">
                  <c:v>4.285606</c:v>
                </c:pt>
                <c:pt idx="45">
                  <c:v>4.120387</c:v>
                </c:pt>
                <c:pt idx="46">
                  <c:v>3.951085</c:v>
                </c:pt>
                <c:pt idx="47">
                  <c:v>3.770594</c:v>
                </c:pt>
                <c:pt idx="48">
                  <c:v>3.585467</c:v>
                </c:pt>
                <c:pt idx="49">
                  <c:v>3.392319</c:v>
                </c:pt>
                <c:pt idx="50">
                  <c:v>3.194667</c:v>
                </c:pt>
                <c:pt idx="51">
                  <c:v>2.989461</c:v>
                </c:pt>
                <c:pt idx="52">
                  <c:v>2.783966</c:v>
                </c:pt>
                <c:pt idx="53">
                  <c:v>2.568728</c:v>
                </c:pt>
                <c:pt idx="54">
                  <c:v>2.351405</c:v>
                </c:pt>
                <c:pt idx="55">
                  <c:v>2.126329</c:v>
                </c:pt>
                <c:pt idx="56">
                  <c:v>1.89815</c:v>
                </c:pt>
                <c:pt idx="57">
                  <c:v>1.668353</c:v>
                </c:pt>
                <c:pt idx="58">
                  <c:v>1.431855</c:v>
                </c:pt>
                <c:pt idx="59">
                  <c:v>1.193949</c:v>
                </c:pt>
                <c:pt idx="60">
                  <c:v>0.953481</c:v>
                </c:pt>
                <c:pt idx="61">
                  <c:v>0.71041</c:v>
                </c:pt>
                <c:pt idx="62">
                  <c:v>0.47406</c:v>
                </c:pt>
                <c:pt idx="63">
                  <c:v>0.273403</c:v>
                </c:pt>
                <c:pt idx="64">
                  <c:v>0.145359</c:v>
                </c:pt>
                <c:pt idx="65">
                  <c:v>0.068962</c:v>
                </c:pt>
                <c:pt idx="66">
                  <c:v>0.0042</c:v>
                </c:pt>
                <c:pt idx="67">
                  <c:v>-0.056892</c:v>
                </c:pt>
                <c:pt idx="68">
                  <c:v>-0.120308</c:v>
                </c:pt>
                <c:pt idx="69">
                  <c:v>-0.19759</c:v>
                </c:pt>
                <c:pt idx="70">
                  <c:v>-0.29207</c:v>
                </c:pt>
                <c:pt idx="71">
                  <c:v>-0.417701</c:v>
                </c:pt>
                <c:pt idx="72">
                  <c:v>-0.579348</c:v>
                </c:pt>
                <c:pt idx="73">
                  <c:v>-0.776055</c:v>
                </c:pt>
                <c:pt idx="74">
                  <c:v>-1.002091</c:v>
                </c:pt>
                <c:pt idx="75">
                  <c:v>-1.241223</c:v>
                </c:pt>
                <c:pt idx="76">
                  <c:v>-1.484987</c:v>
                </c:pt>
                <c:pt idx="77">
                  <c:v>-1.727644</c:v>
                </c:pt>
                <c:pt idx="78">
                  <c:v>-1.966566</c:v>
                </c:pt>
                <c:pt idx="79">
                  <c:v>-2.202307</c:v>
                </c:pt>
                <c:pt idx="80">
                  <c:v>-2.431837</c:v>
                </c:pt>
                <c:pt idx="81">
                  <c:v>-2.658707</c:v>
                </c:pt>
                <c:pt idx="82">
                  <c:v>-2.879525</c:v>
                </c:pt>
                <c:pt idx="83">
                  <c:v>-3.094101</c:v>
                </c:pt>
                <c:pt idx="84">
                  <c:v>-3.298709</c:v>
                </c:pt>
                <c:pt idx="85">
                  <c:v>-3.502955</c:v>
                </c:pt>
                <c:pt idx="86">
                  <c:v>-3.696009</c:v>
                </c:pt>
                <c:pt idx="87">
                  <c:v>-3.883828</c:v>
                </c:pt>
                <c:pt idx="88">
                  <c:v>-4.062032</c:v>
                </c:pt>
                <c:pt idx="89">
                  <c:v>-4.232903</c:v>
                </c:pt>
                <c:pt idx="90">
                  <c:v>-4.395189</c:v>
                </c:pt>
                <c:pt idx="91">
                  <c:v>-4.550893</c:v>
                </c:pt>
                <c:pt idx="92">
                  <c:v>-4.698532</c:v>
                </c:pt>
                <c:pt idx="93">
                  <c:v>-4.836505</c:v>
                </c:pt>
                <c:pt idx="94">
                  <c:v>-4.963129</c:v>
                </c:pt>
                <c:pt idx="95">
                  <c:v>-5.08</c:v>
                </c:pt>
                <c:pt idx="96">
                  <c:v>-5.192005</c:v>
                </c:pt>
                <c:pt idx="97">
                  <c:v>-5.287061</c:v>
                </c:pt>
                <c:pt idx="98">
                  <c:v>-5.380055</c:v>
                </c:pt>
                <c:pt idx="99">
                  <c:v>-5.465488</c:v>
                </c:pt>
                <c:pt idx="100">
                  <c:v>-5.534509</c:v>
                </c:pt>
                <c:pt idx="101">
                  <c:v>-5.5951</c:v>
                </c:pt>
                <c:pt idx="102">
                  <c:v>-5.64506</c:v>
                </c:pt>
                <c:pt idx="103">
                  <c:v>-5.685542</c:v>
                </c:pt>
                <c:pt idx="104">
                  <c:v>-5.717673</c:v>
                </c:pt>
                <c:pt idx="105">
                  <c:v>-5.739215</c:v>
                </c:pt>
                <c:pt idx="106">
                  <c:v>-5.751304</c:v>
                </c:pt>
                <c:pt idx="107">
                  <c:v>-5.748325</c:v>
                </c:pt>
                <c:pt idx="108">
                  <c:v>-5.741595</c:v>
                </c:pt>
                <c:pt idx="109">
                  <c:v>-5.722138</c:v>
                </c:pt>
                <c:pt idx="110">
                  <c:v>-5.691207</c:v>
                </c:pt>
                <c:pt idx="111">
                  <c:v>-5.653441</c:v>
                </c:pt>
                <c:pt idx="112">
                  <c:v>-5.600041</c:v>
                </c:pt>
                <c:pt idx="113">
                  <c:v>-5.54253</c:v>
                </c:pt>
                <c:pt idx="114">
                  <c:v>-5.472219</c:v>
                </c:pt>
                <c:pt idx="115">
                  <c:v>-5.39402</c:v>
                </c:pt>
                <c:pt idx="116">
                  <c:v>-5.306177</c:v>
                </c:pt>
                <c:pt idx="117">
                  <c:v>-5.213759</c:v>
                </c:pt>
                <c:pt idx="118">
                  <c:v>-5.105079</c:v>
                </c:pt>
                <c:pt idx="119">
                  <c:v>-4.98881</c:v>
                </c:pt>
                <c:pt idx="120">
                  <c:v>-4.863623</c:v>
                </c:pt>
                <c:pt idx="121">
                  <c:v>-4.728291</c:v>
                </c:pt>
                <c:pt idx="122">
                  <c:v>-4.588474</c:v>
                </c:pt>
                <c:pt idx="123">
                  <c:v>-4.439819</c:v>
                </c:pt>
                <c:pt idx="124">
                  <c:v>-4.284889</c:v>
                </c:pt>
                <c:pt idx="125">
                  <c:v>-4.119645</c:v>
                </c:pt>
                <c:pt idx="126">
                  <c:v>-3.950317</c:v>
                </c:pt>
                <c:pt idx="127">
                  <c:v>-3.769801</c:v>
                </c:pt>
                <c:pt idx="128">
                  <c:v>-3.584649</c:v>
                </c:pt>
                <c:pt idx="129">
                  <c:v>-3.391475</c:v>
                </c:pt>
                <c:pt idx="130">
                  <c:v>-3.193797</c:v>
                </c:pt>
                <c:pt idx="131">
                  <c:v>-2.988565</c:v>
                </c:pt>
                <c:pt idx="132">
                  <c:v>-2.783045</c:v>
                </c:pt>
                <c:pt idx="133">
                  <c:v>-2.567781</c:v>
                </c:pt>
                <c:pt idx="134">
                  <c:v>-2.350432</c:v>
                </c:pt>
                <c:pt idx="135">
                  <c:v>-2.125332</c:v>
                </c:pt>
                <c:pt idx="136">
                  <c:v>-1.900504</c:v>
                </c:pt>
                <c:pt idx="137">
                  <c:v>-1.667292</c:v>
                </c:pt>
                <c:pt idx="138">
                  <c:v>-1.43077</c:v>
                </c:pt>
                <c:pt idx="139">
                  <c:v>-1.19284</c:v>
                </c:pt>
                <c:pt idx="140">
                  <c:v>-0.955719</c:v>
                </c:pt>
                <c:pt idx="141">
                  <c:v>-0.712581</c:v>
                </c:pt>
                <c:pt idx="142">
                  <c:v>-0.476037</c:v>
                </c:pt>
                <c:pt idx="143">
                  <c:v>-0.27473</c:v>
                </c:pt>
                <c:pt idx="144">
                  <c:v>-0.145823</c:v>
                </c:pt>
                <c:pt idx="145">
                  <c:v>-0.069058</c:v>
                </c:pt>
                <c:pt idx="146">
                  <c:v>-0.006211</c:v>
                </c:pt>
                <c:pt idx="147">
                  <c:v>0.056563</c:v>
                </c:pt>
                <c:pt idx="148">
                  <c:v>0.120243</c:v>
                </c:pt>
                <c:pt idx="149">
                  <c:v>0.197572</c:v>
                </c:pt>
                <c:pt idx="150">
                  <c:v>0.292063</c:v>
                </c:pt>
                <c:pt idx="151">
                  <c:v>0.417699</c:v>
                </c:pt>
                <c:pt idx="152">
                  <c:v>0.579348</c:v>
                </c:pt>
                <c:pt idx="153">
                  <c:v>0.776058</c:v>
                </c:pt>
                <c:pt idx="154">
                  <c:v>1.002097</c:v>
                </c:pt>
                <c:pt idx="155">
                  <c:v>1.241233</c:v>
                </c:pt>
                <c:pt idx="156">
                  <c:v>1.485</c:v>
                </c:pt>
                <c:pt idx="157">
                  <c:v>1.727661</c:v>
                </c:pt>
                <c:pt idx="158">
                  <c:v>1.966588</c:v>
                </c:pt>
                <c:pt idx="159">
                  <c:v>2.202333</c:v>
                </c:pt>
              </c:numCache>
            </c:numRef>
          </c:val>
          <c:smooth val="0"/>
        </c:ser>
        <c:ser>
          <c:idx val="1"/>
          <c:order val="1"/>
          <c:tx>
            <c:strRef>
              <c:f>Sheet1!$C$1</c:f>
              <c:strCache>
                <c:ptCount val="1"/>
                <c:pt idx="0">
                  <c:v>개선</c:v>
                </c:pt>
              </c:strCache>
            </c:strRef>
          </c:tx>
          <c:spPr>
            <a:solidFill>
              <a:srgbClr val="008000"/>
            </a:solidFill>
            <a:ln w="22860">
              <a:solidFill>
                <a:srgbClr val="008000"/>
              </a:solidFill>
            </a:ln>
          </c:spPr>
          <c:marker>
            <c:symbol val="none"/>
          </c:marker>
          <c:cat>
            <c:strRef>
              <c:f>Sheet1!$A$2:$A$161</c:f>
              <c:strCache>
                <c:ptCount val="160"/>
                <c:pt idx="0">
                  <c:v>0.0</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5.0</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10.0</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15.0</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19.9</c:v>
                </c:pt>
              </c:strCache>
            </c:strRef>
          </c:cat>
          <c:val>
            <c:numRef>
              <c:f>Sheet1!$C$2:$C$161</c:f>
              <c:numCache>
                <c:formatCode>General</c:formatCode>
                <c:ptCount val="160"/>
                <c:pt idx="0">
                  <c:v>2.763845</c:v>
                </c:pt>
                <c:pt idx="1">
                  <c:v>2.939928</c:v>
                </c:pt>
                <c:pt idx="2">
                  <c:v>3.105351</c:v>
                </c:pt>
                <c:pt idx="3">
                  <c:v>3.264933</c:v>
                </c:pt>
                <c:pt idx="4">
                  <c:v>3.421322</c:v>
                </c:pt>
                <c:pt idx="5">
                  <c:v>3.574448</c:v>
                </c:pt>
                <c:pt idx="6">
                  <c:v>3.728107</c:v>
                </c:pt>
                <c:pt idx="7">
                  <c:v>3.882645</c:v>
                </c:pt>
                <c:pt idx="8">
                  <c:v>4.038108</c:v>
                </c:pt>
                <c:pt idx="9">
                  <c:v>4.190416</c:v>
                </c:pt>
                <c:pt idx="10">
                  <c:v>4.341337</c:v>
                </c:pt>
                <c:pt idx="11">
                  <c:v>4.491667</c:v>
                </c:pt>
                <c:pt idx="12">
                  <c:v>4.634294</c:v>
                </c:pt>
                <c:pt idx="13">
                  <c:v>4.771121</c:v>
                </c:pt>
                <c:pt idx="14">
                  <c:v>4.89976</c:v>
                </c:pt>
                <c:pt idx="15">
                  <c:v>5.017053</c:v>
                </c:pt>
                <c:pt idx="16">
                  <c:v>5.122694</c:v>
                </c:pt>
                <c:pt idx="17">
                  <c:v>5.212642</c:v>
                </c:pt>
                <c:pt idx="18">
                  <c:v>5.293101</c:v>
                </c:pt>
                <c:pt idx="19">
                  <c:v>5.360491</c:v>
                </c:pt>
                <c:pt idx="20">
                  <c:v>5.414969</c:v>
                </c:pt>
                <c:pt idx="21">
                  <c:v>5.460775</c:v>
                </c:pt>
                <c:pt idx="22">
                  <c:v>5.496085</c:v>
                </c:pt>
                <c:pt idx="23">
                  <c:v>5.519818</c:v>
                </c:pt>
                <c:pt idx="24">
                  <c:v>5.538321</c:v>
                </c:pt>
                <c:pt idx="25">
                  <c:v>5.545036</c:v>
                </c:pt>
                <c:pt idx="26">
                  <c:v>5.550704</c:v>
                </c:pt>
                <c:pt idx="27">
                  <c:v>5.55284</c:v>
                </c:pt>
                <c:pt idx="28">
                  <c:v>5.548871</c:v>
                </c:pt>
                <c:pt idx="29">
                  <c:v>5.535924</c:v>
                </c:pt>
                <c:pt idx="30">
                  <c:v>5.514032</c:v>
                </c:pt>
                <c:pt idx="31">
                  <c:v>5.489574</c:v>
                </c:pt>
                <c:pt idx="32">
                  <c:v>5.458147</c:v>
                </c:pt>
                <c:pt idx="33">
                  <c:v>5.417968</c:v>
                </c:pt>
                <c:pt idx="34">
                  <c:v>5.37002</c:v>
                </c:pt>
                <c:pt idx="35">
                  <c:v>5.314728</c:v>
                </c:pt>
                <c:pt idx="36">
                  <c:v>5.245301</c:v>
                </c:pt>
                <c:pt idx="37">
                  <c:v>5.161463</c:v>
                </c:pt>
                <c:pt idx="38">
                  <c:v>5.066467</c:v>
                </c:pt>
                <c:pt idx="39">
                  <c:v>4.96031</c:v>
                </c:pt>
                <c:pt idx="40">
                  <c:v>4.843737</c:v>
                </c:pt>
                <c:pt idx="41">
                  <c:v>4.714583</c:v>
                </c:pt>
                <c:pt idx="42">
                  <c:v>4.578409</c:v>
                </c:pt>
                <c:pt idx="43">
                  <c:v>4.431491</c:v>
                </c:pt>
                <c:pt idx="44">
                  <c:v>4.277867</c:v>
                </c:pt>
                <c:pt idx="45">
                  <c:v>4.119089</c:v>
                </c:pt>
                <c:pt idx="46">
                  <c:v>3.960871</c:v>
                </c:pt>
                <c:pt idx="47">
                  <c:v>3.795966</c:v>
                </c:pt>
                <c:pt idx="48">
                  <c:v>3.634323</c:v>
                </c:pt>
                <c:pt idx="49">
                  <c:v>3.46903</c:v>
                </c:pt>
                <c:pt idx="50">
                  <c:v>3.303132</c:v>
                </c:pt>
                <c:pt idx="51">
                  <c:v>3.135708</c:v>
                </c:pt>
                <c:pt idx="52">
                  <c:v>2.968487</c:v>
                </c:pt>
                <c:pt idx="53">
                  <c:v>2.795451</c:v>
                </c:pt>
                <c:pt idx="54">
                  <c:v>2.616233</c:v>
                </c:pt>
                <c:pt idx="55">
                  <c:v>2.43615</c:v>
                </c:pt>
                <c:pt idx="56">
                  <c:v>2.239127</c:v>
                </c:pt>
                <c:pt idx="57">
                  <c:v>2.031679</c:v>
                </c:pt>
                <c:pt idx="58">
                  <c:v>1.819755</c:v>
                </c:pt>
                <c:pt idx="59">
                  <c:v>1.58844</c:v>
                </c:pt>
                <c:pt idx="60">
                  <c:v>1.34636</c:v>
                </c:pt>
                <c:pt idx="61">
                  <c:v>1.085435</c:v>
                </c:pt>
                <c:pt idx="62">
                  <c:v>0.815524</c:v>
                </c:pt>
                <c:pt idx="63">
                  <c:v>0.534135</c:v>
                </c:pt>
                <c:pt idx="64">
                  <c:v>0.275668</c:v>
                </c:pt>
                <c:pt idx="65">
                  <c:v>0.115722</c:v>
                </c:pt>
                <c:pt idx="66">
                  <c:v>0.020656</c:v>
                </c:pt>
                <c:pt idx="67">
                  <c:v>-0.057626</c:v>
                </c:pt>
                <c:pt idx="68">
                  <c:v>-0.146058</c:v>
                </c:pt>
                <c:pt idx="69">
                  <c:v>-0.253659</c:v>
                </c:pt>
                <c:pt idx="70">
                  <c:v>-0.40197</c:v>
                </c:pt>
                <c:pt idx="71">
                  <c:v>-0.605497</c:v>
                </c:pt>
                <c:pt idx="72">
                  <c:v>-0.854292</c:v>
                </c:pt>
                <c:pt idx="73">
                  <c:v>-1.126304</c:v>
                </c:pt>
                <c:pt idx="74">
                  <c:v>-1.405372</c:v>
                </c:pt>
                <c:pt idx="75">
                  <c:v>-1.672809</c:v>
                </c:pt>
                <c:pt idx="76">
                  <c:v>-1.923421</c:v>
                </c:pt>
                <c:pt idx="77">
                  <c:v>-2.159572</c:v>
                </c:pt>
                <c:pt idx="78">
                  <c:v>-2.378104</c:v>
                </c:pt>
                <c:pt idx="79">
                  <c:v>-2.577366</c:v>
                </c:pt>
                <c:pt idx="80">
                  <c:v>-2.764077</c:v>
                </c:pt>
                <c:pt idx="81">
                  <c:v>-2.940181</c:v>
                </c:pt>
                <c:pt idx="82">
                  <c:v>-3.10563</c:v>
                </c:pt>
                <c:pt idx="83">
                  <c:v>-3.265241</c:v>
                </c:pt>
                <c:pt idx="84">
                  <c:v>-3.421661</c:v>
                </c:pt>
                <c:pt idx="85">
                  <c:v>-3.574821</c:v>
                </c:pt>
                <c:pt idx="86">
                  <c:v>-3.728515</c:v>
                </c:pt>
                <c:pt idx="87">
                  <c:v>-3.88309</c:v>
                </c:pt>
                <c:pt idx="88">
                  <c:v>-4.038589</c:v>
                </c:pt>
                <c:pt idx="89">
                  <c:v>-4.190931</c:v>
                </c:pt>
                <c:pt idx="90">
                  <c:v>-4.341882</c:v>
                </c:pt>
                <c:pt idx="91">
                  <c:v>-4.492238</c:v>
                </c:pt>
                <c:pt idx="92">
                  <c:v>-4.634848</c:v>
                </c:pt>
                <c:pt idx="93">
                  <c:v>-4.771693</c:v>
                </c:pt>
                <c:pt idx="94">
                  <c:v>-4.900347</c:v>
                </c:pt>
                <c:pt idx="95">
                  <c:v>-5.017652</c:v>
                </c:pt>
                <c:pt idx="96">
                  <c:v>-5.119873</c:v>
                </c:pt>
                <c:pt idx="97">
                  <c:v>-5.20975</c:v>
                </c:pt>
                <c:pt idx="98">
                  <c:v>-5.293573</c:v>
                </c:pt>
                <c:pt idx="99">
                  <c:v>-5.360985</c:v>
                </c:pt>
                <c:pt idx="100">
                  <c:v>-5.415492</c:v>
                </c:pt>
                <c:pt idx="101">
                  <c:v>-5.461333</c:v>
                </c:pt>
                <c:pt idx="102">
                  <c:v>-5.496682</c:v>
                </c:pt>
                <c:pt idx="103">
                  <c:v>-5.52046</c:v>
                </c:pt>
                <c:pt idx="104">
                  <c:v>-5.539009</c:v>
                </c:pt>
                <c:pt idx="105">
                  <c:v>-5.54577</c:v>
                </c:pt>
                <c:pt idx="106">
                  <c:v>-5.551485</c:v>
                </c:pt>
                <c:pt idx="107">
                  <c:v>-5.553666</c:v>
                </c:pt>
                <c:pt idx="108">
                  <c:v>-5.549739</c:v>
                </c:pt>
                <c:pt idx="109">
                  <c:v>-5.536828</c:v>
                </c:pt>
                <c:pt idx="110">
                  <c:v>-5.514967</c:v>
                </c:pt>
                <c:pt idx="111">
                  <c:v>-5.490535</c:v>
                </c:pt>
                <c:pt idx="112">
                  <c:v>-5.459125</c:v>
                </c:pt>
                <c:pt idx="113">
                  <c:v>-5.418956</c:v>
                </c:pt>
                <c:pt idx="114">
                  <c:v>-5.371011</c:v>
                </c:pt>
                <c:pt idx="115">
                  <c:v>-5.312267</c:v>
                </c:pt>
                <c:pt idx="116">
                  <c:v>-5.242757</c:v>
                </c:pt>
                <c:pt idx="117">
                  <c:v>-5.162289</c:v>
                </c:pt>
                <c:pt idx="118">
                  <c:v>-5.0673</c:v>
                </c:pt>
                <c:pt idx="119">
                  <c:v>-4.961153</c:v>
                </c:pt>
                <c:pt idx="120">
                  <c:v>-4.844595</c:v>
                </c:pt>
                <c:pt idx="121">
                  <c:v>-4.71546</c:v>
                </c:pt>
                <c:pt idx="122">
                  <c:v>-4.575859</c:v>
                </c:pt>
                <c:pt idx="123">
                  <c:v>-4.42893</c:v>
                </c:pt>
                <c:pt idx="124">
                  <c:v>-4.278693</c:v>
                </c:pt>
                <c:pt idx="125">
                  <c:v>-4.119961</c:v>
                </c:pt>
                <c:pt idx="126">
                  <c:v>-3.961793</c:v>
                </c:pt>
                <c:pt idx="127">
                  <c:v>-3.796941</c:v>
                </c:pt>
                <c:pt idx="128">
                  <c:v>-3.631922</c:v>
                </c:pt>
                <c:pt idx="129">
                  <c:v>-3.470054</c:v>
                </c:pt>
                <c:pt idx="130">
                  <c:v>-3.304211</c:v>
                </c:pt>
                <c:pt idx="131">
                  <c:v>-3.13684</c:v>
                </c:pt>
                <c:pt idx="132">
                  <c:v>-2.969668</c:v>
                </c:pt>
                <c:pt idx="133">
                  <c:v>-2.796677</c:v>
                </c:pt>
                <c:pt idx="134">
                  <c:v>-2.617496</c:v>
                </c:pt>
                <c:pt idx="135">
                  <c:v>-2.434055</c:v>
                </c:pt>
                <c:pt idx="136">
                  <c:v>-2.236978</c:v>
                </c:pt>
                <c:pt idx="137">
                  <c:v>-2.032863</c:v>
                </c:pt>
                <c:pt idx="138">
                  <c:v>-1.820968</c:v>
                </c:pt>
                <c:pt idx="139">
                  <c:v>-1.589683</c:v>
                </c:pt>
                <c:pt idx="140">
                  <c:v>-1.344187</c:v>
                </c:pt>
                <c:pt idx="141">
                  <c:v>-1.086629</c:v>
                </c:pt>
                <c:pt idx="142">
                  <c:v>-0.813343</c:v>
                </c:pt>
                <c:pt idx="143">
                  <c:v>-0.535337</c:v>
                </c:pt>
                <c:pt idx="144">
                  <c:v>-0.276592</c:v>
                </c:pt>
                <c:pt idx="145">
                  <c:v>-0.116067</c:v>
                </c:pt>
                <c:pt idx="146">
                  <c:v>-0.02076</c:v>
                </c:pt>
                <c:pt idx="147">
                  <c:v>0.057568</c:v>
                </c:pt>
                <c:pt idx="148">
                  <c:v>0.146002</c:v>
                </c:pt>
                <c:pt idx="149">
                  <c:v>0.25359</c:v>
                </c:pt>
                <c:pt idx="150">
                  <c:v>0.401875</c:v>
                </c:pt>
                <c:pt idx="151">
                  <c:v>0.605368</c:v>
                </c:pt>
                <c:pt idx="152">
                  <c:v>0.854132</c:v>
                </c:pt>
                <c:pt idx="153">
                  <c:v>1.126126</c:v>
                </c:pt>
                <c:pt idx="154">
                  <c:v>1.405189</c:v>
                </c:pt>
                <c:pt idx="155">
                  <c:v>1.672635</c:v>
                </c:pt>
                <c:pt idx="156">
                  <c:v>1.923264</c:v>
                </c:pt>
                <c:pt idx="157">
                  <c:v>2.15944</c:v>
                </c:pt>
                <c:pt idx="158">
                  <c:v>2.378</c:v>
                </c:pt>
                <c:pt idx="159">
                  <c:v>2.57729</c:v>
                </c:pt>
              </c:numCache>
            </c:numRef>
          </c:val>
          <c:smooth val="0"/>
        </c:ser>
        <c:ser>
          <c:idx val="2"/>
          <c:order val="2"/>
          <c:tx>
            <c:strRef>
              <c:f>Sheet1!$D$1</c:f>
              <c:strCache>
                <c:ptCount val="1"/>
                <c:pt idx="0">
                  <c:v>지령</c:v>
                </c:pt>
              </c:strCache>
            </c:strRef>
          </c:tx>
          <c:spPr>
            <a:solidFill>
              <a:srgbClr val="C00000"/>
            </a:solidFill>
            <a:ln w="12700">
              <a:solidFill>
                <a:srgbClr val="C00000"/>
              </a:solidFill>
              <a:prstDash val="dash"/>
            </a:ln>
          </c:spPr>
          <c:marker>
            <c:symbol val="none"/>
          </c:marker>
          <c:cat>
            <c:strRef>
              <c:f>Sheet1!$A$2:$A$161</c:f>
              <c:strCache>
                <c:ptCount val="160"/>
                <c:pt idx="0">
                  <c:v>0.0</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5.0</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10.0</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15.0</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19.9</c:v>
                </c:pt>
              </c:strCache>
            </c:strRef>
          </c:cat>
          <c:val>
            <c:numRef>
              <c:f>Sheet1!$D$2:$D$161</c:f>
              <c:numCache>
                <c:formatCode>General</c:formatCode>
                <c:ptCount val="160"/>
                <c:pt idx="0">
                  <c:v>2.743353</c:v>
                </c:pt>
                <c:pt idx="1">
                  <c:v>2.929921</c:v>
                </c:pt>
                <c:pt idx="2">
                  <c:v>3.111971</c:v>
                </c:pt>
                <c:pt idx="3">
                  <c:v>3.289223</c:v>
                </c:pt>
                <c:pt idx="4">
                  <c:v>3.461403</c:v>
                </c:pt>
                <c:pt idx="5">
                  <c:v>3.628246</c:v>
                </c:pt>
                <c:pt idx="6">
                  <c:v>3.789494</c:v>
                </c:pt>
                <c:pt idx="7">
                  <c:v>3.9449</c:v>
                </c:pt>
                <c:pt idx="8">
                  <c:v>4.094222</c:v>
                </c:pt>
                <c:pt idx="9">
                  <c:v>4.237232</c:v>
                </c:pt>
                <c:pt idx="10">
                  <c:v>4.373708</c:v>
                </c:pt>
                <c:pt idx="11">
                  <c:v>4.503441</c:v>
                </c:pt>
                <c:pt idx="12">
                  <c:v>4.626229</c:v>
                </c:pt>
                <c:pt idx="13">
                  <c:v>4.741885</c:v>
                </c:pt>
                <c:pt idx="14">
                  <c:v>4.850228</c:v>
                </c:pt>
                <c:pt idx="15">
                  <c:v>4.951093</c:v>
                </c:pt>
                <c:pt idx="16">
                  <c:v>5.044324</c:v>
                </c:pt>
                <c:pt idx="17">
                  <c:v>5.129777</c:v>
                </c:pt>
                <c:pt idx="18">
                  <c:v>5.20732</c:v>
                </c:pt>
                <c:pt idx="19">
                  <c:v>5.276834</c:v>
                </c:pt>
                <c:pt idx="20">
                  <c:v>5.338211</c:v>
                </c:pt>
                <c:pt idx="21">
                  <c:v>5.391357</c:v>
                </c:pt>
                <c:pt idx="22">
                  <c:v>5.43619</c:v>
                </c:pt>
                <c:pt idx="23">
                  <c:v>5.472641</c:v>
                </c:pt>
                <c:pt idx="24">
                  <c:v>5.500654</c:v>
                </c:pt>
                <c:pt idx="25">
                  <c:v>5.520185</c:v>
                </c:pt>
                <c:pt idx="26">
                  <c:v>5.531204</c:v>
                </c:pt>
                <c:pt idx="27">
                  <c:v>5.533694</c:v>
                </c:pt>
                <c:pt idx="28">
                  <c:v>5.527652</c:v>
                </c:pt>
                <c:pt idx="29">
                  <c:v>5.513087</c:v>
                </c:pt>
                <c:pt idx="30">
                  <c:v>5.49002</c:v>
                </c:pt>
                <c:pt idx="31">
                  <c:v>5.458489</c:v>
                </c:pt>
                <c:pt idx="32">
                  <c:v>5.41854</c:v>
                </c:pt>
                <c:pt idx="33">
                  <c:v>5.370237</c:v>
                </c:pt>
                <c:pt idx="34">
                  <c:v>5.313653</c:v>
                </c:pt>
                <c:pt idx="35">
                  <c:v>5.248876</c:v>
                </c:pt>
                <c:pt idx="36">
                  <c:v>5.176006</c:v>
                </c:pt>
                <c:pt idx="37">
                  <c:v>5.095154</c:v>
                </c:pt>
                <c:pt idx="38">
                  <c:v>5.006446</c:v>
                </c:pt>
                <c:pt idx="39">
                  <c:v>4.910018</c:v>
                </c:pt>
                <c:pt idx="40">
                  <c:v>4.806019</c:v>
                </c:pt>
                <c:pt idx="41">
                  <c:v>4.69461</c:v>
                </c:pt>
                <c:pt idx="42">
                  <c:v>4.575962</c:v>
                </c:pt>
                <c:pt idx="43">
                  <c:v>4.450258</c:v>
                </c:pt>
                <c:pt idx="44">
                  <c:v>4.317692</c:v>
                </c:pt>
                <c:pt idx="45">
                  <c:v>4.178469</c:v>
                </c:pt>
                <c:pt idx="46">
                  <c:v>4.032802</c:v>
                </c:pt>
                <c:pt idx="47">
                  <c:v>3.880918</c:v>
                </c:pt>
                <c:pt idx="48">
                  <c:v>3.723049</c:v>
                </c:pt>
                <c:pt idx="49">
                  <c:v>3.55944</c:v>
                </c:pt>
                <c:pt idx="50">
                  <c:v>3.390342</c:v>
                </c:pt>
                <c:pt idx="51">
                  <c:v>3.216016</c:v>
                </c:pt>
                <c:pt idx="52">
                  <c:v>3.036732</c:v>
                </c:pt>
                <c:pt idx="53">
                  <c:v>2.852765</c:v>
                </c:pt>
                <c:pt idx="54">
                  <c:v>2.6644</c:v>
                </c:pt>
                <c:pt idx="55">
                  <c:v>2.471926</c:v>
                </c:pt>
                <c:pt idx="56">
                  <c:v>2.275641</c:v>
                </c:pt>
                <c:pt idx="57">
                  <c:v>2.075847</c:v>
                </c:pt>
                <c:pt idx="58">
                  <c:v>1.872852</c:v>
                </c:pt>
                <c:pt idx="59">
                  <c:v>1.666969</c:v>
                </c:pt>
                <c:pt idx="60">
                  <c:v>1.458516</c:v>
                </c:pt>
                <c:pt idx="61">
                  <c:v>1.247815</c:v>
                </c:pt>
                <c:pt idx="62">
                  <c:v>1.035189</c:v>
                </c:pt>
                <c:pt idx="63">
                  <c:v>0.820967</c:v>
                </c:pt>
                <c:pt idx="64">
                  <c:v>0.60548</c:v>
                </c:pt>
                <c:pt idx="65">
                  <c:v>0.389058</c:v>
                </c:pt>
                <c:pt idx="66">
                  <c:v>0.172037</c:v>
                </c:pt>
                <c:pt idx="67">
                  <c:v>-0.045249</c:v>
                </c:pt>
                <c:pt idx="68">
                  <c:v>-0.262465</c:v>
                </c:pt>
                <c:pt idx="69">
                  <c:v>-0.479277</c:v>
                </c:pt>
                <c:pt idx="70">
                  <c:v>-0.69535</c:v>
                </c:pt>
                <c:pt idx="71">
                  <c:v>-0.91035</c:v>
                </c:pt>
                <c:pt idx="72">
                  <c:v>-1.123947</c:v>
                </c:pt>
                <c:pt idx="73">
                  <c:v>-1.335811</c:v>
                </c:pt>
                <c:pt idx="74">
                  <c:v>-1.545615</c:v>
                </c:pt>
                <c:pt idx="75">
                  <c:v>-1.753036</c:v>
                </c:pt>
                <c:pt idx="76">
                  <c:v>-1.957753</c:v>
                </c:pt>
                <c:pt idx="77">
                  <c:v>-2.159452</c:v>
                </c:pt>
                <c:pt idx="78">
                  <c:v>-2.357821</c:v>
                </c:pt>
                <c:pt idx="79">
                  <c:v>-2.552555</c:v>
                </c:pt>
                <c:pt idx="80">
                  <c:v>-2.743353</c:v>
                </c:pt>
                <c:pt idx="81">
                  <c:v>-2.929921</c:v>
                </c:pt>
                <c:pt idx="82">
                  <c:v>-3.111971</c:v>
                </c:pt>
                <c:pt idx="83">
                  <c:v>-3.289223</c:v>
                </c:pt>
                <c:pt idx="84">
                  <c:v>-3.461403</c:v>
                </c:pt>
                <c:pt idx="85">
                  <c:v>-3.628246</c:v>
                </c:pt>
                <c:pt idx="86">
                  <c:v>-3.789494</c:v>
                </c:pt>
                <c:pt idx="87">
                  <c:v>-3.9449</c:v>
                </c:pt>
                <c:pt idx="88">
                  <c:v>-4.094222</c:v>
                </c:pt>
                <c:pt idx="89">
                  <c:v>-4.237232</c:v>
                </c:pt>
                <c:pt idx="90">
                  <c:v>-4.373708</c:v>
                </c:pt>
                <c:pt idx="91">
                  <c:v>-4.503441</c:v>
                </c:pt>
                <c:pt idx="92">
                  <c:v>-4.626229</c:v>
                </c:pt>
                <c:pt idx="93">
                  <c:v>-4.741885</c:v>
                </c:pt>
                <c:pt idx="94">
                  <c:v>-4.850228</c:v>
                </c:pt>
                <c:pt idx="95">
                  <c:v>-4.951093</c:v>
                </c:pt>
                <c:pt idx="96">
                  <c:v>-5.044324</c:v>
                </c:pt>
                <c:pt idx="97">
                  <c:v>-5.129777</c:v>
                </c:pt>
                <c:pt idx="98">
                  <c:v>-5.20732</c:v>
                </c:pt>
                <c:pt idx="99">
                  <c:v>-5.276834</c:v>
                </c:pt>
                <c:pt idx="100">
                  <c:v>-5.338211</c:v>
                </c:pt>
                <c:pt idx="101">
                  <c:v>-5.391357</c:v>
                </c:pt>
                <c:pt idx="102">
                  <c:v>-5.43619</c:v>
                </c:pt>
                <c:pt idx="103">
                  <c:v>-5.472641</c:v>
                </c:pt>
                <c:pt idx="104">
                  <c:v>-5.500654</c:v>
                </c:pt>
                <c:pt idx="105">
                  <c:v>-5.520185</c:v>
                </c:pt>
                <c:pt idx="106">
                  <c:v>-5.531204</c:v>
                </c:pt>
                <c:pt idx="107">
                  <c:v>-5.533694</c:v>
                </c:pt>
                <c:pt idx="108">
                  <c:v>-5.527652</c:v>
                </c:pt>
                <c:pt idx="109">
                  <c:v>-5.513087</c:v>
                </c:pt>
                <c:pt idx="110">
                  <c:v>-5.49002</c:v>
                </c:pt>
                <c:pt idx="111">
                  <c:v>-5.458489</c:v>
                </c:pt>
                <c:pt idx="112">
                  <c:v>-5.41854</c:v>
                </c:pt>
                <c:pt idx="113">
                  <c:v>-5.370237</c:v>
                </c:pt>
                <c:pt idx="114">
                  <c:v>-5.313653</c:v>
                </c:pt>
                <c:pt idx="115">
                  <c:v>-5.248876</c:v>
                </c:pt>
                <c:pt idx="116">
                  <c:v>-5.176006</c:v>
                </c:pt>
                <c:pt idx="117">
                  <c:v>-5.095154</c:v>
                </c:pt>
                <c:pt idx="118">
                  <c:v>-5.006446</c:v>
                </c:pt>
                <c:pt idx="119">
                  <c:v>-4.910018</c:v>
                </c:pt>
                <c:pt idx="120">
                  <c:v>-4.806019</c:v>
                </c:pt>
                <c:pt idx="121">
                  <c:v>-4.69461</c:v>
                </c:pt>
                <c:pt idx="122">
                  <c:v>-4.575962</c:v>
                </c:pt>
                <c:pt idx="123">
                  <c:v>-4.450258</c:v>
                </c:pt>
                <c:pt idx="124">
                  <c:v>-4.317692</c:v>
                </c:pt>
                <c:pt idx="125">
                  <c:v>-4.178469</c:v>
                </c:pt>
                <c:pt idx="126">
                  <c:v>-4.032802</c:v>
                </c:pt>
                <c:pt idx="127">
                  <c:v>-3.880918</c:v>
                </c:pt>
                <c:pt idx="128">
                  <c:v>-3.723049</c:v>
                </c:pt>
                <c:pt idx="129">
                  <c:v>-3.55944</c:v>
                </c:pt>
                <c:pt idx="130">
                  <c:v>-3.390342</c:v>
                </c:pt>
                <c:pt idx="131">
                  <c:v>-3.216016</c:v>
                </c:pt>
                <c:pt idx="132">
                  <c:v>-3.036732</c:v>
                </c:pt>
                <c:pt idx="133">
                  <c:v>-2.852765</c:v>
                </c:pt>
                <c:pt idx="134">
                  <c:v>-2.6644</c:v>
                </c:pt>
                <c:pt idx="135">
                  <c:v>-2.471926</c:v>
                </c:pt>
                <c:pt idx="136">
                  <c:v>-2.275641</c:v>
                </c:pt>
                <c:pt idx="137">
                  <c:v>-2.075847</c:v>
                </c:pt>
                <c:pt idx="138">
                  <c:v>-1.872852</c:v>
                </c:pt>
                <c:pt idx="139">
                  <c:v>-1.666969</c:v>
                </c:pt>
                <c:pt idx="140">
                  <c:v>-1.458516</c:v>
                </c:pt>
                <c:pt idx="141">
                  <c:v>-1.247815</c:v>
                </c:pt>
                <c:pt idx="142">
                  <c:v>-1.035189</c:v>
                </c:pt>
                <c:pt idx="143">
                  <c:v>-0.820967</c:v>
                </c:pt>
                <c:pt idx="144">
                  <c:v>-0.60548</c:v>
                </c:pt>
                <c:pt idx="145">
                  <c:v>-0.389058</c:v>
                </c:pt>
                <c:pt idx="146">
                  <c:v>-0.172037</c:v>
                </c:pt>
                <c:pt idx="147">
                  <c:v>0.045249</c:v>
                </c:pt>
                <c:pt idx="148">
                  <c:v>0.262465</c:v>
                </c:pt>
                <c:pt idx="149">
                  <c:v>0.479277</c:v>
                </c:pt>
                <c:pt idx="150">
                  <c:v>0.69535</c:v>
                </c:pt>
                <c:pt idx="151">
                  <c:v>0.91035</c:v>
                </c:pt>
                <c:pt idx="152">
                  <c:v>1.123947</c:v>
                </c:pt>
                <c:pt idx="153">
                  <c:v>1.335811</c:v>
                </c:pt>
                <c:pt idx="154">
                  <c:v>1.545615</c:v>
                </c:pt>
                <c:pt idx="155">
                  <c:v>1.753036</c:v>
                </c:pt>
                <c:pt idx="156">
                  <c:v>1.957753</c:v>
                </c:pt>
                <c:pt idx="157">
                  <c:v>2.159452</c:v>
                </c:pt>
                <c:pt idx="158">
                  <c:v>2.357821</c:v>
                </c:pt>
                <c:pt idx="159">
                  <c:v>2.552555</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tickLblSkip val="1"/>
        <c:tickMarkSkip val="1"/>
        <c:noMultiLvlLbl val="0"/>
      </c:catAx>
      <c:valAx>
        <c:axId val="2140495176"/>
        <c:scaling>
          <c:max val="6.0"/>
          <c:min val="-6.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majorUnit val="3.0"/>
      </c:valAx>
    </c:plotArea>
    <c:legend>
      <c:legendPos val="b"/>
      <c:layout/>
      <c:overlay val="0"/>
      <c:txPr>
        <a:bodyPr/>
        <a:lstStyle/>
        <a:p>
          <a:pPr>
            <a:defRPr sz="1000">
              <a:latin typeface="Malgun Gothic"/>
            </a:defRPr>
          </a:pPr>
        </a:p>
      </c:txPr>
    </c:legend>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초기</c:v>
                </c:pt>
              </c:strCache>
            </c:strRef>
          </c:tx>
          <c:spPr>
            <a:solidFill>
              <a:srgbClr val="757575"/>
            </a:solidFill>
            <a:ln w="22860">
              <a:solidFill>
                <a:srgbClr val="757575"/>
              </a:solidFill>
            </a:ln>
          </c:spPr>
          <c:cat>
            <c:strRef>
              <c:f>Sheet1!$A$2:$A$8</c:f>
              <c:strCache>
                <c:ptCount val="7"/>
                <c:pt idx="0">
                  <c:v>3</c:v>
                </c:pt>
                <c:pt idx="1">
                  <c:v>5</c:v>
                </c:pt>
                <c:pt idx="2">
                  <c:v>7</c:v>
                </c:pt>
                <c:pt idx="3">
                  <c:v>9</c:v>
                </c:pt>
                <c:pt idx="4">
                  <c:v>11</c:v>
                </c:pt>
                <c:pt idx="5">
                  <c:v>13</c:v>
                </c:pt>
                <c:pt idx="6">
                  <c:v>15</c:v>
                </c:pt>
              </c:strCache>
            </c:strRef>
          </c:cat>
          <c:val>
            <c:numRef>
              <c:f>Sheet1!$B$2:$B$8</c:f>
              <c:numCache>
                <c:formatCode>General</c:formatCode>
                <c:ptCount val="7"/>
                <c:pt idx="0">
                  <c:v>5.911801449022963</c:v>
                </c:pt>
                <c:pt idx="1">
                  <c:v>3.182890800799124</c:v>
                </c:pt>
                <c:pt idx="2">
                  <c:v>1.933317000141911</c:v>
                </c:pt>
                <c:pt idx="3">
                  <c:v>1.2060294970148295</c:v>
                </c:pt>
                <c:pt idx="4">
                  <c:v>0.750835467920876</c:v>
                </c:pt>
                <c:pt idx="5">
                  <c:v>0.4394636472086618</c:v>
                </c:pt>
                <c:pt idx="6">
                  <c:v>0.23960188121537976</c:v>
                </c:pt>
              </c:numCache>
            </c:numRef>
          </c:val>
        </c:ser>
        <c:ser>
          <c:idx val="1"/>
          <c:order val="1"/>
          <c:tx>
            <c:strRef>
              <c:f>Sheet1!$C$1</c:f>
              <c:strCache>
                <c:ptCount val="1"/>
                <c:pt idx="0">
                  <c:v>개선</c:v>
                </c:pt>
              </c:strCache>
            </c:strRef>
          </c:tx>
          <c:spPr>
            <a:solidFill>
              <a:srgbClr val="008000"/>
            </a:solidFill>
            <a:ln w="22860">
              <a:solidFill>
                <a:srgbClr val="008000"/>
              </a:solidFill>
            </a:ln>
          </c:spPr>
          <c:cat>
            <c:strRef>
              <c:f>Sheet1!$A$2:$A$8</c:f>
              <c:strCache>
                <c:ptCount val="7"/>
                <c:pt idx="0">
                  <c:v>3</c:v>
                </c:pt>
                <c:pt idx="1">
                  <c:v>5</c:v>
                </c:pt>
                <c:pt idx="2">
                  <c:v>7</c:v>
                </c:pt>
                <c:pt idx="3">
                  <c:v>9</c:v>
                </c:pt>
                <c:pt idx="4">
                  <c:v>11</c:v>
                </c:pt>
                <c:pt idx="5">
                  <c:v>13</c:v>
                </c:pt>
                <c:pt idx="6">
                  <c:v>15</c:v>
                </c:pt>
              </c:strCache>
            </c:strRef>
          </c:cat>
          <c:val>
            <c:numRef>
              <c:f>Sheet1!$C$2:$C$8</c:f>
              <c:numCache>
                <c:formatCode>General</c:formatCode>
                <c:ptCount val="7"/>
                <c:pt idx="0">
                  <c:v>1.4735186149329176</c:v>
                </c:pt>
                <c:pt idx="1">
                  <c:v>0.8302432664218586</c:v>
                </c:pt>
                <c:pt idx="2">
                  <c:v>0.5748680842661135</c:v>
                </c:pt>
                <c:pt idx="3">
                  <c:v>1.5401030116716883</c:v>
                </c:pt>
                <c:pt idx="4">
                  <c:v>1.0669492407888024</c:v>
                </c:pt>
                <c:pt idx="5">
                  <c:v>0.7028339971154555</c:v>
                </c:pt>
                <c:pt idx="6">
                  <c:v>0.48859114614713767</c:v>
                </c:pt>
              </c:numCache>
            </c:numRef>
          </c:val>
        </c:ser>
        <c:gapWidth val="70"/>
        <c:axId val="-2068027336"/>
        <c:axId val="-2113994440"/>
      </c:barChart>
      <c:catAx>
        <c:axId val="-2068027336"/>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13994440"/>
        <c:crosses val="autoZero"/>
        <c:auto val="1"/>
        <c:lblAlgn val="ctr"/>
        <c:lblOffset val="100"/>
        <c:noMultiLvlLbl val="0"/>
      </c:catAx>
      <c:valAx>
        <c:axId val="-2113994440"/>
        <c:scaling>
          <c:max val="7.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068027336"/>
        <c:crosses val="autoZero"/>
        <c:majorUnit val="1.0"/>
      </c:valAx>
    </c:plotArea>
    <c:legend>
      <c:legendPos val="b"/>
      <c:overlay val="0"/>
      <c:txPr>
        <a:bodyPr/>
        <a:lstStyle/>
        <a:p>
          <a:pPr>
            <a:defRPr sz="1000">
              <a:latin typeface="Malgun Gothic"/>
            </a:defRPr>
          </a:pPr>
        </a:p>
      </c:txPr>
    </c:legend>
    <c:dispBlanksAs val="gap"/>
  </c:chart>
  <c:txPr>
    <a:bodyPr/>
    <a:lstStyle/>
    <a:p>
      <a:pPr>
        <a:defRPr sz="1000">
          <a:latin typeface="Malgun Gothic"/>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초기</c:v>
                </c:pt>
              </c:strCache>
            </c:strRef>
          </c:tx>
          <c:spPr>
            <a:solidFill>
              <a:srgbClr val="757575"/>
            </a:solidFill>
            <a:ln w="22860">
              <a:noFill/>
            </a:ln>
          </c:spPr>
          <c:marker>
            <c:symbol val="circle"/>
            <c:size val="4"/>
            <c:spPr>
              <a:solidFill>
                <a:srgbClr val="757575"/>
              </a:solidFill>
              <a:ln>
                <a:solidFill>
                  <a:srgbClr val="757575"/>
                </a:solidFill>
              </a:ln>
            </c:spPr>
          </c:marker>
          <c:cat>
            <c:strRef>
              <c:f>Sheet1!$A$2:$A$61</c:f>
              <c:strCache>
                <c:ptCount val="60"/>
                <c:pt idx="0">
                  <c:v>H001</c:v>
                </c:pt>
                <c:pt idx="1">
                  <c:v/>
                </c:pt>
                <c:pt idx="2">
                  <c:v/>
                </c:pt>
                <c:pt idx="3">
                  <c:v/>
                </c:pt>
                <c:pt idx="4">
                  <c:v/>
                </c:pt>
                <c:pt idx="5">
                  <c:v/>
                </c:pt>
                <c:pt idx="6">
                  <c:v/>
                </c:pt>
                <c:pt idx="7">
                  <c:v/>
                </c:pt>
                <c:pt idx="8">
                  <c:v/>
                </c:pt>
                <c:pt idx="9">
                  <c:v/>
                </c:pt>
                <c:pt idx="10">
                  <c:v/>
                </c:pt>
                <c:pt idx="11">
                  <c:v/>
                </c:pt>
                <c:pt idx="12">
                  <c:v>H013</c:v>
                </c:pt>
                <c:pt idx="13">
                  <c:v/>
                </c:pt>
                <c:pt idx="14">
                  <c:v/>
                </c:pt>
                <c:pt idx="15">
                  <c:v/>
                </c:pt>
                <c:pt idx="16">
                  <c:v/>
                </c:pt>
                <c:pt idx="17">
                  <c:v/>
                </c:pt>
                <c:pt idx="18">
                  <c:v/>
                </c:pt>
                <c:pt idx="19">
                  <c:v/>
                </c:pt>
                <c:pt idx="20">
                  <c:v/>
                </c:pt>
                <c:pt idx="21">
                  <c:v/>
                </c:pt>
                <c:pt idx="22">
                  <c:v/>
                </c:pt>
                <c:pt idx="23">
                  <c:v/>
                </c:pt>
                <c:pt idx="24">
                  <c:v>H025</c:v>
                </c:pt>
                <c:pt idx="25">
                  <c:v/>
                </c:pt>
                <c:pt idx="26">
                  <c:v/>
                </c:pt>
                <c:pt idx="27">
                  <c:v/>
                </c:pt>
                <c:pt idx="28">
                  <c:v/>
                </c:pt>
                <c:pt idx="29">
                  <c:v/>
                </c:pt>
                <c:pt idx="30">
                  <c:v/>
                </c:pt>
                <c:pt idx="31">
                  <c:v/>
                </c:pt>
                <c:pt idx="32">
                  <c:v/>
                </c:pt>
                <c:pt idx="33">
                  <c:v/>
                </c:pt>
                <c:pt idx="34">
                  <c:v/>
                </c:pt>
                <c:pt idx="35">
                  <c:v/>
                </c:pt>
                <c:pt idx="36">
                  <c:v>H037</c:v>
                </c:pt>
                <c:pt idx="37">
                  <c:v/>
                </c:pt>
                <c:pt idx="38">
                  <c:v/>
                </c:pt>
                <c:pt idx="39">
                  <c:v/>
                </c:pt>
                <c:pt idx="40">
                  <c:v/>
                </c:pt>
                <c:pt idx="41">
                  <c:v/>
                </c:pt>
                <c:pt idx="42">
                  <c:v/>
                </c:pt>
                <c:pt idx="43">
                  <c:v/>
                </c:pt>
                <c:pt idx="44">
                  <c:v/>
                </c:pt>
                <c:pt idx="45">
                  <c:v/>
                </c:pt>
                <c:pt idx="46">
                  <c:v/>
                </c:pt>
                <c:pt idx="47">
                  <c:v/>
                </c:pt>
                <c:pt idx="48">
                  <c:v>H049</c:v>
                </c:pt>
                <c:pt idx="49">
                  <c:v/>
                </c:pt>
                <c:pt idx="50">
                  <c:v/>
                </c:pt>
                <c:pt idx="51">
                  <c:v/>
                </c:pt>
                <c:pt idx="52">
                  <c:v/>
                </c:pt>
                <c:pt idx="53">
                  <c:v/>
                </c:pt>
                <c:pt idx="54">
                  <c:v/>
                </c:pt>
                <c:pt idx="55">
                  <c:v/>
                </c:pt>
                <c:pt idx="56">
                  <c:v/>
                </c:pt>
                <c:pt idx="57">
                  <c:v/>
                </c:pt>
                <c:pt idx="58">
                  <c:v/>
                </c:pt>
                <c:pt idx="59">
                  <c:v>H060</c:v>
                </c:pt>
              </c:strCache>
            </c:strRef>
          </c:cat>
          <c:val>
            <c:numRef>
              <c:f>Sheet1!$B$2:$B$61</c:f>
              <c:numCache>
                <c:formatCode>General</c:formatCode>
                <c:ptCount val="60"/>
                <c:pt idx="0">
                  <c:v>6.93093084227511</c:v>
                </c:pt>
                <c:pt idx="1">
                  <c:v>7.4585425117752</c:v>
                </c:pt>
                <c:pt idx="2">
                  <c:v>4.15430864495482</c:v>
                </c:pt>
                <c:pt idx="3">
                  <c:v>7.3072576566445</c:v>
                </c:pt>
                <c:pt idx="4">
                  <c:v>4.04794462366549</c:v>
                </c:pt>
                <c:pt idx="5">
                  <c:v>4.60326393954257</c:v>
                </c:pt>
                <c:pt idx="6">
                  <c:v>9.78021470128048</c:v>
                </c:pt>
                <c:pt idx="7">
                  <c:v>6.17367166430181</c:v>
                </c:pt>
                <c:pt idx="8">
                  <c:v>6.88814347488768</c:v>
                </c:pt>
                <c:pt idx="9">
                  <c:v>7.31646617322737</c:v>
                </c:pt>
                <c:pt idx="10">
                  <c:v>4.74000141386976</c:v>
                </c:pt>
                <c:pt idx="11">
                  <c:v>4.60815612025086</c:v>
                </c:pt>
                <c:pt idx="12">
                  <c:v>7.41077674856514</c:v>
                </c:pt>
                <c:pt idx="13">
                  <c:v>5.10916069622417</c:v>
                </c:pt>
                <c:pt idx="14">
                  <c:v>4.27891438852569</c:v>
                </c:pt>
                <c:pt idx="15">
                  <c:v>4.59491656202698</c:v>
                </c:pt>
                <c:pt idx="16">
                  <c:v>5.30125813681145</c:v>
                </c:pt>
                <c:pt idx="17">
                  <c:v>5.07466097642755</c:v>
                </c:pt>
                <c:pt idx="18">
                  <c:v>5.64805027089817</c:v>
                </c:pt>
                <c:pt idx="19">
                  <c:v>6.8073192949377</c:v>
                </c:pt>
                <c:pt idx="20">
                  <c:v>7.54737571621614</c:v>
                </c:pt>
                <c:pt idx="21">
                  <c:v>4.32224658429411</c:v>
                </c:pt>
                <c:pt idx="22">
                  <c:v>4.66950325151136</c:v>
                </c:pt>
                <c:pt idx="23">
                  <c:v>5.58834808073702</c:v>
                </c:pt>
                <c:pt idx="24">
                  <c:v>6.26594508943198</c:v>
                </c:pt>
                <c:pt idx="25">
                  <c:v>7.14009805682655</c:v>
                </c:pt>
                <c:pt idx="26">
                  <c:v>4.24558975878642</c:v>
                </c:pt>
                <c:pt idx="27">
                  <c:v>3.92403966966166</c:v>
                </c:pt>
                <c:pt idx="28">
                  <c:v>7.28286878577586</c:v>
                </c:pt>
                <c:pt idx="29">
                  <c:v>6.06382710539497</c:v>
                </c:pt>
                <c:pt idx="30">
                  <c:v>7.06097172531061</c:v>
                </c:pt>
                <c:pt idx="31">
                  <c:v>5.49783460126856</c:v>
                </c:pt>
                <c:pt idx="32">
                  <c:v>4.57295309809384</c:v>
                </c:pt>
                <c:pt idx="33">
                  <c:v>5.60436101433655</c:v>
                </c:pt>
                <c:pt idx="34">
                  <c:v>4.02746015912494</c:v>
                </c:pt>
                <c:pt idx="35">
                  <c:v>5.12910877121144</c:v>
                </c:pt>
                <c:pt idx="36">
                  <c:v>6.64601062316235</c:v>
                </c:pt>
                <c:pt idx="37">
                  <c:v>5.9100704971299</c:v>
                </c:pt>
                <c:pt idx="38">
                  <c:v>4.1764943285461</c:v>
                </c:pt>
                <c:pt idx="39">
                  <c:v>5.88555507492306</c:v>
                </c:pt>
                <c:pt idx="40">
                  <c:v>6.07617684435434</c:v>
                </c:pt>
                <c:pt idx="41">
                  <c:v>3.88291961359135</c:v>
                </c:pt>
                <c:pt idx="42">
                  <c:v>5.35993406401988</c:v>
                </c:pt>
                <c:pt idx="43">
                  <c:v>6.32961730390537</c:v>
                </c:pt>
                <c:pt idx="44">
                  <c:v>4.78518172798648</c:v>
                </c:pt>
                <c:pt idx="45">
                  <c:v>6.92965361650857</c:v>
                </c:pt>
                <c:pt idx="46">
                  <c:v>5.72909881009621</c:v>
                </c:pt>
                <c:pt idx="47">
                  <c:v>5.63256938215366</c:v>
                </c:pt>
                <c:pt idx="48">
                  <c:v>9.43944512765561</c:v>
                </c:pt>
                <c:pt idx="49">
                  <c:v>8.47291660325223</c:v>
                </c:pt>
                <c:pt idx="50">
                  <c:v>11.3291844486722</c:v>
                </c:pt>
                <c:pt idx="51">
                  <c:v>10.4347472481849</c:v>
                </c:pt>
                <c:pt idx="52">
                  <c:v>10.0844622762549</c:v>
                </c:pt>
                <c:pt idx="53">
                  <c:v>9.15932709726222</c:v>
                </c:pt>
                <c:pt idx="54">
                  <c:v>6.55517863506753</c:v>
                </c:pt>
                <c:pt idx="55">
                  <c:v>6.05649352033245</c:v>
                </c:pt>
                <c:pt idx="56">
                  <c:v>8.62951958789601</c:v>
                </c:pt>
                <c:pt idx="57">
                  <c:v>8.18778895249539</c:v>
                </c:pt>
                <c:pt idx="58">
                  <c:v>7.41468218977144</c:v>
                </c:pt>
                <c:pt idx="59">
                  <c:v>6.68483241128695</c:v>
                </c:pt>
              </c:numCache>
            </c:numRef>
          </c:val>
          <c:smooth val="0"/>
        </c:ser>
        <c:ser>
          <c:idx val="1"/>
          <c:order val="1"/>
          <c:tx>
            <c:strRef>
              <c:f>Sheet1!$C$1</c:f>
              <c:strCache>
                <c:ptCount val="1"/>
                <c:pt idx="0">
                  <c:v>개선</c:v>
                </c:pt>
              </c:strCache>
            </c:strRef>
          </c:tx>
          <c:spPr>
            <a:solidFill>
              <a:srgbClr val="008000"/>
            </a:solidFill>
            <a:ln w="22860">
              <a:noFill/>
            </a:ln>
          </c:spPr>
          <c:marker>
            <c:symbol val="circle"/>
            <c:size val="4"/>
            <c:spPr>
              <a:solidFill>
                <a:srgbClr val="008000"/>
              </a:solidFill>
              <a:ln>
                <a:solidFill>
                  <a:srgbClr val="008000"/>
                </a:solidFill>
              </a:ln>
            </c:spPr>
          </c:marker>
          <c:cat>
            <c:strRef>
              <c:f>Sheet1!$A$2:$A$61</c:f>
              <c:strCache>
                <c:ptCount val="60"/>
                <c:pt idx="0">
                  <c:v>H001</c:v>
                </c:pt>
                <c:pt idx="1">
                  <c:v/>
                </c:pt>
                <c:pt idx="2">
                  <c:v/>
                </c:pt>
                <c:pt idx="3">
                  <c:v/>
                </c:pt>
                <c:pt idx="4">
                  <c:v/>
                </c:pt>
                <c:pt idx="5">
                  <c:v/>
                </c:pt>
                <c:pt idx="6">
                  <c:v/>
                </c:pt>
                <c:pt idx="7">
                  <c:v/>
                </c:pt>
                <c:pt idx="8">
                  <c:v/>
                </c:pt>
                <c:pt idx="9">
                  <c:v/>
                </c:pt>
                <c:pt idx="10">
                  <c:v/>
                </c:pt>
                <c:pt idx="11">
                  <c:v/>
                </c:pt>
                <c:pt idx="12">
                  <c:v>H013</c:v>
                </c:pt>
                <c:pt idx="13">
                  <c:v/>
                </c:pt>
                <c:pt idx="14">
                  <c:v/>
                </c:pt>
                <c:pt idx="15">
                  <c:v/>
                </c:pt>
                <c:pt idx="16">
                  <c:v/>
                </c:pt>
                <c:pt idx="17">
                  <c:v/>
                </c:pt>
                <c:pt idx="18">
                  <c:v/>
                </c:pt>
                <c:pt idx="19">
                  <c:v/>
                </c:pt>
                <c:pt idx="20">
                  <c:v/>
                </c:pt>
                <c:pt idx="21">
                  <c:v/>
                </c:pt>
                <c:pt idx="22">
                  <c:v/>
                </c:pt>
                <c:pt idx="23">
                  <c:v/>
                </c:pt>
                <c:pt idx="24">
                  <c:v>H025</c:v>
                </c:pt>
                <c:pt idx="25">
                  <c:v/>
                </c:pt>
                <c:pt idx="26">
                  <c:v/>
                </c:pt>
                <c:pt idx="27">
                  <c:v/>
                </c:pt>
                <c:pt idx="28">
                  <c:v/>
                </c:pt>
                <c:pt idx="29">
                  <c:v/>
                </c:pt>
                <c:pt idx="30">
                  <c:v/>
                </c:pt>
                <c:pt idx="31">
                  <c:v/>
                </c:pt>
                <c:pt idx="32">
                  <c:v/>
                </c:pt>
                <c:pt idx="33">
                  <c:v/>
                </c:pt>
                <c:pt idx="34">
                  <c:v/>
                </c:pt>
                <c:pt idx="35">
                  <c:v/>
                </c:pt>
                <c:pt idx="36">
                  <c:v>H037</c:v>
                </c:pt>
                <c:pt idx="37">
                  <c:v/>
                </c:pt>
                <c:pt idx="38">
                  <c:v/>
                </c:pt>
                <c:pt idx="39">
                  <c:v/>
                </c:pt>
                <c:pt idx="40">
                  <c:v/>
                </c:pt>
                <c:pt idx="41">
                  <c:v/>
                </c:pt>
                <c:pt idx="42">
                  <c:v/>
                </c:pt>
                <c:pt idx="43">
                  <c:v/>
                </c:pt>
                <c:pt idx="44">
                  <c:v/>
                </c:pt>
                <c:pt idx="45">
                  <c:v/>
                </c:pt>
                <c:pt idx="46">
                  <c:v/>
                </c:pt>
                <c:pt idx="47">
                  <c:v/>
                </c:pt>
                <c:pt idx="48">
                  <c:v>H049</c:v>
                </c:pt>
                <c:pt idx="49">
                  <c:v/>
                </c:pt>
                <c:pt idx="50">
                  <c:v/>
                </c:pt>
                <c:pt idx="51">
                  <c:v/>
                </c:pt>
                <c:pt idx="52">
                  <c:v/>
                </c:pt>
                <c:pt idx="53">
                  <c:v/>
                </c:pt>
                <c:pt idx="54">
                  <c:v/>
                </c:pt>
                <c:pt idx="55">
                  <c:v/>
                </c:pt>
                <c:pt idx="56">
                  <c:v/>
                </c:pt>
                <c:pt idx="57">
                  <c:v/>
                </c:pt>
                <c:pt idx="58">
                  <c:v/>
                </c:pt>
                <c:pt idx="59">
                  <c:v>H060</c:v>
                </c:pt>
              </c:strCache>
            </c:strRef>
          </c:cat>
          <c:val>
            <c:numRef>
              <c:f>Sheet1!$C$2:$C$61</c:f>
              <c:numCache>
                <c:formatCode>General</c:formatCode>
                <c:ptCount val="60"/>
                <c:pt idx="0">
                  <c:v>2.88125743654393</c:v>
                </c:pt>
                <c:pt idx="1">
                  <c:v>3.05560931568081</c:v>
                </c:pt>
                <c:pt idx="2">
                  <c:v>1.646526322619</c:v>
                </c:pt>
                <c:pt idx="3">
                  <c:v>3.03233858925583</c:v>
                </c:pt>
                <c:pt idx="4">
                  <c:v>1.69368749938158</c:v>
                </c:pt>
                <c:pt idx="5">
                  <c:v>1.84232980453788</c:v>
                </c:pt>
                <c:pt idx="6">
                  <c:v>6.71737182025249</c:v>
                </c:pt>
                <c:pt idx="7">
                  <c:v>2.58744319517271</c:v>
                </c:pt>
                <c:pt idx="8">
                  <c:v>2.71090278264263</c:v>
                </c:pt>
                <c:pt idx="9">
                  <c:v>2.98983203098563</c:v>
                </c:pt>
                <c:pt idx="10">
                  <c:v>2.08487378001233</c:v>
                </c:pt>
                <c:pt idx="11">
                  <c:v>1.87401040260105</c:v>
                </c:pt>
                <c:pt idx="12">
                  <c:v>2.88048720902419</c:v>
                </c:pt>
                <c:pt idx="13">
                  <c:v>2.06355922698978</c:v>
                </c:pt>
                <c:pt idx="14">
                  <c:v>1.58401463954466</c:v>
                </c:pt>
                <c:pt idx="15">
                  <c:v>1.85075236165392</c:v>
                </c:pt>
                <c:pt idx="16">
                  <c:v>2.23993414646311</c:v>
                </c:pt>
                <c:pt idx="17">
                  <c:v>2.12642352028879</c:v>
                </c:pt>
                <c:pt idx="18">
                  <c:v>2.21598603517227</c:v>
                </c:pt>
                <c:pt idx="19">
                  <c:v>2.78227479774077</c:v>
                </c:pt>
                <c:pt idx="20">
                  <c:v>2.78770967322078</c:v>
                </c:pt>
                <c:pt idx="21">
                  <c:v>1.80997551123994</c:v>
                </c:pt>
                <c:pt idx="22">
                  <c:v>1.92710682850302</c:v>
                </c:pt>
                <c:pt idx="23">
                  <c:v>2.2104528810336</c:v>
                </c:pt>
                <c:pt idx="24">
                  <c:v>2.55135252992804</c:v>
                </c:pt>
                <c:pt idx="25">
                  <c:v>2.90601907885183</c:v>
                </c:pt>
                <c:pt idx="26">
                  <c:v>1.610762981565</c:v>
                </c:pt>
                <c:pt idx="27">
                  <c:v>1.75172833323668</c:v>
                </c:pt>
                <c:pt idx="28">
                  <c:v>2.80947388923877</c:v>
                </c:pt>
                <c:pt idx="29">
                  <c:v>2.30621699363446</c:v>
                </c:pt>
                <c:pt idx="30">
                  <c:v>2.58181292961035</c:v>
                </c:pt>
                <c:pt idx="31">
                  <c:v>2.32944200448056</c:v>
                </c:pt>
                <c:pt idx="32">
                  <c:v>1.73341249382098</c:v>
                </c:pt>
                <c:pt idx="33">
                  <c:v>2.20385034007386</c:v>
                </c:pt>
                <c:pt idx="34">
                  <c:v>1.66319114181507</c:v>
                </c:pt>
                <c:pt idx="35">
                  <c:v>1.95826105112692</c:v>
                </c:pt>
                <c:pt idx="36">
                  <c:v>2.68260871209047</c:v>
                </c:pt>
                <c:pt idx="37">
                  <c:v>2.59601707956951</c:v>
                </c:pt>
                <c:pt idx="38">
                  <c:v>1.61882192033629</c:v>
                </c:pt>
                <c:pt idx="39">
                  <c:v>2.52710485510773</c:v>
                </c:pt>
                <c:pt idx="40">
                  <c:v>2.48969645441329</c:v>
                </c:pt>
                <c:pt idx="41">
                  <c:v>1.45860208963238</c:v>
                </c:pt>
                <c:pt idx="42">
                  <c:v>2.20400057936404</c:v>
                </c:pt>
                <c:pt idx="43">
                  <c:v>2.78699039181463</c:v>
                </c:pt>
                <c:pt idx="44">
                  <c:v>1.7301197514574</c:v>
                </c:pt>
                <c:pt idx="45">
                  <c:v>2.90696425841982</c:v>
                </c:pt>
                <c:pt idx="46">
                  <c:v>2.40081714753927</c:v>
                </c:pt>
                <c:pt idx="47">
                  <c:v>2.08011542794896</c:v>
                </c:pt>
                <c:pt idx="48">
                  <c:v>3.93333384469972</c:v>
                </c:pt>
                <c:pt idx="49">
                  <c:v>3.32419202249027</c:v>
                </c:pt>
                <c:pt idx="50">
                  <c:v>8.80846863766183</c:v>
                </c:pt>
                <c:pt idx="51">
                  <c:v>8.18513738109373</c:v>
                </c:pt>
                <c:pt idx="52">
                  <c:v>4.39786308389397</c:v>
                </c:pt>
                <c:pt idx="53">
                  <c:v>3.47607453132908</c:v>
                </c:pt>
                <c:pt idx="54">
                  <c:v>2.90972477342691</c:v>
                </c:pt>
                <c:pt idx="55">
                  <c:v>2.5376653236759</c:v>
                </c:pt>
                <c:pt idx="56">
                  <c:v>7.39371569788853</c:v>
                </c:pt>
                <c:pt idx="57">
                  <c:v>7.08662798940035</c:v>
                </c:pt>
                <c:pt idx="58">
                  <c:v>5.06996084106024</c:v>
                </c:pt>
                <c:pt idx="59">
                  <c:v>3.87278765457384</c:v>
                </c:pt>
              </c:numCache>
            </c:numRef>
          </c:val>
          <c:smooth val="0"/>
        </c:ser>
        <c:ser>
          <c:idx val="2"/>
          <c:order val="2"/>
          <c:tx>
            <c:strRef>
              <c:f>Sheet1!$D$1</c:f>
              <c:strCache>
                <c:ptCount val="1"/>
                <c:pt idx="0">
                  <c:v>잠정 한계</c:v>
                </c:pt>
              </c:strCache>
            </c:strRef>
          </c:tx>
          <c:spPr>
            <a:solidFill>
              <a:srgbClr val="C00000"/>
            </a:solidFill>
            <a:ln w="22860">
              <a:solidFill>
                <a:srgbClr val="C00000"/>
              </a:solidFill>
              <a:prstDash val="dash"/>
            </a:ln>
          </c:spPr>
          <c:marker>
            <c:symbol val="none"/>
          </c:marker>
          <c:cat>
            <c:strRef>
              <c:f>Sheet1!$A$2:$A$61</c:f>
              <c:strCache>
                <c:ptCount val="60"/>
                <c:pt idx="0">
                  <c:v>H001</c:v>
                </c:pt>
                <c:pt idx="1">
                  <c:v/>
                </c:pt>
                <c:pt idx="2">
                  <c:v/>
                </c:pt>
                <c:pt idx="3">
                  <c:v/>
                </c:pt>
                <c:pt idx="4">
                  <c:v/>
                </c:pt>
                <c:pt idx="5">
                  <c:v/>
                </c:pt>
                <c:pt idx="6">
                  <c:v/>
                </c:pt>
                <c:pt idx="7">
                  <c:v/>
                </c:pt>
                <c:pt idx="8">
                  <c:v/>
                </c:pt>
                <c:pt idx="9">
                  <c:v/>
                </c:pt>
                <c:pt idx="10">
                  <c:v/>
                </c:pt>
                <c:pt idx="11">
                  <c:v/>
                </c:pt>
                <c:pt idx="12">
                  <c:v>H013</c:v>
                </c:pt>
                <c:pt idx="13">
                  <c:v/>
                </c:pt>
                <c:pt idx="14">
                  <c:v/>
                </c:pt>
                <c:pt idx="15">
                  <c:v/>
                </c:pt>
                <c:pt idx="16">
                  <c:v/>
                </c:pt>
                <c:pt idx="17">
                  <c:v/>
                </c:pt>
                <c:pt idx="18">
                  <c:v/>
                </c:pt>
                <c:pt idx="19">
                  <c:v/>
                </c:pt>
                <c:pt idx="20">
                  <c:v/>
                </c:pt>
                <c:pt idx="21">
                  <c:v/>
                </c:pt>
                <c:pt idx="22">
                  <c:v/>
                </c:pt>
                <c:pt idx="23">
                  <c:v/>
                </c:pt>
                <c:pt idx="24">
                  <c:v>H025</c:v>
                </c:pt>
                <c:pt idx="25">
                  <c:v/>
                </c:pt>
                <c:pt idx="26">
                  <c:v/>
                </c:pt>
                <c:pt idx="27">
                  <c:v/>
                </c:pt>
                <c:pt idx="28">
                  <c:v/>
                </c:pt>
                <c:pt idx="29">
                  <c:v/>
                </c:pt>
                <c:pt idx="30">
                  <c:v/>
                </c:pt>
                <c:pt idx="31">
                  <c:v/>
                </c:pt>
                <c:pt idx="32">
                  <c:v/>
                </c:pt>
                <c:pt idx="33">
                  <c:v/>
                </c:pt>
                <c:pt idx="34">
                  <c:v/>
                </c:pt>
                <c:pt idx="35">
                  <c:v/>
                </c:pt>
                <c:pt idx="36">
                  <c:v>H037</c:v>
                </c:pt>
                <c:pt idx="37">
                  <c:v/>
                </c:pt>
                <c:pt idx="38">
                  <c:v/>
                </c:pt>
                <c:pt idx="39">
                  <c:v/>
                </c:pt>
                <c:pt idx="40">
                  <c:v/>
                </c:pt>
                <c:pt idx="41">
                  <c:v/>
                </c:pt>
                <c:pt idx="42">
                  <c:v/>
                </c:pt>
                <c:pt idx="43">
                  <c:v/>
                </c:pt>
                <c:pt idx="44">
                  <c:v/>
                </c:pt>
                <c:pt idx="45">
                  <c:v/>
                </c:pt>
                <c:pt idx="46">
                  <c:v/>
                </c:pt>
                <c:pt idx="47">
                  <c:v/>
                </c:pt>
                <c:pt idx="48">
                  <c:v>H049</c:v>
                </c:pt>
                <c:pt idx="49">
                  <c:v/>
                </c:pt>
                <c:pt idx="50">
                  <c:v/>
                </c:pt>
                <c:pt idx="51">
                  <c:v/>
                </c:pt>
                <c:pt idx="52">
                  <c:v/>
                </c:pt>
                <c:pt idx="53">
                  <c:v/>
                </c:pt>
                <c:pt idx="54">
                  <c:v/>
                </c:pt>
                <c:pt idx="55">
                  <c:v/>
                </c:pt>
                <c:pt idx="56">
                  <c:v/>
                </c:pt>
                <c:pt idx="57">
                  <c:v/>
                </c:pt>
                <c:pt idx="58">
                  <c:v/>
                </c:pt>
                <c:pt idx="59">
                  <c:v>H060</c:v>
                </c:pt>
              </c:strCache>
            </c:strRef>
          </c:cat>
          <c:val>
            <c:numRef>
              <c:f>Sheet1!$D$2:$D$61</c:f>
              <c:numCache>
                <c:formatCode>General</c:formatCode>
                <c:ptCount val="60"/>
                <c:pt idx="0">
                  <c:v>5.0</c:v>
                </c:pt>
                <c:pt idx="1">
                  <c:v>5.0</c:v>
                </c:pt>
                <c:pt idx="2">
                  <c:v>5.0</c:v>
                </c:pt>
                <c:pt idx="3">
                  <c:v>5.0</c:v>
                </c:pt>
                <c:pt idx="4">
                  <c:v>5.0</c:v>
                </c:pt>
                <c:pt idx="5">
                  <c:v>5.0</c:v>
                </c:pt>
                <c:pt idx="6">
                  <c:v>5.0</c:v>
                </c:pt>
                <c:pt idx="7">
                  <c:v>5.0</c:v>
                </c:pt>
                <c:pt idx="8">
                  <c:v>5.0</c:v>
                </c:pt>
                <c:pt idx="9">
                  <c:v>5.0</c:v>
                </c:pt>
                <c:pt idx="10">
                  <c:v>5.0</c:v>
                </c:pt>
                <c:pt idx="11">
                  <c:v>5.0</c:v>
                </c:pt>
                <c:pt idx="12">
                  <c:v>5.0</c:v>
                </c:pt>
                <c:pt idx="13">
                  <c:v>5.0</c:v>
                </c:pt>
                <c:pt idx="14">
                  <c:v>5.0</c:v>
                </c:pt>
                <c:pt idx="15">
                  <c:v>5.0</c:v>
                </c:pt>
                <c:pt idx="16">
                  <c:v>5.0</c:v>
                </c:pt>
                <c:pt idx="17">
                  <c:v>5.0</c:v>
                </c:pt>
                <c:pt idx="18">
                  <c:v>5.0</c:v>
                </c:pt>
                <c:pt idx="19">
                  <c:v>5.0</c:v>
                </c:pt>
                <c:pt idx="20">
                  <c:v>5.0</c:v>
                </c:pt>
                <c:pt idx="21">
                  <c:v>5.0</c:v>
                </c:pt>
                <c:pt idx="22">
                  <c:v>5.0</c:v>
                </c:pt>
                <c:pt idx="23">
                  <c:v>5.0</c:v>
                </c:pt>
                <c:pt idx="24">
                  <c:v>5.0</c:v>
                </c:pt>
                <c:pt idx="25">
                  <c:v>5.0</c:v>
                </c:pt>
                <c:pt idx="26">
                  <c:v>5.0</c:v>
                </c:pt>
                <c:pt idx="27">
                  <c:v>5.0</c:v>
                </c:pt>
                <c:pt idx="28">
                  <c:v>5.0</c:v>
                </c:pt>
                <c:pt idx="29">
                  <c:v>5.0</c:v>
                </c:pt>
                <c:pt idx="30">
                  <c:v>5.0</c:v>
                </c:pt>
                <c:pt idx="31">
                  <c:v>5.0</c:v>
                </c:pt>
                <c:pt idx="32">
                  <c:v>5.0</c:v>
                </c:pt>
                <c:pt idx="33">
                  <c:v>5.0</c:v>
                </c:pt>
                <c:pt idx="34">
                  <c:v>5.0</c:v>
                </c:pt>
                <c:pt idx="35">
                  <c:v>5.0</c:v>
                </c:pt>
                <c:pt idx="36">
                  <c:v>5.0</c:v>
                </c:pt>
                <c:pt idx="37">
                  <c:v>5.0</c:v>
                </c:pt>
                <c:pt idx="38">
                  <c:v>5.0</c:v>
                </c:pt>
                <c:pt idx="39">
                  <c:v>5.0</c:v>
                </c:pt>
                <c:pt idx="40">
                  <c:v>5.0</c:v>
                </c:pt>
                <c:pt idx="41">
                  <c:v>5.0</c:v>
                </c:pt>
                <c:pt idx="42">
                  <c:v>5.0</c:v>
                </c:pt>
                <c:pt idx="43">
                  <c:v>5.0</c:v>
                </c:pt>
                <c:pt idx="44">
                  <c:v>5.0</c:v>
                </c:pt>
                <c:pt idx="45">
                  <c:v>5.0</c:v>
                </c:pt>
                <c:pt idx="46">
                  <c:v>5.0</c:v>
                </c:pt>
                <c:pt idx="47">
                  <c:v>5.0</c:v>
                </c:pt>
                <c:pt idx="48">
                  <c:v>5.0</c:v>
                </c:pt>
                <c:pt idx="49">
                  <c:v>5.0</c:v>
                </c:pt>
                <c:pt idx="50">
                  <c:v>5.0</c:v>
                </c:pt>
                <c:pt idx="51">
                  <c:v>5.0</c:v>
                </c:pt>
                <c:pt idx="52">
                  <c:v>5.0</c:v>
                </c:pt>
                <c:pt idx="53">
                  <c:v>5.0</c:v>
                </c:pt>
                <c:pt idx="54">
                  <c:v>5.0</c:v>
                </c:pt>
                <c:pt idx="55">
                  <c:v>5.0</c:v>
                </c:pt>
                <c:pt idx="56">
                  <c:v>5.0</c:v>
                </c:pt>
                <c:pt idx="57">
                  <c:v>5.0</c:v>
                </c:pt>
                <c:pt idx="58">
                  <c:v>5.0</c:v>
                </c:pt>
                <c:pt idx="59">
                  <c:v>5.0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tickLblSkip val="1"/>
        <c:tickMarkSkip val="1"/>
        <c:noMultiLvlLbl val="0"/>
      </c:catAx>
      <c:valAx>
        <c:axId val="2140495176"/>
        <c:scaling>
          <c:max val="12.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majorUnit val="3.0"/>
      </c:valAx>
    </c:plotArea>
    <c:legend>
      <c:legendPos val="b"/>
      <c:layout/>
      <c:overlay val="0"/>
      <c:txPr>
        <a:bodyPr/>
        <a:lstStyle/>
        <a:p>
          <a:pPr>
            <a:defRPr sz="1000">
              <a:latin typeface="Malgun Gothic"/>
            </a:defRPr>
          </a:pPr>
        </a:p>
      </c:txPr>
    </c:legend>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공개 실측</c:v>
                </c:pt>
              </c:strCache>
            </c:strRef>
          </c:tx>
          <c:spPr>
            <a:solidFill>
              <a:srgbClr val="757575"/>
            </a:solidFill>
            <a:ln w="22860">
              <a:solidFill>
                <a:srgbClr val="757575"/>
              </a:solidFill>
            </a:ln>
          </c:spPr>
          <c:marker>
            <c:symbol val="circle"/>
            <c:size val="4"/>
            <c:spPr>
              <a:solidFill>
                <a:srgbClr val="757575"/>
              </a:solidFill>
              <a:ln>
                <a:solidFill>
                  <a:srgbClr val="757575"/>
                </a:solidFill>
              </a:ln>
            </c:spPr>
          </c:marker>
          <c:cat>
            <c:strRef>
              <c:f>Sheet1!$A$2:$A$19</c:f>
              <c:strCache>
                <c:ptCount val="18"/>
                <c:pt idx="0">
                  <c:v>667</c:v>
                </c:pt>
                <c:pt idx="1">
                  <c:v/>
                </c:pt>
                <c:pt idx="2">
                  <c:v/>
                </c:pt>
                <c:pt idx="3">
                  <c:v>1507</c:v>
                </c:pt>
                <c:pt idx="4">
                  <c:v/>
                </c:pt>
                <c:pt idx="5">
                  <c:v/>
                </c:pt>
                <c:pt idx="6">
                  <c:v>2422</c:v>
                </c:pt>
                <c:pt idx="7">
                  <c:v/>
                </c:pt>
                <c:pt idx="8">
                  <c:v/>
                </c:pt>
                <c:pt idx="9">
                  <c:v>3297</c:v>
                </c:pt>
                <c:pt idx="10">
                  <c:v/>
                </c:pt>
                <c:pt idx="11">
                  <c:v/>
                </c:pt>
                <c:pt idx="12">
                  <c:v>4406</c:v>
                </c:pt>
                <c:pt idx="13">
                  <c:v/>
                </c:pt>
                <c:pt idx="14">
                  <c:v/>
                </c:pt>
                <c:pt idx="15">
                  <c:v>5602</c:v>
                </c:pt>
                <c:pt idx="16">
                  <c:v/>
                </c:pt>
                <c:pt idx="17">
                  <c:v>6601</c:v>
                </c:pt>
              </c:strCache>
            </c:strRef>
          </c:cat>
          <c:val>
            <c:numRef>
              <c:f>Sheet1!$B$2:$B$19</c:f>
              <c:numCache>
                <c:formatCode>General</c:formatCode>
                <c:ptCount val="18"/>
                <c:pt idx="0">
                  <c:v>12.39</c:v>
                </c:pt>
                <c:pt idx="1">
                  <c:v>7.3</c:v>
                </c:pt>
                <c:pt idx="2">
                  <c:v>4.06</c:v>
                </c:pt>
                <c:pt idx="3">
                  <c:v>3.28</c:v>
                </c:pt>
                <c:pt idx="4">
                  <c:v>3.12</c:v>
                </c:pt>
                <c:pt idx="5">
                  <c:v>3.06</c:v>
                </c:pt>
                <c:pt idx="6">
                  <c:v>2.91</c:v>
                </c:pt>
                <c:pt idx="7">
                  <c:v>2.79</c:v>
                </c:pt>
                <c:pt idx="8">
                  <c:v>2.62</c:v>
                </c:pt>
                <c:pt idx="9">
                  <c:v>2.51</c:v>
                </c:pt>
                <c:pt idx="10">
                  <c:v>2.41</c:v>
                </c:pt>
                <c:pt idx="11">
                  <c:v>2.21</c:v>
                </c:pt>
                <c:pt idx="12">
                  <c:v>2.1</c:v>
                </c:pt>
                <c:pt idx="13">
                  <c:v>1.99</c:v>
                </c:pt>
                <c:pt idx="14">
                  <c:v>1.89</c:v>
                </c:pt>
                <c:pt idx="15">
                  <c:v>1.73</c:v>
                </c:pt>
                <c:pt idx="16">
                  <c:v>1.7</c:v>
                </c:pt>
                <c:pt idx="17">
                  <c:v>1.59</c:v>
                </c:pt>
              </c:numCache>
            </c:numRef>
          </c:val>
          <c:smooth val="0"/>
        </c:ser>
        <c:ser>
          <c:idx val="1"/>
          <c:order val="1"/>
          <c:tx>
            <c:strRef>
              <c:f>Sheet1!$C$1</c:f>
              <c:strCache>
                <c:ptCount val="1"/>
                <c:pt idx="0">
                  <c:v>수치모델</c:v>
                </c:pt>
              </c:strCache>
            </c:strRef>
          </c:tx>
          <c:spPr>
            <a:solidFill>
              <a:srgbClr val="008000"/>
            </a:solidFill>
            <a:ln w="22860">
              <a:solidFill>
                <a:srgbClr val="008000"/>
              </a:solidFill>
            </a:ln>
          </c:spPr>
          <c:marker>
            <c:symbol val="circle"/>
            <c:size val="4"/>
            <c:spPr>
              <a:solidFill>
                <a:srgbClr val="008000"/>
              </a:solidFill>
              <a:ln>
                <a:solidFill>
                  <a:srgbClr val="008000"/>
                </a:solidFill>
              </a:ln>
            </c:spPr>
          </c:marker>
          <c:cat>
            <c:strRef>
              <c:f>Sheet1!$A$2:$A$19</c:f>
              <c:strCache>
                <c:ptCount val="18"/>
                <c:pt idx="0">
                  <c:v>667</c:v>
                </c:pt>
                <c:pt idx="1">
                  <c:v/>
                </c:pt>
                <c:pt idx="2">
                  <c:v/>
                </c:pt>
                <c:pt idx="3">
                  <c:v>1507</c:v>
                </c:pt>
                <c:pt idx="4">
                  <c:v/>
                </c:pt>
                <c:pt idx="5">
                  <c:v/>
                </c:pt>
                <c:pt idx="6">
                  <c:v>2422</c:v>
                </c:pt>
                <c:pt idx="7">
                  <c:v/>
                </c:pt>
                <c:pt idx="8">
                  <c:v/>
                </c:pt>
                <c:pt idx="9">
                  <c:v>3297</c:v>
                </c:pt>
                <c:pt idx="10">
                  <c:v/>
                </c:pt>
                <c:pt idx="11">
                  <c:v/>
                </c:pt>
                <c:pt idx="12">
                  <c:v>4406</c:v>
                </c:pt>
                <c:pt idx="13">
                  <c:v/>
                </c:pt>
                <c:pt idx="14">
                  <c:v/>
                </c:pt>
                <c:pt idx="15">
                  <c:v>5602</c:v>
                </c:pt>
                <c:pt idx="16">
                  <c:v/>
                </c:pt>
                <c:pt idx="17">
                  <c:v>6601</c:v>
                </c:pt>
              </c:strCache>
            </c:strRef>
          </c:cat>
          <c:val>
            <c:numRef>
              <c:f>Sheet1!$C$2:$C$19</c:f>
              <c:numCache>
                <c:formatCode>General</c:formatCode>
                <c:ptCount val="18"/>
                <c:pt idx="0">
                  <c:v>9.18354372822607</c:v>
                </c:pt>
                <c:pt idx="1">
                  <c:v>7.30003117879364</c:v>
                </c:pt>
                <c:pt idx="2">
                  <c:v>5.74120180998191</c:v>
                </c:pt>
                <c:pt idx="3">
                  <c:v>4.73118777111838</c:v>
                </c:pt>
                <c:pt idx="4">
                  <c:v>4.01094419932104</c:v>
                </c:pt>
                <c:pt idx="5">
                  <c:v>3.6324530276585</c:v>
                </c:pt>
                <c:pt idx="6">
                  <c:v>3.06661973783099</c:v>
                </c:pt>
                <c:pt idx="7">
                  <c:v>2.83828964534006</c:v>
                </c:pt>
                <c:pt idx="8">
                  <c:v>2.49947190056506</c:v>
                </c:pt>
                <c:pt idx="9">
                  <c:v>2.29286289762548</c:v>
                </c:pt>
                <c:pt idx="10">
                  <c:v>2.09859616739037</c:v>
                </c:pt>
                <c:pt idx="11">
                  <c:v>1.89905856843783</c:v>
                </c:pt>
                <c:pt idx="12">
                  <c:v>1.72587682675641</c:v>
                </c:pt>
                <c:pt idx="13">
                  <c:v>1.5904797856015</c:v>
                </c:pt>
                <c:pt idx="14">
                  <c:v>1.45943992235976</c:v>
                </c:pt>
                <c:pt idx="15">
                  <c:v>1.36070957261776</c:v>
                </c:pt>
                <c:pt idx="16">
                  <c:v>1.27046898597898</c:v>
                </c:pt>
                <c:pt idx="17">
                  <c:v>1.1544894403597</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tickLblSkip val="1"/>
        <c:tickMarkSkip val="1"/>
        <c:noMultiLvlLbl val="0"/>
      </c:catAx>
      <c:valAx>
        <c:axId val="2140495176"/>
        <c:scaling>
          <c:max val="15.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majorUnit val="3.0"/>
      </c:valAx>
    </c:plotArea>
    <c:legend>
      <c:legendPos val="b"/>
      <c:layout/>
      <c:overlay val="0"/>
      <c:txPr>
        <a:bodyPr/>
        <a:lstStyle/>
        <a:p>
          <a:pPr>
            <a:defRPr sz="1000">
              <a:latin typeface="Malgun Gothic"/>
            </a:defRPr>
          </a:pPr>
        </a:p>
      </c:txPr>
    </c:legend>
    <c:plotVisOnly val="1"/>
    <c:dispBlanksAs val="gap"/>
    <c:showDLblsOverMax val="0"/>
  </c:chart>
  <c:txPr>
    <a:bodyPr/>
    <a:lstStyle/>
    <a:p>
      <a:pPr>
        <a:defRPr sz="1000">
          <a:latin typeface="Malgun Gothic"/>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초기</c:v>
                </c:pt>
              </c:strCache>
            </c:strRef>
          </c:tx>
          <c:spPr>
            <a:solidFill>
              <a:srgbClr val="757575"/>
            </a:solidFill>
            <a:ln w="22860">
              <a:solidFill>
                <a:srgbClr val="757575"/>
              </a:solidFill>
            </a:ln>
          </c:spPr>
          <c:marker>
            <c:symbol val="circle"/>
            <c:size val="4"/>
            <c:spPr>
              <a:solidFill>
                <a:srgbClr val="757575"/>
              </a:solidFill>
              <a:ln>
                <a:solidFill>
                  <a:srgbClr val="757575"/>
                </a:solidFill>
              </a:ln>
            </c:spPr>
          </c:marker>
          <c:cat>
            <c:strRef>
              <c:f>Sheet1!$A$2:$A$16</c:f>
              <c:strCache>
                <c:ptCount val="15"/>
                <c:pt idx="0">
                  <c:v>900 / -90</c:v>
                </c:pt>
                <c:pt idx="1">
                  <c:v/>
                </c:pt>
                <c:pt idx="2">
                  <c:v/>
                </c:pt>
                <c:pt idx="3">
                  <c:v>900 / 60</c:v>
                </c:pt>
                <c:pt idx="4">
                  <c:v/>
                </c:pt>
                <c:pt idx="5">
                  <c:v/>
                </c:pt>
                <c:pt idx="6">
                  <c:v>1100 / -60</c:v>
                </c:pt>
                <c:pt idx="7">
                  <c:v/>
                </c:pt>
                <c:pt idx="8">
                  <c:v/>
                </c:pt>
                <c:pt idx="9">
                  <c:v>1100 / 90</c:v>
                </c:pt>
                <c:pt idx="10">
                  <c:v/>
                </c:pt>
                <c:pt idx="11">
                  <c:v/>
                </c:pt>
                <c:pt idx="12">
                  <c:v>1400 / 0</c:v>
                </c:pt>
                <c:pt idx="13">
                  <c:v/>
                </c:pt>
                <c:pt idx="14">
                  <c:v>1400 / 90</c:v>
                </c:pt>
              </c:strCache>
            </c:strRef>
          </c:cat>
          <c:val>
            <c:numRef>
              <c:f>Sheet1!$B$2:$B$16</c:f>
              <c:numCache>
                <c:formatCode>General</c:formatCode>
                <c:ptCount val="15"/>
                <c:pt idx="0">
                  <c:v>7.13865459586094</c:v>
                </c:pt>
                <c:pt idx="1">
                  <c:v>7.13083319894962</c:v>
                </c:pt>
                <c:pt idx="2">
                  <c:v>7.13147158285231</c:v>
                </c:pt>
                <c:pt idx="3">
                  <c:v>7.14478348247374</c:v>
                </c:pt>
                <c:pt idx="4">
                  <c:v>7.14202472793334</c:v>
                </c:pt>
                <c:pt idx="5">
                  <c:v>6.04946160000522</c:v>
                </c:pt>
                <c:pt idx="6">
                  <c:v>6.05054823430049</c:v>
                </c:pt>
                <c:pt idx="7">
                  <c:v>6.05038027515228</c:v>
                </c:pt>
                <c:pt idx="8">
                  <c:v>6.04489672186564</c:v>
                </c:pt>
                <c:pt idx="9">
                  <c:v>6.04669795925831</c:v>
                </c:pt>
                <c:pt idx="10">
                  <c:v>4.92139101620024</c:v>
                </c:pt>
                <c:pt idx="11">
                  <c:v>4.91964862850945</c:v>
                </c:pt>
                <c:pt idx="12">
                  <c:v>4.92063831541379</c:v>
                </c:pt>
                <c:pt idx="13">
                  <c:v>4.92600418323057</c:v>
                </c:pt>
                <c:pt idx="14">
                  <c:v>4.91929959294326</c:v>
                </c:pt>
              </c:numCache>
            </c:numRef>
          </c:val>
          <c:smooth val="0"/>
        </c:ser>
        <c:ser>
          <c:idx val="1"/>
          <c:order val="1"/>
          <c:tx>
            <c:strRef>
              <c:f>Sheet1!$C$1</c:f>
              <c:strCache>
                <c:ptCount val="1"/>
                <c:pt idx="0">
                  <c:v>개선</c:v>
                </c:pt>
              </c:strCache>
            </c:strRef>
          </c:tx>
          <c:spPr>
            <a:solidFill>
              <a:srgbClr val="008000"/>
            </a:solidFill>
            <a:ln w="22860">
              <a:solidFill>
                <a:srgbClr val="008000"/>
              </a:solidFill>
            </a:ln>
          </c:spPr>
          <c:marker>
            <c:symbol val="circle"/>
            <c:size val="4"/>
            <c:spPr>
              <a:solidFill>
                <a:srgbClr val="008000"/>
              </a:solidFill>
              <a:ln>
                <a:solidFill>
                  <a:srgbClr val="008000"/>
                </a:solidFill>
              </a:ln>
            </c:spPr>
          </c:marker>
          <c:cat>
            <c:strRef>
              <c:f>Sheet1!$A$2:$A$16</c:f>
              <c:strCache>
                <c:ptCount val="15"/>
                <c:pt idx="0">
                  <c:v>900 / -90</c:v>
                </c:pt>
                <c:pt idx="1">
                  <c:v/>
                </c:pt>
                <c:pt idx="2">
                  <c:v/>
                </c:pt>
                <c:pt idx="3">
                  <c:v>900 / 60</c:v>
                </c:pt>
                <c:pt idx="4">
                  <c:v/>
                </c:pt>
                <c:pt idx="5">
                  <c:v/>
                </c:pt>
                <c:pt idx="6">
                  <c:v>1100 / -60</c:v>
                </c:pt>
                <c:pt idx="7">
                  <c:v/>
                </c:pt>
                <c:pt idx="8">
                  <c:v/>
                </c:pt>
                <c:pt idx="9">
                  <c:v>1100 / 90</c:v>
                </c:pt>
                <c:pt idx="10">
                  <c:v/>
                </c:pt>
                <c:pt idx="11">
                  <c:v/>
                </c:pt>
                <c:pt idx="12">
                  <c:v>1400 / 0</c:v>
                </c:pt>
                <c:pt idx="13">
                  <c:v/>
                </c:pt>
                <c:pt idx="14">
                  <c:v>1400 / 90</c:v>
                </c:pt>
              </c:strCache>
            </c:strRef>
          </c:cat>
          <c:val>
            <c:numRef>
              <c:f>Sheet1!$C$2:$C$16</c:f>
              <c:numCache>
                <c:formatCode>General</c:formatCode>
                <c:ptCount val="15"/>
                <c:pt idx="0">
                  <c:v>2.77521317981198</c:v>
                </c:pt>
                <c:pt idx="1">
                  <c:v>2.76366712907686</c:v>
                </c:pt>
                <c:pt idx="2">
                  <c:v>2.77293618394401</c:v>
                </c:pt>
                <c:pt idx="3">
                  <c:v>2.75979059560508</c:v>
                </c:pt>
                <c:pt idx="4">
                  <c:v>2.77513757307528</c:v>
                </c:pt>
                <c:pt idx="5">
                  <c:v>2.42588207709267</c:v>
                </c:pt>
                <c:pt idx="6">
                  <c:v>2.4253765548646</c:v>
                </c:pt>
                <c:pt idx="7">
                  <c:v>2.43811528460752</c:v>
                </c:pt>
                <c:pt idx="8">
                  <c:v>2.43067314311043</c:v>
                </c:pt>
                <c:pt idx="9">
                  <c:v>2.42561943021151</c:v>
                </c:pt>
                <c:pt idx="10">
                  <c:v>2.0632591429348</c:v>
                </c:pt>
                <c:pt idx="11">
                  <c:v>2.06469021895168</c:v>
                </c:pt>
                <c:pt idx="12">
                  <c:v>2.06018190664062</c:v>
                </c:pt>
                <c:pt idx="13">
                  <c:v>2.06951042968621</c:v>
                </c:pt>
                <c:pt idx="14">
                  <c:v>2.06210004853341</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B8B8B8"/>
            </a:solidFill>
          </a:ln>
        </c:spPr>
        <c:txPr>
          <a:bodyPr/>
          <a:lstStyle/>
          <a:p>
            <a:pPr>
              <a:defRPr sz="1000">
                <a:solidFill>
                  <a:srgbClr val="555555"/>
                </a:solidFill>
                <a:latin typeface="Malgun Gothic"/>
              </a:defRPr>
            </a:pPr>
          </a:p>
        </c:txPr>
        <c:crossAx val="2140495176"/>
        <c:crosses val="autoZero"/>
        <c:auto val="1"/>
        <c:lblAlgn val="ctr"/>
        <c:lblOffset val="100"/>
        <c:tickLblSkip val="1"/>
        <c:tickMarkSkip val="1"/>
        <c:noMultiLvlLbl val="0"/>
      </c:catAx>
      <c:valAx>
        <c:axId val="2140495176"/>
        <c:scaling>
          <c:max val="10.0"/>
          <c:min val="0.0"/>
        </c:scaling>
        <c:delete val="0"/>
        <c:axPos val="l"/>
        <c:majorGridlines>
          <c:spPr>
            <a:ln w="5715">
              <a:solidFill>
                <a:srgbClr val="B8B8B8"/>
              </a:solidFill>
            </a:ln>
          </c:spPr>
        </c:majorGridlines>
        <c:numFmt formatCode="0.0" sourceLinked="0"/>
        <c:majorTickMark val="none"/>
        <c:minorTickMark val="none"/>
        <c:tickLblPos val="nextTo"/>
        <c:spPr>
          <a:ln>
            <a:solidFill>
              <a:srgbClr val="B8B8B8"/>
            </a:solidFill>
          </a:ln>
        </c:spPr>
        <c:txPr>
          <a:bodyPr/>
          <a:lstStyle/>
          <a:p>
            <a:pPr>
              <a:defRPr sz="1000">
                <a:solidFill>
                  <a:srgbClr val="555555"/>
                </a:solidFill>
                <a:latin typeface="Malgun Gothic"/>
              </a:defRPr>
            </a:pPr>
          </a:p>
        </c:txPr>
        <c:crossAx val="2118791784"/>
        <c:crosses val="autoZero"/>
      </c:valAx>
    </c:plotArea>
    <c:legend>
      <c:legendPos val="b"/>
      <c:layout/>
      <c:overlay val="0"/>
      <c:txPr>
        <a:bodyPr/>
        <a:lstStyle/>
        <a:p>
          <a:pPr>
            <a:defRPr sz="1000">
              <a:latin typeface="Malgun Gothic"/>
            </a:defRPr>
          </a:pPr>
        </a:p>
      </c:txPr>
    </c:legend>
    <c:plotVisOnly val="1"/>
    <c:dispBlanksAs val="gap"/>
    <c:showDLblsOverMax val="0"/>
  </c:chart>
  <c:txPr>
    <a:bodyPr/>
    <a:lstStyle/>
    <a:p>
      <a:pPr>
        <a:defRPr sz="1000">
          <a:latin typeface="Malgun Gothic"/>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[1/58] OBCM V2G 저부하 운전영역의</a:t>
            </a:r>
          </a:p>
          <a:p>
            <a:r>
              <a:t>계통 전류 THD 설계기준 만족률 향상</a:t>
            </a:r>
          </a:p>
          <a:p>
            <a:r>
              <a:t>기존 과제명에 있던 ‘규격’은 고객 확정 규격으로 오인되지 않도록 ‘설계기준’으로 변경하였다. 무효전력 지령을 포함하지만, 실제 제품의 무효전력 고유 왜곡을 해결했다는 주장은 하지 않는다. 문서 V4는 V2 시뮬레이션 데이터와 제어 설정을 보존한 개정이다. 공식 등록 과제명의 변경 승인 여부는 확인되지 않았다.</a:t>
            </a:r>
          </a:p>
          <a:p/>
          <a:p>
            <a:r>
              <a:t>[V4 개정 범위]</a:t>
            </a:r>
          </a:p>
          <a:p>
            <a:r>
              <a:t>기존 V2 수치데이터, 제어 설정, 판정 기준을 유지함. 용어·집계 대상·해석 설명을 정비함. 수치연구이며 실제 제품 검증 및 사내 승인을 의미하지 않음.</a:t>
            </a:r>
          </a:p>
          <a:p/>
          <a:p>
            <a:r>
              <a:t>근거: V2 원자료 패키지; study_config.json; results/summary.json</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[2/58] 1. Define / 과제 등록서</a:t>
            </a:r>
          </a:p>
          <a:p>
            <a:r>
              <a:t>[설명 요지]</a:t>
            </a:r>
          </a:p>
          <a:p>
            <a:r>
              <a:t>운전조건별 THD 기준 만족률을 Project Y로 선정함. 수치해석 결과를 바탕으로 제어 개선안 및 후속 검증 항목을 도출하고자 함.</a:t>
            </a:r>
          </a:p>
          <a:p/>
          <a:p>
            <a:r>
              <a:t>[해석 및 판단]</a:t>
            </a:r>
          </a:p>
          <a:p>
            <a:r>
              <a:t>기준 운전조건 집합 95% 목표는 V2 study_config의 사전 설계 목표다. 추가 검증에는 사전에 확정한 만족률 목표가 없으므로 임의의 강건성 목표를 새로 만들지 않았다. MBB/Owner와 공식 등록 기간은 제공되지 않았다.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study_config.json; results/summary.json; 등록서 구성은 기존 CLLC·Snubber 사례 참조.</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[3/58] 1. Define / 시험 구성과 수량의 의미</a:t>
            </a:r>
          </a:p>
          <a:p>
            <a:r>
              <a:t>기준 운전조건은 Vac=207/230/253 V, S*=900/1100/1400 VA, φ=−90/−60/−30/0/30/60/90°이다. 선정용 조건은 Vac=230 V와 φ=−60/0/60°의 9개이다. 나머지 54개는 선정용 9개에서 보지 않은 운전조건이지만 동일 기본 모델이므로 독립 실물 검증은 아니다. 변동 검증 60개도 같은 수치모델 계열의 가정 변경이며 모델 유효성을 자동으로 높이지 않는다. 기준과 변동의 63+60=123은 조건 ID 수를 셀 때만 사용할 수 있으며 성과 분모를 123으로 합치지 않는다.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main_cases.csv; selected_control.json; holdout_cases.csv; src/study.py.</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[4/58] 1. Define / 운전조건·실행·시간 표본 구분</a:t>
            </a:r>
          </a:p>
          <a:p>
            <a:r>
              <a:t>M024는 선정 미사용 운전조건에 포함된다. 본 모델은 iref=√2/Vac(P*sinθ−Q*cosθ)이므로 φ&gt;0이 지상이다. 이 부호를 고객 CAN 또는 ISO 부호로 자동 전용하지 않는다. 한 조건에 두 제어를 적용한 두 결과는 대응 비교에 사용한다. 6400개 시간 표본은 독립 제품이나 독립 조건이 아니며 FFT에 쓰는 시계열 값이다.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main_cases.csv의 M024; baseline.csv; improved.csv; src/model.py.</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[5/58] 1. Define / 과제 선정 배경</a:t>
            </a:r>
          </a:p>
          <a:p>
            <a:r>
              <a:t>[설명 요지]</a:t>
            </a:r>
          </a:p>
          <a:p>
            <a:r>
              <a:t>기준 모델의 THD는 4.47~7.70% 수준으로 일부 운전점에서 잠정 기준 5%를 초과함. 고조파 전류제어를 통한 성능 개선이 필요함.</a:t>
            </a:r>
          </a:p>
          <a:p/>
          <a:p>
            <a:r>
              <a:t>[해석 및 판단]</a:t>
            </a:r>
          </a:p>
          <a:p>
            <a:r>
              <a:t>사용자가 설명한 제품의 5~8%는 운전조건·파형이 없는 정성적 참고다. 본 그래프는 제품 측정값이 아니라 V2 수치 계산값이다. V1→V2의 변화는 개선 성과에 포함하지 않는다.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results/baseline.csv; docs/00_protocol.md. 곡선은 3전압 × 7위상 평균.</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[6/58] 1. Define / Big Y–Little y 전개</a:t>
            </a:r>
          </a:p>
          <a:p>
            <a:r>
              <a:t>[설명 요지]</a:t>
            </a:r>
          </a:p>
          <a:p>
            <a:r>
              <a:t>V2G 전류 품질 확보를 상위 목표로 전개하고, 변경 가능한 전류제어 조건의 최적화를 본 과제 범위로 선정함.</a:t>
            </a:r>
          </a:p>
          <a:p/>
          <a:p>
            <a:r>
              <a:t>[해석 및 판단]</a:t>
            </a:r>
          </a:p>
          <a:p/>
          <a:p/>
          <a:p>
            <a:r>
              <a:t>[V4 개정 범위]</a:t>
            </a:r>
          </a:p>
          <a:p>
            <a:r>
              <a:t>기존 V2 수치데이터, 제어 설정, 판정 기준을 유지함. 용어·집계 대상·해석 설명을 정비함. 수치연구이며 실제 제품 검증 및 사내 승인을 의미하지 않음.</a:t>
            </a:r>
          </a:p>
          <a:p/>
          <a:p>
            <a:r>
              <a:t>근거: 근거: docs/00_protocol.md; study_config.json. Y-y 전개 형식은 기존 11개 보고서 참조.</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[7/58] 1. Define / 개선지표와 THD 판정</a:t>
            </a:r>
          </a:p>
          <a:p>
            <a:r>
              <a:t>분모63은 평가 전에 지정한 기준 운전조건 수이며 V4에서 바꾸지 않았다. I_h는 각 차수의 RMS이다. 분자에 DC나 스위칭 리플을 더하지 않는다. 참조모델은 평균 AC단이므로 스위칭 파형의 총 고조파와 같은 것으로 해석하지 않는다. 문서의 규격이라는 표현을 잠정 설계기준으로 좁혔지만 코드의 임계값이나 합부 판정은 바꾸지 않았다. 목표95%와 한계5%는 성격이 다르다. 95%는 조건 만족률의 목표이고 5%는 개별 조건 THD 한계이다.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study_config.json guardrails; docs/01_model.md; src/model.py.</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[8/58] 1. Define / 보조 조건과 종합 판정</a:t>
            </a:r>
          </a:p>
          <a:p>
            <a:r>
              <a:t>V3의 ‘직전 2주기의 RMS 차이’는 실제 코드와 달라 정정하였다. 실제 계산은 i[-640:]-i[-1280:-640]의 RMS이다. P는 mean(vg*i), Q1은 기본파 전압 위상 기준의 무효전력이다. 원자료는 두 전력오차의 공통 수치 한계를 pq_tolerance_va로 저장하지만 차원이 다른 두 오차는 각각 W와 var로 표시해야 한다. 예를 들어 S*=1100 VA이면 P 오차 한계22 W, Q1 오차 한계22 var이다. 전류50 A를 포함한 모든 보조 기준은 본 연구의 가정이며 제품 정격이나 승인 사양을 뜻하지 않는다. 포화는 마지막0.2s에서 명령 제한 발생 여부를 세며, 평균 전압이 한계에 가까운 정도와 다르다.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src/model.py metrics(); study_config.json의 guardrails. 판정 코드는 변경하지 않음.</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[9/58] 1. Define / 초기 성능 기준 선정</a:t>
            </a:r>
          </a:p>
          <a:p>
            <a:r>
              <a:t>[설명 요지]</a:t>
            </a:r>
          </a:p>
          <a:p>
            <a:r>
              <a:t>OBC용 PFC의 저부하 실측값 7.30%를 초기 성능의 기준점으로 선정함. 해당 값은 조건이 명시된 단일 시험점이며 업계 평균은 아님.</a:t>
            </a:r>
          </a:p>
          <a:p/>
          <a:p>
            <a:r>
              <a:t>[해석 및 판단]</a:t>
            </a:r>
          </a:p>
          <a:p>
            <a:r>
              <a:t>기존 V2가 전사한 공개 원자료를 사용했다. 본 PPTX 작업에서 공표값을 새로운 평균값으로 재해석하지 않는다. 기준점 선정은 사용자가 설명한5~8%구간과 관련성이 있는 목적성 선택이며 표본 대표성이 없다. 모델 입력에는 Pout이 아닌 Pin의 음수를 적용했다.</a:t>
            </a:r>
          </a:p>
          <a:p/>
          <a:p>
            <a:r>
              <a:t>[V4 개정 범위]</a:t>
            </a:r>
          </a:p>
          <a:p>
            <a:r>
              <a:t>기존 V2 수치데이터, 제어 설정, 판정 기준을 유지함. 용어·집계 대상·해석 설명을 정비함. 수치연구이며 실제 제품 검증 및 사내 승인을 의미하지 않음.</a:t>
            </a:r>
          </a:p>
          <a:p/>
          <a:p>
            <a:r>
              <a:t>근거: 출처: TI TIDUE54B (2020.04), p.60 Table 7; sources/TIDUE54B_table7.csv.</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[10/58] 1. Define / 운전조건과 변동 범위</a:t>
            </a:r>
          </a:p>
          <a:p>
            <a:r>
              <a:t>기준63개 중 선정9개는 M023,M025,M027,M030,M032,M034,M037,M039,M041이다. 나머지54개는 동일모델에서의 선정 미사용 조건이다. 변동60개 중H001~H048은 Latin Hypercube Sampling으로 정한 입력범위별 조건이며 shape와delay는 순환배정된다. H049~H060은 S*=900/1400,φ=−90/0/90,비선형함수2종을 조합한12개이다. 실제 제조 공차분포가 주어지지 않았으므로 변동조건의 만족률에 확률적 신뢰도를 부여하지 않는다.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study_config.json; results/main_cases.csv; selected_control.json; holdout_cases.csv.</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[11/58] 1. Define / 단계별 분석 방법</a:t>
            </a:r>
          </a:p>
          <a:p>
            <a:r>
              <a:t>이 페이지는 V3에서 추가한 분석 방법의 전체 지도이다. 기존 CLLC p16~19의 요인설계→해석→선정 연결, DC CAP p9와 p14의 시험조건→결과→채택 흐름을 참고하였다. 본 과제는 실물 반복계측이 아닌 결정론적 수치해석이므로, 모집단 추정을 위한 검정 대신 운전조건을 고정한 비교와 기술통계를 적용한다. 수치 검증과 통계적 비교는 서로 다른 역할이다. 수치 검증은 계산을 믿을 수 있는지, 비교 분석은 제어 변경이 어떤 반응 차이를 만드는지에 답한다.</a:t>
            </a:r>
          </a:p>
          <a:p/>
          <a:p>
            <a:r>
              <a:t>[추가 통계 설명 참고 / 2026-09-28 확인]</a:t>
            </a:r>
          </a:p>
          <a:p>
            <a:r>
              <a:t>NIST 5.3.3.9: https://www.itl.nist.gov/div898/handbook/pri/section3/pri339.htm</a:t>
            </a:r>
          </a:p>
          <a:p>
            <a:r>
              <a:t>NIST 7.3.1.1: https://www.itl.nist.gov/div898/handbook/prc/section3/prc311.htm</a:t>
            </a:r>
          </a:p>
          <a:p>
            <a:r>
              <a:t>NIST 6.1.6: https://www.itl.nist.gov/div898/handbook/pmc/section1/pmc16.htm</a:t>
            </a:r>
          </a:p>
          <a:p>
            <a:r>
              <a:t>이는 방법 설명의 참고문헌이며 본 연구의 제품 검증 또는 사내 승인 근거가 아님.</a:t>
            </a:r>
          </a:p>
          <a:p/>
          <a:p>
            <a:r>
              <a:t>[V4 개정 범위]</a:t>
            </a:r>
          </a:p>
          <a:p>
            <a:r>
              <a:t>기존 V2 수치데이터, 제어 설정, 판정 기준을 유지함. 용어·집계 대상·해석 설명을 정비함. 수치연구이며 실제 제품 검증 및 사내 승인을 의미하지 않음.</a:t>
            </a:r>
          </a:p>
          <a:p/>
          <a:p>
            <a:r>
              <a:t>근거: 구성 참고: CLLC p.16~19, DC CAP p.9·14 | 분석 계획: V2 study_config.json / V3 설명 보완</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[12/58] 2. Measure / 데이터 취득 시스템</a:t>
            </a:r>
          </a:p>
          <a:p>
            <a:r>
              <a:t>[설명 요지]</a:t>
            </a:r>
          </a:p>
          <a:p>
            <a:r>
              <a:t>평균 AC단 모델과 디지털 제어기를 구성함. 제어주기, 지연 및 전압 제한을 고정하여 개선 전후 동일 조건에서 데이터를 취득함.</a:t>
            </a:r>
          </a:p>
          <a:p/>
          <a:p>
            <a:r>
              <a:t>[해석 및 판단]</a:t>
            </a:r>
          </a:p>
          <a:p>
            <a:r>
              <a:t>이 블록도는 실제 OBCM 전체구조가 아니다. CLLC, 외부 DC-link 제어/저장 에너지 동역학, 스위칭 리플은 포함하지 않았다. FF는 계통전압 및 nominal L/R 기반 feed-forward다. θ는 모델 SOGI-PLL 출력이다.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docs/01_model.md; src/model.py. 도식은 소스에 근거한 평균모델 설명.</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[13/58] 2. Measure / 모델 조건 설정</a:t>
            </a:r>
          </a:p>
          <a:p>
            <a:r>
              <a:t>[설명 요지]</a:t>
            </a:r>
          </a:p>
          <a:p>
            <a:r>
              <a:t>공개 THD 기준점에 맞추어 잔류 비선형 오차 파라미터 1개를 보정함. 보정값은 개선 전후 동일하게 적용함.</a:t>
            </a:r>
          </a:p>
          <a:p/>
          <a:p>
            <a:r>
              <a:t>[해석 및 판단]</a:t>
            </a:r>
          </a:p>
          <a:p/>
          <a:p/>
          <a:p>
            <a:r>
              <a:t>[V4 개정 범위]</a:t>
            </a:r>
          </a:p>
          <a:p>
            <a:r>
              <a:t>기존 V2 수치데이터, 제어 설정, 판정 기준을 유지함. 용어·집계 대상·해석 설명을 정비함. 수치연구이며 실제 제품 검증 및 사내 승인을 의미하지 않음.</a:t>
            </a:r>
          </a:p>
          <a:p/>
          <a:p>
            <a:r>
              <a:t>근거: 근거: results/calibration.json; docs/01_model.md; src/calibrate.py; src/model.py.</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[14/58] 2. Measure / 데이터 계산 구간</a:t>
            </a:r>
          </a:p>
          <a:p>
            <a:r>
              <a:t>[설명 요지]</a:t>
            </a:r>
          </a:p>
          <a:p>
            <a:r>
              <a:t>50주기 해석 후 마지막 10주기를 측정 구간으로 선정함. 동일 파형에서 THD, P/Q, 전류 피크 및 포화 비율을 산출함.</a:t>
            </a:r>
          </a:p>
          <a:p/>
          <a:p>
            <a:r>
              <a:t>[해석 및 판단]</a:t>
            </a:r>
          </a:p>
          <a:p>
            <a:r>
              <a:t>시간표본은 독립 제품 표본이 아니다. 본 평균모델에는 PWM carrier 리플이 없으며 switching-band THD, TDD, TRD와 동일 지표로 취급하지 않는다. Q1은 비정현파 전체 무효전력의 정의가 아니다.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docs/01_model.md; data/schema.json; src/model.py; tests/test_study.py.</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[15/58] 2. Measure / 수치 계산 검증</a:t>
            </a:r>
          </a:p>
          <a:p>
            <a:r>
              <a:t>[설명 요지]</a:t>
            </a:r>
          </a:p>
          <a:p>
            <a:r>
              <a:t>계산 블록 검증, 원시 파형 재계산 및 적분 시간간격 비교를 수행함. 반복 계측 대신 수치해석의 계산 일관성을 확인함.</a:t>
            </a:r>
          </a:p>
          <a:p/>
          <a:p>
            <a:r>
              <a:t>[해석 및 판단]</a:t>
            </a:r>
          </a:p>
          <a:p/>
          <a:p/>
          <a:p>
            <a:r>
              <a:t>[V4 개정 범위]</a:t>
            </a:r>
          </a:p>
          <a:p>
            <a:r>
              <a:t>기존 V2 수치데이터, 제어 설정, 판정 기준을 유지함. 용어·집계 대상·해석 설명을 정비함. 수치연구이며 실제 제품 검증 및 사내 승인을 의미하지 않음.</a:t>
            </a:r>
          </a:p>
          <a:p/>
          <a:p>
            <a:r>
              <a:t>근거: 근거: verification.json; numerical_refinement.csv; long_duration.csv; test_results.json; 재점검 로그.</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[16/58] 2. Measure / 현 수준 및 조건별 분석</a:t>
            </a:r>
          </a:p>
          <a:p>
            <a:r>
              <a:t>V2 baseline.csv 63개 결과를 S와 Vac로 층별 집계하였다. 각 행은 위상7개 조건을 포함하고 모든 행의 비중은 동일하다. 전체평균은 각 층의 동일 가중 평균이다. 실제 운전빈도 가중 평균은 아니라는 점을 구분한다. 만족 수를 함께 보는 이유는 평균이 5% 이하라도 일부 위상점의 미달이 남을 수 있기 때문이다. 서로 다른 조건의 결과를 합쳐 정규분포를 맞추거나 Cpk로 양산불량률을 환산하지 않았다.</a:t>
            </a:r>
          </a:p>
          <a:p/>
          <a:p>
            <a:r>
              <a:t>[V4 개정 범위]</a:t>
            </a:r>
          </a:p>
          <a:p>
            <a:r>
              <a:t>기존 V2 수치데이터, 제어 설정, 판정 기준을 유지함. 용어·집계 대상·해석 설명을 정비함. 수치연구이며 실제 제품 검증 및 사내 승인을 의미하지 않음.</a:t>
            </a:r>
          </a:p>
          <a:p/>
          <a:p>
            <a:r>
              <a:t>근거: V2 results/baseline.csv → V3 analysis/baseline_strata.csv | V3 추가 기술통계</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[17/58] 3. Analyze / 잠재인자 및 가인자 선정</a:t>
            </a:r>
          </a:p>
          <a:p>
            <a:r>
              <a:t>[설명 요지]</a:t>
            </a:r>
          </a:p>
          <a:p>
            <a:r>
              <a:t>전류 품질에 영향을 주는 인자를 전개하고, 본 과제에서 변경 가능한 고조파 제어 이득·대역·차수 조합을 가인자로 선정함.</a:t>
            </a:r>
          </a:p>
          <a:p/>
          <a:p>
            <a:r>
              <a:t>[해석 및 판단]</a:t>
            </a:r>
          </a:p>
          <a:p/>
          <a:p/>
          <a:p>
            <a:r>
              <a:t>[V4 개정 범위]</a:t>
            </a:r>
          </a:p>
          <a:p>
            <a:r>
              <a:t>기존 V2 수치데이터, 제어 설정, 판정 기준을 유지함. 용어·집계 대상·해석 설명을 정비함. 수치연구이며 실제 제품 검증 및 사내 승인을 의미하지 않음.</a:t>
            </a:r>
          </a:p>
          <a:p/>
          <a:p>
            <a:r>
              <a:t>근거: 근거: docs/00_protocol.md; docs/01_model.md; results/ablation.csv. 구성: 기존 Snubber p.10 참조.</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[18/58] 3. Analyze / 가인자 영향 확인</a:t>
            </a:r>
          </a:p>
          <a:p>
            <a:r>
              <a:t>[설명 요지]</a:t>
            </a:r>
          </a:p>
          <a:p>
            <a:r>
              <a:t>900 VA, 230 V, Q=0 조건에서 잔류오차 제거와 고조파 제어 추가 결과를 비교함. 각 변경에 따른 THD 감소 경향을 확인함.</a:t>
            </a:r>
          </a:p>
          <a:p/>
          <a:p>
            <a:r>
              <a:t>[해석 및 판단]</a:t>
            </a:r>
          </a:p>
          <a:p/>
          <a:p>
            <a:r>
              <a:t>[V4 주의] 잔류오차항은 연구자가 모델에 넣은 가정이다. 이를 제거해 THD가 감소한 결과는 구현된 경로를 확인한 수치 진단이지 독립적으로 실제 제품 원인을 발견한 증거가 아니다. 선택한 고조파 조합의 방향성을 설명하는 사후 비교이며 제어 선정은 DOE243회의 사전 비교 규칙을 따랐다.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results/ablation.csv A00_*; src/model.py. 오차 제거는 진단이며 정식 개선안이 아님.</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[19/58] 3. Analyze / 운전 조건별 영향 분석</a:t>
            </a:r>
          </a:p>
          <a:p>
            <a:r>
              <a:t>[설명 요지]</a:t>
            </a:r>
          </a:p>
          <a:p>
            <a:r>
              <a:t>피상전력을 고정하고 전류 위상을 변경하여 THD를 비교함. 현재 모델에서는 무효전력에 의한 추가 왜곡이 뚜렷하지 않음.</a:t>
            </a:r>
          </a:p>
          <a:p/>
          <a:p>
            <a:r>
              <a:t>[해석 및 판단]</a:t>
            </a:r>
          </a:p>
          <a:p/>
          <a:p/>
          <a:p>
            <a:r>
              <a:t>[V4 개정 범위]</a:t>
            </a:r>
          </a:p>
          <a:p>
            <a:r>
              <a:t>기존 V2 수치데이터, 제어 설정, 판정 기준을 유지함. 용어·집계 대상·해석 설명을 정비함. 수치연구이며 실제 제품 검증 및 사내 승인을 의미하지 않음.</a:t>
            </a:r>
          </a:p>
          <a:p/>
          <a:p>
            <a:r>
              <a:t>근거: 근거: results/baseline.csv; improved.csv (M022~M028); docs/03_logic_review.md.</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[20/58] 4. Improve / 실험계획 수립</a:t>
            </a:r>
          </a:p>
          <a:p>
            <a:r>
              <a:t>[설명 요지]</a:t>
            </a:r>
          </a:p>
          <a:p>
            <a:r>
              <a:t>3개 제어 인자의 모든 수준 조합 27개를 선정함. 각 조합에 동일한 9개 운전점을 적용하여 총 243개 해석 결과를 확보함.</a:t>
            </a:r>
          </a:p>
          <a:p/>
          <a:p>
            <a:r>
              <a:t>[해석 및 판단]</a:t>
            </a:r>
          </a:p>
          <a:p/>
          <a:p/>
          <a:p>
            <a:r>
              <a:t>[V4 개정 범위]</a:t>
            </a:r>
          </a:p>
          <a:p>
            <a:r>
              <a:t>기존 V2 수치데이터, 제어 설정, 판정 기준을 유지함. 용어·집계 대상·해석 설명을 정비함. 수치연구이며 실제 제품 검증 및 사내 승인을 의미하지 않음.</a:t>
            </a:r>
          </a:p>
          <a:p/>
          <a:p>
            <a:r>
              <a:t>근거: 근거: study_config.json; results/doe.csv; results/doe_candidates.csv; selected_control.json.</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[21/58] 4. Improve / 주효과 분석</a:t>
            </a:r>
          </a:p>
          <a:p>
            <a:r>
              <a:t>[설명 요지]</a:t>
            </a:r>
          </a:p>
          <a:p>
            <a:r>
              <a:t>각 인자 수준별로 나머지 조건을 동일 비중으로 평균함. 차수 조합과 공진 이득의 변화에 따른 THD 차이가 상대적으로 크게 나타남.</a:t>
            </a:r>
          </a:p>
          <a:p/>
          <a:p>
            <a:r>
              <a:t>[해석 및 판단]</a:t>
            </a:r>
          </a:p>
          <a:p>
            <a:r>
              <a:t>그래프는 결합된 조건의 평균 반응으로 교호작용을 제거하거나 검증한 결과가 아니다. 반복잡음이 없는 결정론적 DOE이므로 근거 없는 p-value/ANOVA 유의성을 제시하지 않는다.</a:t>
            </a:r>
          </a:p>
          <a:p/>
          <a:p>
            <a:r>
              <a:t>[통계 해석 상세]</a:t>
            </a:r>
          </a:p>
          <a:p>
            <a:r>
              <a:t>A=Kr, B=fc, C=차수 조합. 각 수준 평균은 다른 두 인자의 3×3조합과 운전점 9개, 총81개 결과를 동일 비중으로 평균한 값임. C는 {3}, {3,5}, {3,5,7}의 범주형 인자임. B의 2/5/10Hz는 등간격으로 가정하지 않음. 주효과의 기울기는 이 설계범위에서의 평균 반응 차이이며, p-value나 실제 제품의 원인 기여도는 아님. Kr와 차수 조합의 교호작용을 함께 확인한 후 최종 조건을 선정함.</a:t>
            </a:r>
          </a:p>
          <a:p/>
          <a:p>
            <a:r>
              <a:t>[추가 통계 설명 참고 / 2026-09-28 확인]</a:t>
            </a:r>
          </a:p>
          <a:p>
            <a:r>
              <a:t>NIST 5.3.3.9: https://www.itl.nist.gov/div898/handbook/pri/section3/pri339.htm</a:t>
            </a:r>
          </a:p>
          <a:p>
            <a:r>
              <a:t>NIST 7.3.1.1: https://www.itl.nist.gov/div898/handbook/prc/section3/prc311.htm</a:t>
            </a:r>
          </a:p>
          <a:p>
            <a:r>
              <a:t>NIST 6.1.6: https://www.itl.nist.gov/div898/handbook/pmc/section1/pmc16.htm</a:t>
            </a:r>
          </a:p>
          <a:p>
            <a:r>
              <a:t>이는 방법 설명의 참고문헌이며 본 연구의 제품 검증 또는 사내 승인 근거가 아님.</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results/factor_effects.csv; results/doe.csv. 세 그래프 세로축: 평균 THD [%], 동일 0~5 범위.</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[22/58] 4. Improve / 교호작용 분석</a:t>
            </a:r>
          </a:p>
          <a:p>
            <a:r>
              <a:t>V3에서 기존 DOE 243개 결과를 재집계해 추가한 교호작용도이다. 각 Kr×차수 조합의 점은 fc3수준과 운전점9개, 총27개 결과의 평균이다. 3차만 적용할 때 Kr8→24의 효과는 0.468612849%p, 3·5·7차에서는 0.973407702%p로 효과 차이 0.504794853%p이다. 선이 반드시 교차해야 교호작용이 있는 것은 아니다. 여기서는 선의 비평행과 효과 차이를 정량적으로 제시한다. 다만 모집단 오차모형이 없으므로 통계적으로 유의하다는 문구를 사용하지 않았다. fc를 평균한 결과이므로 최종 선정은 전체 27조합의 최대 THD 및 보조조건으로 재확인한다.</a:t>
            </a:r>
          </a:p>
          <a:p/>
          <a:p>
            <a:r>
              <a:t>[추가 통계 설명 참고 / 2026-09-28 확인]</a:t>
            </a:r>
          </a:p>
          <a:p>
            <a:r>
              <a:t>NIST 5.3.3.9: https://www.itl.nist.gov/div898/handbook/pri/section3/pri339.htm</a:t>
            </a:r>
          </a:p>
          <a:p>
            <a:r>
              <a:t>NIST 7.3.1.1: https://www.itl.nist.gov/div898/handbook/prc/section3/prc311.htm</a:t>
            </a:r>
          </a:p>
          <a:p>
            <a:r>
              <a:t>NIST 6.1.6: https://www.itl.nist.gov/div898/handbook/pmc/section1/pmc16.htm</a:t>
            </a:r>
          </a:p>
          <a:p>
            <a:r>
              <a:t>이는 방법 설명의 참고문헌이며 본 연구의 제품 검증 또는 사내 승인 근거가 아님.</a:t>
            </a:r>
          </a:p>
          <a:p/>
          <a:p>
            <a:r>
              <a:t>[V4 개정 범위]</a:t>
            </a:r>
          </a:p>
          <a:p>
            <a:r>
              <a:t>기존 V2 수치데이터, 제어 설정, 판정 기준을 유지함. 용어·집계 대상·해석 설명을 정비함. 수치연구이며 실제 제품 검증 및 사내 승인을 의미하지 않음.</a:t>
            </a:r>
          </a:p>
          <a:p/>
          <a:p>
            <a:r>
              <a:t>근거: V2 results/doe.csv → V3 analysis/interaction_Kr_hmax.csv | 설명 참고: NIST §5.3.3.9</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[23/58] 4. Improve / 개선안 구현</a:t>
            </a:r>
          </a:p>
          <a:p>
            <a:r>
              <a:t>[설명 요지]</a:t>
            </a:r>
          </a:p>
          <a:p>
            <a:r>
              <a:t>기본 dq-PI는 유지하고 3·5·7차 준공진 제어기를 병렬 추가함. 전류 오차를 이용한 피드백으로 고조파 성분을 저감하고자 함.</a:t>
            </a:r>
          </a:p>
          <a:p/>
          <a:p>
            <a:r>
              <a:t>[해석 및 판단]</a:t>
            </a:r>
          </a:p>
          <a:p/>
          <a:p>
            <a:r>
              <a:t>[V4 정정] V3의 ‘중심 주파수50Hz 고정’은 부정확하여 ‘기준 기본파50Hz, 공진 중심 150/250/350Hz’로 정정했다. fc=2Hz는 전달함수의 ωc를 정하는 값이며 전체 전류루프 대역폭을 의미하지 않는다.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src/model.py harmonic_coeff / _simulate; results/selected_control.json; docs/01_model.md.</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[24/58] 4. Improve / 제어 조합 선정</a:t>
            </a:r>
          </a:p>
          <a:p>
            <a:r>
              <a:t>[설명 요지]</a:t>
            </a:r>
          </a:p>
          <a:p>
            <a:r>
              <a:t>종합 만족 수, 최대 THD, 평균 THD 순으로 비교함. 검토한 27개 조합 중 Kr=24 Ω, fc=2 Hz, 3·5·7차 조합을 선정함.</a:t>
            </a:r>
          </a:p>
          <a:p/>
          <a:p>
            <a:r>
              <a:t>[해석 및 판단]</a:t>
            </a:r>
          </a:p>
          <a:p>
            <a:r>
              <a:t>모든 상위6조합이 학습9개 조건 종합 만족이므로 다음 기준인 최대THD로 순위가 결정된다. 선택의 SHA-256과 고정시점은 발표노트/부록에 기록한다. 단일 공진 대역2Hz가 계통 주파수 변동 전체에서 적절하다고 주장하지 않는다.</a:t>
            </a:r>
          </a:p>
          <a:p>
            <a:r>
              <a:t>[V4 해석] Kr24Ω는 시험범위 상단, fc2Hz는 하단에 위치한다. 경계값이 선택되었다고 범위 밖 성능이나 전역 최적점을 입증한 것은 아니다. V4에서는 새로운 튜닝이나 범위 확장을 수행하지 않았다.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results/doe_candidates.csv 상위6조합; selected_control.json; tests/test_study.py.</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[25/58] 4. Improve / 개선 효과 확인</a:t>
            </a:r>
          </a:p>
          <a:p>
            <a:r>
              <a:t>[설명 요지]</a:t>
            </a:r>
          </a:p>
          <a:p>
            <a:r>
              <a:t>동일 운전조건에서 평균 THD가 6.03%에서 2.42%로 감소함. 기준 만족률은 22.22%에서 100%로 향상되어 목표를 만족함.</a:t>
            </a:r>
          </a:p>
          <a:p/>
          <a:p>
            <a:r>
              <a:t>[해석 및 판단]</a:t>
            </a:r>
          </a:p>
          <a:p>
            <a:r>
              <a:t>모든 점에서 가정과 비선형 plant는 같다. 개선값을 후처리로 비례축소한 데이터가 아니다. 독립 실물 표본63개, 실제 양산불량0%, 인증합격이라고 해석하지 않는다.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results/baseline.csv; improved.csv; summary.json. 잠정 THD≤5%.</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[26/58] 4. Improve / 개선 전후 대응 비교</a:t>
            </a:r>
          </a:p>
          <a:p>
            <a:r>
              <a:t>개선 전후 서로 다른 운전점 구성을 비교하면 운전조건 변경 효과와 제어 변경 효과가 섞일 수 있다. Case ID로 대응시킨 Δi=THD_before,i−THD_after,i를 먼저 구하고 평균·중앙값·최소·최대·부호를 집계하였다. 평균 감소량3.612429%p는 두 전체평균의 차이와 일치한다. 평균 기준 상대 감소율은59.918%로, 이 값은 각 시험점의 상대 감소율 평균과는 다른 통계량이다. 63개 조건이 모두 개선되었다는 것은 해당 유한 시험집합에 대한 결과이다. 선택된 격자점을 무작위 제품표본처럼 취급한 대응 t검정·Wilcoxon·부호검정으로 양산 성능을 추론하지 않았다.</a:t>
            </a:r>
          </a:p>
          <a:p/>
          <a:p>
            <a:r>
              <a:t>[추가 통계 설명 참고 / 2026-09-28 확인]</a:t>
            </a:r>
          </a:p>
          <a:p>
            <a:r>
              <a:t>NIST 5.3.3.9: https://www.itl.nist.gov/div898/handbook/pri/section3/pri339.htm</a:t>
            </a:r>
          </a:p>
          <a:p>
            <a:r>
              <a:t>NIST 7.3.1.1: https://www.itl.nist.gov/div898/handbook/prc/section3/prc311.htm</a:t>
            </a:r>
          </a:p>
          <a:p>
            <a:r>
              <a:t>NIST 6.1.6: https://www.itl.nist.gov/div898/handbook/pmc/section1/pmc16.htm</a:t>
            </a:r>
          </a:p>
          <a:p>
            <a:r>
              <a:t>이는 방법 설명의 참고문헌이며 본 연구의 제품 검증 또는 사내 승인 근거가 아님.</a:t>
            </a:r>
          </a:p>
          <a:p/>
          <a:p>
            <a:r>
              <a:t>[V4 개정 범위]</a:t>
            </a:r>
          </a:p>
          <a:p>
            <a:r>
              <a:t>기존 V2 수치데이터, 제어 설정, 판정 기준을 유지함. 용어·집계 대상·해석 설명을 정비함. 수치연구이며 실제 제품 검증 및 사내 승인을 의미하지 않음.</a:t>
            </a:r>
          </a:p>
          <a:p/>
          <a:p>
            <a:r>
              <a:t>근거: V2 baseline.csv·improved.csv → V3 analysis/paired_main.csv | 대응 개념: NIST §7.3.1.1</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[27/58] 4. Improve / 파형 및 고조파 분석</a:t>
            </a:r>
          </a:p>
          <a:p>
            <a:r>
              <a:t>[설명 요지]</a:t>
            </a:r>
          </a:p>
          <a:p>
            <a:r>
              <a:t>조건 선정에 사용하지 않은 M024에서 전류 파형과 차수별 성분을 비교함. THD는 7.15%에서 2.76%로 감소함.</a:t>
            </a:r>
          </a:p>
          <a:p/>
          <a:p>
            <a:r>
              <a:t>[해석 및 판단]</a:t>
            </a:r>
          </a:p>
          <a:p>
            <a:r>
              <a:t>M024는 학습9개 조건에 포함되지 않은 대표점이다. 표시는 원시파형의 마지막1주기160개 조건을 취했지만 측정연산은200ms6400표본을 그대로 쓴다. 표시용 데이터와 통계연산용 원시자료를 혼동하지 않는다.</a:t>
            </a:r>
          </a:p>
          <a:p>
            <a:r>
              <a:t>[V4 표시] M024의 물리적 조건을 본문에 추가했다. 단일 예시는 차수별 개선 동작 설명용이며 전체 성과는 기준63개와 변동60개 결과로 확인한다.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M024, V2_0024/V2_0330 원시파형; results/harmonics.csv. 가로축: ms / 고조파 차수.</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[28/58] 4. Improve / 선정 미사용 운전조건 검증</a:t>
            </a:r>
          </a:p>
          <a:p>
            <a:r>
              <a:t>[설명 요지]</a:t>
            </a:r>
          </a:p>
          <a:p>
            <a:r>
              <a:t>선정 미사용 운전조건 54개에서도 THD 및 보조 조건을 모두 만족함. 동일 모델 내 운전조건 확장에 대한 유효성을 확인함.</a:t>
            </a:r>
          </a:p>
          <a:p/>
          <a:p>
            <a:r>
              <a:t>[해석 및 판단]</a:t>
            </a:r>
          </a:p>
          <a:p/>
          <a:p/>
          <a:p>
            <a:r>
              <a:t>[V4 개정 범위]</a:t>
            </a:r>
          </a:p>
          <a:p>
            <a:r>
              <a:t>기존 V2 수치데이터, 제어 설정, 판정 기준을 유지함. 용어·집계 대상·해석 설명을 정비함. 수치연구이며 실제 제품 검증 및 사내 승인을 의미하지 않음.</a:t>
            </a:r>
          </a:p>
          <a:p/>
          <a:p>
            <a:r>
              <a:t>근거: 근거: baseline.csv/improved.csv; selected_control.json training_ids; guardrail 판정.</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[29/58] 4. Improve / 변동조건 검증</a:t>
            </a:r>
          </a:p>
          <a:p>
            <a:r>
              <a:t>[설명 요지]</a:t>
            </a:r>
          </a:p>
          <a:p>
            <a:r>
              <a:t>선정한 제어 조건을 고정하고 변동 검증조건 60개을 검증함. THD 기준 만족률은 90%, 보조 조건을 포함한 종합 만족률은 85%로 확인됨.</a:t>
            </a:r>
          </a:p>
          <a:p/>
          <a:p>
            <a:r>
              <a:t>[해석 및 판단]</a:t>
            </a:r>
          </a:p>
          <a:p>
            <a:r>
              <a:t>LHS/경계조건은 가정영역 커버리지다. 이 만족률을 field 고장확률로 전환할 수 없다. 개선 후 보조조건 통과수가53→51로 줄어 실제 부작용 검토가 필요한 점을 명시한다.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holdout_baseline.csv; holdout_improved.csv; summary.json. 48 LHS + 12 경계조건.</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[30/58] 4. Improve / 만족·미달 상태 변화 분석</a:t>
            </a:r>
          </a:p>
          <a:p>
            <a:r>
              <a:t>합부 전이표는 같은60개 조건의 전후 대응 상태를 요약한 기술통계이다. THD만 보면 초기 만족16개 조건은 모두 유지되고38개 조건이 회복되어54개 조건이 만족한다. 보조조건은 초기53개 조건 만족에서 개선51개 조건 만족으로 감소하며 H053,H054가 신규 포화미달이다. 이2개 조건은 초기부터 THD미달이므로 종합표의 만족→미달 셀은0이다. 종합표만 보아도 부작용이 없다고 말할 수 없는 이유다. 합부전이표는 McNemar 검정 결과가 아니며, LHS와경계점이 섞인 설계집합에 제품수율 신뢰구간을 적용하지 않았다.</a:t>
            </a:r>
          </a:p>
          <a:p/>
          <a:p>
            <a:r>
              <a:t>[추가 통계 설명 참고 / 2026-09-28 확인]</a:t>
            </a:r>
          </a:p>
          <a:p>
            <a:r>
              <a:t>NIST 5.3.3.9: https://www.itl.nist.gov/div898/handbook/pri/section3/pri339.htm</a:t>
            </a:r>
          </a:p>
          <a:p>
            <a:r>
              <a:t>NIST 7.3.1.1: https://www.itl.nist.gov/div898/handbook/prc/section3/prc311.htm</a:t>
            </a:r>
          </a:p>
          <a:p>
            <a:r>
              <a:t>NIST 6.1.6: https://www.itl.nist.gov/div898/handbook/pmc/section1/pmc16.htm</a:t>
            </a:r>
          </a:p>
          <a:p>
            <a:r>
              <a:t>이는 방법 설명의 참고문헌이며 본 연구의 제품 검증 또는 사내 승인 근거가 아님.</a:t>
            </a:r>
          </a:p>
          <a:p/>
          <a:p>
            <a:r>
              <a:t>[V4 개정 범위]</a:t>
            </a:r>
          </a:p>
          <a:p>
            <a:r>
              <a:t>기존 V2 수치데이터, 제어 설정, 판정 기준을 유지함. 용어·집계 대상·해석 설명을 정비함. 수치연구이며 실제 제품 검증 및 사내 승인을 의미하지 않음.</a:t>
            </a:r>
          </a:p>
          <a:p/>
          <a:p>
            <a:r>
              <a:t>근거: V2 holdout_baseline.csv·holdout_improved.csv → V3 analysis/pass_transitions.csv</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[31/58] 4. Improve / 미달 조건 분석</a:t>
            </a:r>
          </a:p>
          <a:p>
            <a:r>
              <a:t>[설명 요지]</a:t>
            </a:r>
          </a:p>
          <a:p>
            <a:r>
              <a:t>추가 검증에서 높은 계통전압과 낮은 DC 전압 조건에 미달이 집중됨. H053·H054는 개선 후 보조 조건을 새로 위반함.</a:t>
            </a:r>
          </a:p>
          <a:p/>
          <a:p>
            <a:r>
              <a:t>[해석 및 판단]</a:t>
            </a:r>
          </a:p>
          <a:p/>
          <a:p/>
          <a:p>
            <a:r>
              <a:t>[V4 개정 범위]</a:t>
            </a:r>
          </a:p>
          <a:p>
            <a:r>
              <a:t>기존 V2 수치데이터, 제어 설정, 판정 기준을 유지함. 용어·집계 대상·해석 설명을 정비함. 수치연구이며 실제 제품 검증 및 사내 승인을 의미하지 않음.</a:t>
            </a:r>
          </a:p>
          <a:p/>
          <a:p>
            <a:r>
              <a:t>근거: 근거: holdout_failures.csv; holdout_improved.csv; diagnostic_vdc400.csv. 포화비 한계 &lt;0.1%.</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[32/58] 4. Improve / 부작용 검증</a:t>
            </a:r>
          </a:p>
          <a:p>
            <a:r>
              <a:t>[설명 요지]</a:t>
            </a:r>
          </a:p>
          <a:p>
            <a:r>
              <a:t>THD 개선에 따른 정착시간과 전류 피크 변화를 확인함. 일부 과도응답에서 정착시간 증가가 있어 적용 전 추가 검증이 필요함.</a:t>
            </a:r>
          </a:p>
          <a:p/>
          <a:p>
            <a:r>
              <a:t>[해석 및 판단]</a:t>
            </a:r>
          </a:p>
          <a:p>
            <a:r>
              <a:t>T1~T4의 원래 명령변화 정의와 파형은 src/study.py와 run_transient 원시자료에 보존된다. 미세한 settling차이를 유의한 통계적 개선/열화로 해석하지 않는다. 표는 고정된 동일 개선설정 결과다.</a:t>
            </a:r>
          </a:p>
          <a:p>
            <a:r>
              <a:t>[V4 해석] T3의 정착시간 증가0.0625ms는 제어주기2개에 해당하는 관측 차이다. 민감도·오차대비 중요성은 검증하지 않았으므로 유의한 성능열화로 단정하지 않는다. 정착시간은0.4s의 지령변경 이후 1주기 이동평균 P/Q오차가 한계내에 들어와 남은 시간동안 유지되는 첫 시점으로 정의한다. 모델의 과도 전류피크는 전체 실행시간에서 계산했으며 정상상태 피크와 분모구간을 구분한다.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transient.csv; numerical_refinement.csv; long_duration.csv; docs/01_model.md.</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[33/58] 5. Control / 표준화 및 관리계획</a:t>
            </a:r>
          </a:p>
          <a:p>
            <a:r>
              <a:t>[설명 요지]</a:t>
            </a:r>
          </a:p>
          <a:p>
            <a:r>
              <a:t>제어 설정, 시험조건 집합 및 판정 코드를 관리 대상으로 선정함. 변경 시 동일 절차로 재검증하고 원시 데이터와 결과의 연결을 유지함.</a:t>
            </a:r>
          </a:p>
          <a:p/>
          <a:p>
            <a:r>
              <a:t>[해석 및 판단]</a:t>
            </a:r>
          </a:p>
          <a:p/>
          <a:p/>
          <a:p>
            <a:r>
              <a:t>[V4 개정 범위]</a:t>
            </a:r>
          </a:p>
          <a:p>
            <a:r>
              <a:t>기존 V2 수치데이터, 제어 설정, 판정 기준을 유지함. 용어·집계 대상·해석 설명을 정비함. 수치연구이며 실제 제품 검증 및 사내 승인을 의미하지 않음.</a:t>
            </a:r>
          </a:p>
          <a:p/>
          <a:p>
            <a:r>
              <a:t>근거: 근거: docs/03_logic_review.md; manifest.json; tests/test_study.py. 관리 역할은 실행 제안이며 배정 기록 아님.</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[34/58] 5. Control / 성과 확인</a:t>
            </a:r>
          </a:p>
          <a:p>
            <a:r>
              <a:t>[설명 요지]</a:t>
            </a:r>
          </a:p>
          <a:p>
            <a:r>
              <a:t>기준 운전조건 집합에서 THD 개선 목표를 달성함. 제어 후보와 미달 조건을 확보하였으며, 실물·재무 성과는 후속 검증 대상으로 구분함.</a:t>
            </a:r>
          </a:p>
          <a:p/>
          <a:p>
            <a:r>
              <a:t>[해석 및 판단]</a:t>
            </a:r>
          </a:p>
          <a:p/>
          <a:p/>
          <a:p>
            <a:r>
              <a:t>[V4 개정 범위]</a:t>
            </a:r>
          </a:p>
          <a:p>
            <a:r>
              <a:t>기존 V2 수치데이터, 제어 설정, 판정 기준을 유지함. 용어·집계 대상·해석 설명을 정비함. 수치연구이며 실제 제품 검증 및 사내 승인을 의미하지 않음.</a:t>
            </a:r>
          </a:p>
          <a:p/>
          <a:p>
            <a:r>
              <a:t>근거: 근거: summary.json; holdout_failures.csv; docs/03_logic_review.md. 모두 수치연구 범위.</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[35/58] 5. Control / 향후 계획</a:t>
            </a:r>
          </a:p>
          <a:p>
            <a:r>
              <a:t>[설명 요지]</a:t>
            </a:r>
          </a:p>
          <a:p>
            <a:r>
              <a:t>수치해석에서 선정한 제어안을 설계 검토 후보로 제시함. 고객 판정 기준과 실물 대응성을 확인한 후 제품 적용 여부를 결정함.</a:t>
            </a:r>
          </a:p>
          <a:p/>
          <a:p>
            <a:r>
              <a:t>[해석 및 판단]</a:t>
            </a:r>
          </a:p>
          <a:p/>
          <a:p/>
          <a:p>
            <a:r>
              <a:t>[V4 개정 범위]</a:t>
            </a:r>
          </a:p>
          <a:p>
            <a:r>
              <a:t>기존 V2 수치데이터, 제어 설정, 판정 기준을 유지함. 용어·집계 대상·해석 설명을 정비함. 수치연구이며 실제 제품 검증 및 사내 승인을 의미하지 않음.</a:t>
            </a:r>
          </a:p>
          <a:p/>
          <a:p>
            <a:r>
              <a:t>근거: 근거: docs/03_logic_review.md; results/summary.json. 결론은 수치연구 범위로 제한.</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[36/58] 용어집 1 / 시험과 데이터의 단위</a:t>
            </a:r>
          </a:p>
          <a:p>
            <a:r>
              <a:t>운전조건 (Case)</a:t>
            </a:r>
          </a:p>
          <a:p>
            <a:r>
              <a:t>P·Q 지령, 전압, 부품값 등 입력조건 1개 조합. 조건 ID로 식별함.</a:t>
            </a:r>
          </a:p>
          <a:p>
            <a:r>
              <a:t>주의: 조건이 다르면 반복 측정이 아님.</a:t>
            </a:r>
          </a:p>
          <a:p/>
          <a:p>
            <a:r>
              <a:t>기준 운전조건</a:t>
            </a:r>
          </a:p>
          <a:p>
            <a:r>
              <a:t>회로 설정을 고정하고 S*·Vac·φ를 조합한 63개 조건.</a:t>
            </a:r>
          </a:p>
          <a:p>
            <a:r>
              <a:t>주의: 실제 제품 시료 63대가 아님.</a:t>
            </a:r>
          </a:p>
          <a:p/>
          <a:p>
            <a:r>
              <a:t>제어 선정용 운전조건</a:t>
            </a:r>
          </a:p>
          <a:p>
            <a:r>
              <a:t>기준 63개 중 9개. 27개 제어 조합을 비교하는 데 사용함.</a:t>
            </a:r>
          </a:p>
          <a:p>
            <a:r>
              <a:t>주의: 9개는 독립 반복실험 횟수가 아님.</a:t>
            </a:r>
          </a:p>
          <a:p/>
          <a:p>
            <a:r>
              <a:t>선정 미사용 운전조건</a:t>
            </a:r>
          </a:p>
          <a:p>
            <a:r>
              <a:t>기준 63개에서 선정용 9개를 뺀 54개 조건.</a:t>
            </a:r>
          </a:p>
          <a:p>
            <a:r>
              <a:t>주의: 63개와 별개로 더하지 않음.</a:t>
            </a:r>
          </a:p>
          <a:p/>
          <a:p>
            <a:r>
              <a:t>변동 검증조건</a:t>
            </a:r>
          </a:p>
          <a:p>
            <a:r>
              <a:t>부품·환경·모델 가정을 바꾼 별도 60개 조건.</a:t>
            </a:r>
          </a:p>
          <a:p>
            <a:r>
              <a:t>주의: 실물 검증 또는 수율 표본이 아님.</a:t>
            </a:r>
          </a:p>
          <a:p/>
          <a:p>
            <a:r>
              <a:t>해석 실행 (Run)</a:t>
            </a:r>
          </a:p>
          <a:p>
            <a:r>
              <a:t>운전조건 1개에 제어 조합 1개를 적용해 1회 계산함.</a:t>
            </a:r>
          </a:p>
          <a:p>
            <a:r>
              <a:t>주의: 같은 조건도 제어가 다르면 별도 실행.</a:t>
            </a:r>
          </a:p>
          <a:p/>
          <a:p>
            <a:r>
              <a:t>시간 표본</a:t>
            </a:r>
          </a:p>
          <a:p>
            <a:r>
              <a:t>전류 등 파형을 일정 시간간격으로 저장한 값 1개.</a:t>
            </a:r>
          </a:p>
          <a:p>
            <a:r>
              <a:t>주의: 6,400개 시간 표본 ≠ 시료 6,400개.</a:t>
            </a:r>
          </a:p>
          <a:p/>
          <a:p>
            <a:r>
              <a:t>조건 ID / 실행 ID</a:t>
            </a:r>
          </a:p>
          <a:p>
            <a:r>
              <a:t>M024 등은 조건 식별자, V2_…는 실행 식별자임.</a:t>
            </a:r>
          </a:p>
          <a:p>
            <a:r>
              <a:t>주의: 순서는 시간·생산 로트의 의미가 없음.</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V2 설정·모델·실험계획 코드; V3 분석 설명. 통계 방법은 NIST 참고.</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[37/58] 용어집 2 / 전력·전류 품질 지표</a:t>
            </a:r>
          </a:p>
          <a:p>
            <a:r>
              <a:t>S* [VA]</a:t>
            </a:r>
          </a:p>
          <a:p>
            <a:r>
              <a:t>√((P*)²+(Q*)²)로 정의한 피상전력 지령의 크기.</a:t>
            </a:r>
          </a:p>
          <a:p>
            <a:r>
              <a:t>주의: 왜곡 파형의 실측 Vac×Irms와 구분.</a:t>
            </a:r>
          </a:p>
          <a:p/>
          <a:p>
            <a:r>
              <a:t>P* [W] / Q* [var]</a:t>
            </a:r>
          </a:p>
          <a:p>
            <a:r>
              <a:t>유효·무효전력 지령. 본 모델은 P*&gt;0이 계통 송전 방향.</a:t>
            </a:r>
          </a:p>
          <a:p>
            <a:r>
              <a:t>주의: Q 부호는 고객·통신 규약과 별도 확인.</a:t>
            </a:r>
          </a:p>
          <a:p/>
          <a:p>
            <a:r>
              <a:t>φ [°]</a:t>
            </a:r>
          </a:p>
          <a:p>
            <a:r>
              <a:t>P* = S*·cosφ, Q* = S*·sinφ의 위상각. φ&gt;0은 지상전류.</a:t>
            </a:r>
          </a:p>
          <a:p>
            <a:r>
              <a:t>주의: P*=0, Q*≠0은 무전류 상태가 아님.</a:t>
            </a:r>
          </a:p>
          <a:p/>
          <a:p>
            <a:r>
              <a:t>Vac [Vrms] / Vdc [V]</a:t>
            </a:r>
          </a:p>
          <a:p>
            <a:r>
              <a:t>계통 기본파 전압의 RMS / DC 전압 가정값.</a:t>
            </a:r>
          </a:p>
          <a:p>
            <a:r>
              <a:t>주의: Vdc는 동특성을 가진 제어변수가 아님.</a:t>
            </a:r>
          </a:p>
          <a:p/>
          <a:p>
            <a:r>
              <a:t>I₁ / Iₕ [Arms]</a:t>
            </a:r>
          </a:p>
          <a:p>
            <a:r>
              <a:t>전류의 기본파 / h차 고조파 성분의 실효값.</a:t>
            </a:r>
          </a:p>
          <a:p>
            <a:r>
              <a:t>주의: 본 보고서의 기본파 주파수는 50 Hz.</a:t>
            </a:r>
          </a:p>
          <a:p/>
          <a:p>
            <a:r>
              <a:t>THD [%]</a:t>
            </a:r>
          </a:p>
          <a:p>
            <a:r>
              <a:t>2~40차 전류 RMS 합성값을 I₁로 나눈 비율×100.</a:t>
            </a:r>
          </a:p>
          <a:p>
            <a:r>
              <a:t>주의: DC·40차 초과·스위칭 리플은 제외.</a:t>
            </a:r>
          </a:p>
          <a:p/>
          <a:p>
            <a:r>
              <a:t>RMS (실효값)</a:t>
            </a:r>
          </a:p>
          <a:p>
            <a:r>
              <a:t>제곱값의 평균에 제곱근을 취한 값. 파형 크기를 나타냄.</a:t>
            </a:r>
          </a:p>
          <a:p>
            <a:r>
              <a:t>주의: 두 RMS의 차이와 파형 차이의 RMS는 다름.</a:t>
            </a:r>
          </a:p>
          <a:p/>
          <a:p>
            <a:r>
              <a:t>%p (퍼센트포인트)</a:t>
            </a:r>
          </a:p>
          <a:p>
            <a:r>
              <a:t>두 백분율의 산술 차이. 예: 6.03%−2.42%=3.61%p.</a:t>
            </a:r>
          </a:p>
          <a:p>
            <a:r>
              <a:t>주의: 상대 감소율 약59.9%와 구분함.</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V2 설정·모델·실험계획 코드; V3 분석 설명. 통계 방법은 NIST 참고.</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[38/58] 용어집 3 / 회로와 제어</a:t>
            </a:r>
          </a:p>
          <a:p>
            <a:r>
              <a:t>OBCM / PFC / V2G</a:t>
            </a:r>
          </a:p>
          <a:p>
            <a:r>
              <a:t>차량용 충전기 모듈 / 역률 보정 AC단 / 차량→계통 전력 전달.</a:t>
            </a:r>
          </a:p>
          <a:p>
            <a:r>
              <a:t>주의: 본 연구는 OBCM 전체 동작 검증이 아님.</a:t>
            </a:r>
          </a:p>
          <a:p/>
          <a:p>
            <a:r>
              <a:t>평균 AC단 모델</a:t>
            </a:r>
          </a:p>
          <a:p>
            <a:r>
              <a:t>스위치의 순간 동작 대신 평균 전압으로 AC단을 계산함.</a:t>
            </a:r>
          </a:p>
          <a:p>
            <a:r>
              <a:t>주의: 실제 스위칭·소자 전환은 미포함.</a:t>
            </a:r>
          </a:p>
          <a:p/>
          <a:p>
            <a:r>
              <a:t>dq-PI</a:t>
            </a:r>
          </a:p>
          <a:p>
            <a:r>
              <a:t>dq 좌표계 전류오차를 비례·적분 연산하는 기본 제어.</a:t>
            </a:r>
          </a:p>
          <a:p>
            <a:r>
              <a:t>주의: 이번 개선에서는 기본 이득을 유지함.</a:t>
            </a:r>
          </a:p>
          <a:p/>
          <a:p>
            <a:r>
              <a:t>SOGI-PLL</a:t>
            </a:r>
          </a:p>
          <a:p>
            <a:r>
              <a:t>SOGI로 직교 신호를 만들고 PLL로 계통 위상을 추정함.</a:t>
            </a:r>
          </a:p>
          <a:p>
            <a:r>
              <a:t>주의: PLL 설계값 20 Hz ≠ 검증된 전체 대역폭.</a:t>
            </a:r>
          </a:p>
          <a:p/>
          <a:p>
            <a:r>
              <a:t>전향보상 (FF)</a:t>
            </a:r>
          </a:p>
          <a:p>
            <a:r>
              <a:t>계통전압과 기준 L/R값으로 필요한 전압을 미리 계산함.</a:t>
            </a:r>
          </a:p>
          <a:p>
            <a:r>
              <a:t>주의: 전류오차 피드백과 별도의 경로임.</a:t>
            </a:r>
          </a:p>
          <a:p/>
          <a:p>
            <a:r>
              <a:t>준공진 피드백</a:t>
            </a:r>
          </a:p>
          <a:p>
            <a:r>
              <a:t>선택한 고조파 주파수 부근의 전류오차에 이득을 부여함.</a:t>
            </a:r>
          </a:p>
          <a:p>
            <a:r>
              <a:t>주의: 3·5·7차는 150·250·350 Hz에 대응.</a:t>
            </a:r>
          </a:p>
          <a:p/>
          <a:p>
            <a:r>
              <a:t>Kr [Ω] / fc [Hz]</a:t>
            </a:r>
          </a:p>
          <a:p>
            <a:r>
              <a:t>공진 이득 / ωc=2πfc로 쓰는 준공진 대역 파라미터.</a:t>
            </a:r>
          </a:p>
          <a:p>
            <a:r>
              <a:t>주의: fc는 계통 주파수나 전체 대역폭이 아님.</a:t>
            </a:r>
          </a:p>
          <a:p/>
          <a:p>
            <a:r>
              <a:t>teq / Iz</a:t>
            </a:r>
          </a:p>
          <a:p>
            <a:r>
              <a:t>잔류 전압오차 크기를 정하는 등가 시간 / 전류 전환폭.</a:t>
            </a:r>
          </a:p>
          <a:p>
            <a:r>
              <a:t>주의: teq는 실측 dead-time이 아닌 보정값.</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V2 설정·모델·실험계획 코드; V3 분석 설명. 통계 방법은 NIST 참고.</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[39/58] 용어집 4 / 분석과 제어 조합 선정</a:t>
            </a:r>
          </a:p>
          <a:p>
            <a:r>
              <a:t>DOE (실험계획법)</a:t>
            </a:r>
          </a:p>
          <a:p>
            <a:r>
              <a:t>인자 수준의 조합을 계획해 반응값을 비교하는 방법.</a:t>
            </a:r>
          </a:p>
          <a:p>
            <a:r>
              <a:t>주의: 이번에는 3인자×각3수준의 27개 조합.</a:t>
            </a:r>
          </a:p>
          <a:p/>
          <a:p>
            <a:r>
              <a:t>인자 / 수준 / 반응값</a:t>
            </a:r>
          </a:p>
          <a:p>
            <a:r>
              <a:t>변경할 변수 / 그 변수의 설정값 / 관측 결과.</a:t>
            </a:r>
          </a:p>
          <a:p>
            <a:r>
              <a:t>주의: 예: Kr / 8·16·24 Ω / THD.</a:t>
            </a:r>
          </a:p>
          <a:p/>
          <a:p>
            <a:r>
              <a:t>가인자</a:t>
            </a:r>
          </a:p>
          <a:p>
            <a:r>
              <a:t>영향 가능성과 변경 가능성을 검토할 후보 인자.</a:t>
            </a:r>
          </a:p>
          <a:p>
            <a:r>
              <a:t>주의: 최종 원인으로 확정되었다는 뜻은 아님.</a:t>
            </a:r>
          </a:p>
          <a:p/>
          <a:p>
            <a:r>
              <a:t>완전요인배치</a:t>
            </a:r>
          </a:p>
          <a:p>
            <a:r>
              <a:t>선택한 모든 인자 수준 조합을 빠짐없이 계산함.</a:t>
            </a:r>
          </a:p>
          <a:p>
            <a:r>
              <a:t>주의: 27조합×9조건=243회, 243반복이 아님.</a:t>
            </a:r>
          </a:p>
          <a:p/>
          <a:p>
            <a:r>
              <a:t>주효과</a:t>
            </a:r>
          </a:p>
          <a:p>
            <a:r>
              <a:t>다른 조건을 동일 가중한 수준별 평균 반응의 차이.</a:t>
            </a:r>
          </a:p>
          <a:p>
            <a:r>
              <a:t>주의: 선택한 범위의 효과이며 p-value가 아님.</a:t>
            </a:r>
          </a:p>
          <a:p/>
          <a:p>
            <a:r>
              <a:t>교호작용</a:t>
            </a:r>
          </a:p>
          <a:p>
            <a:r>
              <a:t>한 인자의 효과가 다른 인자의 수준에 따라 달라짐.</a:t>
            </a:r>
          </a:p>
          <a:p>
            <a:r>
              <a:t>주의: 선이 교차해야만 생기는 것은 아님.</a:t>
            </a:r>
          </a:p>
          <a:p/>
          <a:p>
            <a:r>
              <a:t>대응 비교</a:t>
            </a:r>
          </a:p>
          <a:p>
            <a:r>
              <a:t>동일 조건 ID의 초기·개선 결과를 짝지어 차이를 계산함.</a:t>
            </a:r>
          </a:p>
          <a:p>
            <a:r>
              <a:t>주의: 대응 t-검정을 수행했다는 뜻은 아님.</a:t>
            </a:r>
          </a:p>
          <a:p/>
          <a:p>
            <a:r>
              <a:t>제곱합 / 기여도</a:t>
            </a:r>
          </a:p>
          <a:p>
            <a:r>
              <a:t>평균에서의 편차 제곱합 / 총제곱합 중 요인별 비중.</a:t>
            </a:r>
          </a:p>
          <a:p>
            <a:r>
              <a:t>주의: 제품 불량 원인 또는 제조 산포 비율이 아님.</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V2 설정·모델·실험계획 코드; V3 분석 설명. 통계 방법은 NIST 참고.</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[40/58] 용어집 5 / 검증과 판정</a:t>
            </a:r>
          </a:p>
          <a:p>
            <a:r>
              <a:t>잠정 설계기준</a:t>
            </a:r>
          </a:p>
          <a:p>
            <a:r>
              <a:t>본 수치연구에서 사용한 판정 한계. 고객 확정 규격과 구분함.</a:t>
            </a:r>
          </a:p>
          <a:p>
            <a:r>
              <a:t>주의: THD≤5%와 보조 조건은 모두 연구 가정.</a:t>
            </a:r>
          </a:p>
          <a:p/>
          <a:p>
            <a:r>
              <a:t>보조 조건 / 종합 만족</a:t>
            </a:r>
          </a:p>
          <a:p>
            <a:r>
              <a:t>P·Q 추종, 전류·포화·주기성 / THD와 보조 조건 전부 만족.</a:t>
            </a:r>
          </a:p>
          <a:p>
            <a:r>
              <a:t>주의: THD 만족만으로 종합 만족을 뜻하지 않음.</a:t>
            </a:r>
          </a:p>
          <a:p/>
          <a:p>
            <a:r>
              <a:t>포화 시간비 [%]</a:t>
            </a:r>
          </a:p>
          <a:p>
            <a:r>
              <a:t>전압 명령이 ±0.95Vdc 제한을 넘은 시간 표본의 비율.</a:t>
            </a:r>
          </a:p>
          <a:p>
            <a:r>
              <a:t>주의: 전체 0.2 s 평가 구간을 분모로 계산함.</a:t>
            </a:r>
          </a:p>
          <a:p/>
          <a:p>
            <a:r>
              <a:t>주기성 오차 [A]</a:t>
            </a:r>
          </a:p>
          <a:p>
            <a:r>
              <a:t>연속 두 주기의 전류 파형을 같은 위상끼리 빼고 RMS 계산.</a:t>
            </a:r>
          </a:p>
          <a:p>
            <a:r>
              <a:t>주의: 작아도 전체 폐루프 안정성이 증명되지 않음.</a:t>
            </a:r>
          </a:p>
          <a:p/>
          <a:p>
            <a:r>
              <a:t>LHS (라틴 초입방체 표본화)</a:t>
            </a:r>
          </a:p>
          <a:p>
            <a:r>
              <a:t>가정한 각 입력범위를 나누어 넓게 다루는 조건 생성법.</a:t>
            </a:r>
          </a:p>
          <a:p>
            <a:r>
              <a:t>주의: 48개 LHS+12개 경계조건; 제조 분포 아님.</a:t>
            </a:r>
          </a:p>
          <a:p/>
          <a:p>
            <a:r>
              <a:t>초기값 보정 / 모델 검증</a:t>
            </a:r>
          </a:p>
          <a:p>
            <a:r>
              <a:t>출력 크기를 기준값에 맞춤 / 실물과의 일치성을 확인함.</a:t>
            </a:r>
          </a:p>
          <a:p>
            <a:r>
              <a:t>주의: 단일 THD 보정은 실물 검증을 대체 못함.</a:t>
            </a:r>
          </a:p>
          <a:p/>
          <a:p>
            <a:r>
              <a:t>수치 검증 / 회귀시험</a:t>
            </a:r>
          </a:p>
          <a:p>
            <a:r>
              <a:t>계산 정확도 확인 / 변경 뒤 기존 시험의 재실행.</a:t>
            </a:r>
          </a:p>
          <a:p>
            <a:r>
              <a:t>주의: 회귀시험은 회귀분석과 다른 말임.</a:t>
            </a:r>
          </a:p>
          <a:p/>
          <a:p>
            <a:r>
              <a:t>강건성 (Robustness)</a:t>
            </a:r>
          </a:p>
          <a:p>
            <a:r>
              <a:t>가정·부품·환경이 달라져도 성능이 유지되는 성질.</a:t>
            </a:r>
          </a:p>
          <a:p>
            <a:r>
              <a:t>주의: 60개 조건의 만족률은 현장 신뢰도가 아님.</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V2 설정·모델·실험계획 코드; V3 분석 설명. 통계 방법은 NIST 참고.</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[41/58] 용어집 6 / 통계 용어의 해석</a:t>
            </a:r>
          </a:p>
          <a:p>
            <a:r>
              <a:t>기술통계</a:t>
            </a:r>
          </a:p>
          <a:p>
            <a:r>
              <a:t>주어진 데이터의 평균·최대·비율 등을 요약하는 계산.</a:t>
            </a:r>
          </a:p>
          <a:p>
            <a:r>
              <a:t>주의: 모집단의 성능 보증 또는 가설검정과 구분함.</a:t>
            </a:r>
          </a:p>
          <a:p/>
          <a:p>
            <a:r>
              <a:t>Gage R&amp;R</a:t>
            </a:r>
          </a:p>
          <a:p>
            <a:r>
              <a:t>반복 측정과 측정자 차이 등 계측 변동을 분리하는 분석.</a:t>
            </a:r>
          </a:p>
          <a:p>
            <a:r>
              <a:t>주의: 본 과제는 실제 반복 계측자료가 없어 미적용.</a:t>
            </a:r>
          </a:p>
          <a:p/>
          <a:p>
            <a:r>
              <a:t>ANOVA (분산분석)</a:t>
            </a:r>
          </a:p>
          <a:p>
            <a:r>
              <a:t>반응 변동을 요인과 오차로 나누어 효과를 분석하는 방법.</a:t>
            </a:r>
          </a:p>
          <a:p>
            <a:r>
              <a:t>주의: 본 과제는 제곱합 분해만, F검정은 미수행.</a:t>
            </a:r>
          </a:p>
          <a:p/>
          <a:p>
            <a:r>
              <a:t>자유도 (df)</a:t>
            </a:r>
          </a:p>
          <a:p>
            <a:r>
              <a:t>제약을 반영한 독립 정보 수. 27개 평균의 총자유도는26.</a:t>
            </a:r>
          </a:p>
          <a:p>
            <a:r>
              <a:t>주의: 모든 요인항을 쓰면 남는 오차 자유도는0.</a:t>
            </a:r>
          </a:p>
          <a:p/>
          <a:p>
            <a:r>
              <a:t>F값 / p-value</a:t>
            </a:r>
          </a:p>
          <a:p>
            <a:r>
              <a:t>효과와 오차의 비 / 귀무가설하에서 결과의 극단성 지표.</a:t>
            </a:r>
          </a:p>
          <a:p>
            <a:r>
              <a:t>주의: 본 과제 미산출. p는 귀무가설이 참일 확률이 아님.</a:t>
            </a:r>
          </a:p>
          <a:p/>
          <a:p>
            <a:r>
              <a:t>신뢰구간</a:t>
            </a:r>
          </a:p>
          <a:p>
            <a:r>
              <a:t>정한 표본추출·오차 모형에 근거해 모집단 값을 추정하는 구간.</a:t>
            </a:r>
          </a:p>
          <a:p>
            <a:r>
              <a:t>주의: 시뮬레이션 조건 범위나 최소·최대와 다름.</a:t>
            </a:r>
          </a:p>
          <a:p/>
          <a:p>
            <a:r>
              <a:t>Cpk / Z.Bench</a:t>
            </a:r>
          </a:p>
          <a:p>
            <a:r>
              <a:t>공정 산포와 규격의 관계를 요약하는 공정능력 지표.</a:t>
            </a:r>
          </a:p>
          <a:p>
            <a:r>
              <a:t>주의: 제품·공정 산포가 없는 이번 자료에 미적용.</a:t>
            </a:r>
          </a:p>
          <a:p/>
          <a:p>
            <a:r>
              <a:t>층별 분석 / 범주형 인자</a:t>
            </a:r>
          </a:p>
          <a:p>
            <a:r>
              <a:t>조건별 그룹으로 나눔 / 수치간 거리보다 종류로 구분하는 인자.</a:t>
            </a:r>
          </a:p>
          <a:p>
            <a:r>
              <a:t>주의: 차수 조합은 범주형. 3→5→7의 선형효과로 보지 않음.</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V2 설정·모델·실험계획 코드; V3 분석 설명. 통계 방법은 NIST 참고.</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[42/58] 용어집 7 / 수치계산·구현·검증 기록</a:t>
            </a:r>
          </a:p>
          <a:p>
            <a:r>
              <a:t>Ts / fs</a:t>
            </a:r>
          </a:p>
          <a:p>
            <a:r>
              <a:t>제어·저장 주기31.25 μs / 주파수32 kHz. Ts=1/fs.</a:t>
            </a:r>
          </a:p>
          <a:p>
            <a:r>
              <a:t>주의: 수치 적분 시간간격 Ts/8과 구분함.</a:t>
            </a:r>
          </a:p>
          <a:p/>
          <a:p>
            <a:r>
              <a:t>RK4 / 적분 시간간격</a:t>
            </a:r>
          </a:p>
          <a:p>
            <a:r>
              <a:t>상태방정식을 4차 Runge–Kutta로 계산 / 한 계산의 시간간격.</a:t>
            </a:r>
          </a:p>
          <a:p>
            <a:r>
              <a:t>주의: 간격 세분화 비교는 수치오차 확인용임.</a:t>
            </a:r>
          </a:p>
          <a:p/>
          <a:p>
            <a:r>
              <a:t>FFT / 정수주기 구간</a:t>
            </a:r>
          </a:p>
          <a:p>
            <a:r>
              <a:t>파형을 주파수 성분으로 분해 / 기본파의 정수 주기를 포함한 구간.</a:t>
            </a:r>
          </a:p>
          <a:p>
            <a:r>
              <a:t>주의: 본 계산은50 Hz의10주기0.2 s, 6,400표본.</a:t>
            </a:r>
          </a:p>
          <a:p/>
          <a:p>
            <a:r>
              <a:t>ADC / 양자화 / DSP</a:t>
            </a:r>
          </a:p>
          <a:p>
            <a:r>
              <a:t>아날로그-디지털 변환 / 값의 눈금화 / 제어 연산 프로세서.</a:t>
            </a:r>
          </a:p>
          <a:p>
            <a:r>
              <a:t>주의: 양자화는 모델 가정, DSP 실행시간은 미검증.</a:t>
            </a:r>
          </a:p>
          <a:p/>
          <a:p>
            <a:r>
              <a:t>DC-link / CLLC</a:t>
            </a:r>
          </a:p>
          <a:p>
            <a:r>
              <a:t>DC 중간단 / 양측 공진소자를 갖는 DC-DC 전력변환단.</a:t>
            </a:r>
          </a:p>
          <a:p>
            <a:r>
              <a:t>주의: Vdc를 고정 입력으로 쓰므로 해당 동특성 미포함.</a:t>
            </a:r>
          </a:p>
          <a:p/>
          <a:p>
            <a:r>
              <a:t>DCM / Coss</a:t>
            </a:r>
          </a:p>
          <a:p>
            <a:r>
              <a:t>전류 불연속 도통 모드 / 전력반도체 출력 커패시턴스.</a:t>
            </a:r>
          </a:p>
          <a:p>
            <a:r>
              <a:t>주의: 실제 전환·비선형성은 본 모델에서 미검증.</a:t>
            </a:r>
          </a:p>
          <a:p/>
          <a:p>
            <a:r>
              <a:t>정착시간</a:t>
            </a:r>
          </a:p>
          <a:p>
            <a:r>
              <a:t>지령 변경 후 이동평균 전력 오차가 한계 내에 들어와 유지되기까지.</a:t>
            </a:r>
          </a:p>
          <a:p>
            <a:r>
              <a:t>주의: 과도응답 정의와 보조 주기성 판정은 다른 항목.</a:t>
            </a:r>
          </a:p>
          <a:p/>
          <a:p>
            <a:r>
              <a:t>해시 (SHA-256)</a:t>
            </a:r>
          </a:p>
          <a:p>
            <a:r>
              <a:t>파일 바이트에서 계산하는 식별값. 원자료 변경 여부 확인용.</a:t>
            </a:r>
          </a:p>
          <a:p>
            <a:r>
              <a:t>주의: 같은 해시가 물리적 모델 정확도를 보증하지 않음.</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V2 설정·모델·실험계획 코드; V3 분석 설명. 통계 방법은 NIST 참고.</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[43/58] 부록 A00 / 기준 운전조건 ID 일람</a:t>
            </a:r>
          </a:p>
          <a:p>
            <a:r>
              <a:t>M023,M025,M027,M030,M032,M034,M037,M039,M041은 선정용9개이다. ID부호와 그늘색으로만 구분하지 않고 ●기호를 함께 사용했다. 모든63개를 표에 표시하여 시험 범위와 부분집합을 추적할 수 있다.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results/main_cases.csv; selected_control.json의 training_ids.</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[44/58] 부록 A01 / 모델 및 제어식</a:t>
            </a:r>
          </a:p>
          <a:p>
            <a:r>
              <a:t>[설명 요지]</a:t>
            </a:r>
          </a:p>
          <a:p>
            <a:r>
              <a:t>기준 모델과 제어식, 제한값 및 디지털 구현 조건을 정리함. 본 보고서의 수치는 해당 코드와 설정으로 산출된 결과임.</a:t>
            </a:r>
          </a:p>
          <a:p/>
          <a:p>
            <a:r>
              <a:t>[해석 및 판단]</a:t>
            </a:r>
          </a:p>
          <a:p/>
          <a:p/>
          <a:p>
            <a:r>
              <a:t>[V4 개정 범위]</a:t>
            </a:r>
          </a:p>
          <a:p>
            <a:r>
              <a:t>기존 V2 수치데이터, 제어 설정, 판정 기준을 유지함. 용어·집계 대상·해석 설명을 정비함. 수치연구이며 실제 제품 검증 및 사내 승인을 의미하지 않음.</a:t>
            </a:r>
          </a:p>
          <a:p/>
          <a:p>
            <a:r>
              <a:t>근거: 근거: docs/01_model.md; src/model.py harmonic_coeff. 주파수 적응·실제 CAN 부호 mapping 미검증.</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[45/58] 부록 A02 / 공개 시험값 비교</a:t>
            </a:r>
          </a:p>
          <a:p>
            <a:r>
              <a:t>[설명 요지]</a:t>
            </a:r>
          </a:p>
          <a:p>
            <a:r>
              <a:t>기준점 외 시험값을 비교하여 모델의 적용 한계를 확인함. 단일 THD 크기 보정만으로 실물 모델 검증을 대체할 수는 없음.</a:t>
            </a:r>
          </a:p>
          <a:p/>
          <a:p>
            <a:r>
              <a:t>[해석 및 판단]</a:t>
            </a:r>
          </a:p>
          <a:p/>
          <a:p/>
          <a:p>
            <a:r>
              <a:t>[V4 개정 범위]</a:t>
            </a:r>
          </a:p>
          <a:p>
            <a:r>
              <a:t>기존 V2 수치데이터, 제어 설정, 판정 기준을 유지함. 용어·집계 대상·해석 설명을 정비함. 수치연구이며 실제 제품 검증 및 사내 승인을 의미하지 않음.</a:t>
            </a:r>
          </a:p>
          <a:p/>
          <a:p>
            <a:r>
              <a:t>근거: 근거: sources/TIDUE54B_table7.csv; public_benchmark_discrepancy.csv; TI TIDUE54B p.60 Table 7.</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[46/58] 부록 A03 / 변동 검증조건 상세</a:t>
            </a:r>
          </a:p>
          <a:p>
            <a:r>
              <a:t>V4에서 추가한 하위집합 집계이다. H001~H048은15차원 LHS와 shape순환배정, delay순환배정으로 생성되었다. H049~H060은 S900/1400, φ−90/0/90, shape1/2를 조합하고 Vac253V,Vdc380V,Lf1.35mH,Lg.4mH,teq1.3배,Iz.15A,v3.01,v5.005,offset.03A,ADC.0488A,delay2를 고정했다. LHS48의 초기종합16→47, 경계12의0→4이며 합계16→51을 재계산했다. 표의 범위는 생성 경계이며60개에서 관측한최소최대와는 다른 개념이다. 초기·개선의 임계값과 파형은 변경하지 않았다.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results/holdout_cases.csv; holdout_improved.csv; study_config.json.</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[47/58] 부록 A04 / 수치 수렴 및 범위 외 검증</a:t>
            </a:r>
          </a:p>
          <a:p>
            <a:r>
              <a:t>[설명 요지]</a:t>
            </a:r>
          </a:p>
          <a:p>
            <a:r>
              <a:t>범위 외 15개 조건과 대표 수치 조건을 별도로 확인함. 해당 결과는 기준 시험 및 추가 검증의 만족률 계산에 포함하지 않음.</a:t>
            </a:r>
          </a:p>
          <a:p/>
          <a:p>
            <a:r>
              <a:t>[해석 및 판단]</a:t>
            </a:r>
          </a:p>
          <a:p/>
          <a:p>
            <a:r>
              <a:t>[V4 범위] 최대 THD 차이0.00331%p는 선택한5개 시간간격 비교에서만 확인된 값이다. 이를 모든 운전조건의 전역 수치오차 상한으로 사용하지 않는다.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outside_baseline.csv; outside_improved.csv; numerical_refinement.csv; long_duration.csv.</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[48/58] 부록 A05 / 모델 구조 영향 검토</a:t>
            </a:r>
          </a:p>
          <a:p>
            <a:r>
              <a:t>[설명 요지]</a:t>
            </a:r>
          </a:p>
          <a:p>
            <a:r>
              <a:t>주분석 이후 전압 부호 제약을 추가하여 모델 구조의 영향을 검토함. 실제 소자 전환·DCM·Coss를 재현한 결과는 아님.</a:t>
            </a:r>
          </a:p>
          <a:p/>
          <a:p>
            <a:r>
              <a:t>[해석 및 판단]</a:t>
            </a:r>
          </a:p>
          <a:p/>
          <a:p/>
          <a:p>
            <a:r>
              <a:t>[V4 개정 범위]</a:t>
            </a:r>
          </a:p>
          <a:p>
            <a:r>
              <a:t>기존 V2 수치데이터, 제어 설정, 판정 기준을 유지함. 용어·집계 대상·해석 설명을 정비함. 수치연구이며 실제 제품 검증 및 사내 승인을 의미하지 않음.</a:t>
            </a:r>
          </a:p>
          <a:p/>
          <a:p>
            <a:r>
              <a:t>근거: 근거: structural_challenge.csv/json; src/model_fixed_leg.py; docs/01_model.md.</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[49/58] 부록 A06-1 / 제어 후보 전체 결과</a:t>
            </a:r>
          </a:p>
          <a:p>
            <a:r>
              <a:t>V3의 압축 표기 Kr/fc/hmax를 독립 열로 분리했다. 전체27개의 종합만족 수와 평균·최대THD를 함께 표시한다. 후보들을 단일 평균만으로 평가하지 않고 제약조건을 우선했다. 이 표는 선정후 추가조건을 이용한 재선정 결과가 아니다.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results/doe_candidates.csv; selected_control.json.</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[50/58] 부록 A06-2 / 제어 후보 전체 결과</a:t>
            </a:r>
          </a:p>
          <a:p>
            <a:r>
              <a:t>V3의 압축 표기 Kr/fc/hmax를 독립 열로 분리했다. 전체27개의 종합만족 수와 평균·최대THD를 함께 표시한다. 후보들을 단일 평균만으로 평가하지 않고 제약조건을 우선했다. 이 표는 선정후 추가조건을 이용한 재선정 결과가 아니다.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results/doe_candidates.csv; selected_control.json.</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[51/58] 부록 A07 / 기존 사례 비교 (1)</a:t>
            </a:r>
          </a:p>
          <a:p>
            <a:r>
              <a:t>[설명 요지]</a:t>
            </a:r>
          </a:p>
          <a:p>
            <a:r>
              <a:t>기존 보고서의 단계별 구성과 결과 해석 방식을 참고함. 실측 및 해석의 근거 수준이 다른 부분은 구분하여 적용함.</a:t>
            </a:r>
          </a:p>
          <a:p/>
          <a:p>
            <a:r>
              <a:t>[해석 및 판단]</a:t>
            </a:r>
          </a:p>
          <a:p/>
          <a:p/>
          <a:p>
            <a:r>
              <a:t>[V4 개정 범위]</a:t>
            </a:r>
          </a:p>
          <a:p>
            <a:r>
              <a:t>기존 V2 수치데이터, 제어 설정, 판정 기준을 유지함. 용어·집계 대상·해석 설명을 정비함. 수치연구이며 실제 제품 검증 및 사내 승인을 의미하지 않음.</a:t>
            </a:r>
          </a:p>
          <a:p/>
          <a:p>
            <a:r>
              <a:t>근거: 근거: 사용자 제공 6개 원문 PPTX; docs/reference_comparison_v2.md. 원본 이미지·개별 성과수치는 재사용 안 함.</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[52/58] 부록 A08 / 기존 사례 비교 (2)</a:t>
            </a:r>
          </a:p>
          <a:p>
            <a:r>
              <a:t>[설명 요지]</a:t>
            </a:r>
          </a:p>
          <a:p>
            <a:r>
              <a:t>THD 개선 효과뿐 아니라 부작용과 적용 범위를 함께 검토함. 제품 SW·시험표준 반영 여부는 수치해석 결과와 별도로 관리함.</a:t>
            </a:r>
          </a:p>
          <a:p/>
          <a:p>
            <a:r>
              <a:t>[해석 및 판단]</a:t>
            </a:r>
          </a:p>
          <a:p/>
          <a:p/>
          <a:p>
            <a:r>
              <a:t>[V4 개정 범위]</a:t>
            </a:r>
          </a:p>
          <a:p>
            <a:r>
              <a:t>기존 V2 수치데이터, 제어 설정, 판정 기준을 유지함. 용어·집계 대상·해석 설명을 정비함. 수치연구이며 실제 제품 검증 및 사내 승인을 의미하지 않음.</a:t>
            </a:r>
          </a:p>
          <a:p/>
          <a:p>
            <a:r>
              <a:t>근거: 근거: 사용자 제공 5개 원문 PPTX; docs/reference_comparison_v2.md. 자체 검토는 제3자 MBB 심사 아님.</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[53/58] 부록 A09 / 데이터 추적 및 재검증</a:t>
            </a:r>
          </a:p>
          <a:p>
            <a:r>
              <a:t>[설명 요지]</a:t>
            </a:r>
          </a:p>
          <a:p>
            <a:r>
              <a:t>V2 원자료는 유지하고 표시 문장·서식 및 통계 설명을 보완함. V3 추가 기술통계은 기존 결과를 재집계한 기술통계로 구분함.</a:t>
            </a:r>
          </a:p>
          <a:p/>
          <a:p>
            <a:r>
              <a:t>[해석 및 판단]</a:t>
            </a:r>
          </a:p>
          <a:p/>
          <a:p>
            <a:r>
              <a:t>[V4 변경] 상태를 표현하는 ‘실행 수601회’와 ‘기준조건63개’를 분리하여 설명했다. V4에서는 원자료 재계산검사를 수행하되601개 성능실험을 새로 실행했다고 표현하지 않는다.</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all_runs.csv; structural_challenge.csv; manifest.json; test_study.py; 2026.09.27 재점검 로그.</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[54/58] 부록 A10 / 출처 및 제출 전 확인</a:t>
            </a:r>
          </a:p>
          <a:p>
            <a:r>
              <a:t>[설명 요지]</a:t>
            </a:r>
          </a:p>
          <a:p>
            <a:r>
              <a:t>수치해석 결과와 문서 작성 범위를 명시함. 공식 등록정보, 고객 기준 및 수치해석 과제의 인정 범위는 제출 전 확인이 필요함.</a:t>
            </a:r>
          </a:p>
          <a:p/>
          <a:p>
            <a:r>
              <a:t>[해석 및 판단]</a:t>
            </a:r>
          </a:p>
          <a:p>
            <a:r>
              <a:t>S1: https://www.ti.com/lit/ug/tidue54b/tidue54b.pdf</a:t>
            </a:r>
          </a:p>
          <a:p>
            <a:r>
              <a:t>S4: https://imperix.com/doc/implementation/proportional-resonant-controller</a:t>
            </a:r>
          </a:p>
          <a:p>
            <a:r>
              <a:t>공개자료 확인일 2026-09-23은 기존 V2 자료가 기록한 일자다. 이번 PPTX 제작은 제공자료를 기준으로 수행했으며 최신 규격이나 제품값을 새로 주장하지 않는다.</a:t>
            </a:r>
          </a:p>
          <a:p>
            <a:r>
              <a:t>공식 소속 팀명·지도MBB·Owner·등록기간은 제공되지 않아 임의의 인명/일정을 넣지 않았다.</a:t>
            </a:r>
          </a:p>
          <a:p/>
          <a:p>
            <a:r>
              <a:t>[추가 통계 설명 참고 / 2026-09-28 확인]</a:t>
            </a:r>
          </a:p>
          <a:p>
            <a:r>
              <a:t>NIST 5.3.3.9: https://www.itl.nist.gov/div898/handbook/pri/section3/pri339.htm</a:t>
            </a:r>
          </a:p>
          <a:p>
            <a:r>
              <a:t>NIST 7.3.1.1: https://www.itl.nist.gov/div898/handbook/prc/section3/prc311.htm</a:t>
            </a:r>
          </a:p>
          <a:p>
            <a:r>
              <a:t>NIST 6.1.6: https://www.itl.nist.gov/div898/handbook/pmc/section1/pmc16.htm</a:t>
            </a:r>
          </a:p>
          <a:p>
            <a:r>
              <a:t>이는 방법 설명의 참고문헌이며 본 연구의 제품 검증 또는 사내 승인 근거가 아님.</a:t>
            </a:r>
          </a:p>
          <a:p/>
          <a:p>
            <a:r>
              <a:t>[V4 개정 범위]</a:t>
            </a:r>
          </a:p>
          <a:p>
            <a:r>
              <a:t>기존 V2 수치데이터, 제어 설정, 판정 기준을 유지함. 용어·집계 대상·해석 설명을 정비함. 수치연구이며 실제 제품 검증 및 사내 승인을 의미하지 않음.</a:t>
            </a:r>
          </a:p>
          <a:p/>
          <a:p>
            <a:r>
              <a:t>근거: 근거: sources/references.json; 기존11개 PPTX; docs/03_logic_review.md.</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[55/58] 부록 A11 / 주효과 산출 방법</a:t>
            </a:r>
          </a:p>
          <a:p>
            <a:r>
              <a:t>[적용 목적]</a:t>
            </a:r>
          </a:p>
          <a:p>
            <a:r>
              <a:t>DOE에서 하나의 데이터가 무엇을 의미하는지 명확히 하고, 수준별 평균의 산출 과정을 설명한다.</a:t>
            </a:r>
          </a:p>
          <a:p/>
          <a:p>
            <a:r>
              <a:t>[계산 방법]</a:t>
            </a:r>
          </a:p>
          <a:p>
            <a:r>
              <a:t>a, b, c는 각각 Kr, fc, 차수 조합의 수준이며 m은 반복 번호가 아닌 운전점 번호이다. zabc는 같은 제어 조합을 적용한 서로 다른 9개 운전점의 THD 평균이다. A 수준별 평균은 B 3수준 × C 3수준의 조합 평균을 다시 평균한다. 따라서 각 A 수준의 평균은 총 81개 계산 결과를 동일 가중한 값과 같다.</a:t>
            </a:r>
          </a:p>
          <a:p/>
          <a:p>
            <a:r>
              <a:t>[해석]</a:t>
            </a:r>
          </a:p>
          <a:p>
            <a:r>
              <a:t>차수 조합은 {3}, {3,5}, {3,5,7}의 범주형 인자이다. 마지막 수준은 7차만 적용한다는 뜻이 아니다. fc의 2, 5, 10 Hz는 등간격 수준이 아니므로 그래프의 선을 연속 미분계수로 해석하지 않는다. 수준별 평균의 최대−최소는 선택한 수준 범위에서의 효과 크기이다.</a:t>
            </a:r>
          </a:p>
          <a:p/>
          <a:p>
            <a:r>
              <a:t>[판단]</a:t>
            </a:r>
          </a:p>
          <a:p>
            <a:r>
              <a:t>차수 조합과 Kr의 효과가 상대적으로 크므로 우선 검토하되, 이 결과만으로 최종 조건을 조합하지 않고 교호작용과 조합별 최악 THD를 확인한다.</a:t>
            </a:r>
          </a:p>
          <a:p/>
          <a:p>
            <a:r>
              <a:t>[추가 통계 설명 참고 / 2026-09-28 확인]</a:t>
            </a:r>
          </a:p>
          <a:p>
            <a:r>
              <a:t>NIST 5.3.3.9: https://www.itl.nist.gov/div898/handbook/pri/section3/pri339.htm</a:t>
            </a:r>
          </a:p>
          <a:p>
            <a:r>
              <a:t>NIST 7.3.1.1: https://www.itl.nist.gov/div898/handbook/prc/section3/prc311.htm</a:t>
            </a:r>
          </a:p>
          <a:p>
            <a:r>
              <a:t>NIST 6.1.6: https://www.itl.nist.gov/div898/handbook/pmc/section1/pmc16.htm</a:t>
            </a:r>
          </a:p>
          <a:p>
            <a:r>
              <a:t>이는 방법 설명의 참고문헌이며 본 연구의 제품 검증 또는 사내 승인 근거가 아님.</a:t>
            </a:r>
          </a:p>
          <a:p/>
          <a:p>
            <a:r>
              <a:t>[V4 개정 범위]</a:t>
            </a:r>
          </a:p>
          <a:p>
            <a:r>
              <a:t>기존 V2 수치데이터, 제어 설정, 판정 기준을 유지함. 용어·집계 대상·해석 설명을 정비함. 수치연구이며 실제 제품 검증 및 사내 승인을 의미하지 않음.</a:t>
            </a:r>
          </a:p>
          <a:p/>
          <a:p>
            <a:r>
              <a:t>근거: V3 analysis/main_effects.csv·candidate_summary.csv | 데이터: V2 DOE 243개 / NIST §5.3.3.9</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[56/58] 부록 A12 / 요인별 제곱합 분해</a:t>
            </a:r>
          </a:p>
          <a:p>
            <a:r>
              <a:t>[V3에서 추가한 기술통계 / V4 유지]</a:t>
            </a:r>
          </a:p>
          <a:p>
            <a:r>
              <a:t>기존 DOE 243개 결과를 9개 운전점에 대해 평균하여 얻은 27개 조합 반응값에 대한 기술통계이다. 시뮬레이션이나 제어 튜닝은 새로 수행하지 않았다.</a:t>
            </a:r>
          </a:p>
          <a:p/>
          <a:p>
            <a:r>
              <a:t>[제곱합 분해]</a:t>
            </a:r>
          </a:p>
          <a:p>
            <a:r>
              <a:t>A 효과는 z_i..−z̄, B와 C도 같은 방법으로 계산한다. AB 효과는 z_ij.−z̄−A_i−B_j이며 AC와 BC도 동일하다. ABC 항은 조합 반응에서 평균·주효과·2인자 교호효과를 제외한 나머지로 정의한다. SS_A=9ΣA_i², SS_AB=3ΣAB_ij², SS_ABC=ΣABC_ijk²이다. 모든 요인항의 제곱합 합계가 SST와 일치하는지 코드로 점검하였다.</a:t>
            </a:r>
          </a:p>
          <a:p/>
          <a:p>
            <a:r>
              <a:t>[기여도 해석]</a:t>
            </a:r>
          </a:p>
          <a:p>
            <a:r>
              <a:t>기여도는 해당 항의 제곱합을 전체 제곱합으로 나눈 비율이다. C 70.858%, A 26.877%, A×C 2.113%는 선택한 조합 평균의 반응 차이를 설명한다. 실제 제품의 왜곡 원인이나 제조 산포의 비중을 뜻하지 않는다. 인자 범위나 운전점 가중치가 바뀌면 비율도 달라진다.</a:t>
            </a:r>
          </a:p>
          <a:p/>
          <a:p>
            <a:r>
              <a:t>[F/p 미산출 이유]</a:t>
            </a:r>
          </a:p>
          <a:p>
            <a:r>
              <a:t>전체 자유도 26은 2+2+2+4+4+4+8로 모두 사용된다. 반복계측에 의한 순수오차 추정치가 없으며 ABC를 오차로 간주한다는 추가 가정도 두지 않았다. 따라서 F 통계량과 p-value를 기재하지 않았다. 기술통계적 제곱합 분해와 통계적 유의성 검정을 구분한다.</a:t>
            </a:r>
          </a:p>
          <a:p/>
          <a:p>
            <a:r>
              <a:t>[추가 통계 설명 참고 / 2026-09-28 확인]</a:t>
            </a:r>
          </a:p>
          <a:p>
            <a:r>
              <a:t>NIST 5.3.3.9: https://www.itl.nist.gov/div898/handbook/pri/section3/pri339.htm</a:t>
            </a:r>
          </a:p>
          <a:p>
            <a:r>
              <a:t>NIST 7.3.1.1: https://www.itl.nist.gov/div898/handbook/prc/section3/prc311.htm</a:t>
            </a:r>
          </a:p>
          <a:p>
            <a:r>
              <a:t>NIST 6.1.6: https://www.itl.nist.gov/div898/handbook/pmc/section1/pmc16.htm</a:t>
            </a:r>
          </a:p>
          <a:p>
            <a:r>
              <a:t>이는 방법 설명의 참고문헌이며 본 연구의 제품 검증 또는 사내 승인 근거가 아님.</a:t>
            </a:r>
          </a:p>
          <a:p/>
          <a:p>
            <a:r>
              <a:t>[V4 개정 범위]</a:t>
            </a:r>
          </a:p>
          <a:p>
            <a:r>
              <a:t>기존 V2 수치데이터, 제어 설정, 판정 기준을 유지함. 용어·집계 대상·해석 설명을 정비함. 수치연구이며 실제 제품 검증 및 사내 승인을 의미하지 않음.</a:t>
            </a:r>
          </a:p>
          <a:p/>
          <a:p>
            <a:r>
              <a:t>근거: V3 analysis/factorial_ss.csv / analyze_v3.py | 27개 조합 평균, 모든 교호항 유지</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[57/58] 부록 A13 / 통계검정 적용 범위</a:t>
            </a:r>
          </a:p>
          <a:p>
            <a:r>
              <a:t>[검정 방법의 적용 여부]</a:t>
            </a:r>
          </a:p>
          <a:p>
            <a:r>
              <a:t>본 과제에서 모든 통계검정을 원천적으로 배제한다는 뜻은 아니다. 실제 독립 표본·오차모형·검정 가설이 확보되면 적절한 검정이 가능하다. 현재는 그 조건을 충족하는 실제 반복계측 자료가 없어 효과 크기와 유한 시험집합의 판정을 중심으로 분석하였다.</a:t>
            </a:r>
          </a:p>
          <a:p/>
          <a:p>
            <a:r>
              <a:t>[정규성 및 등분산]</a:t>
            </a:r>
          </a:p>
          <a:p>
            <a:r>
              <a:t>추론모형을 사용하는 경우 필요한 잔차 가정을 검토해야 한다. 서로 다른 운전점의 전체 THD를 한데 모아 정규성을 확인하는 일은 제어 효과 검증과 다르다.</a:t>
            </a:r>
          </a:p>
          <a:p/>
          <a:p>
            <a:r>
              <a:t>[p-value 해석]</a:t>
            </a:r>
          </a:p>
          <a:p>
            <a:r>
              <a:t>p-value는 귀무가설과 모형 가정이 성립할 때 관측값 이상의 극단적인 결과를 얻을 확률로 정의된다. 귀무가설이 참일 확률, 개선량 또는 제품 합격률이 아니다. p&gt;0.05만으로 동등성이 입증되는 것도 아니고, p&lt;0.05만으로 규격 만족과 부작용 부재가 보장되는 것도 아니다.</a:t>
            </a:r>
          </a:p>
          <a:p/>
          <a:p>
            <a:r>
              <a:t>[본 보고서의 처리]</a:t>
            </a:r>
          </a:p>
          <a:p>
            <a:r>
              <a:t>실행하지 않은 p-value나 Cpk를 추가하지 않았다. 기존 보고서의 통계 도구 사용 목적은 참고하되, 다른 전제의 결과를 이 과제의 검정 결과로 전용하지 않았다.</a:t>
            </a:r>
          </a:p>
          <a:p/>
          <a:p>
            <a:r>
              <a:t>[추가 통계 설명 참고 / 2026-09-28 확인]</a:t>
            </a:r>
          </a:p>
          <a:p>
            <a:r>
              <a:t>NIST 5.3.3.9: https://www.itl.nist.gov/div898/handbook/pri/section3/pri339.htm</a:t>
            </a:r>
          </a:p>
          <a:p>
            <a:r>
              <a:t>NIST 7.3.1.1: https://www.itl.nist.gov/div898/handbook/prc/section3/prc311.htm</a:t>
            </a:r>
          </a:p>
          <a:p>
            <a:r>
              <a:t>NIST 6.1.6: https://www.itl.nist.gov/div898/handbook/pmc/section1/pmc16.htm</a:t>
            </a:r>
          </a:p>
          <a:p>
            <a:r>
              <a:t>이는 방법 설명의 참고문헌이며 본 연구의 제품 검증 또는 사내 승인 근거가 아님.</a:t>
            </a:r>
          </a:p>
          <a:p>
            <a:r>
              <a:t>[V4 통계정책] 결정론적 수치실험이라는 이유만으로 모든 추론이 원천적으로 불가능하다고 주장하지 않는다. 이번 데이터에는 제품 모집단·독립표본·검정오차모형이 정의되어 있지 않기 때문에 기술통계와 유한집합 비교로 한정한다. 추후 데이터 구조와 가정을 명시하면 통계추론을 별도로 검토할 수 있다.</a:t>
            </a:r>
          </a:p>
          <a:p/>
          <a:p>
            <a:r>
              <a:t>[V4 개정 범위]</a:t>
            </a:r>
          </a:p>
          <a:p>
            <a:r>
              <a:t>기존 V2 수치데이터, 제어 설정, 판정 기준을 유지함. 용어·집계 대상·해석 설명을 정비함. 수치연구이며 실제 제품 검증 및 사내 승인을 의미하지 않음.</a:t>
            </a:r>
          </a:p>
          <a:p/>
          <a:p>
            <a:r>
              <a:t>근거: 방법 참고: NIST §5.3.3.9, §7.3.1.1, §6.1.6 | 기존 사례의 검정 목적을 본 과제에 맞게 구분</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[58/58] 부록 A14 / 결과 해석 질의 대응</a:t>
            </a:r>
          </a:p>
          <a:p>
            <a:r>
              <a:t>[심사 설명의 핵심]</a:t>
            </a:r>
          </a:p>
          <a:p>
            <a:r>
              <a:t>243개 계산값은 27개 제어 조합 × 서로 다른 9개 운전점이다. 반복실험 횟수로 해석하지 않는다. 주효과는 평균 반응의 차이, 교호작용은 한 인자의 효과가 다른 인자 수준에 따라 달라지는 현상, 제곱합 기여도는 선택한 조합 평균의 변동 구성이다.</a:t>
            </a:r>
          </a:p>
          <a:p/>
          <a:p>
            <a:r>
              <a:t>[성과 범위]</a:t>
            </a:r>
          </a:p>
          <a:p>
            <a:r>
              <a:t>63/63개 조건 만족은 고정한 기준 시험조건 집합의 결과이다. 실제 제품 수율·인증·전체 운전영역의 보증을 의미하지 않는다. 추가 검증에서는 종합 51/60개 조건 만족과 9개 조건 미달이 남아 있다. 특히 보조 조건의 신규 미달 2개 조건은 종합 전이표만 보면 드러나지 않으므로 별도로 설명한다.</a:t>
            </a:r>
          </a:p>
          <a:p/>
          <a:p>
            <a:r>
              <a:t>[문서와 데이터 버전]</a:t>
            </a:r>
          </a:p>
          <a:p>
            <a:r>
              <a:t>Report V3는 문장, 서식, 설명 및 기존 데이터의 기술통계를 보완한 문서 버전이다. 수치 모델·기준값·제어 설정·원시 시뮬레이션 결과는 Data V2를 유지하였다.</a:t>
            </a:r>
          </a:p>
          <a:p/>
          <a:p>
            <a:r>
              <a:t>[추가 통계 설명 참고 / 2026-09-28 확인]</a:t>
            </a:r>
          </a:p>
          <a:p>
            <a:r>
              <a:t>NIST 5.3.3.9: https://www.itl.nist.gov/div898/handbook/pri/section3/pri339.htm</a:t>
            </a:r>
          </a:p>
          <a:p>
            <a:r>
              <a:t>NIST 7.3.1.1: https://www.itl.nist.gov/div898/handbook/prc/section3/prc311.htm</a:t>
            </a:r>
          </a:p>
          <a:p>
            <a:r>
              <a:t>NIST 6.1.6: https://www.itl.nist.gov/div898/handbook/pmc/section1/pmc16.htm</a:t>
            </a:r>
          </a:p>
          <a:p>
            <a:r>
              <a:t>이는 방법 설명의 참고문헌이며 본 연구의 제품 검증 또는 사내 승인 근거가 아님.</a:t>
            </a:r>
          </a:p>
          <a:p/>
          <a:p>
            <a:r>
              <a:t>[V4 개정 범위]</a:t>
            </a:r>
          </a:p>
          <a:p>
            <a:r>
              <a:t>기존 V2 수치데이터, 제어 설정, 판정 기준을 유지함. 용어·집계 대상·해석 설명을 정비함. 수치연구이며 실제 제품 검증 및 사내 승인을 의미하지 않음.</a:t>
            </a:r>
          </a:p>
          <a:p/>
          <a:p>
            <a:r>
              <a:t>근거: V2 원자료 및 V3 추가 분석 전체 | Report V3 / Data V2 (63/60)</a:t>
            </a:r>
          </a:p>
          <a:p>
            <a:r>
              <a:t>데이터 출처: SSBB-NUM-20260923-v2 (uploaded package, 63-point main / 60-point holdout)</a:t>
            </a:r>
          </a:p>
          <a:p>
            <a:r>
              <a:t>주의: 수치모델 연구이며 실제 제품 인증/BB 승인을 의미하지 않습니다.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 Id="rId4" Type="http://schemas.openxmlformats.org/officeDocument/2006/relationships/slide" Target="slide3.xml"/><Relationship Id="rId5" Type="http://schemas.openxmlformats.org/officeDocument/2006/relationships/slide" Target="slide36.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8.xml"/><Relationship Id="rId4" Type="http://schemas.openxmlformats.org/officeDocument/2006/relationships/slide" Target="slide3.xml"/><Relationship Id="rId5" Type="http://schemas.openxmlformats.org/officeDocument/2006/relationships/slide" Target="slide36.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9.xml"/><Relationship Id="rId4" Type="http://schemas.openxmlformats.org/officeDocument/2006/relationships/slide" Target="slide3.xml"/><Relationship Id="rId5" Type="http://schemas.openxmlformats.org/officeDocument/2006/relationships/slide" Target="slide36.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21.xml"/><Relationship Id="rId6" Type="http://schemas.openxmlformats.org/officeDocument/2006/relationships/slide" Target="slide3.xml"/><Relationship Id="rId7" Type="http://schemas.openxmlformats.org/officeDocument/2006/relationships/slide" Target="slide36.xml"/><Relationship Id="rId8" Type="http://schemas.openxmlformats.org/officeDocument/2006/relationships/slide" Target="slide2.xml"/><Relationship Id="rId9" Type="http://schemas.openxmlformats.org/officeDocument/2006/relationships/slide" Target="slide12.xml"/><Relationship Id="rId10" Type="http://schemas.openxmlformats.org/officeDocument/2006/relationships/slide" Target="slide17.xml"/><Relationship Id="rId11" Type="http://schemas.openxmlformats.org/officeDocument/2006/relationships/slide" Target="slide20.xml"/><Relationship Id="rId12" Type="http://schemas.openxmlformats.org/officeDocument/2006/relationships/slide" Target="slide3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22.xml"/><Relationship Id="rId4" Type="http://schemas.openxmlformats.org/officeDocument/2006/relationships/slide" Target="slide3.xml"/><Relationship Id="rId5" Type="http://schemas.openxmlformats.org/officeDocument/2006/relationships/slide" Target="slide36.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25.xml"/><Relationship Id="rId4" Type="http://schemas.openxmlformats.org/officeDocument/2006/relationships/slide" Target="slide3.xml"/><Relationship Id="rId5" Type="http://schemas.openxmlformats.org/officeDocument/2006/relationships/slide" Target="slide36.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notesSlide" Target="../notesSlides/notesSlide26.xml"/><Relationship Id="rId4" Type="http://schemas.openxmlformats.org/officeDocument/2006/relationships/slide" Target="slide3.xml"/><Relationship Id="rId5" Type="http://schemas.openxmlformats.org/officeDocument/2006/relationships/slide" Target="slide36.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chart" Target="../charts/chart11.xml"/><Relationship Id="rId4" Type="http://schemas.openxmlformats.org/officeDocument/2006/relationships/notesSlide" Target="../notesSlides/notesSlide27.xml"/><Relationship Id="rId5" Type="http://schemas.openxmlformats.org/officeDocument/2006/relationships/slide" Target="slide3.xml"/><Relationship Id="rId6" Type="http://schemas.openxmlformats.org/officeDocument/2006/relationships/slide" Target="slide36.xml"/><Relationship Id="rId7" Type="http://schemas.openxmlformats.org/officeDocument/2006/relationships/slide" Target="slide2.xml"/><Relationship Id="rId8" Type="http://schemas.openxmlformats.org/officeDocument/2006/relationships/slide" Target="slide12.xml"/><Relationship Id="rId9" Type="http://schemas.openxmlformats.org/officeDocument/2006/relationships/slide" Target="slide17.xml"/><Relationship Id="rId10" Type="http://schemas.openxmlformats.org/officeDocument/2006/relationships/slide" Target="slide20.xml"/><Relationship Id="rId11" Type="http://schemas.openxmlformats.org/officeDocument/2006/relationships/slide" Target="slide3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 Id="rId3" Type="http://schemas.openxmlformats.org/officeDocument/2006/relationships/notesSlide" Target="../notesSlides/notesSlide29.xml"/><Relationship Id="rId4" Type="http://schemas.openxmlformats.org/officeDocument/2006/relationships/slide" Target="slide3.xml"/><Relationship Id="rId5" Type="http://schemas.openxmlformats.org/officeDocument/2006/relationships/slide" Target="slide36.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12.xml"/><Relationship Id="rId7" Type="http://schemas.openxmlformats.org/officeDocument/2006/relationships/slide" Target="slide17.xml"/><Relationship Id="rId8" Type="http://schemas.openxmlformats.org/officeDocument/2006/relationships/slide" Target="slide20.xml"/><Relationship Id="rId9" Type="http://schemas.openxmlformats.org/officeDocument/2006/relationships/slide" Target="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 Id="rId3" Type="http://schemas.openxmlformats.org/officeDocument/2006/relationships/notesSlide" Target="../notesSlides/notesSlide45.xml"/><Relationship Id="rId4" Type="http://schemas.openxmlformats.org/officeDocument/2006/relationships/slide" Target="slide3.xml"/><Relationship Id="rId5" Type="http://schemas.openxmlformats.org/officeDocument/2006/relationships/slide" Target="slide36.xml"/><Relationship Id="rId6" Type="http://schemas.openxmlformats.org/officeDocument/2006/relationships/slide" Target="slide25.xml"/><Relationship Id="rId7" Type="http://schemas.openxmlformats.org/officeDocument/2006/relationships/slide" Target="slide2.xml"/><Relationship Id="rId8" Type="http://schemas.openxmlformats.org/officeDocument/2006/relationships/slide" Target="slide12.xml"/><Relationship Id="rId9" Type="http://schemas.openxmlformats.org/officeDocument/2006/relationships/slide" Target="slide17.xml"/><Relationship Id="rId10" Type="http://schemas.openxmlformats.org/officeDocument/2006/relationships/slide" Target="slide20.xml"/><Relationship Id="rId11" Type="http://schemas.openxmlformats.org/officeDocument/2006/relationships/slide" Target="slide3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 Id="rId3" Type="http://schemas.openxmlformats.org/officeDocument/2006/relationships/notesSlide" Target="../notesSlides/notesSlide48.xml"/><Relationship Id="rId4" Type="http://schemas.openxmlformats.org/officeDocument/2006/relationships/slide" Target="slide3.xml"/><Relationship Id="rId5" Type="http://schemas.openxmlformats.org/officeDocument/2006/relationships/slide" Target="slide36.xml"/><Relationship Id="rId6" Type="http://schemas.openxmlformats.org/officeDocument/2006/relationships/slide" Target="slide25.xml"/><Relationship Id="rId7" Type="http://schemas.openxmlformats.org/officeDocument/2006/relationships/slide" Target="slide2.xml"/><Relationship Id="rId8" Type="http://schemas.openxmlformats.org/officeDocument/2006/relationships/slide" Target="slide12.xml"/><Relationship Id="rId9" Type="http://schemas.openxmlformats.org/officeDocument/2006/relationships/slide" Target="slide17.xml"/><Relationship Id="rId10" Type="http://schemas.openxmlformats.org/officeDocument/2006/relationships/slide" Target="slide20.xml"/><Relationship Id="rId11" Type="http://schemas.openxmlformats.org/officeDocument/2006/relationships/slide" Target="slide3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slide" Target="slide3.xml"/><Relationship Id="rId4" Type="http://schemas.openxmlformats.org/officeDocument/2006/relationships/slide" Target="slide36.xml"/><Relationship Id="rId5" Type="http://schemas.openxmlformats.org/officeDocument/2006/relationships/slide" Target="slide25.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84632" y="365760"/>
            <a:ext cx="8686800" cy="41148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Six Sigma BB 과제 보고서</a:t>
            </a:r>
          </a:p>
        </p:txBody>
      </p:sp>
      <p:cxnSp>
        <p:nvCxnSpPr>
          <p:cNvPr id="3" name="Connector 2"/>
          <p:cNvCxnSpPr/>
          <p:nvPr/>
        </p:nvCxnSpPr>
        <p:spPr>
          <a:xfrm>
            <a:off x="0" y="941832"/>
            <a:ext cx="9905999" cy="0"/>
          </a:xfrm>
          <a:prstGeom prst="line">
            <a:avLst/>
          </a:prstGeom>
          <a:ln w="8890">
            <a:solidFill>
              <a:srgbClr val="000000"/>
            </a:solidFill>
          </a:ln>
          <a:effectLst/>
        </p:spPr>
      </p:cxnSp>
      <p:sp>
        <p:nvSpPr>
          <p:cNvPr id="4" name="TextBox 3"/>
          <p:cNvSpPr txBox="1"/>
          <p:nvPr/>
        </p:nvSpPr>
        <p:spPr>
          <a:xfrm>
            <a:off x="566928" y="1481328"/>
            <a:ext cx="8759952" cy="129844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700" b="1">
                <a:solidFill>
                  <a:srgbClr val="000000"/>
                </a:solidFill>
                <a:latin typeface="Malgun Gothic"/>
                <a:ea typeface="Malgun Gothic"/>
                <a:cs typeface="Malgun Gothic"/>
              </a:rPr>
              <a:t>OBCM V2G 저부하 운전영역의</a:t>
            </a:r>
          </a:p>
          <a:p>
            <a:pPr algn="l">
              <a:lnSpc>
                <a:spcPct val="108000"/>
              </a:lnSpc>
              <a:spcBef>
                <a:spcPts val="0"/>
              </a:spcBef>
              <a:spcAft>
                <a:spcPts val="200"/>
              </a:spcAft>
            </a:pPr>
            <a:r>
              <a:rPr sz="2700" b="1">
                <a:solidFill>
                  <a:srgbClr val="000000"/>
                </a:solidFill>
                <a:latin typeface="Malgun Gothic"/>
                <a:ea typeface="Malgun Gothic"/>
                <a:cs typeface="Malgun Gothic"/>
              </a:rPr>
              <a:t>계통 전류 THD 설계기준 만족률 향상</a:t>
            </a:r>
          </a:p>
        </p:txBody>
      </p:sp>
      <p:sp>
        <p:nvSpPr>
          <p:cNvPr id="5" name="TextBox 4"/>
          <p:cNvSpPr txBox="1"/>
          <p:nvPr/>
        </p:nvSpPr>
        <p:spPr>
          <a:xfrm>
            <a:off x="594360" y="3063240"/>
            <a:ext cx="8595360" cy="64008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600" b="1">
                <a:solidFill>
                  <a:srgbClr val="000000"/>
                </a:solidFill>
                <a:latin typeface="Malgun Gothic"/>
                <a:ea typeface="Malgun Gothic"/>
                <a:cs typeface="Malgun Gothic"/>
              </a:rPr>
              <a:t>무효전력 지령을 포함한 수치해석 기반 제어 설계 검토</a:t>
            </a:r>
          </a:p>
        </p:txBody>
      </p:sp>
      <p:sp>
        <p:nvSpPr>
          <p:cNvPr id="6" name="Rectangle 5"/>
          <p:cNvSpPr/>
          <p:nvPr/>
        </p:nvSpPr>
        <p:spPr>
          <a:xfrm>
            <a:off x="594360" y="3730752"/>
            <a:ext cx="8732520" cy="438912"/>
          </a:xfrm>
          <a:prstGeom prst="rect">
            <a:avLst/>
          </a:prstGeom>
          <a:solidFill>
            <a:srgbClr val="EFEFEF"/>
          </a:solidFill>
          <a:ln w="8255">
            <a:solidFill>
              <a:srgbClr val="B8B8B8"/>
            </a:solidFill>
          </a:ln>
          <a:effectLst/>
        </p:spPr>
        <p:txBody>
          <a:bodyPr rtlCol="0" anchor="ctr"/>
          <a:lstStyle/>
          <a:p>
            <a:pPr algn="ctr"/>
          </a:p>
        </p:txBody>
      </p:sp>
      <p:sp>
        <p:nvSpPr>
          <p:cNvPr id="7" name="TextBox 6"/>
          <p:cNvSpPr txBox="1"/>
          <p:nvPr/>
        </p:nvSpPr>
        <p:spPr>
          <a:xfrm>
            <a:off x="731520" y="3813048"/>
            <a:ext cx="8412480" cy="292608"/>
          </a:xfrm>
          <a:prstGeom prst="rect">
            <a:avLst/>
          </a:prstGeom>
          <a:noFill/>
        </p:spPr>
        <p:txBody>
          <a:bodyPr wrap="square" lIns="22860" rIns="22860" tIns="22860" bIns="22860" anchor="t">
            <a:spAutoFit/>
          </a:bodyPr>
          <a:lstStyle/>
          <a:p>
            <a:pPr algn="ctr">
              <a:lnSpc>
                <a:spcPct val="108000"/>
              </a:lnSpc>
              <a:spcBef>
                <a:spcPts val="0"/>
              </a:spcBef>
              <a:spcAft>
                <a:spcPts val="200"/>
              </a:spcAft>
            </a:pPr>
            <a:r>
              <a:rPr sz="1400" b="1">
                <a:solidFill>
                  <a:srgbClr val="000000"/>
                </a:solidFill>
                <a:latin typeface="Malgun Gothic"/>
                <a:ea typeface="Malgun Gothic"/>
                <a:cs typeface="Malgun Gothic"/>
              </a:rPr>
              <a:t>Define  →  Measure  →  Analyze  →  Improve  →  Control</a:t>
            </a:r>
          </a:p>
        </p:txBody>
      </p:sp>
      <p:sp>
        <p:nvSpPr>
          <p:cNvPr id="8" name="TextBox 7"/>
          <p:cNvSpPr txBox="1"/>
          <p:nvPr/>
        </p:nvSpPr>
        <p:spPr>
          <a:xfrm>
            <a:off x="621792" y="4800600"/>
            <a:ext cx="8412480" cy="47548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500" b="0">
                <a:solidFill>
                  <a:srgbClr val="000000"/>
                </a:solidFill>
                <a:latin typeface="Malgun Gothic"/>
                <a:ea typeface="Malgun Gothic"/>
                <a:cs typeface="Malgun Gothic"/>
              </a:rPr>
              <a:t>백승우 선임연구원  |  LG Magna e-Powertrain</a:t>
            </a:r>
          </a:p>
          <a:p>
            <a:pPr algn="l">
              <a:lnSpc>
                <a:spcPct val="108000"/>
              </a:lnSpc>
              <a:spcBef>
                <a:spcPts val="0"/>
              </a:spcBef>
              <a:spcAft>
                <a:spcPts val="200"/>
              </a:spcAft>
            </a:pPr>
            <a:r>
              <a:rPr sz="1500" b="0">
                <a:solidFill>
                  <a:srgbClr val="000000"/>
                </a:solidFill>
                <a:latin typeface="Malgun Gothic"/>
                <a:ea typeface="Malgun Gothic"/>
                <a:cs typeface="Malgun Gothic"/>
              </a:rPr>
              <a:t>OBCM 제어 SW</a:t>
            </a:r>
          </a:p>
        </p:txBody>
      </p:sp>
      <p:sp>
        <p:nvSpPr>
          <p:cNvPr id="9" name="TextBox 8"/>
          <p:cNvSpPr txBox="1"/>
          <p:nvPr/>
        </p:nvSpPr>
        <p:spPr>
          <a:xfrm>
            <a:off x="621792" y="5504688"/>
            <a:ext cx="8412480"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수치연구: 2026.09.23  |  문서 개정: 2026.09.28 / V4</a:t>
            </a:r>
          </a:p>
          <a:p>
            <a:pPr algn="l">
              <a:lnSpc>
                <a:spcPct val="108000"/>
              </a:lnSpc>
              <a:spcBef>
                <a:spcPts val="0"/>
              </a:spcBef>
              <a:spcAft>
                <a:spcPts val="200"/>
              </a:spcAft>
            </a:pPr>
            <a:r>
              <a:rPr sz="1100" b="0">
                <a:solidFill>
                  <a:srgbClr val="555555"/>
                </a:solidFill>
                <a:latin typeface="Malgun Gothic"/>
                <a:ea typeface="Malgun Gothic"/>
                <a:cs typeface="Malgun Gothic"/>
              </a:rPr>
              <a:t>시험 구성·용어·해석 정확도 및 설명 체계 보완</a:t>
            </a:r>
          </a:p>
        </p:txBody>
      </p:sp>
      <p:cxnSp>
        <p:nvCxnSpPr>
          <p:cNvPr id="10" name="Connector 9"/>
          <p:cNvCxnSpPr/>
          <p:nvPr/>
        </p:nvCxnSpPr>
        <p:spPr>
          <a:xfrm>
            <a:off x="365760" y="6419088"/>
            <a:ext cx="9180576" cy="0"/>
          </a:xfrm>
          <a:prstGeom prst="line">
            <a:avLst/>
          </a:prstGeom>
          <a:ln w="5715">
            <a:solidFill>
              <a:srgbClr val="000000"/>
            </a:solidFill>
          </a:ln>
          <a:effectLst/>
        </p:spPr>
      </p:cxnSp>
      <p:sp>
        <p:nvSpPr>
          <p:cNvPr id="11" name="TextBox 10"/>
          <p:cNvSpPr txBox="1"/>
          <p:nvPr/>
        </p:nvSpPr>
        <p:spPr>
          <a:xfrm>
            <a:off x="393192" y="6510528"/>
            <a:ext cx="8961120" cy="20116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819" b="0">
                <a:solidFill>
                  <a:srgbClr val="555555"/>
                </a:solidFill>
                <a:latin typeface="Malgun Gothic"/>
                <a:ea typeface="Malgun Gothic"/>
                <a:cs typeface="Malgun Gothic"/>
              </a:rPr>
              <a:t>문서 V4  |  수치 데이터 V2 유지  |  실제 제품 검증 및 사내 승인과 구분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과제 등록서</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추진 목표 및 수행 범위</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개선지표는 기준 운전조건 63개의 THD 만족률임. 실제 제품 수율이 아닌, 지정한 수치해석 조건에서의 설계기준 만족 여부를 평가함.</a:t>
            </a:r>
          </a:p>
        </p:txBody>
      </p:sp>
      <p:graphicFrame>
        <p:nvGraphicFramePr>
          <p:cNvPr id="17" name="Table 16"/>
          <p:cNvGraphicFramePr>
            <a:graphicFrameLocks noGrp="1"/>
          </p:cNvGraphicFramePr>
          <p:nvPr/>
        </p:nvGraphicFramePr>
        <p:xfrm>
          <a:off x="411480" y="1984248"/>
          <a:ext cx="9052559" cy="1874516"/>
        </p:xfrm>
        <a:graphic>
          <a:graphicData uri="http://schemas.openxmlformats.org/drawingml/2006/table">
            <a:tbl>
              <a:tblPr firstRow="1" bandRow="1">
                <a:tableStyleId>{5C22544A-7EE6-4342-B048-85BDC9FD1C3A}</a:tableStyleId>
              </a:tblPr>
              <a:tblGrid>
                <a:gridCol w="3405913"/>
                <a:gridCol w="1792586"/>
                <a:gridCol w="2061474"/>
                <a:gridCol w="1792586"/>
              </a:tblGrid>
              <a:tr h="468629">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평가 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초기</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목표</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개선</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68629">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 운전조건 63개</a:t>
                      </a:r>
                    </a:p>
                    <a:p>
                      <a:pPr algn="l">
                        <a:lnSpc>
                          <a:spcPct val="105000"/>
                        </a:lnSpc>
                        <a:spcBef>
                          <a:spcPts val="0"/>
                        </a:spcBef>
                        <a:spcAft>
                          <a:spcPts val="100"/>
                        </a:spcAft>
                      </a:pPr>
                      <a:r>
                        <a:rPr sz="1200" b="0">
                          <a:solidFill>
                            <a:srgbClr val="000000"/>
                          </a:solidFill>
                          <a:latin typeface="Malgun Gothic"/>
                          <a:ea typeface="Malgun Gothic"/>
                          <a:cs typeface="Malgun Gothic"/>
                        </a:rPr>
                        <a:t>THD 설계기준 만족률</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14/63</a:t>
                      </a:r>
                    </a:p>
                    <a:p>
                      <a:pPr algn="l">
                        <a:lnSpc>
                          <a:spcPct val="105000"/>
                        </a:lnSpc>
                        <a:spcBef>
                          <a:spcPts val="0"/>
                        </a:spcBef>
                        <a:spcAft>
                          <a:spcPts val="100"/>
                        </a:spcAft>
                      </a:pPr>
                      <a:r>
                        <a:rPr sz="1200" b="0">
                          <a:solidFill>
                            <a:srgbClr val="000000"/>
                          </a:solidFill>
                          <a:latin typeface="Malgun Gothic"/>
                          <a:ea typeface="Malgun Gothic"/>
                          <a:cs typeface="Malgun Gothic"/>
                        </a:rPr>
                        <a:t>22.22%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95% 이상</a:t>
                      </a:r>
                    </a:p>
                    <a:p>
                      <a:pPr algn="l">
                        <a:lnSpc>
                          <a:spcPct val="105000"/>
                        </a:lnSpc>
                        <a:spcBef>
                          <a:spcPts val="0"/>
                        </a:spcBef>
                        <a:spcAft>
                          <a:spcPts val="100"/>
                        </a:spcAft>
                      </a:pPr>
                      <a:r>
                        <a:rPr sz="1200" b="0">
                          <a:solidFill>
                            <a:srgbClr val="000000"/>
                          </a:solidFill>
                          <a:latin typeface="Malgun Gothic"/>
                          <a:ea typeface="Malgun Gothic"/>
                          <a:cs typeface="Malgun Gothic"/>
                        </a:rPr>
                        <a:t>최소 60개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63/63</a:t>
                      </a:r>
                    </a:p>
                    <a:p>
                      <a:pPr algn="l">
                        <a:lnSpc>
                          <a:spcPct val="105000"/>
                        </a:lnSpc>
                        <a:spcBef>
                          <a:spcPts val="0"/>
                        </a:spcBef>
                        <a:spcAft>
                          <a:spcPts val="100"/>
                        </a:spcAft>
                      </a:pPr>
                      <a:r>
                        <a:rPr sz="1200" b="0">
                          <a:solidFill>
                            <a:srgbClr val="000000"/>
                          </a:solidFill>
                          <a:latin typeface="Malgun Gothic"/>
                          <a:ea typeface="Malgun Gothic"/>
                          <a:cs typeface="Malgun Gothic"/>
                        </a:rPr>
                        <a:t>100%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8629">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동일 63개 조건</a:t>
                      </a:r>
                    </a:p>
                    <a:p>
                      <a:pPr algn="l">
                        <a:lnSpc>
                          <a:spcPct val="105000"/>
                        </a:lnSpc>
                        <a:spcBef>
                          <a:spcPts val="0"/>
                        </a:spcBef>
                        <a:spcAft>
                          <a:spcPts val="100"/>
                        </a:spcAft>
                      </a:pPr>
                      <a:r>
                        <a:rPr sz="1200" b="0">
                          <a:solidFill>
                            <a:srgbClr val="000000"/>
                          </a:solidFill>
                          <a:latin typeface="Malgun Gothic"/>
                          <a:ea typeface="Malgun Gothic"/>
                          <a:cs typeface="Malgun Gothic"/>
                        </a:rPr>
                        <a:t>평균 THD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6.03%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평균값 저감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8629">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변동 검증조건 60개</a:t>
                      </a:r>
                    </a:p>
                    <a:p>
                      <a:pPr algn="l">
                        <a:lnSpc>
                          <a:spcPct val="105000"/>
                        </a:lnSpc>
                        <a:spcBef>
                          <a:spcPts val="0"/>
                        </a:spcBef>
                        <a:spcAft>
                          <a:spcPts val="100"/>
                        </a:spcAft>
                      </a:pPr>
                      <a:r>
                        <a:rPr sz="1200" b="0">
                          <a:solidFill>
                            <a:srgbClr val="000000"/>
                          </a:solidFill>
                          <a:latin typeface="Malgun Gothic"/>
                          <a:ea typeface="Malgun Gothic"/>
                          <a:cs typeface="Malgun Gothic"/>
                        </a:rPr>
                        <a:t>THD+보조 조건 종합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16/60</a:t>
                      </a:r>
                    </a:p>
                    <a:p>
                      <a:pPr algn="l">
                        <a:lnSpc>
                          <a:spcPct val="105000"/>
                        </a:lnSpc>
                        <a:spcBef>
                          <a:spcPts val="0"/>
                        </a:spcBef>
                        <a:spcAft>
                          <a:spcPts val="100"/>
                        </a:spcAft>
                      </a:pPr>
                      <a:r>
                        <a:rPr sz="1200" b="0">
                          <a:solidFill>
                            <a:srgbClr val="000000"/>
                          </a:solidFill>
                          <a:latin typeface="Malgun Gothic"/>
                          <a:ea typeface="Malgun Gothic"/>
                          <a:cs typeface="Malgun Gothic"/>
                        </a:rPr>
                        <a:t>26.67%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잔여 미달 확인</a:t>
                      </a:r>
                    </a:p>
                    <a:p>
                      <a:pPr algn="l">
                        <a:lnSpc>
                          <a:spcPct val="105000"/>
                        </a:lnSpc>
                        <a:spcBef>
                          <a:spcPts val="0"/>
                        </a:spcBef>
                        <a:spcAft>
                          <a:spcPts val="100"/>
                        </a:spcAft>
                      </a:pPr>
                      <a:r>
                        <a:rPr sz="1200" b="0">
                          <a:solidFill>
                            <a:srgbClr val="000000"/>
                          </a:solidFill>
                          <a:latin typeface="Malgun Gothic"/>
                          <a:ea typeface="Malgun Gothic"/>
                          <a:cs typeface="Malgun Gothic"/>
                        </a:rPr>
                        <a:t>만족률 목표 미정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51/60</a:t>
                      </a:r>
                    </a:p>
                    <a:p>
                      <a:pPr algn="l">
                        <a:lnSpc>
                          <a:spcPct val="105000"/>
                        </a:lnSpc>
                        <a:spcBef>
                          <a:spcPts val="0"/>
                        </a:spcBef>
                        <a:spcAft>
                          <a:spcPts val="100"/>
                        </a:spcAft>
                      </a:pPr>
                      <a:r>
                        <a:rPr sz="1200" b="0">
                          <a:solidFill>
                            <a:srgbClr val="000000"/>
                          </a:solidFill>
                          <a:latin typeface="Malgun Gothic"/>
                          <a:ea typeface="Malgun Gothic"/>
                          <a:cs typeface="Malgun Gothic"/>
                        </a:rPr>
                        <a:t>85.00%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411480" y="4050791"/>
            <a:ext cx="4389120" cy="1444752"/>
          </a:xfrm>
          <a:prstGeom prst="rect">
            <a:avLst/>
          </a:prstGeom>
          <a:solidFill>
            <a:srgbClr val="FFFFFF"/>
          </a:solidFill>
          <a:ln w="8255">
            <a:solidFill>
              <a:srgbClr val="B8B8B8"/>
            </a:solidFill>
          </a:ln>
          <a:effectLst/>
        </p:spPr>
        <p:txBody>
          <a:bodyPr rtlCol="0" anchor="ctr"/>
          <a:lstStyle/>
          <a:p>
            <a:pPr algn="ctr"/>
          </a:p>
        </p:txBody>
      </p:sp>
      <p:sp>
        <p:nvSpPr>
          <p:cNvPr id="19" name="TextBox 18"/>
          <p:cNvSpPr txBox="1"/>
          <p:nvPr/>
        </p:nvSpPr>
        <p:spPr>
          <a:xfrm>
            <a:off x="493776" y="4114800"/>
            <a:ext cx="4224528" cy="1316736"/>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50" b="0">
                <a:solidFill>
                  <a:srgbClr val="000000"/>
                </a:solidFill>
                <a:latin typeface="Malgun Gothic"/>
                <a:ea typeface="Malgun Gothic"/>
                <a:cs typeface="Malgun Gothic"/>
              </a:rPr>
              <a:t>개발 필요성</a:t>
            </a:r>
          </a:p>
          <a:p>
            <a:pPr algn="l">
              <a:lnSpc>
                <a:spcPct val="108000"/>
              </a:lnSpc>
              <a:spcBef>
                <a:spcPts val="0"/>
              </a:spcBef>
              <a:spcAft>
                <a:spcPts val="200"/>
              </a:spcAft>
            </a:pPr>
            <a:r>
              <a:rPr sz="1250" b="0">
                <a:solidFill>
                  <a:srgbClr val="000000"/>
                </a:solidFill>
                <a:latin typeface="Malgun Gothic"/>
                <a:ea typeface="Malgun Gothic"/>
                <a:cs typeface="Malgun Gothic"/>
              </a:rPr>
              <a:t>실물·PSIM 사용 제한으로 제어 후보를 수치해석함. 실물 검증은 후속 과제로 구분함.</a:t>
            </a:r>
          </a:p>
          <a:p>
            <a:pPr algn="l">
              <a:lnSpc>
                <a:spcPct val="108000"/>
              </a:lnSpc>
              <a:spcBef>
                <a:spcPts val="0"/>
              </a:spcBef>
              <a:spcAft>
                <a:spcPts val="200"/>
              </a:spcAft>
            </a:pPr>
            <a:r>
              <a:rPr sz="1250" b="0">
                <a:solidFill>
                  <a:srgbClr val="000000"/>
                </a:solidFill>
                <a:latin typeface="Malgun Gothic"/>
                <a:ea typeface="Malgun Gothic"/>
                <a:cs typeface="Malgun Gothic"/>
              </a:rPr>
              <a:t>비용 절감액은 산정하지 않음.</a:t>
            </a:r>
          </a:p>
        </p:txBody>
      </p:sp>
      <p:sp>
        <p:nvSpPr>
          <p:cNvPr id="20" name="Rectangle 19"/>
          <p:cNvSpPr/>
          <p:nvPr/>
        </p:nvSpPr>
        <p:spPr>
          <a:xfrm>
            <a:off x="5010912" y="4050791"/>
            <a:ext cx="4453128" cy="1444752"/>
          </a:xfrm>
          <a:prstGeom prst="rect">
            <a:avLst/>
          </a:prstGeom>
          <a:solidFill>
            <a:srgbClr val="FFFFFF"/>
          </a:solidFill>
          <a:ln w="8255">
            <a:solidFill>
              <a:srgbClr val="B8B8B8"/>
            </a:solidFill>
          </a:ln>
          <a:effectLst/>
        </p:spPr>
        <p:txBody>
          <a:bodyPr rtlCol="0" anchor="ctr"/>
          <a:lstStyle/>
          <a:p>
            <a:pPr algn="ctr"/>
          </a:p>
        </p:txBody>
      </p:sp>
      <p:sp>
        <p:nvSpPr>
          <p:cNvPr id="21" name="TextBox 20"/>
          <p:cNvSpPr txBox="1"/>
          <p:nvPr/>
        </p:nvSpPr>
        <p:spPr>
          <a:xfrm>
            <a:off x="5093208" y="4114800"/>
            <a:ext cx="4288536" cy="1316736"/>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50" b="0">
                <a:solidFill>
                  <a:srgbClr val="000000"/>
                </a:solidFill>
                <a:latin typeface="Malgun Gothic"/>
                <a:ea typeface="Malgun Gothic"/>
                <a:cs typeface="Malgun Gothic"/>
              </a:rPr>
              <a:t>수행 범위와 책임</a:t>
            </a:r>
          </a:p>
          <a:p>
            <a:pPr algn="l">
              <a:lnSpc>
                <a:spcPct val="108000"/>
              </a:lnSpc>
              <a:spcBef>
                <a:spcPts val="0"/>
              </a:spcBef>
              <a:spcAft>
                <a:spcPts val="200"/>
              </a:spcAft>
            </a:pPr>
            <a:r>
              <a:rPr sz="1250" b="0">
                <a:solidFill>
                  <a:srgbClr val="000000"/>
                </a:solidFill>
                <a:latin typeface="Malgun Gothic"/>
                <a:ea typeface="Malgun Gothic"/>
                <a:cs typeface="Malgun Gothic"/>
              </a:rPr>
              <a:t>리더: 백승우 / 지도 MBB·Owner: 미확정</a:t>
            </a:r>
          </a:p>
          <a:p>
            <a:pPr algn="l">
              <a:lnSpc>
                <a:spcPct val="108000"/>
              </a:lnSpc>
              <a:spcBef>
                <a:spcPts val="0"/>
              </a:spcBef>
              <a:spcAft>
                <a:spcPts val="200"/>
              </a:spcAft>
            </a:pPr>
            <a:r>
              <a:rPr sz="1250" b="0">
                <a:solidFill>
                  <a:srgbClr val="000000"/>
                </a:solidFill>
                <a:latin typeface="Malgun Gothic"/>
                <a:ea typeface="Malgun Gothic"/>
                <a:cs typeface="Malgun Gothic"/>
              </a:rPr>
              <a:t>수치연구: 2026.09.23</a:t>
            </a:r>
          </a:p>
          <a:p>
            <a:pPr algn="l">
              <a:lnSpc>
                <a:spcPct val="108000"/>
              </a:lnSpc>
              <a:spcBef>
                <a:spcPts val="0"/>
              </a:spcBef>
              <a:spcAft>
                <a:spcPts val="200"/>
              </a:spcAft>
            </a:pPr>
            <a:r>
              <a:rPr sz="1250" b="0">
                <a:solidFill>
                  <a:srgbClr val="000000"/>
                </a:solidFill>
                <a:latin typeface="Malgun Gothic"/>
                <a:ea typeface="Malgun Gothic"/>
                <a:cs typeface="Malgun Gothic"/>
              </a:rPr>
              <a:t>등록기간과 제출 범위는 사내 확인 필요.</a:t>
            </a:r>
          </a:p>
        </p:txBody>
      </p:sp>
      <p:sp>
        <p:nvSpPr>
          <p:cNvPr id="22" name="TextBox 21"/>
          <p:cNvSpPr txBox="1"/>
          <p:nvPr/>
        </p:nvSpPr>
        <p:spPr>
          <a:xfrm>
            <a:off x="411480" y="5705856"/>
            <a:ext cx="9052560" cy="402336"/>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00" b="0">
                <a:solidFill>
                  <a:srgbClr val="000000"/>
                </a:solidFill>
                <a:latin typeface="Malgun Gothic"/>
                <a:ea typeface="Malgun Gothic"/>
                <a:cs typeface="Malgun Gothic"/>
              </a:rPr>
              <a:t>THD≤5%는 잠정 설계기준임. 63·9·54·60의 관계는 다음 페이지에서 정의함.</a:t>
            </a:r>
          </a:p>
        </p:txBody>
      </p:sp>
      <p:cxnSp>
        <p:nvCxnSpPr>
          <p:cNvPr id="23" name="Connector 22"/>
          <p:cNvCxnSpPr/>
          <p:nvPr/>
        </p:nvCxnSpPr>
        <p:spPr>
          <a:xfrm>
            <a:off x="365760" y="6428232"/>
            <a:ext cx="9189720" cy="0"/>
          </a:xfrm>
          <a:prstGeom prst="line">
            <a:avLst/>
          </a:prstGeom>
          <a:ln w="5715">
            <a:solidFill>
              <a:srgbClr val="000000"/>
            </a:solidFill>
          </a:ln>
          <a:effectLst/>
        </p:spPr>
      </p:cxnSp>
      <p:sp>
        <p:nvSpPr>
          <p:cNvPr id="24" name="TextBox 23"/>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study_config.json; results/summary.json; 등록서 구성은 기존 CLLC·Snubber 사례 참조.</a:t>
            </a:r>
          </a:p>
        </p:txBody>
      </p:sp>
      <p:sp>
        <p:nvSpPr>
          <p:cNvPr id="25" name="TextBox 24"/>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2/58</a:t>
            </a:r>
          </a:p>
        </p:txBody>
      </p:sp>
      <p:sp>
        <p:nvSpPr>
          <p:cNvPr id="26" name="TextBox 25">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7" name="TextBox 26">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시험 구성과 수량의 의미</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기준 운전조건 63개 안에 선정용 9개와 선정 미사용 54개가 포함됨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‘개’는 서로 다른 입력조건의 수이며, 실물 시료 수나 반복 측정 횟수가 아님.</a:t>
            </a:r>
          </a:p>
        </p:txBody>
      </p:sp>
      <p:sp>
        <p:nvSpPr>
          <p:cNvPr id="17" name="Rectangle 16"/>
          <p:cNvSpPr/>
          <p:nvPr/>
        </p:nvSpPr>
        <p:spPr>
          <a:xfrm>
            <a:off x="438912" y="1956816"/>
            <a:ext cx="5833872" cy="704088"/>
          </a:xfrm>
          <a:prstGeom prst="rect">
            <a:avLst/>
          </a:prstGeom>
          <a:solidFill>
            <a:srgbClr val="FFFFFF"/>
          </a:solidFill>
          <a:ln w="8255">
            <a:solidFill>
              <a:srgbClr val="B8B8B8"/>
            </a:solidFill>
          </a:ln>
          <a:effectLst/>
        </p:spPr>
        <p:txBody>
          <a:bodyPr rtlCol="0" anchor="ctr"/>
          <a:lstStyle/>
          <a:p>
            <a:pPr algn="ctr"/>
          </a:p>
        </p:txBody>
      </p:sp>
      <p:sp>
        <p:nvSpPr>
          <p:cNvPr id="18" name="TextBox 17"/>
          <p:cNvSpPr txBox="1"/>
          <p:nvPr/>
        </p:nvSpPr>
        <p:spPr>
          <a:xfrm>
            <a:off x="521207" y="2020824"/>
            <a:ext cx="5669280" cy="576072"/>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400" b="0">
                <a:solidFill>
                  <a:srgbClr val="000000"/>
                </a:solidFill>
                <a:latin typeface="Malgun Gothic"/>
                <a:ea typeface="Malgun Gothic"/>
                <a:cs typeface="Malgun Gothic"/>
              </a:rPr>
              <a:t>기준 운전조건 63개  ·  회로·모델 설정 고정</a:t>
            </a:r>
          </a:p>
          <a:p>
            <a:pPr algn="l">
              <a:lnSpc>
                <a:spcPct val="108000"/>
              </a:lnSpc>
              <a:spcBef>
                <a:spcPts val="0"/>
              </a:spcBef>
              <a:spcAft>
                <a:spcPts val="200"/>
              </a:spcAft>
            </a:pPr>
            <a:r>
              <a:rPr sz="1400" b="0">
                <a:solidFill>
                  <a:srgbClr val="000000"/>
                </a:solidFill>
                <a:latin typeface="Malgun Gothic"/>
                <a:ea typeface="Malgun Gothic"/>
                <a:cs typeface="Malgun Gothic"/>
              </a:rPr>
              <a:t>S* 3수준 × Vac 3수준 × φ 7수준</a:t>
            </a:r>
          </a:p>
        </p:txBody>
      </p:sp>
      <p:sp>
        <p:nvSpPr>
          <p:cNvPr id="19" name="Rectangle 18"/>
          <p:cNvSpPr/>
          <p:nvPr/>
        </p:nvSpPr>
        <p:spPr>
          <a:xfrm>
            <a:off x="438912" y="2852928"/>
            <a:ext cx="2816352" cy="1188720"/>
          </a:xfrm>
          <a:prstGeom prst="rect">
            <a:avLst/>
          </a:prstGeom>
          <a:solidFill>
            <a:srgbClr val="FFFFFF"/>
          </a:solidFill>
          <a:ln w="8255">
            <a:solidFill>
              <a:srgbClr val="B8B8B8"/>
            </a:solidFill>
          </a:ln>
          <a:effectLst/>
        </p:spPr>
        <p:txBody>
          <a:bodyPr rtlCol="0" anchor="ctr"/>
          <a:lstStyle/>
          <a:p>
            <a:pPr algn="ctr"/>
          </a:p>
        </p:txBody>
      </p:sp>
      <p:sp>
        <p:nvSpPr>
          <p:cNvPr id="20" name="TextBox 19"/>
          <p:cNvSpPr txBox="1"/>
          <p:nvPr/>
        </p:nvSpPr>
        <p:spPr>
          <a:xfrm>
            <a:off x="521207" y="2916936"/>
            <a:ext cx="2651760" cy="106070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300" b="0">
                <a:solidFill>
                  <a:srgbClr val="0056A6"/>
                </a:solidFill>
                <a:latin typeface="Malgun Gothic"/>
                <a:ea typeface="Malgun Gothic"/>
                <a:cs typeface="Malgun Gothic"/>
              </a:rPr>
              <a:t>제어 선정용 운전조건 9개</a:t>
            </a:r>
          </a:p>
          <a:p>
            <a:pPr algn="l">
              <a:lnSpc>
                <a:spcPct val="108000"/>
              </a:lnSpc>
              <a:spcBef>
                <a:spcPts val="0"/>
              </a:spcBef>
              <a:spcAft>
                <a:spcPts val="200"/>
              </a:spcAft>
            </a:pPr>
            <a:r>
              <a:rPr sz="1300" b="0">
                <a:solidFill>
                  <a:srgbClr val="0056A6"/>
                </a:solidFill>
                <a:latin typeface="Malgun Gothic"/>
                <a:ea typeface="Malgun Gothic"/>
                <a:cs typeface="Malgun Gothic"/>
              </a:rPr>
              <a:t>27개 제어 조합을 비교함.</a:t>
            </a:r>
          </a:p>
          <a:p>
            <a:pPr algn="l">
              <a:lnSpc>
                <a:spcPct val="108000"/>
              </a:lnSpc>
              <a:spcBef>
                <a:spcPts val="0"/>
              </a:spcBef>
              <a:spcAft>
                <a:spcPts val="200"/>
              </a:spcAft>
            </a:pPr>
            <a:r>
              <a:rPr sz="1300" b="0">
                <a:solidFill>
                  <a:srgbClr val="0056A6"/>
                </a:solidFill>
                <a:latin typeface="Malgun Gothic"/>
                <a:ea typeface="Malgun Gothic"/>
                <a:cs typeface="Malgun Gothic"/>
              </a:rPr>
              <a:t>9개 × 27조합 = 243회 해석</a:t>
            </a:r>
          </a:p>
        </p:txBody>
      </p:sp>
      <p:sp>
        <p:nvSpPr>
          <p:cNvPr id="21" name="Rectangle 20"/>
          <p:cNvSpPr/>
          <p:nvPr/>
        </p:nvSpPr>
        <p:spPr>
          <a:xfrm>
            <a:off x="3447288" y="2852928"/>
            <a:ext cx="2825496" cy="1188720"/>
          </a:xfrm>
          <a:prstGeom prst="rect">
            <a:avLst/>
          </a:prstGeom>
          <a:solidFill>
            <a:srgbClr val="FFFFFF"/>
          </a:solidFill>
          <a:ln w="8255">
            <a:solidFill>
              <a:srgbClr val="B8B8B8"/>
            </a:solidFill>
          </a:ln>
          <a:effectLst/>
        </p:spPr>
        <p:txBody>
          <a:bodyPr rtlCol="0" anchor="ctr"/>
          <a:lstStyle/>
          <a:p>
            <a:pPr algn="ctr"/>
          </a:p>
        </p:txBody>
      </p:sp>
      <p:sp>
        <p:nvSpPr>
          <p:cNvPr id="22" name="TextBox 21"/>
          <p:cNvSpPr txBox="1"/>
          <p:nvPr/>
        </p:nvSpPr>
        <p:spPr>
          <a:xfrm>
            <a:off x="3529584" y="2916936"/>
            <a:ext cx="2660903" cy="106070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300" b="0">
                <a:solidFill>
                  <a:srgbClr val="008000"/>
                </a:solidFill>
                <a:latin typeface="Malgun Gothic"/>
                <a:ea typeface="Malgun Gothic"/>
                <a:cs typeface="Malgun Gothic"/>
              </a:rPr>
              <a:t>선정 미사용 운전조건 54개</a:t>
            </a:r>
          </a:p>
          <a:p>
            <a:pPr algn="l">
              <a:lnSpc>
                <a:spcPct val="108000"/>
              </a:lnSpc>
              <a:spcBef>
                <a:spcPts val="0"/>
              </a:spcBef>
              <a:spcAft>
                <a:spcPts val="200"/>
              </a:spcAft>
            </a:pPr>
            <a:r>
              <a:rPr sz="1300" b="0">
                <a:solidFill>
                  <a:srgbClr val="008000"/>
                </a:solidFill>
                <a:latin typeface="Malgun Gothic"/>
                <a:ea typeface="Malgun Gothic"/>
                <a:cs typeface="Malgun Gothic"/>
              </a:rPr>
              <a:t>제어 조합 선정에는 사용하지 않음.</a:t>
            </a:r>
          </a:p>
          <a:p>
            <a:pPr algn="l">
              <a:lnSpc>
                <a:spcPct val="108000"/>
              </a:lnSpc>
              <a:spcBef>
                <a:spcPts val="0"/>
              </a:spcBef>
              <a:spcAft>
                <a:spcPts val="200"/>
              </a:spcAft>
            </a:pPr>
            <a:r>
              <a:rPr sz="1300" b="0">
                <a:solidFill>
                  <a:srgbClr val="008000"/>
                </a:solidFill>
                <a:latin typeface="Malgun Gothic"/>
                <a:ea typeface="Malgun Gothic"/>
                <a:cs typeface="Malgun Gothic"/>
              </a:rPr>
              <a:t>선정 제어로 개선 전후 비교</a:t>
            </a:r>
          </a:p>
        </p:txBody>
      </p:sp>
      <p:sp>
        <p:nvSpPr>
          <p:cNvPr id="23" name="Rectangle 22"/>
          <p:cNvSpPr/>
          <p:nvPr/>
        </p:nvSpPr>
        <p:spPr>
          <a:xfrm>
            <a:off x="6473952" y="1956816"/>
            <a:ext cx="3008376" cy="2724912"/>
          </a:xfrm>
          <a:prstGeom prst="rect">
            <a:avLst/>
          </a:prstGeom>
          <a:solidFill>
            <a:srgbClr val="FFFFFF"/>
          </a:solidFill>
          <a:ln w="8255">
            <a:solidFill>
              <a:srgbClr val="B8B8B8"/>
            </a:solidFill>
          </a:ln>
          <a:effectLst/>
        </p:spPr>
        <p:txBody>
          <a:bodyPr rtlCol="0" anchor="ctr"/>
          <a:lstStyle/>
          <a:p>
            <a:pPr algn="ctr"/>
          </a:p>
        </p:txBody>
      </p:sp>
      <p:sp>
        <p:nvSpPr>
          <p:cNvPr id="24" name="TextBox 23"/>
          <p:cNvSpPr txBox="1"/>
          <p:nvPr/>
        </p:nvSpPr>
        <p:spPr>
          <a:xfrm>
            <a:off x="6556248" y="2020824"/>
            <a:ext cx="2843784" cy="2596896"/>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300" b="0">
                <a:solidFill>
                  <a:srgbClr val="000000"/>
                </a:solidFill>
                <a:latin typeface="Malgun Gothic"/>
                <a:ea typeface="Malgun Gothic"/>
                <a:cs typeface="Malgun Gothic"/>
              </a:rPr>
              <a:t>변동 검증조건 60개</a:t>
            </a:r>
          </a:p>
          <a:p>
            <a:pPr algn="l">
              <a:lnSpc>
                <a:spcPct val="108000"/>
              </a:lnSpc>
              <a:spcBef>
                <a:spcPts val="0"/>
              </a:spcBef>
              <a:spcAft>
                <a:spcPts val="200"/>
              </a:spcAft>
            </a:pPr>
            <a:r>
              <a:rPr sz="1300" b="0">
                <a:solidFill>
                  <a:srgbClr val="000000"/>
                </a:solidFill>
                <a:latin typeface="Malgun Gothic"/>
                <a:ea typeface="Malgun Gothic"/>
                <a:cs typeface="Malgun Gothic"/>
              </a:rPr>
              <a:t>부품·계통·모델 가정 변경</a:t>
            </a:r>
          </a:p>
          <a:p>
            <a:pPr algn="l">
              <a:lnSpc>
                <a:spcPct val="108000"/>
              </a:lnSpc>
              <a:spcBef>
                <a:spcPts val="0"/>
              </a:spcBef>
              <a:spcAft>
                <a:spcPts val="200"/>
              </a:spcAft>
            </a:pPr>
            <a:r>
              <a:rPr sz="1300" b="0">
                <a:solidFill>
                  <a:srgbClr val="000000"/>
                </a:solidFill>
                <a:latin typeface="Malgun Gothic"/>
                <a:ea typeface="Malgun Gothic"/>
                <a:cs typeface="Malgun Gothic"/>
              </a:rPr>
              <a:t/>
            </a:r>
          </a:p>
          <a:p>
            <a:pPr algn="l">
              <a:lnSpc>
                <a:spcPct val="108000"/>
              </a:lnSpc>
              <a:spcBef>
                <a:spcPts val="0"/>
              </a:spcBef>
              <a:spcAft>
                <a:spcPts val="200"/>
              </a:spcAft>
            </a:pPr>
            <a:r>
              <a:rPr sz="1300" b="0">
                <a:solidFill>
                  <a:srgbClr val="000000"/>
                </a:solidFill>
                <a:latin typeface="Malgun Gothic"/>
                <a:ea typeface="Malgun Gothic"/>
                <a:cs typeface="Malgun Gothic"/>
              </a:rPr>
              <a:t>48개 범위 내 검증조건</a:t>
            </a:r>
          </a:p>
          <a:p>
            <a:pPr algn="l">
              <a:lnSpc>
                <a:spcPct val="108000"/>
              </a:lnSpc>
              <a:spcBef>
                <a:spcPts val="0"/>
              </a:spcBef>
              <a:spcAft>
                <a:spcPts val="200"/>
              </a:spcAft>
            </a:pPr>
            <a:r>
              <a:rPr sz="1300" b="0">
                <a:solidFill>
                  <a:srgbClr val="000000"/>
                </a:solidFill>
                <a:latin typeface="Malgun Gothic"/>
                <a:ea typeface="Malgun Gothic"/>
                <a:cs typeface="Malgun Gothic"/>
              </a:rPr>
              <a:t>+ 12개 경계값 검증조건</a:t>
            </a:r>
          </a:p>
          <a:p>
            <a:pPr algn="l">
              <a:lnSpc>
                <a:spcPct val="108000"/>
              </a:lnSpc>
              <a:spcBef>
                <a:spcPts val="0"/>
              </a:spcBef>
              <a:spcAft>
                <a:spcPts val="200"/>
              </a:spcAft>
            </a:pPr>
            <a:r>
              <a:rPr sz="1300" b="0">
                <a:solidFill>
                  <a:srgbClr val="000000"/>
                </a:solidFill>
                <a:latin typeface="Malgun Gothic"/>
                <a:ea typeface="Malgun Gothic"/>
                <a:cs typeface="Malgun Gothic"/>
              </a:rPr>
              <a:t/>
            </a:r>
          </a:p>
          <a:p>
            <a:pPr algn="l">
              <a:lnSpc>
                <a:spcPct val="108000"/>
              </a:lnSpc>
              <a:spcBef>
                <a:spcPts val="0"/>
              </a:spcBef>
              <a:spcAft>
                <a:spcPts val="200"/>
              </a:spcAft>
            </a:pPr>
            <a:r>
              <a:rPr sz="1300" b="0">
                <a:solidFill>
                  <a:srgbClr val="000000"/>
                </a:solidFill>
                <a:latin typeface="Malgun Gothic"/>
                <a:ea typeface="Malgun Gothic"/>
                <a:cs typeface="Malgun Gothic"/>
              </a:rPr>
              <a:t>선정 제어 고정 후 확인</a:t>
            </a:r>
          </a:p>
        </p:txBody>
      </p:sp>
      <p:sp>
        <p:nvSpPr>
          <p:cNvPr id="25" name="TextBox 24"/>
          <p:cNvSpPr txBox="1"/>
          <p:nvPr/>
        </p:nvSpPr>
        <p:spPr>
          <a:xfrm>
            <a:off x="548640" y="4315968"/>
            <a:ext cx="5577840" cy="402336"/>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100" b="1">
                <a:solidFill>
                  <a:srgbClr val="000000"/>
                </a:solidFill>
                <a:latin typeface="Malgun Gothic"/>
                <a:ea typeface="Malgun Gothic"/>
                <a:cs typeface="Malgun Gothic"/>
              </a:rPr>
              <a:t>63 = 9 + 54</a:t>
            </a:r>
          </a:p>
        </p:txBody>
      </p:sp>
      <p:sp>
        <p:nvSpPr>
          <p:cNvPr id="26" name="Rectangle 25"/>
          <p:cNvSpPr/>
          <p:nvPr/>
        </p:nvSpPr>
        <p:spPr>
          <a:xfrm>
            <a:off x="438912" y="4956048"/>
            <a:ext cx="9043416" cy="896112"/>
          </a:xfrm>
          <a:prstGeom prst="rect">
            <a:avLst/>
          </a:prstGeom>
          <a:solidFill>
            <a:srgbClr val="FFFFFF"/>
          </a:solidFill>
          <a:ln w="8255">
            <a:solidFill>
              <a:srgbClr val="B8B8B8"/>
            </a:solidFill>
          </a:ln>
          <a:effectLst/>
        </p:spPr>
        <p:txBody>
          <a:bodyPr rtlCol="0" anchor="ctr"/>
          <a:lstStyle/>
          <a:p>
            <a:pPr algn="ctr"/>
          </a:p>
        </p:txBody>
      </p:sp>
      <p:sp>
        <p:nvSpPr>
          <p:cNvPr id="27" name="TextBox 26"/>
          <p:cNvSpPr txBox="1"/>
          <p:nvPr/>
        </p:nvSpPr>
        <p:spPr>
          <a:xfrm>
            <a:off x="521207" y="5020056"/>
            <a:ext cx="8878824" cy="768096"/>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300" b="0">
                <a:solidFill>
                  <a:srgbClr val="000000"/>
                </a:solidFill>
                <a:latin typeface="Malgun Gothic"/>
                <a:ea typeface="Malgun Gothic"/>
                <a:cs typeface="Malgun Gothic"/>
              </a:rPr>
              <a:t>집계 원칙</a:t>
            </a:r>
          </a:p>
          <a:p>
            <a:pPr algn="l">
              <a:lnSpc>
                <a:spcPct val="108000"/>
              </a:lnSpc>
              <a:spcBef>
                <a:spcPts val="0"/>
              </a:spcBef>
              <a:spcAft>
                <a:spcPts val="200"/>
              </a:spcAft>
            </a:pPr>
            <a:r>
              <a:rPr sz="1300" b="0">
                <a:solidFill>
                  <a:srgbClr val="000000"/>
                </a:solidFill>
                <a:latin typeface="Malgun Gothic"/>
                <a:ea typeface="Malgun Gothic"/>
                <a:cs typeface="Malgun Gothic"/>
              </a:rPr>
              <a:t>54개는 63개의 부분집합이므로 더하지 않음. 60개는 다른 입력조건 집합이며, 63개와 만족률을 합산하지 않음.</a:t>
            </a:r>
          </a:p>
        </p:txBody>
      </p:sp>
      <p:sp>
        <p:nvSpPr>
          <p:cNvPr id="28" name="TextBox 27"/>
          <p:cNvSpPr txBox="1"/>
          <p:nvPr/>
        </p:nvSpPr>
        <p:spPr>
          <a:xfrm>
            <a:off x="411480" y="5916168"/>
            <a:ext cx="9052560" cy="23774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80" b="0">
                <a:solidFill>
                  <a:srgbClr val="000000"/>
                </a:solidFill>
                <a:latin typeface="Malgun Gothic"/>
                <a:ea typeface="Malgun Gothic"/>
                <a:cs typeface="Malgun Gothic"/>
              </a:rPr>
              <a:t>운전조건 1개에 초기·개선 제어를 각각 적용하면 2회 해석임. ‘조건 수’와 ‘실행 수’를 구분함.</a:t>
            </a:r>
          </a:p>
        </p:txBody>
      </p:sp>
      <p:cxnSp>
        <p:nvCxnSpPr>
          <p:cNvPr id="29" name="Connector 28"/>
          <p:cNvCxnSpPr/>
          <p:nvPr/>
        </p:nvCxnSpPr>
        <p:spPr>
          <a:xfrm>
            <a:off x="365760" y="6428232"/>
            <a:ext cx="9189720" cy="0"/>
          </a:xfrm>
          <a:prstGeom prst="line">
            <a:avLst/>
          </a:prstGeom>
          <a:ln w="5715">
            <a:solidFill>
              <a:srgbClr val="000000"/>
            </a:solidFill>
          </a:ln>
          <a:effectLst/>
        </p:spPr>
      </p:cxnSp>
      <p:sp>
        <p:nvSpPr>
          <p:cNvPr id="30" name="TextBox 2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main_cases.csv; selected_control.json; holdout_cases.csv; src/study.py.</a:t>
            </a:r>
          </a:p>
        </p:txBody>
      </p:sp>
      <p:sp>
        <p:nvSpPr>
          <p:cNvPr id="31" name="TextBox 3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3/58</a:t>
            </a:r>
          </a:p>
        </p:txBody>
      </p:sp>
      <p:sp>
        <p:nvSpPr>
          <p:cNvPr id="32" name="TextBox 3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33" name="TextBox 3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운전조건·실행·시간 표본 구분</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M024를 예로 들어 한 개 데이터가 무엇을 뜻하는지 설명함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운전조건은 물리적 입력 조합이며, 제어 조합을 적용해 계산한 결과는 별도의 실행 ID로 저장함.</a:t>
            </a:r>
          </a:p>
        </p:txBody>
      </p:sp>
      <p:graphicFrame>
        <p:nvGraphicFramePr>
          <p:cNvPr id="17" name="Table 16"/>
          <p:cNvGraphicFramePr>
            <a:graphicFrameLocks noGrp="1"/>
          </p:cNvGraphicFramePr>
          <p:nvPr/>
        </p:nvGraphicFramePr>
        <p:xfrm>
          <a:off x="411480" y="1984248"/>
          <a:ext cx="9052559" cy="2926080"/>
        </p:xfrm>
        <a:graphic>
          <a:graphicData uri="http://schemas.openxmlformats.org/drawingml/2006/table">
            <a:tbl>
              <a:tblPr firstRow="1" bandRow="1">
                <a:tableStyleId>{5C22544A-7EE6-4342-B048-85BDC9FD1C3A}</a:tableStyleId>
              </a:tblPr>
              <a:tblGrid>
                <a:gridCol w="1810512"/>
                <a:gridCol w="4707331"/>
                <a:gridCol w="2534716"/>
              </a:tblGrid>
              <a:tr h="487680">
                <a:tc>
                  <a:txBody>
                    <a:bodyPr/>
                    <a:lstStyle/>
                    <a:p>
                      <a:pPr algn="ctr">
                        <a:lnSpc>
                          <a:spcPct val="105000"/>
                        </a:lnSpc>
                        <a:spcBef>
                          <a:spcPts val="0"/>
                        </a:spcBef>
                        <a:spcAft>
                          <a:spcPts val="100"/>
                        </a:spcAft>
                      </a:pPr>
                      <a:r>
                        <a:rPr sz="1210" b="1">
                          <a:solidFill>
                            <a:srgbClr val="000000"/>
                          </a:solidFill>
                          <a:latin typeface="Malgun Gothic"/>
                          <a:ea typeface="Malgun Gothic"/>
                          <a:cs typeface="Malgun Gothic"/>
                        </a:rPr>
                        <a:t>구분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10" b="1">
                          <a:solidFill>
                            <a:srgbClr val="000000"/>
                          </a:solidFill>
                          <a:latin typeface="Malgun Gothic"/>
                          <a:ea typeface="Malgun Gothic"/>
                          <a:cs typeface="Malgun Gothic"/>
                        </a:rPr>
                        <a:t>본 자료의 실제 예</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10" b="1">
                          <a:solidFill>
                            <a:srgbClr val="000000"/>
                          </a:solidFill>
                          <a:latin typeface="Malgun Gothic"/>
                          <a:ea typeface="Malgun Gothic"/>
                          <a:cs typeface="Malgun Gothic"/>
                        </a:rPr>
                        <a:t>의미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87680">
                <a:tc>
                  <a:txBody>
                    <a:bodyPr/>
                    <a:lstStyle/>
                    <a:p>
                      <a:pPr algn="l">
                        <a:lnSpc>
                          <a:spcPct val="105000"/>
                        </a:lnSpc>
                        <a:spcBef>
                          <a:spcPts val="0"/>
                        </a:spcBef>
                        <a:spcAft>
                          <a:spcPts val="100"/>
                        </a:spcAft>
                      </a:pPr>
                      <a:r>
                        <a:rPr sz="1210" b="0">
                          <a:solidFill>
                            <a:srgbClr val="000000"/>
                          </a:solidFill>
                          <a:latin typeface="Malgun Gothic"/>
                          <a:ea typeface="Malgun Gothic"/>
                          <a:cs typeface="Malgun Gothic"/>
                        </a:rPr>
                        <a:t>운전조건 ID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10" b="0">
                          <a:solidFill>
                            <a:srgbClr val="000000"/>
                          </a:solidFill>
                          <a:latin typeface="Malgun Gothic"/>
                          <a:ea typeface="Malgun Gothic"/>
                          <a:cs typeface="Malgun Gothic"/>
                        </a:rPr>
                        <a:t>M024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10" b="0">
                          <a:solidFill>
                            <a:srgbClr val="000000"/>
                          </a:solidFill>
                          <a:latin typeface="Malgun Gothic"/>
                          <a:ea typeface="Malgun Gothic"/>
                          <a:cs typeface="Malgun Gothic"/>
                        </a:rPr>
                        <a:t>고정 입력조건 1개를 식별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7680">
                <a:tc>
                  <a:txBody>
                    <a:bodyPr/>
                    <a:lstStyle/>
                    <a:p>
                      <a:pPr algn="l">
                        <a:lnSpc>
                          <a:spcPct val="105000"/>
                        </a:lnSpc>
                        <a:spcBef>
                          <a:spcPts val="0"/>
                        </a:spcBef>
                        <a:spcAft>
                          <a:spcPts val="100"/>
                        </a:spcAft>
                      </a:pPr>
                      <a:r>
                        <a:rPr sz="1210" b="0">
                          <a:solidFill>
                            <a:srgbClr val="000000"/>
                          </a:solidFill>
                          <a:latin typeface="Malgun Gothic"/>
                          <a:ea typeface="Malgun Gothic"/>
                          <a:cs typeface="Malgun Gothic"/>
                        </a:rPr>
                        <a:t>입력조건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10" b="0">
                          <a:solidFill>
                            <a:srgbClr val="000000"/>
                          </a:solidFill>
                          <a:latin typeface="Malgun Gothic"/>
                          <a:ea typeface="Malgun Gothic"/>
                          <a:cs typeface="Malgun Gothic"/>
                        </a:rPr>
                        <a:t>S*=900 VA, Vac=230 V, Vdc=400 V</a:t>
                      </a:r>
                    </a:p>
                    <a:p>
                      <a:pPr algn="l">
                        <a:lnSpc>
                          <a:spcPct val="105000"/>
                        </a:lnSpc>
                        <a:spcBef>
                          <a:spcPts val="0"/>
                        </a:spcBef>
                        <a:spcAft>
                          <a:spcPts val="100"/>
                        </a:spcAft>
                      </a:pPr>
                      <a:r>
                        <a:rPr sz="1210" b="0">
                          <a:solidFill>
                            <a:srgbClr val="000000"/>
                          </a:solidFill>
                          <a:latin typeface="Malgun Gothic"/>
                          <a:ea typeface="Malgun Gothic"/>
                          <a:cs typeface="Malgun Gothic"/>
                        </a:rPr>
                        <a:t>φ=−30°, P*=779.423 W, Q*=−450 var</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10" b="0">
                          <a:solidFill>
                            <a:srgbClr val="000000"/>
                          </a:solidFill>
                          <a:latin typeface="Malgun Gothic"/>
                          <a:ea typeface="Malgun Gothic"/>
                          <a:cs typeface="Malgun Gothic"/>
                        </a:rPr>
                        <a:t>φ&lt;0: 진상전류</a:t>
                      </a:r>
                    </a:p>
                    <a:p>
                      <a:pPr algn="l">
                        <a:lnSpc>
                          <a:spcPct val="105000"/>
                        </a:lnSpc>
                        <a:spcBef>
                          <a:spcPts val="0"/>
                        </a:spcBef>
                        <a:spcAft>
                          <a:spcPts val="100"/>
                        </a:spcAft>
                      </a:pPr>
                      <a:r>
                        <a:rPr sz="1210" b="0">
                          <a:solidFill>
                            <a:srgbClr val="000000"/>
                          </a:solidFill>
                          <a:latin typeface="Malgun Gothic"/>
                          <a:ea typeface="Malgun Gothic"/>
                          <a:cs typeface="Malgun Gothic"/>
                        </a:rPr>
                        <a:t>P*&gt;0: 계통 송전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7680">
                <a:tc>
                  <a:txBody>
                    <a:bodyPr/>
                    <a:lstStyle/>
                    <a:p>
                      <a:pPr algn="l">
                        <a:lnSpc>
                          <a:spcPct val="105000"/>
                        </a:lnSpc>
                        <a:spcBef>
                          <a:spcPts val="0"/>
                        </a:spcBef>
                        <a:spcAft>
                          <a:spcPts val="100"/>
                        </a:spcAft>
                      </a:pPr>
                      <a:r>
                        <a:rPr sz="1210" b="0">
                          <a:solidFill>
                            <a:srgbClr val="000000"/>
                          </a:solidFill>
                          <a:latin typeface="Malgun Gothic"/>
                          <a:ea typeface="Malgun Gothic"/>
                          <a:cs typeface="Malgun Gothic"/>
                        </a:rPr>
                        <a:t>제어 조합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10" b="0">
                          <a:solidFill>
                            <a:srgbClr val="000000"/>
                          </a:solidFill>
                          <a:latin typeface="Malgun Gothic"/>
                          <a:ea typeface="Malgun Gothic"/>
                          <a:cs typeface="Malgun Gothic"/>
                        </a:rPr>
                        <a:t>초기: 고조파 제어 없음</a:t>
                      </a:r>
                    </a:p>
                    <a:p>
                      <a:pPr algn="l">
                        <a:lnSpc>
                          <a:spcPct val="105000"/>
                        </a:lnSpc>
                        <a:spcBef>
                          <a:spcPts val="0"/>
                        </a:spcBef>
                        <a:spcAft>
                          <a:spcPts val="100"/>
                        </a:spcAft>
                      </a:pPr>
                      <a:r>
                        <a:rPr sz="1210" b="0">
                          <a:solidFill>
                            <a:srgbClr val="000000"/>
                          </a:solidFill>
                          <a:latin typeface="Malgun Gothic"/>
                          <a:ea typeface="Malgun Gothic"/>
                          <a:cs typeface="Malgun Gothic"/>
                        </a:rPr>
                        <a:t>개선: Kr=24 Ω, fc=2 Hz, 3·5·7차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10" b="0">
                          <a:solidFill>
                            <a:srgbClr val="000000"/>
                          </a:solidFill>
                          <a:latin typeface="Malgun Gothic"/>
                          <a:ea typeface="Malgun Gothic"/>
                          <a:cs typeface="Malgun Gothic"/>
                        </a:rPr>
                        <a:t>동일 M024에 제어만 변경</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7680">
                <a:tc>
                  <a:txBody>
                    <a:bodyPr/>
                    <a:lstStyle/>
                    <a:p>
                      <a:pPr algn="l">
                        <a:lnSpc>
                          <a:spcPct val="105000"/>
                        </a:lnSpc>
                        <a:spcBef>
                          <a:spcPts val="0"/>
                        </a:spcBef>
                        <a:spcAft>
                          <a:spcPts val="100"/>
                        </a:spcAft>
                      </a:pPr>
                      <a:r>
                        <a:rPr sz="1210" b="0">
                          <a:solidFill>
                            <a:srgbClr val="000000"/>
                          </a:solidFill>
                          <a:latin typeface="Malgun Gothic"/>
                          <a:ea typeface="Malgun Gothic"/>
                          <a:cs typeface="Malgun Gothic"/>
                        </a:rPr>
                        <a:t>해석 실행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10" b="0">
                          <a:solidFill>
                            <a:srgbClr val="000000"/>
                          </a:solidFill>
                          <a:latin typeface="Malgun Gothic"/>
                          <a:ea typeface="Malgun Gothic"/>
                          <a:cs typeface="Malgun Gothic"/>
                        </a:rPr>
                        <a:t>초기 1회 + 개선 1회 = 2회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10" b="0">
                          <a:solidFill>
                            <a:srgbClr val="000000"/>
                          </a:solidFill>
                          <a:latin typeface="Malgun Gothic"/>
                          <a:ea typeface="Malgun Gothic"/>
                          <a:cs typeface="Malgun Gothic"/>
                        </a:rPr>
                        <a:t>조건 2개가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7680">
                <a:tc>
                  <a:txBody>
                    <a:bodyPr/>
                    <a:lstStyle/>
                    <a:p>
                      <a:pPr algn="l">
                        <a:lnSpc>
                          <a:spcPct val="105000"/>
                        </a:lnSpc>
                        <a:spcBef>
                          <a:spcPts val="0"/>
                        </a:spcBef>
                        <a:spcAft>
                          <a:spcPts val="100"/>
                        </a:spcAft>
                      </a:pPr>
                      <a:r>
                        <a:rPr sz="1210" b="0">
                          <a:solidFill>
                            <a:srgbClr val="000000"/>
                          </a:solidFill>
                          <a:latin typeface="Malgun Gothic"/>
                          <a:ea typeface="Malgun Gothic"/>
                          <a:cs typeface="Malgun Gothic"/>
                        </a:rPr>
                        <a:t>시간 표본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10" b="0">
                          <a:solidFill>
                            <a:srgbClr val="000000"/>
                          </a:solidFill>
                          <a:latin typeface="Malgun Gothic"/>
                          <a:ea typeface="Malgun Gothic"/>
                          <a:cs typeface="Malgun Gothic"/>
                        </a:rPr>
                        <a:t>실행당 마지막 0.2 s 전류 6,400개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10" b="0">
                          <a:solidFill>
                            <a:srgbClr val="000000"/>
                          </a:solidFill>
                          <a:latin typeface="Malgun Gothic"/>
                          <a:ea typeface="Malgun Gothic"/>
                          <a:cs typeface="Malgun Gothic"/>
                        </a:rPr>
                        <a:t>32 kHz로 저장한 파형 값</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411480" y="5166360"/>
            <a:ext cx="9052560" cy="868680"/>
          </a:xfrm>
          <a:prstGeom prst="rect">
            <a:avLst/>
          </a:prstGeom>
          <a:solidFill>
            <a:srgbClr val="FFFFFF"/>
          </a:solidFill>
          <a:ln w="8255">
            <a:solidFill>
              <a:srgbClr val="B8B8B8"/>
            </a:solidFill>
          </a:ln>
          <a:effectLst/>
        </p:spPr>
        <p:txBody>
          <a:bodyPr rtlCol="0" anchor="ctr"/>
          <a:lstStyle/>
          <a:p>
            <a:pPr algn="ctr"/>
          </a:p>
        </p:txBody>
      </p:sp>
      <p:sp>
        <p:nvSpPr>
          <p:cNvPr id="19" name="TextBox 18"/>
          <p:cNvSpPr txBox="1"/>
          <p:nvPr/>
        </p:nvSpPr>
        <p:spPr>
          <a:xfrm>
            <a:off x="493776" y="5230368"/>
            <a:ext cx="8887968" cy="74066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40" b="0">
                <a:solidFill>
                  <a:srgbClr val="000000"/>
                </a:solidFill>
                <a:latin typeface="Malgun Gothic"/>
                <a:ea typeface="Malgun Gothic"/>
                <a:cs typeface="Malgun Gothic"/>
              </a:rPr>
              <a:t>기호의 의미</a:t>
            </a:r>
          </a:p>
          <a:p>
            <a:pPr algn="l">
              <a:lnSpc>
                <a:spcPct val="108000"/>
              </a:lnSpc>
              <a:spcBef>
                <a:spcPts val="0"/>
              </a:spcBef>
              <a:spcAft>
                <a:spcPts val="200"/>
              </a:spcAft>
            </a:pPr>
            <a:r>
              <a:rPr sz="1240" b="0">
                <a:solidFill>
                  <a:srgbClr val="000000"/>
                </a:solidFill>
                <a:latin typeface="Malgun Gothic"/>
                <a:ea typeface="Malgun Gothic"/>
                <a:cs typeface="Malgun Gothic"/>
              </a:rPr>
              <a:t>S*=√((P*)²+(Q*)²)는 전력 지령의 크기임. 왜곡 파형에서 측정한 Vac×Irms와 구분함.</a:t>
            </a:r>
          </a:p>
          <a:p>
            <a:pPr algn="l">
              <a:lnSpc>
                <a:spcPct val="108000"/>
              </a:lnSpc>
              <a:spcBef>
                <a:spcPts val="0"/>
              </a:spcBef>
              <a:spcAft>
                <a:spcPts val="200"/>
              </a:spcAft>
            </a:pPr>
            <a:r>
              <a:rPr sz="1240" b="0">
                <a:solidFill>
                  <a:srgbClr val="000000"/>
                </a:solidFill>
                <a:latin typeface="Malgun Gothic"/>
                <a:ea typeface="Malgun Gothic"/>
                <a:cs typeface="Malgun Gothic"/>
              </a:rPr>
              <a:t>P*=0이어도 Q*가 있으면 전류가 흐르므로, 저전류 여부는 P*만으로 판단하지 않음.</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main_cases.csv의 M024; baseline.csv; improved.csv; src/model.py.</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4/58</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과제 선정 배경</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저부하 운전 시 전류 품질 개선 필요</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기준 모델의 THD는 4.47~7.70% 수준으로 일부 운전조건에서 잠정 기준 5%를 초과함. 고조파 전류제어를 통한 성능 개선이 필요함.</a:t>
            </a:r>
          </a:p>
        </p:txBody>
      </p:sp>
      <p:sp>
        <p:nvSpPr>
          <p:cNvPr id="17" name="TextBox 16"/>
          <p:cNvSpPr txBox="1"/>
          <p:nvPr/>
        </p:nvSpPr>
        <p:spPr>
          <a:xfrm>
            <a:off x="411480" y="1993392"/>
            <a:ext cx="5577840" cy="2743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초기 THD [%] · 전압/위상 조건 평균</a:t>
            </a:r>
          </a:p>
        </p:txBody>
      </p:sp>
      <p:graphicFrame>
        <p:nvGraphicFramePr>
          <p:cNvPr id="18" name="Chart 17"/>
          <p:cNvGraphicFramePr>
            <a:graphicFrameLocks noGrp="1"/>
          </p:cNvGraphicFramePr>
          <p:nvPr/>
        </p:nvGraphicFramePr>
        <p:xfrm>
          <a:off x="365760" y="2286000"/>
          <a:ext cx="5715000" cy="3840480"/>
        </p:xfrm>
        <a:graphic>
          <a:graphicData uri="http://schemas.openxmlformats.org/drawingml/2006/chart">
            <c:chart xmlns:c="http://schemas.openxmlformats.org/drawingml/2006/chart" r:id="rId2"/>
          </a:graphicData>
        </a:graphic>
      </p:graphicFrame>
      <p:sp>
        <p:nvSpPr>
          <p:cNvPr id="19" name="Rectangle 18"/>
          <p:cNvSpPr/>
          <p:nvPr/>
        </p:nvSpPr>
        <p:spPr>
          <a:xfrm>
            <a:off x="6263640" y="2103120"/>
            <a:ext cx="3154680" cy="1600200"/>
          </a:xfrm>
          <a:prstGeom prst="rect">
            <a:avLst/>
          </a:prstGeom>
          <a:solidFill>
            <a:srgbClr val="FFFFFF"/>
          </a:solidFill>
          <a:ln w="8255">
            <a:solidFill>
              <a:srgbClr val="B8B8B8"/>
            </a:solidFill>
          </a:ln>
          <a:effectLst/>
        </p:spPr>
        <p:txBody>
          <a:bodyPr rtlCol="0" anchor="ctr"/>
          <a:lstStyle/>
          <a:p>
            <a:pPr algn="ctr"/>
          </a:p>
        </p:txBody>
      </p:sp>
      <p:sp>
        <p:nvSpPr>
          <p:cNvPr id="20" name="TextBox 19"/>
          <p:cNvSpPr txBox="1"/>
          <p:nvPr/>
        </p:nvSpPr>
        <p:spPr>
          <a:xfrm>
            <a:off x="6345936" y="2167127"/>
            <a:ext cx="2990088" cy="147218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00" b="0">
                <a:solidFill>
                  <a:srgbClr val="000000"/>
                </a:solidFill>
                <a:latin typeface="Malgun Gothic"/>
                <a:ea typeface="Malgun Gothic"/>
                <a:cs typeface="Malgun Gothic"/>
              </a:rPr>
              <a:t>초기 성능의 의미</a:t>
            </a:r>
          </a:p>
          <a:p>
            <a:pPr algn="l">
              <a:lnSpc>
                <a:spcPct val="108000"/>
              </a:lnSpc>
              <a:spcBef>
                <a:spcPts val="0"/>
              </a:spcBef>
              <a:spcAft>
                <a:spcPts val="200"/>
              </a:spcAft>
            </a:pPr>
            <a:r>
              <a:rPr sz="1200" b="0">
                <a:solidFill>
                  <a:srgbClr val="000000"/>
                </a:solidFill>
                <a:latin typeface="Malgun Gothic"/>
                <a:ea typeface="Malgun Gothic"/>
                <a:cs typeface="Malgun Gothic"/>
              </a:rPr>
              <a:t>기준 운전조건 63개 중 49개에서 THD 5%를 초과함. 낮은 S*에서 상대 왜곡이 커지는 경향을 확인함.</a:t>
            </a:r>
          </a:p>
        </p:txBody>
      </p:sp>
      <p:sp>
        <p:nvSpPr>
          <p:cNvPr id="21" name="Rectangle 20"/>
          <p:cNvSpPr/>
          <p:nvPr/>
        </p:nvSpPr>
        <p:spPr>
          <a:xfrm>
            <a:off x="6263640" y="3877056"/>
            <a:ext cx="3154680" cy="1554480"/>
          </a:xfrm>
          <a:prstGeom prst="rect">
            <a:avLst/>
          </a:prstGeom>
          <a:solidFill>
            <a:srgbClr val="FFFFFF"/>
          </a:solidFill>
          <a:ln w="8255">
            <a:solidFill>
              <a:srgbClr val="B8B8B8"/>
            </a:solidFill>
          </a:ln>
          <a:effectLst/>
        </p:spPr>
        <p:txBody>
          <a:bodyPr rtlCol="0" anchor="ctr"/>
          <a:lstStyle/>
          <a:p>
            <a:pPr algn="ctr"/>
          </a:p>
        </p:txBody>
      </p:sp>
      <p:sp>
        <p:nvSpPr>
          <p:cNvPr id="22" name="TextBox 21"/>
          <p:cNvSpPr txBox="1"/>
          <p:nvPr/>
        </p:nvSpPr>
        <p:spPr>
          <a:xfrm>
            <a:off x="6345936" y="3941064"/>
            <a:ext cx="2990088" cy="142646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300" b="0">
                <a:solidFill>
                  <a:srgbClr val="000000"/>
                </a:solidFill>
                <a:latin typeface="Malgun Gothic"/>
                <a:ea typeface="Malgun Gothic"/>
                <a:cs typeface="Malgun Gothic"/>
              </a:rPr>
              <a:t>비교 조건</a:t>
            </a:r>
          </a:p>
          <a:p>
            <a:pPr algn="l">
              <a:lnSpc>
                <a:spcPct val="108000"/>
              </a:lnSpc>
              <a:spcBef>
                <a:spcPts val="0"/>
              </a:spcBef>
              <a:spcAft>
                <a:spcPts val="200"/>
              </a:spcAft>
            </a:pPr>
            <a:r>
              <a:rPr sz="1300" b="0">
                <a:solidFill>
                  <a:srgbClr val="000000"/>
                </a:solidFill>
                <a:latin typeface="Malgun Gothic"/>
                <a:ea typeface="Malgun Gothic"/>
                <a:cs typeface="Malgun Gothic"/>
              </a:rPr>
              <a:t>기본 dq-PI, PLL 및 회로 조건은 고정함. 개선 전후 동일한 운전조건과 판정 연산을 적용함.</a:t>
            </a:r>
          </a:p>
        </p:txBody>
      </p:sp>
      <p:sp>
        <p:nvSpPr>
          <p:cNvPr id="23" name="TextBox 22"/>
          <p:cNvSpPr txBox="1"/>
          <p:nvPr/>
        </p:nvSpPr>
        <p:spPr>
          <a:xfrm>
            <a:off x="411480" y="6108192"/>
            <a:ext cx="9052560" cy="22860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가로축은 피상전력 지령 S*임. 각 값은 3개 계통전압×7개 위상각, 21개 조건의 동일 가중 평균.</a:t>
            </a:r>
          </a:p>
        </p:txBody>
      </p:sp>
      <p:cxnSp>
        <p:nvCxnSpPr>
          <p:cNvPr id="24" name="Connector 23"/>
          <p:cNvCxnSpPr/>
          <p:nvPr/>
        </p:nvCxnSpPr>
        <p:spPr>
          <a:xfrm>
            <a:off x="365760" y="6428232"/>
            <a:ext cx="9189720" cy="0"/>
          </a:xfrm>
          <a:prstGeom prst="line">
            <a:avLst/>
          </a:prstGeom>
          <a:ln w="5715">
            <a:solidFill>
              <a:srgbClr val="000000"/>
            </a:solidFill>
          </a:ln>
          <a:effectLst/>
        </p:spPr>
      </p:cxnSp>
      <p:sp>
        <p:nvSpPr>
          <p:cNvPr id="25" name="TextBox 24"/>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results/baseline.csv; docs/00_protocol.md. 곡선은 3전압 × 7위상 평균.</a:t>
            </a:r>
          </a:p>
        </p:txBody>
      </p:sp>
      <p:sp>
        <p:nvSpPr>
          <p:cNvPr id="26" name="TextBox 25"/>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5/58</a:t>
            </a:r>
          </a:p>
        </p:txBody>
      </p:sp>
      <p:sp>
        <p:nvSpPr>
          <p:cNvPr id="27" name="TextBox 26">
            <a:hlinkClick action="ppaction://hlinksldjump" r:id="rId4"/>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8" name="TextBox 27">
            <a:hlinkClick action="ppaction://hlinksldjump" r:id="rId5"/>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Big Y–Little y 전개</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Project Y 선정</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V2G 전류 품질 확보를 상위 목표로 전개하고, 변경 가능한 전류제어 조건의 최적화를 본 과제 범위로 선정함.</a:t>
            </a:r>
          </a:p>
        </p:txBody>
      </p:sp>
      <p:sp>
        <p:nvSpPr>
          <p:cNvPr id="17" name="Rectangle 16"/>
          <p:cNvSpPr/>
          <p:nvPr/>
        </p:nvSpPr>
        <p:spPr>
          <a:xfrm>
            <a:off x="438912" y="2377440"/>
            <a:ext cx="2084831" cy="1325880"/>
          </a:xfrm>
          <a:prstGeom prst="rect">
            <a:avLst/>
          </a:prstGeom>
          <a:solidFill>
            <a:srgbClr val="FFFFFF"/>
          </a:solidFill>
          <a:ln w="8255">
            <a:solidFill>
              <a:srgbClr val="B8B8B8"/>
            </a:solidFill>
          </a:ln>
          <a:effectLst/>
        </p:spPr>
        <p:txBody>
          <a:bodyPr rtlCol="0" anchor="ctr"/>
          <a:lstStyle/>
          <a:p>
            <a:pPr algn="ctr"/>
          </a:p>
        </p:txBody>
      </p:sp>
      <p:sp>
        <p:nvSpPr>
          <p:cNvPr id="18" name="TextBox 17"/>
          <p:cNvSpPr txBox="1"/>
          <p:nvPr/>
        </p:nvSpPr>
        <p:spPr>
          <a:xfrm>
            <a:off x="521207" y="2441448"/>
            <a:ext cx="1920239" cy="119786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600" b="0">
                <a:solidFill>
                  <a:srgbClr val="000000"/>
                </a:solidFill>
                <a:latin typeface="Malgun Gothic"/>
                <a:ea typeface="Malgun Gothic"/>
                <a:cs typeface="Malgun Gothic"/>
              </a:rPr>
              <a:t>상위 목표</a:t>
            </a:r>
          </a:p>
          <a:p>
            <a:pPr algn="l">
              <a:lnSpc>
                <a:spcPct val="108000"/>
              </a:lnSpc>
              <a:spcBef>
                <a:spcPts val="0"/>
              </a:spcBef>
              <a:spcAft>
                <a:spcPts val="200"/>
              </a:spcAft>
            </a:pPr>
            <a:r>
              <a:rPr sz="1600" b="0">
                <a:solidFill>
                  <a:srgbClr val="000000"/>
                </a:solidFill>
                <a:latin typeface="Malgun Gothic"/>
                <a:ea typeface="Malgun Gothic"/>
                <a:cs typeface="Malgun Gothic"/>
              </a:rPr>
              <a:t>OBCM V2G</a:t>
            </a:r>
          </a:p>
          <a:p>
            <a:pPr algn="l">
              <a:lnSpc>
                <a:spcPct val="108000"/>
              </a:lnSpc>
              <a:spcBef>
                <a:spcPts val="0"/>
              </a:spcBef>
              <a:spcAft>
                <a:spcPts val="200"/>
              </a:spcAft>
            </a:pPr>
            <a:r>
              <a:rPr sz="1600" b="0">
                <a:solidFill>
                  <a:srgbClr val="000000"/>
                </a:solidFill>
                <a:latin typeface="Malgun Gothic"/>
                <a:ea typeface="Malgun Gothic"/>
                <a:cs typeface="Malgun Gothic"/>
              </a:rPr>
              <a:t>전류 품질 확보</a:t>
            </a:r>
          </a:p>
        </p:txBody>
      </p:sp>
      <p:cxnSp>
        <p:nvCxnSpPr>
          <p:cNvPr id="19" name="Connector 18"/>
          <p:cNvCxnSpPr/>
          <p:nvPr/>
        </p:nvCxnSpPr>
        <p:spPr>
          <a:xfrm>
            <a:off x="2532888" y="3035808"/>
            <a:ext cx="228600" cy="0"/>
          </a:xfrm>
          <a:prstGeom prst="line">
            <a:avLst/>
          </a:prstGeom>
          <a:ln w="12700">
            <a:solidFill>
              <a:srgbClr val="757575"/>
            </a:solidFill>
            <a:tailEnd type="triangle" w="sm" len="sm"/>
          </a:ln>
          <a:effectLst/>
        </p:spPr>
      </p:cxnSp>
      <p:sp>
        <p:nvSpPr>
          <p:cNvPr id="20" name="Rectangle 19"/>
          <p:cNvSpPr/>
          <p:nvPr/>
        </p:nvSpPr>
        <p:spPr>
          <a:xfrm>
            <a:off x="2779776" y="2377440"/>
            <a:ext cx="2084831" cy="1325880"/>
          </a:xfrm>
          <a:prstGeom prst="rect">
            <a:avLst/>
          </a:prstGeom>
          <a:solidFill>
            <a:srgbClr val="FFFFFF"/>
          </a:solidFill>
          <a:ln w="8255">
            <a:solidFill>
              <a:srgbClr val="B8B8B8"/>
            </a:solidFill>
          </a:ln>
          <a:effectLst/>
        </p:spPr>
        <p:txBody>
          <a:bodyPr rtlCol="0" anchor="ctr"/>
          <a:lstStyle/>
          <a:p>
            <a:pPr algn="ctr"/>
          </a:p>
        </p:txBody>
      </p:sp>
      <p:sp>
        <p:nvSpPr>
          <p:cNvPr id="21" name="TextBox 20"/>
          <p:cNvSpPr txBox="1"/>
          <p:nvPr/>
        </p:nvSpPr>
        <p:spPr>
          <a:xfrm>
            <a:off x="2862072" y="2441448"/>
            <a:ext cx="1920239" cy="119786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600" b="0">
                <a:solidFill>
                  <a:srgbClr val="000000"/>
                </a:solidFill>
                <a:latin typeface="Malgun Gothic"/>
                <a:ea typeface="Malgun Gothic"/>
                <a:cs typeface="Malgun Gothic"/>
              </a:rPr>
              <a:t>하위 목표</a:t>
            </a:r>
          </a:p>
          <a:p>
            <a:pPr algn="l">
              <a:lnSpc>
                <a:spcPct val="108000"/>
              </a:lnSpc>
              <a:spcBef>
                <a:spcPts val="0"/>
              </a:spcBef>
              <a:spcAft>
                <a:spcPts val="200"/>
              </a:spcAft>
            </a:pPr>
            <a:r>
              <a:rPr sz="1600" b="0">
                <a:solidFill>
                  <a:srgbClr val="000000"/>
                </a:solidFill>
                <a:latin typeface="Malgun Gothic"/>
                <a:ea typeface="Malgun Gothic"/>
                <a:cs typeface="Malgun Gothic"/>
              </a:rPr>
              <a:t>저부하 운전영역</a:t>
            </a:r>
          </a:p>
          <a:p>
            <a:pPr algn="l">
              <a:lnSpc>
                <a:spcPct val="108000"/>
              </a:lnSpc>
              <a:spcBef>
                <a:spcPts val="0"/>
              </a:spcBef>
              <a:spcAft>
                <a:spcPts val="200"/>
              </a:spcAft>
            </a:pPr>
            <a:r>
              <a:rPr sz="1600" b="0">
                <a:solidFill>
                  <a:srgbClr val="000000"/>
                </a:solidFill>
                <a:latin typeface="Malgun Gothic"/>
                <a:ea typeface="Malgun Gothic"/>
                <a:cs typeface="Malgun Gothic"/>
              </a:rPr>
              <a:t>고조파 전류 저감</a:t>
            </a:r>
          </a:p>
        </p:txBody>
      </p:sp>
      <p:cxnSp>
        <p:nvCxnSpPr>
          <p:cNvPr id="22" name="Connector 21"/>
          <p:cNvCxnSpPr/>
          <p:nvPr/>
        </p:nvCxnSpPr>
        <p:spPr>
          <a:xfrm>
            <a:off x="4882896" y="3035808"/>
            <a:ext cx="228600" cy="0"/>
          </a:xfrm>
          <a:prstGeom prst="line">
            <a:avLst/>
          </a:prstGeom>
          <a:ln w="12700">
            <a:solidFill>
              <a:srgbClr val="757575"/>
            </a:solidFill>
            <a:tailEnd type="triangle" w="sm" len="sm"/>
          </a:ln>
          <a:effectLst/>
        </p:spPr>
      </p:cxnSp>
      <p:sp>
        <p:nvSpPr>
          <p:cNvPr id="23" name="Rectangle 22"/>
          <p:cNvSpPr/>
          <p:nvPr/>
        </p:nvSpPr>
        <p:spPr>
          <a:xfrm>
            <a:off x="5129784" y="2377440"/>
            <a:ext cx="2240280" cy="1325880"/>
          </a:xfrm>
          <a:prstGeom prst="rect">
            <a:avLst/>
          </a:prstGeom>
          <a:solidFill>
            <a:srgbClr val="FFFFFF"/>
          </a:solidFill>
          <a:ln w="8255">
            <a:solidFill>
              <a:srgbClr val="B8B8B8"/>
            </a:solidFill>
          </a:ln>
          <a:effectLst/>
        </p:spPr>
        <p:txBody>
          <a:bodyPr rtlCol="0" anchor="ctr"/>
          <a:lstStyle/>
          <a:p>
            <a:pPr algn="ctr"/>
          </a:p>
        </p:txBody>
      </p:sp>
      <p:sp>
        <p:nvSpPr>
          <p:cNvPr id="24" name="TextBox 23"/>
          <p:cNvSpPr txBox="1"/>
          <p:nvPr/>
        </p:nvSpPr>
        <p:spPr>
          <a:xfrm>
            <a:off x="5212080" y="2441448"/>
            <a:ext cx="2075688" cy="119786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450" b="0">
                <a:solidFill>
                  <a:srgbClr val="C00000"/>
                </a:solidFill>
                <a:latin typeface="Malgun Gothic"/>
                <a:ea typeface="Malgun Gothic"/>
                <a:cs typeface="Malgun Gothic"/>
              </a:rPr>
              <a:t>개선지표 (Project Y)</a:t>
            </a:r>
          </a:p>
          <a:p>
            <a:pPr algn="l">
              <a:lnSpc>
                <a:spcPct val="108000"/>
              </a:lnSpc>
              <a:spcBef>
                <a:spcPts val="0"/>
              </a:spcBef>
              <a:spcAft>
                <a:spcPts val="200"/>
              </a:spcAft>
            </a:pPr>
            <a:r>
              <a:rPr sz="1450" b="0">
                <a:solidFill>
                  <a:srgbClr val="C00000"/>
                </a:solidFill>
                <a:latin typeface="Malgun Gothic"/>
                <a:ea typeface="Malgun Gothic"/>
                <a:cs typeface="Malgun Gothic"/>
              </a:rPr>
              <a:t>기준 운전조건 63개의</a:t>
            </a:r>
          </a:p>
          <a:p>
            <a:pPr algn="l">
              <a:lnSpc>
                <a:spcPct val="108000"/>
              </a:lnSpc>
              <a:spcBef>
                <a:spcPts val="0"/>
              </a:spcBef>
              <a:spcAft>
                <a:spcPts val="200"/>
              </a:spcAft>
            </a:pPr>
            <a:r>
              <a:rPr sz="1450" b="0">
                <a:solidFill>
                  <a:srgbClr val="C00000"/>
                </a:solidFill>
                <a:latin typeface="Malgun Gothic"/>
                <a:ea typeface="Malgun Gothic"/>
                <a:cs typeface="Malgun Gothic"/>
              </a:rPr>
              <a:t>THD 설계기준 만족률</a:t>
            </a:r>
          </a:p>
        </p:txBody>
      </p:sp>
      <p:cxnSp>
        <p:nvCxnSpPr>
          <p:cNvPr id="25" name="Connector 24"/>
          <p:cNvCxnSpPr/>
          <p:nvPr/>
        </p:nvCxnSpPr>
        <p:spPr>
          <a:xfrm>
            <a:off x="7388352" y="3035808"/>
            <a:ext cx="182879" cy="0"/>
          </a:xfrm>
          <a:prstGeom prst="line">
            <a:avLst/>
          </a:prstGeom>
          <a:ln w="12700">
            <a:solidFill>
              <a:srgbClr val="757575"/>
            </a:solidFill>
            <a:tailEnd type="triangle" w="sm" len="sm"/>
          </a:ln>
          <a:effectLst/>
        </p:spPr>
      </p:cxnSp>
      <p:sp>
        <p:nvSpPr>
          <p:cNvPr id="26" name="Rectangle 25"/>
          <p:cNvSpPr/>
          <p:nvPr/>
        </p:nvSpPr>
        <p:spPr>
          <a:xfrm>
            <a:off x="7589520" y="2377440"/>
            <a:ext cx="1874519" cy="1325880"/>
          </a:xfrm>
          <a:prstGeom prst="rect">
            <a:avLst/>
          </a:prstGeom>
          <a:solidFill>
            <a:srgbClr val="FFFFFF"/>
          </a:solidFill>
          <a:ln w="8255">
            <a:solidFill>
              <a:srgbClr val="B8B8B8"/>
            </a:solidFill>
          </a:ln>
          <a:effectLst/>
        </p:spPr>
        <p:txBody>
          <a:bodyPr rtlCol="0" anchor="ctr"/>
          <a:lstStyle/>
          <a:p>
            <a:pPr algn="ctr"/>
          </a:p>
        </p:txBody>
      </p:sp>
      <p:sp>
        <p:nvSpPr>
          <p:cNvPr id="27" name="TextBox 26"/>
          <p:cNvSpPr txBox="1"/>
          <p:nvPr/>
        </p:nvSpPr>
        <p:spPr>
          <a:xfrm>
            <a:off x="7671816" y="2441448"/>
            <a:ext cx="1709928" cy="119786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450" b="0">
                <a:solidFill>
                  <a:srgbClr val="000000"/>
                </a:solidFill>
                <a:latin typeface="Malgun Gothic"/>
                <a:ea typeface="Malgun Gothic"/>
                <a:cs typeface="Malgun Gothic"/>
              </a:rPr>
              <a:t>조정 인자 (X)</a:t>
            </a:r>
          </a:p>
          <a:p>
            <a:pPr algn="l">
              <a:lnSpc>
                <a:spcPct val="108000"/>
              </a:lnSpc>
              <a:spcBef>
                <a:spcPts val="0"/>
              </a:spcBef>
              <a:spcAft>
                <a:spcPts val="200"/>
              </a:spcAft>
            </a:pPr>
            <a:r>
              <a:rPr sz="1450" b="0">
                <a:solidFill>
                  <a:srgbClr val="000000"/>
                </a:solidFill>
                <a:latin typeface="Malgun Gothic"/>
                <a:ea typeface="Malgun Gothic"/>
                <a:cs typeface="Malgun Gothic"/>
              </a:rPr>
              <a:t>공진 이득</a:t>
            </a:r>
          </a:p>
          <a:p>
            <a:pPr algn="l">
              <a:lnSpc>
                <a:spcPct val="108000"/>
              </a:lnSpc>
              <a:spcBef>
                <a:spcPts val="0"/>
              </a:spcBef>
              <a:spcAft>
                <a:spcPts val="200"/>
              </a:spcAft>
            </a:pPr>
            <a:r>
              <a:rPr sz="1450" b="0">
                <a:solidFill>
                  <a:srgbClr val="000000"/>
                </a:solidFill>
                <a:latin typeface="Malgun Gothic"/>
                <a:ea typeface="Malgun Gothic"/>
                <a:cs typeface="Malgun Gothic"/>
              </a:rPr>
              <a:t>대역·차수 조합</a:t>
            </a:r>
          </a:p>
        </p:txBody>
      </p:sp>
      <p:sp>
        <p:nvSpPr>
          <p:cNvPr id="28" name="Rectangle 27"/>
          <p:cNvSpPr/>
          <p:nvPr/>
        </p:nvSpPr>
        <p:spPr>
          <a:xfrm>
            <a:off x="411480" y="4206240"/>
            <a:ext cx="9052560" cy="960120"/>
          </a:xfrm>
          <a:prstGeom prst="rect">
            <a:avLst/>
          </a:prstGeom>
          <a:solidFill>
            <a:srgbClr val="FFFFFF"/>
          </a:solidFill>
          <a:ln w="8255">
            <a:solidFill>
              <a:srgbClr val="B8B8B8"/>
            </a:solidFill>
          </a:ln>
          <a:effectLst/>
        </p:spPr>
        <p:txBody>
          <a:bodyPr rtlCol="0" anchor="ctr"/>
          <a:lstStyle/>
          <a:p>
            <a:pPr algn="ctr"/>
          </a:p>
        </p:txBody>
      </p:sp>
      <p:sp>
        <p:nvSpPr>
          <p:cNvPr id="29" name="TextBox 28"/>
          <p:cNvSpPr txBox="1"/>
          <p:nvPr/>
        </p:nvSpPr>
        <p:spPr>
          <a:xfrm>
            <a:off x="493776" y="4270248"/>
            <a:ext cx="8887968" cy="83210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300" b="0">
                <a:solidFill>
                  <a:srgbClr val="000000"/>
                </a:solidFill>
                <a:latin typeface="Malgun Gothic"/>
                <a:ea typeface="Malgun Gothic"/>
                <a:cs typeface="Malgun Gothic"/>
              </a:rPr>
              <a:t>본 과제에서 확인하는 것</a:t>
            </a:r>
          </a:p>
          <a:p>
            <a:pPr algn="l">
              <a:lnSpc>
                <a:spcPct val="108000"/>
              </a:lnSpc>
              <a:spcBef>
                <a:spcPts val="0"/>
              </a:spcBef>
              <a:spcAft>
                <a:spcPts val="200"/>
              </a:spcAft>
            </a:pPr>
            <a:r>
              <a:rPr sz="1300" b="0">
                <a:solidFill>
                  <a:srgbClr val="000000"/>
                </a:solidFill>
                <a:latin typeface="Malgun Gothic"/>
                <a:ea typeface="Malgun Gothic"/>
                <a:cs typeface="Malgun Gothic"/>
              </a:rPr>
              <a:t>참조 수치모델의 개선 폭, 제어 조합별 차이, 선정 미사용 조건과 변동조건의 만족 여부를 확인함.</a:t>
            </a:r>
          </a:p>
        </p:txBody>
      </p:sp>
      <p:sp>
        <p:nvSpPr>
          <p:cNvPr id="30" name="TextBox 29"/>
          <p:cNvSpPr txBox="1"/>
          <p:nvPr/>
        </p:nvSpPr>
        <p:spPr>
          <a:xfrm>
            <a:off x="411480" y="5532120"/>
            <a:ext cx="9052560" cy="402336"/>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50" b="0">
                <a:solidFill>
                  <a:srgbClr val="000000"/>
                </a:solidFill>
                <a:latin typeface="Malgun Gothic"/>
                <a:ea typeface="Malgun Gothic"/>
                <a:cs typeface="Malgun Gothic"/>
              </a:rPr>
              <a:t>실제 제품 규격 만족, 고객 인증 및 BB 승인은 수치해석 결과와 구분함.</a:t>
            </a:r>
          </a:p>
        </p:txBody>
      </p:sp>
      <p:cxnSp>
        <p:nvCxnSpPr>
          <p:cNvPr id="31" name="Connector 30"/>
          <p:cNvCxnSpPr/>
          <p:nvPr/>
        </p:nvCxnSpPr>
        <p:spPr>
          <a:xfrm>
            <a:off x="365760" y="6428232"/>
            <a:ext cx="9189720" cy="0"/>
          </a:xfrm>
          <a:prstGeom prst="line">
            <a:avLst/>
          </a:prstGeom>
          <a:ln w="5715">
            <a:solidFill>
              <a:srgbClr val="000000"/>
            </a:solidFill>
          </a:ln>
          <a:effectLst/>
        </p:spPr>
      </p:cxnSp>
      <p:sp>
        <p:nvSpPr>
          <p:cNvPr id="32" name="TextBox 31"/>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docs/00_protocol.md; study_config.json. Y-y 전개 형식은 기존 11개 보고서 참조.</a:t>
            </a:r>
          </a:p>
        </p:txBody>
      </p:sp>
      <p:sp>
        <p:nvSpPr>
          <p:cNvPr id="33" name="TextBox 32"/>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6/58</a:t>
            </a:r>
          </a:p>
        </p:txBody>
      </p:sp>
      <p:sp>
        <p:nvSpPr>
          <p:cNvPr id="34" name="TextBox 33">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35" name="TextBox 34">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개선지표와 THD 판정</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THD는 전류 왜곡 지표, Project Y는 지정 조건의 기준 만족률임</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THD는 2~40차 전류 성분으로 계산함. 목표는 기준 운전조건 63개 중 60개 이상에서 THD≤5%를 만족하는 것임.</a:t>
            </a:r>
          </a:p>
        </p:txBody>
      </p:sp>
      <p:sp>
        <p:nvSpPr>
          <p:cNvPr id="17" name="Rectangle 16"/>
          <p:cNvSpPr/>
          <p:nvPr/>
        </p:nvSpPr>
        <p:spPr>
          <a:xfrm>
            <a:off x="411480" y="1984248"/>
            <a:ext cx="9052560" cy="548640"/>
          </a:xfrm>
          <a:prstGeom prst="rect">
            <a:avLst/>
          </a:prstGeom>
          <a:solidFill>
            <a:srgbClr val="FFFFFF"/>
          </a:solidFill>
          <a:ln w="8255">
            <a:solidFill>
              <a:srgbClr val="B8B8B8"/>
            </a:solidFill>
          </a:ln>
          <a:effectLst/>
        </p:spPr>
        <p:txBody>
          <a:bodyPr rtlCol="0" anchor="ctr"/>
          <a:lstStyle/>
          <a:p>
            <a:pPr algn="ctr"/>
          </a:p>
        </p:txBody>
      </p:sp>
      <p:sp>
        <p:nvSpPr>
          <p:cNvPr id="18" name="TextBox 17"/>
          <p:cNvSpPr txBox="1"/>
          <p:nvPr/>
        </p:nvSpPr>
        <p:spPr>
          <a:xfrm>
            <a:off x="493776" y="2048255"/>
            <a:ext cx="8887968" cy="420623"/>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2000" b="0">
                <a:solidFill>
                  <a:srgbClr val="000000"/>
                </a:solidFill>
                <a:latin typeface="Malgun Gothic"/>
                <a:ea typeface="Malgun Gothic"/>
                <a:cs typeface="Malgun Gothic"/>
              </a:rPr>
              <a:t>THD [%] = 100 × √(I₂² + I₃² + ··· + I₄₀²) / I₁</a:t>
            </a:r>
          </a:p>
        </p:txBody>
      </p:sp>
      <p:graphicFrame>
        <p:nvGraphicFramePr>
          <p:cNvPr id="19" name="Table 18"/>
          <p:cNvGraphicFramePr>
            <a:graphicFrameLocks noGrp="1"/>
          </p:cNvGraphicFramePr>
          <p:nvPr/>
        </p:nvGraphicFramePr>
        <p:xfrm>
          <a:off x="411480" y="2734056"/>
          <a:ext cx="9052559" cy="2697480"/>
        </p:xfrm>
        <a:graphic>
          <a:graphicData uri="http://schemas.openxmlformats.org/drawingml/2006/table">
            <a:tbl>
              <a:tblPr firstRow="1" bandRow="1">
                <a:tableStyleId>{5C22544A-7EE6-4342-B048-85BDC9FD1C3A}</a:tableStyleId>
              </a:tblPr>
              <a:tblGrid>
                <a:gridCol w="2444191"/>
                <a:gridCol w="6608368"/>
              </a:tblGrid>
              <a:tr h="449580">
                <a:tc>
                  <a:txBody>
                    <a:bodyPr/>
                    <a:lstStyle/>
                    <a:p>
                      <a:pPr algn="ctr">
                        <a:lnSpc>
                          <a:spcPct val="105000"/>
                        </a:lnSpc>
                        <a:spcBef>
                          <a:spcPts val="0"/>
                        </a:spcBef>
                        <a:spcAft>
                          <a:spcPts val="100"/>
                        </a:spcAft>
                      </a:pPr>
                      <a:r>
                        <a:rPr sz="1230" b="1">
                          <a:solidFill>
                            <a:srgbClr val="000000"/>
                          </a:solidFill>
                          <a:latin typeface="Malgun Gothic"/>
                          <a:ea typeface="Malgun Gothic"/>
                          <a:cs typeface="Malgun Gothic"/>
                        </a:rPr>
                        <a:t>기호 / 값</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30" b="1">
                          <a:solidFill>
                            <a:srgbClr val="000000"/>
                          </a:solidFill>
                          <a:latin typeface="Malgun Gothic"/>
                          <a:ea typeface="Malgun Gothic"/>
                          <a:cs typeface="Malgun Gothic"/>
                        </a:rPr>
                        <a:t>정의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49580">
                <a:tc>
                  <a:txBody>
                    <a:bodyPr/>
                    <a:lstStyle/>
                    <a:p>
                      <a:pPr algn="l">
                        <a:lnSpc>
                          <a:spcPct val="105000"/>
                        </a:lnSpc>
                        <a:spcBef>
                          <a:spcPts val="0"/>
                        </a:spcBef>
                        <a:spcAft>
                          <a:spcPts val="100"/>
                        </a:spcAft>
                      </a:pPr>
                      <a:r>
                        <a:rPr sz="1230" b="0">
                          <a:solidFill>
                            <a:srgbClr val="000000"/>
                          </a:solidFill>
                          <a:latin typeface="Malgun Gothic"/>
                          <a:ea typeface="Malgun Gothic"/>
                          <a:cs typeface="Malgun Gothic"/>
                        </a:rPr>
                        <a:t>I₁, Iₕ [Arms]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30" b="0">
                          <a:solidFill>
                            <a:srgbClr val="000000"/>
                          </a:solidFill>
                          <a:latin typeface="Malgun Gothic"/>
                          <a:ea typeface="Malgun Gothic"/>
                          <a:cs typeface="Malgun Gothic"/>
                        </a:rPr>
                        <a:t>50 Hz 기본파 전류와 h차 고조파 전류의 RMS(실효값)</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9580">
                <a:tc>
                  <a:txBody>
                    <a:bodyPr/>
                    <a:lstStyle/>
                    <a:p>
                      <a:pPr algn="l">
                        <a:lnSpc>
                          <a:spcPct val="105000"/>
                        </a:lnSpc>
                        <a:spcBef>
                          <a:spcPts val="0"/>
                        </a:spcBef>
                        <a:spcAft>
                          <a:spcPts val="100"/>
                        </a:spcAft>
                      </a:pPr>
                      <a:r>
                        <a:rPr sz="1230" b="0">
                          <a:solidFill>
                            <a:srgbClr val="000000"/>
                          </a:solidFill>
                          <a:latin typeface="Malgun Gothic"/>
                          <a:ea typeface="Malgun Gothic"/>
                          <a:cs typeface="Malgun Gothic"/>
                        </a:rPr>
                        <a:t>계산 범위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30" b="0">
                          <a:solidFill>
                            <a:srgbClr val="000000"/>
                          </a:solidFill>
                          <a:latin typeface="Malgun Gothic"/>
                          <a:ea typeface="Malgun Gothic"/>
                          <a:cs typeface="Malgun Gothic"/>
                        </a:rPr>
                        <a:t>2~40차 = 100~2,000 Hz. DC 성분 및 40차 초과 성분은 제외함.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9580">
                <a:tc>
                  <a:txBody>
                    <a:bodyPr/>
                    <a:lstStyle/>
                    <a:p>
                      <a:pPr algn="l">
                        <a:lnSpc>
                          <a:spcPct val="105000"/>
                        </a:lnSpc>
                        <a:spcBef>
                          <a:spcPts val="0"/>
                        </a:spcBef>
                        <a:spcAft>
                          <a:spcPts val="100"/>
                        </a:spcAft>
                      </a:pPr>
                      <a:r>
                        <a:rPr sz="1230" b="0">
                          <a:solidFill>
                            <a:srgbClr val="000000"/>
                          </a:solidFill>
                          <a:latin typeface="Malgun Gothic"/>
                          <a:ea typeface="Malgun Gothic"/>
                          <a:cs typeface="Malgun Gothic"/>
                        </a:rPr>
                        <a:t>잠정 설계기준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30" b="0">
                          <a:solidFill>
                            <a:srgbClr val="000000"/>
                          </a:solidFill>
                          <a:latin typeface="Malgun Gothic"/>
                          <a:ea typeface="Malgun Gothic"/>
                          <a:cs typeface="Malgun Gothic"/>
                        </a:rPr>
                        <a:t>THD≤5%. 고객 확정 규격 또는 인증 판정이라는 뜻은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9580">
                <a:tc>
                  <a:txBody>
                    <a:bodyPr/>
                    <a:lstStyle/>
                    <a:p>
                      <a:pPr algn="l">
                        <a:lnSpc>
                          <a:spcPct val="105000"/>
                        </a:lnSpc>
                        <a:spcBef>
                          <a:spcPts val="0"/>
                        </a:spcBef>
                        <a:spcAft>
                          <a:spcPts val="100"/>
                        </a:spcAft>
                      </a:pPr>
                      <a:r>
                        <a:rPr sz="1230" b="0">
                          <a:solidFill>
                            <a:srgbClr val="000000"/>
                          </a:solidFill>
                          <a:latin typeface="Malgun Gothic"/>
                          <a:ea typeface="Malgun Gothic"/>
                          <a:cs typeface="Malgun Gothic"/>
                        </a:rPr>
                        <a:t>Project Y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30" b="0">
                          <a:solidFill>
                            <a:srgbClr val="000000"/>
                          </a:solidFill>
                          <a:latin typeface="Malgun Gothic"/>
                          <a:ea typeface="Malgun Gothic"/>
                          <a:cs typeface="Malgun Gothic"/>
                        </a:rPr>
                        <a:t>100 × (THD 기준 만족 조건 수) / 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9580">
                <a:tc>
                  <a:txBody>
                    <a:bodyPr/>
                    <a:lstStyle/>
                    <a:p>
                      <a:pPr algn="l">
                        <a:lnSpc>
                          <a:spcPct val="105000"/>
                        </a:lnSpc>
                        <a:spcBef>
                          <a:spcPts val="0"/>
                        </a:spcBef>
                        <a:spcAft>
                          <a:spcPts val="100"/>
                        </a:spcAft>
                      </a:pPr>
                      <a:r>
                        <a:rPr sz="1230" b="0">
                          <a:solidFill>
                            <a:srgbClr val="000000"/>
                          </a:solidFill>
                          <a:latin typeface="Malgun Gothic"/>
                          <a:ea typeface="Malgun Gothic"/>
                          <a:cs typeface="Malgun Gothic"/>
                        </a:rPr>
                        <a:t>목표 95% 이상</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30" b="0">
                          <a:solidFill>
                            <a:srgbClr val="000000"/>
                          </a:solidFill>
                          <a:latin typeface="Malgun Gothic"/>
                          <a:ea typeface="Malgun Gothic"/>
                          <a:cs typeface="Malgun Gothic"/>
                        </a:rPr>
                        <a:t>60/63=95.24%이므로 60개 이상 만족 시 목표 달성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20" name="TextBox 19"/>
          <p:cNvSpPr txBox="1"/>
          <p:nvPr/>
        </p:nvSpPr>
        <p:spPr>
          <a:xfrm>
            <a:off x="411480" y="5678424"/>
            <a:ext cx="9052560" cy="402336"/>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60" b="0">
                <a:solidFill>
                  <a:srgbClr val="000000"/>
                </a:solidFill>
                <a:latin typeface="Malgun Gothic"/>
                <a:ea typeface="Malgun Gothic"/>
                <a:cs typeface="Malgun Gothic"/>
              </a:rPr>
              <a:t>만족률 100%는 지정한 63개 조건에서의 결과임. 실제 제품 수율 또는 전체 운전영역 보증으로 환산하지 않음.</a:t>
            </a:r>
          </a:p>
        </p:txBody>
      </p:sp>
      <p:cxnSp>
        <p:nvCxnSpPr>
          <p:cNvPr id="21" name="Connector 20"/>
          <p:cNvCxnSpPr/>
          <p:nvPr/>
        </p:nvCxnSpPr>
        <p:spPr>
          <a:xfrm>
            <a:off x="365760" y="6428232"/>
            <a:ext cx="9189720" cy="0"/>
          </a:xfrm>
          <a:prstGeom prst="line">
            <a:avLst/>
          </a:prstGeom>
          <a:ln w="5715">
            <a:solidFill>
              <a:srgbClr val="000000"/>
            </a:solidFill>
          </a:ln>
          <a:effectLst/>
        </p:spPr>
      </p:cxnSp>
      <p:sp>
        <p:nvSpPr>
          <p:cNvPr id="22" name="TextBox 21"/>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study_config.json guardrails; docs/01_model.md; src/model.py.</a:t>
            </a:r>
          </a:p>
        </p:txBody>
      </p:sp>
      <p:sp>
        <p:nvSpPr>
          <p:cNvPr id="23" name="TextBox 22"/>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7/58</a:t>
            </a:r>
          </a:p>
        </p:txBody>
      </p:sp>
      <p:sp>
        <p:nvSpPr>
          <p:cNvPr id="24" name="TextBox 23">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5" name="TextBox 24">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보조 조건과 종합 판정</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THD 만족과 종합 만족을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종합 만족은 THD 기준과 아래 보조 조건을 모두 만족한 경우임. 제어 개선이 다른 성능을 훼손하는지 함께 확인함.</a:t>
            </a:r>
          </a:p>
        </p:txBody>
      </p:sp>
      <p:graphicFrame>
        <p:nvGraphicFramePr>
          <p:cNvPr id="17" name="Table 16"/>
          <p:cNvGraphicFramePr>
            <a:graphicFrameLocks noGrp="1"/>
          </p:cNvGraphicFramePr>
          <p:nvPr/>
        </p:nvGraphicFramePr>
        <p:xfrm>
          <a:off x="411480" y="1984248"/>
          <a:ext cx="9052560" cy="2788920"/>
        </p:xfrm>
        <a:graphic>
          <a:graphicData uri="http://schemas.openxmlformats.org/drawingml/2006/table">
            <a:tbl>
              <a:tblPr firstRow="1" bandRow="1">
                <a:tableStyleId>{5C22544A-7EE6-4342-B048-85BDC9FD1C3A}</a:tableStyleId>
              </a:tblPr>
              <a:tblGrid>
                <a:gridCol w="2263140"/>
                <a:gridCol w="6789420"/>
              </a:tblGrid>
              <a:tr h="464820">
                <a:tc>
                  <a:txBody>
                    <a:bodyPr/>
                    <a:lstStyle/>
                    <a:p>
                      <a:pPr algn="ctr">
                        <a:lnSpc>
                          <a:spcPct val="105000"/>
                        </a:lnSpc>
                        <a:spcBef>
                          <a:spcPts val="0"/>
                        </a:spcBef>
                        <a:spcAft>
                          <a:spcPts val="100"/>
                        </a:spcAft>
                      </a:pPr>
                      <a:r>
                        <a:rPr sz="1220" b="1">
                          <a:solidFill>
                            <a:srgbClr val="000000"/>
                          </a:solidFill>
                          <a:latin typeface="Malgun Gothic"/>
                          <a:ea typeface="Malgun Gothic"/>
                          <a:cs typeface="Malgun Gothic"/>
                        </a:rPr>
                        <a:t>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1">
                          <a:solidFill>
                            <a:srgbClr val="000000"/>
                          </a:solidFill>
                          <a:latin typeface="Malgun Gothic"/>
                          <a:ea typeface="Malgun Gothic"/>
                          <a:cs typeface="Malgun Gothic"/>
                        </a:rPr>
                        <a:t>정의 / 잠정 판정 기준</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64820">
                <a:tc>
                  <a:txBody>
                    <a:bodyPr/>
                    <a:lstStyle/>
                    <a:p>
                      <a:pPr algn="l">
                        <a:lnSpc>
                          <a:spcPct val="105000"/>
                        </a:lnSpc>
                        <a:spcBef>
                          <a:spcPts val="0"/>
                        </a:spcBef>
                        <a:spcAft>
                          <a:spcPts val="100"/>
                        </a:spcAft>
                      </a:pPr>
                      <a:r>
                        <a:rPr sz="1220" b="0">
                          <a:solidFill>
                            <a:srgbClr val="000000"/>
                          </a:solidFill>
                          <a:latin typeface="Malgun Gothic"/>
                          <a:ea typeface="Malgun Gothic"/>
                          <a:cs typeface="Malgun Gothic"/>
                        </a:rPr>
                        <a:t>P·Q 공통 한계 수치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20" b="0">
                          <a:solidFill>
                            <a:srgbClr val="000000"/>
                          </a:solidFill>
                          <a:latin typeface="Malgun Gothic"/>
                          <a:ea typeface="Malgun Gothic"/>
                          <a:cs typeface="Malgun Gothic"/>
                        </a:rPr>
                        <a:t>a = max(20, 0.02×S*/VA). 예: S*=1,100 VA이면 a=22.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4820">
                <a:tc>
                  <a:txBody>
                    <a:bodyPr/>
                    <a:lstStyle/>
                    <a:p>
                      <a:pPr algn="l">
                        <a:lnSpc>
                          <a:spcPct val="105000"/>
                        </a:lnSpc>
                        <a:spcBef>
                          <a:spcPts val="0"/>
                        </a:spcBef>
                        <a:spcAft>
                          <a:spcPts val="100"/>
                        </a:spcAft>
                      </a:pPr>
                      <a:r>
                        <a:rPr sz="1220" b="0">
                          <a:solidFill>
                            <a:srgbClr val="000000"/>
                          </a:solidFill>
                          <a:latin typeface="Malgun Gothic"/>
                          <a:ea typeface="Malgun Gothic"/>
                          <a:cs typeface="Malgun Gothic"/>
                        </a:rPr>
                        <a:t>P / Q₁ 추종오차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20" b="0">
                          <a:solidFill>
                            <a:srgbClr val="000000"/>
                          </a:solidFill>
                          <a:latin typeface="Malgun Gothic"/>
                          <a:ea typeface="Malgun Gothic"/>
                          <a:cs typeface="Malgun Gothic"/>
                        </a:rPr>
                        <a:t>|P−P*|≤a W, |Q₁−Q*|≤a var. 각 오차를 별도로 판정함.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4820">
                <a:tc>
                  <a:txBody>
                    <a:bodyPr/>
                    <a:lstStyle/>
                    <a:p>
                      <a:pPr algn="l">
                        <a:lnSpc>
                          <a:spcPct val="105000"/>
                        </a:lnSpc>
                        <a:spcBef>
                          <a:spcPts val="0"/>
                        </a:spcBef>
                        <a:spcAft>
                          <a:spcPts val="100"/>
                        </a:spcAft>
                      </a:pPr>
                      <a:r>
                        <a:rPr sz="1220" b="0">
                          <a:solidFill>
                            <a:srgbClr val="000000"/>
                          </a:solidFill>
                          <a:latin typeface="Malgun Gothic"/>
                          <a:ea typeface="Malgun Gothic"/>
                          <a:cs typeface="Malgun Gothic"/>
                        </a:rPr>
                        <a:t>전류 피크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20" b="0">
                          <a:solidFill>
                            <a:srgbClr val="000000"/>
                          </a:solidFill>
                          <a:latin typeface="Malgun Gothic"/>
                          <a:ea typeface="Malgun Gothic"/>
                          <a:cs typeface="Malgun Gothic"/>
                        </a:rPr>
                        <a:t>평가 구간의 |i|max &lt; 50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4820">
                <a:tc>
                  <a:txBody>
                    <a:bodyPr/>
                    <a:lstStyle/>
                    <a:p>
                      <a:pPr algn="l">
                        <a:lnSpc>
                          <a:spcPct val="105000"/>
                        </a:lnSpc>
                        <a:spcBef>
                          <a:spcPts val="0"/>
                        </a:spcBef>
                        <a:spcAft>
                          <a:spcPts val="100"/>
                        </a:spcAft>
                      </a:pPr>
                      <a:r>
                        <a:rPr sz="1220" b="0">
                          <a:solidFill>
                            <a:srgbClr val="000000"/>
                          </a:solidFill>
                          <a:latin typeface="Malgun Gothic"/>
                          <a:ea typeface="Malgun Gothic"/>
                          <a:cs typeface="Malgun Gothic"/>
                        </a:rPr>
                        <a:t>포화 시간비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20" b="0">
                          <a:solidFill>
                            <a:srgbClr val="000000"/>
                          </a:solidFill>
                          <a:latin typeface="Malgun Gothic"/>
                          <a:ea typeface="Malgun Gothic"/>
                          <a:cs typeface="Malgun Gothic"/>
                        </a:rPr>
                        <a:t>제한 전 전압 명령이 ±0.95Vdc를 초과한 시간 표본 비율 &lt; 0.1%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4820">
                <a:tc>
                  <a:txBody>
                    <a:bodyPr/>
                    <a:lstStyle/>
                    <a:p>
                      <a:pPr algn="l">
                        <a:lnSpc>
                          <a:spcPct val="105000"/>
                        </a:lnSpc>
                        <a:spcBef>
                          <a:spcPts val="0"/>
                        </a:spcBef>
                        <a:spcAft>
                          <a:spcPts val="100"/>
                        </a:spcAft>
                      </a:pPr>
                      <a:r>
                        <a:rPr sz="1220" b="0">
                          <a:solidFill>
                            <a:srgbClr val="000000"/>
                          </a:solidFill>
                          <a:latin typeface="Malgun Gothic"/>
                          <a:ea typeface="Malgun Gothic"/>
                          <a:cs typeface="Malgun Gothic"/>
                        </a:rPr>
                        <a:t>주기성 오차 eper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20" b="0">
                          <a:solidFill>
                            <a:srgbClr val="000000"/>
                          </a:solidFill>
                          <a:latin typeface="Malgun Gothic"/>
                          <a:ea typeface="Malgun Gothic"/>
                          <a:cs typeface="Malgun Gothic"/>
                        </a:rPr>
                        <a:t>연속 두 주기의 전류 파형 차이 RMS &lt; max(0.005 A, 0.001I₁)</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411480" y="5010912"/>
            <a:ext cx="9052560" cy="1005840"/>
          </a:xfrm>
          <a:prstGeom prst="rect">
            <a:avLst/>
          </a:prstGeom>
          <a:solidFill>
            <a:srgbClr val="FFFFFF"/>
          </a:solidFill>
          <a:ln w="8255">
            <a:solidFill>
              <a:srgbClr val="B8B8B8"/>
            </a:solidFill>
          </a:ln>
          <a:effectLst/>
        </p:spPr>
        <p:txBody>
          <a:bodyPr rtlCol="0" anchor="ctr"/>
          <a:lstStyle/>
          <a:p>
            <a:pPr algn="ctr"/>
          </a:p>
        </p:txBody>
      </p:sp>
      <p:sp>
        <p:nvSpPr>
          <p:cNvPr id="19" name="TextBox 18"/>
          <p:cNvSpPr txBox="1"/>
          <p:nvPr/>
        </p:nvSpPr>
        <p:spPr>
          <a:xfrm>
            <a:off x="493776" y="5074920"/>
            <a:ext cx="8887968" cy="87782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300" b="0">
                <a:solidFill>
                  <a:srgbClr val="000000"/>
                </a:solidFill>
                <a:latin typeface="Malgun Gothic"/>
                <a:ea typeface="Malgun Gothic"/>
                <a:cs typeface="Malgun Gothic"/>
              </a:rPr>
              <a:t>주기성 오차의 정확한 뜻</a:t>
            </a:r>
          </a:p>
          <a:p>
            <a:pPr algn="l">
              <a:lnSpc>
                <a:spcPct val="108000"/>
              </a:lnSpc>
              <a:spcBef>
                <a:spcPts val="0"/>
              </a:spcBef>
              <a:spcAft>
                <a:spcPts val="200"/>
              </a:spcAft>
            </a:pPr>
            <a:r>
              <a:rPr sz="1300" b="0">
                <a:solidFill>
                  <a:srgbClr val="000000"/>
                </a:solidFill>
                <a:latin typeface="Malgun Gothic"/>
                <a:ea typeface="Malgun Gothic"/>
                <a:cs typeface="Malgun Gothic"/>
              </a:rPr>
              <a:t>eper = RMS( i마지막주기[k] − i직전주기[k] )</a:t>
            </a:r>
          </a:p>
          <a:p>
            <a:pPr algn="l">
              <a:lnSpc>
                <a:spcPct val="108000"/>
              </a:lnSpc>
              <a:spcBef>
                <a:spcPts val="0"/>
              </a:spcBef>
              <a:spcAft>
                <a:spcPts val="200"/>
              </a:spcAft>
            </a:pPr>
            <a:r>
              <a:rPr sz="1300" b="0">
                <a:solidFill>
                  <a:srgbClr val="000000"/>
                </a:solidFill>
                <a:latin typeface="Malgun Gothic"/>
                <a:ea typeface="Malgun Gothic"/>
                <a:cs typeface="Malgun Gothic"/>
              </a:rPr>
              <a:t>각 주기의 RMS 값끼리 빼는 것이 아니라, 같은 위상의 파형 값을 먼저 뺀 후 RMS를 계산함.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src/model.py metrics(); study_config.json의 guardrails. 판정 코드는 변경하지 않음.</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8/58</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초기 성능 기준 선정</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공개 실측자료를 활용한 기준점 선정</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OBC용 PFC의 저부하 실측값 7.30%를 초기 성능의 기준점으로 선정함. 해당 값은 조건이 명시된 단일 시험점이며 업계 평균은 아님.</a:t>
            </a:r>
          </a:p>
        </p:txBody>
      </p:sp>
      <p:graphicFrame>
        <p:nvGraphicFramePr>
          <p:cNvPr id="17" name="Table 16"/>
          <p:cNvGraphicFramePr>
            <a:graphicFrameLocks noGrp="1"/>
          </p:cNvGraphicFramePr>
          <p:nvPr/>
        </p:nvGraphicFramePr>
        <p:xfrm>
          <a:off x="411480" y="2029968"/>
          <a:ext cx="9052559" cy="2167125"/>
        </p:xfrm>
        <a:graphic>
          <a:graphicData uri="http://schemas.openxmlformats.org/drawingml/2006/table">
            <a:tbl>
              <a:tblPr firstRow="1" bandRow="1">
                <a:tableStyleId>{5C22544A-7EE6-4342-B048-85BDC9FD1C3A}</a:tableStyleId>
              </a:tblPr>
              <a:tblGrid>
                <a:gridCol w="2896819"/>
                <a:gridCol w="1810512"/>
                <a:gridCol w="1810512"/>
                <a:gridCol w="2534716"/>
              </a:tblGrid>
              <a:tr h="433425">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TIDA-01604 · Table 7</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출력 전력 [W]</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전류 THD [%]</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사용 구분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334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약 10% 부하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0">
                          <a:solidFill>
                            <a:srgbClr val="000000"/>
                          </a:solidFill>
                          <a:latin typeface="Malgun Gothic"/>
                          <a:ea typeface="Malgun Gothic"/>
                          <a:cs typeface="Malgun Gothic"/>
                        </a:rPr>
                        <a:t>666.53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0">
                          <a:solidFill>
                            <a:srgbClr val="000000"/>
                          </a:solidFill>
                          <a:latin typeface="Malgun Gothic"/>
                          <a:ea typeface="Malgun Gothic"/>
                          <a:cs typeface="Malgun Gothic"/>
                        </a:rPr>
                        <a:t>12.39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보정 제외 비교점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3425">
                <a:tc>
                  <a:txBody>
                    <a:bodyPr/>
                    <a:lstStyle/>
                    <a:p>
                      <a:pPr algn="l">
                        <a:lnSpc>
                          <a:spcPct val="105000"/>
                        </a:lnSpc>
                        <a:spcBef>
                          <a:spcPts val="0"/>
                        </a:spcBef>
                        <a:spcAft>
                          <a:spcPts val="100"/>
                        </a:spcAft>
                      </a:pPr>
                      <a:r>
                        <a:rPr sz="1200" b="0">
                          <a:solidFill>
                            <a:srgbClr val="008000"/>
                          </a:solidFill>
                          <a:latin typeface="Malgun Gothic"/>
                          <a:ea typeface="Malgun Gothic"/>
                          <a:cs typeface="Malgun Gothic"/>
                        </a:rPr>
                        <a:t>약 14% 부하</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0">
                          <a:solidFill>
                            <a:srgbClr val="008000"/>
                          </a:solidFill>
                          <a:latin typeface="Malgun Gothic"/>
                          <a:ea typeface="Malgun Gothic"/>
                          <a:cs typeface="Malgun Gothic"/>
                        </a:rPr>
                        <a:t>897.60</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0">
                          <a:solidFill>
                            <a:srgbClr val="008000"/>
                          </a:solidFill>
                          <a:latin typeface="Malgun Gothic"/>
                          <a:ea typeface="Malgun Gothic"/>
                          <a:cs typeface="Malgun Gothic"/>
                        </a:rPr>
                        <a:t>7.30</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8000"/>
                          </a:solidFill>
                          <a:latin typeface="Malgun Gothic"/>
                          <a:ea typeface="Malgun Gothic"/>
                          <a:cs typeface="Malgun Gothic"/>
                        </a:rPr>
                        <a:t>단일 기준점</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r>
              <a:tr h="4334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약 18% 부하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0">
                          <a:solidFill>
                            <a:srgbClr val="000000"/>
                          </a:solidFill>
                          <a:latin typeface="Malgun Gothic"/>
                          <a:ea typeface="Malgun Gothic"/>
                          <a:cs typeface="Malgun Gothic"/>
                        </a:rPr>
                        <a:t>1,201.26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0">
                          <a:solidFill>
                            <a:srgbClr val="000000"/>
                          </a:solidFill>
                          <a:latin typeface="Malgun Gothic"/>
                          <a:ea typeface="Malgun Gothic"/>
                          <a:cs typeface="Malgun Gothic"/>
                        </a:rPr>
                        <a:t>4.06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보정 제외 비교점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3425">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정격 영역</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0">
                          <a:solidFill>
                            <a:srgbClr val="000000"/>
                          </a:solidFill>
                          <a:latin typeface="Malgun Gothic"/>
                          <a:ea typeface="Malgun Gothic"/>
                          <a:cs typeface="Malgun Gothic"/>
                        </a:rPr>
                        <a:t>6,601.00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0">
                          <a:solidFill>
                            <a:srgbClr val="000000"/>
                          </a:solidFill>
                          <a:latin typeface="Malgun Gothic"/>
                          <a:ea typeface="Malgun Gothic"/>
                          <a:cs typeface="Malgun Gothic"/>
                        </a:rPr>
                        <a:t>1.59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보정 제외 비교점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457200" y="4407408"/>
            <a:ext cx="4389120" cy="1371600"/>
          </a:xfrm>
          <a:prstGeom prst="rect">
            <a:avLst/>
          </a:prstGeom>
          <a:solidFill>
            <a:srgbClr val="FFFFFF"/>
          </a:solidFill>
          <a:ln w="8255">
            <a:solidFill>
              <a:srgbClr val="B8B8B8"/>
            </a:solidFill>
          </a:ln>
          <a:effectLst/>
        </p:spPr>
        <p:txBody>
          <a:bodyPr rtlCol="0" anchor="ctr"/>
          <a:lstStyle/>
          <a:p>
            <a:pPr algn="ctr"/>
          </a:p>
        </p:txBody>
      </p:sp>
      <p:sp>
        <p:nvSpPr>
          <p:cNvPr id="19" name="TextBox 18"/>
          <p:cNvSpPr txBox="1"/>
          <p:nvPr/>
        </p:nvSpPr>
        <p:spPr>
          <a:xfrm>
            <a:off x="539496" y="4471416"/>
            <a:ext cx="4224528" cy="124358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30" b="0">
                <a:solidFill>
                  <a:srgbClr val="000000"/>
                </a:solidFill>
                <a:latin typeface="Malgun Gothic"/>
                <a:ea typeface="Malgun Gothic"/>
                <a:cs typeface="Malgun Gothic"/>
              </a:rPr>
              <a:t>기준값의 조건</a:t>
            </a:r>
          </a:p>
          <a:p>
            <a:pPr algn="l">
              <a:lnSpc>
                <a:spcPct val="108000"/>
              </a:lnSpc>
              <a:spcBef>
                <a:spcPts val="0"/>
              </a:spcBef>
              <a:spcAft>
                <a:spcPts val="200"/>
              </a:spcAft>
            </a:pPr>
            <a:r>
              <a:rPr sz="1230" b="0">
                <a:solidFill>
                  <a:srgbClr val="000000"/>
                </a:solidFill>
                <a:latin typeface="Malgun Gothic"/>
                <a:ea typeface="Malgun Gothic"/>
                <a:cs typeface="Malgun Gothic"/>
              </a:rPr>
              <a:t>Vac=240.1 Vrms, Vdc=399.891 V</a:t>
            </a:r>
          </a:p>
          <a:p>
            <a:pPr algn="l">
              <a:lnSpc>
                <a:spcPct val="108000"/>
              </a:lnSpc>
              <a:spcBef>
                <a:spcPts val="0"/>
              </a:spcBef>
              <a:spcAft>
                <a:spcPts val="200"/>
              </a:spcAft>
            </a:pPr>
            <a:r>
              <a:rPr sz="1230" b="0">
                <a:solidFill>
                  <a:srgbClr val="000000"/>
                </a:solidFill>
                <a:latin typeface="Malgun Gothic"/>
                <a:ea typeface="Malgun Gothic"/>
                <a:cs typeface="Malgun Gothic"/>
              </a:rPr>
              <a:t>Pin=911.72 W, Pout=897.60 W</a:t>
            </a:r>
          </a:p>
          <a:p>
            <a:pPr algn="l">
              <a:lnSpc>
                <a:spcPct val="108000"/>
              </a:lnSpc>
              <a:spcBef>
                <a:spcPts val="0"/>
              </a:spcBef>
              <a:spcAft>
                <a:spcPts val="200"/>
              </a:spcAft>
            </a:pPr>
            <a:r>
              <a:rPr sz="1230" b="0">
                <a:solidFill>
                  <a:srgbClr val="000000"/>
                </a:solidFill>
                <a:latin typeface="Malgun Gothic"/>
                <a:ea typeface="Malgun Gothic"/>
                <a:cs typeface="Malgun Gothic"/>
              </a:rPr>
              <a:t>PFC 입력 방향 / 일부 상 정지 기능 미사용</a:t>
            </a:r>
          </a:p>
        </p:txBody>
      </p:sp>
      <p:sp>
        <p:nvSpPr>
          <p:cNvPr id="20" name="Rectangle 19"/>
          <p:cNvSpPr/>
          <p:nvPr/>
        </p:nvSpPr>
        <p:spPr>
          <a:xfrm>
            <a:off x="5047488" y="4407408"/>
            <a:ext cx="4389120" cy="1371600"/>
          </a:xfrm>
          <a:prstGeom prst="rect">
            <a:avLst/>
          </a:prstGeom>
          <a:solidFill>
            <a:srgbClr val="FFFFFF"/>
          </a:solidFill>
          <a:ln w="8255">
            <a:solidFill>
              <a:srgbClr val="B8B8B8"/>
            </a:solidFill>
          </a:ln>
          <a:effectLst/>
        </p:spPr>
        <p:txBody>
          <a:bodyPr rtlCol="0" anchor="ctr"/>
          <a:lstStyle/>
          <a:p>
            <a:pPr algn="ctr"/>
          </a:p>
        </p:txBody>
      </p:sp>
      <p:sp>
        <p:nvSpPr>
          <p:cNvPr id="21" name="TextBox 20"/>
          <p:cNvSpPr txBox="1"/>
          <p:nvPr/>
        </p:nvSpPr>
        <p:spPr>
          <a:xfrm>
            <a:off x="5129783" y="4471416"/>
            <a:ext cx="4224528" cy="124358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30" b="0">
                <a:solidFill>
                  <a:srgbClr val="000000"/>
                </a:solidFill>
                <a:latin typeface="Malgun Gothic"/>
                <a:ea typeface="Malgun Gothic"/>
                <a:cs typeface="Malgun Gothic"/>
              </a:rPr>
              <a:t>적용 한계</a:t>
            </a:r>
          </a:p>
          <a:p>
            <a:pPr algn="l">
              <a:lnSpc>
                <a:spcPct val="108000"/>
              </a:lnSpc>
              <a:spcBef>
                <a:spcPts val="0"/>
              </a:spcBef>
              <a:spcAft>
                <a:spcPts val="200"/>
              </a:spcAft>
            </a:pPr>
            <a:r>
              <a:rPr sz="1230" b="0">
                <a:solidFill>
                  <a:srgbClr val="000000"/>
                </a:solidFill>
                <a:latin typeface="Malgun Gothic"/>
                <a:ea typeface="Malgun Gothic"/>
                <a:cs typeface="Malgun Gothic"/>
              </a:rPr>
              <a:t>TI 회로 및 제어 코드의 재현 모델은 아님. 공개자료의 THD 측정 대역과 본 연구의 2~40차 정의가 동일한지는 미확인 상태임.</a:t>
            </a:r>
          </a:p>
        </p:txBody>
      </p:sp>
      <p:sp>
        <p:nvSpPr>
          <p:cNvPr id="22" name="TextBox 21"/>
          <p:cNvSpPr txBox="1"/>
          <p:nvPr/>
        </p:nvSpPr>
        <p:spPr>
          <a:xfrm>
            <a:off x="411480" y="5989320"/>
            <a:ext cx="9052560" cy="2743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공개자료 확인일: 2026.09.23 (V2 기록). 보정 제외 17개 운전조건의 차이는 부록 A02에 정리함.</a:t>
            </a:r>
          </a:p>
        </p:txBody>
      </p:sp>
      <p:cxnSp>
        <p:nvCxnSpPr>
          <p:cNvPr id="23" name="Connector 22"/>
          <p:cNvCxnSpPr/>
          <p:nvPr/>
        </p:nvCxnSpPr>
        <p:spPr>
          <a:xfrm>
            <a:off x="365760" y="6428232"/>
            <a:ext cx="9189720" cy="0"/>
          </a:xfrm>
          <a:prstGeom prst="line">
            <a:avLst/>
          </a:prstGeom>
          <a:ln w="5715">
            <a:solidFill>
              <a:srgbClr val="000000"/>
            </a:solidFill>
          </a:ln>
          <a:effectLst/>
        </p:spPr>
      </p:cxnSp>
      <p:sp>
        <p:nvSpPr>
          <p:cNvPr id="24" name="TextBox 23"/>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출처: TI TIDUE54B (2020.04), p.60 Table 7; sources/TIDUE54B_table7.csv.</a:t>
            </a:r>
          </a:p>
        </p:txBody>
      </p:sp>
      <p:sp>
        <p:nvSpPr>
          <p:cNvPr id="25" name="TextBox 24"/>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9/58</a:t>
            </a:r>
          </a:p>
        </p:txBody>
      </p:sp>
      <p:sp>
        <p:nvSpPr>
          <p:cNvPr id="26" name="TextBox 25">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7" name="TextBox 26">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운전조건과 변동 범위</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운전조건 변화와 모델 가정 변화를 구분하여 설계함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기준 운전조건은 S*·Vac·φ만 변경함. 변동 검증조건은 부품·전압·오차 가정까지 변경하며 제조 분포를 대표하지 않음.</a:t>
            </a:r>
          </a:p>
        </p:txBody>
      </p:sp>
      <p:graphicFrame>
        <p:nvGraphicFramePr>
          <p:cNvPr id="17" name="Table 16"/>
          <p:cNvGraphicFramePr>
            <a:graphicFrameLocks noGrp="1"/>
          </p:cNvGraphicFramePr>
          <p:nvPr/>
        </p:nvGraphicFramePr>
        <p:xfrm>
          <a:off x="411480" y="1984248"/>
          <a:ext cx="9052559" cy="3200400"/>
        </p:xfrm>
        <a:graphic>
          <a:graphicData uri="http://schemas.openxmlformats.org/drawingml/2006/table">
            <a:tbl>
              <a:tblPr firstRow="1" bandRow="1">
                <a:tableStyleId>{5C22544A-7EE6-4342-B048-85BDC9FD1C3A}</a:tableStyleId>
              </a:tblPr>
              <a:tblGrid>
                <a:gridCol w="1901037"/>
                <a:gridCol w="4888382"/>
                <a:gridCol w="2263140"/>
              </a:tblGrid>
              <a:tr h="640080">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구분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구성 / 고정 내용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평가 목적</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64008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 운전조건 63개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S*=900/1,100/1,400 VA</a:t>
                      </a:r>
                    </a:p>
                    <a:p>
                      <a:pPr algn="l">
                        <a:lnSpc>
                          <a:spcPct val="105000"/>
                        </a:lnSpc>
                        <a:spcBef>
                          <a:spcPts val="0"/>
                        </a:spcBef>
                        <a:spcAft>
                          <a:spcPts val="100"/>
                        </a:spcAft>
                      </a:pPr>
                      <a:r>
                        <a:rPr sz="1200" b="0">
                          <a:solidFill>
                            <a:srgbClr val="000000"/>
                          </a:solidFill>
                          <a:latin typeface="Malgun Gothic"/>
                          <a:ea typeface="Malgun Gothic"/>
                          <a:cs typeface="Malgun Gothic"/>
                        </a:rPr>
                        <a:t>Vac=207/230/253 Vrms, φ=−90~90°의 7수준</a:t>
                      </a:r>
                    </a:p>
                    <a:p>
                      <a:pPr algn="l">
                        <a:lnSpc>
                          <a:spcPct val="105000"/>
                        </a:lnSpc>
                        <a:spcBef>
                          <a:spcPts val="0"/>
                        </a:spcBef>
                        <a:spcAft>
                          <a:spcPts val="100"/>
                        </a:spcAft>
                      </a:pPr>
                      <a:r>
                        <a:rPr sz="1200" b="0">
                          <a:solidFill>
                            <a:srgbClr val="000000"/>
                          </a:solidFill>
                          <a:latin typeface="Malgun Gothic"/>
                          <a:ea typeface="Malgun Gothic"/>
                          <a:cs typeface="Malgun Gothic"/>
                        </a:rPr>
                        <a:t>Vdc=400 V, 부품·오차 가정 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 운전영역의</a:t>
                      </a:r>
                    </a:p>
                    <a:p>
                      <a:pPr algn="l">
                        <a:lnSpc>
                          <a:spcPct val="105000"/>
                        </a:lnSpc>
                        <a:spcBef>
                          <a:spcPts val="0"/>
                        </a:spcBef>
                        <a:spcAft>
                          <a:spcPts val="100"/>
                        </a:spcAft>
                      </a:pPr>
                      <a:r>
                        <a:rPr sz="1200" b="0">
                          <a:solidFill>
                            <a:srgbClr val="000000"/>
                          </a:solidFill>
                          <a:latin typeface="Malgun Gothic"/>
                          <a:ea typeface="Malgun Gothic"/>
                          <a:cs typeface="Malgun Gothic"/>
                        </a:rPr>
                        <a:t>초기·개선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4008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제어 선정용 9개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 63개 중 Vac=230 V, φ=−60/0/60°</a:t>
                      </a:r>
                    </a:p>
                    <a:p>
                      <a:pPr algn="l">
                        <a:lnSpc>
                          <a:spcPct val="105000"/>
                        </a:lnSpc>
                        <a:spcBef>
                          <a:spcPts val="0"/>
                        </a:spcBef>
                        <a:spcAft>
                          <a:spcPts val="100"/>
                        </a:spcAft>
                      </a:pPr>
                      <a:r>
                        <a:rPr sz="1200" b="0">
                          <a:solidFill>
                            <a:srgbClr val="000000"/>
                          </a:solidFill>
                          <a:latin typeface="Malgun Gothic"/>
                          <a:ea typeface="Malgun Gothic"/>
                          <a:cs typeface="Malgun Gothic"/>
                        </a:rPr>
                        <a:t>S* 3수준과 조합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27개 제어 조합의</a:t>
                      </a:r>
                    </a:p>
                    <a:p>
                      <a:pPr algn="l">
                        <a:lnSpc>
                          <a:spcPct val="105000"/>
                        </a:lnSpc>
                        <a:spcBef>
                          <a:spcPts val="0"/>
                        </a:spcBef>
                        <a:spcAft>
                          <a:spcPts val="100"/>
                        </a:spcAft>
                      </a:pPr>
                      <a:r>
                        <a:rPr sz="1200" b="0">
                          <a:solidFill>
                            <a:srgbClr val="000000"/>
                          </a:solidFill>
                          <a:latin typeface="Malgun Gothic"/>
                          <a:ea typeface="Malgun Gothic"/>
                          <a:cs typeface="Malgun Gothic"/>
                        </a:rPr>
                        <a:t>선정에만 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4008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선정 미사용 54개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위 9개를 제외한 기준 운전조건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선정에 사용하지 않은</a:t>
                      </a:r>
                    </a:p>
                    <a:p>
                      <a:pPr algn="l">
                        <a:lnSpc>
                          <a:spcPct val="105000"/>
                        </a:lnSpc>
                        <a:spcBef>
                          <a:spcPts val="0"/>
                        </a:spcBef>
                        <a:spcAft>
                          <a:spcPts val="100"/>
                        </a:spcAft>
                      </a:pPr>
                      <a:r>
                        <a:rPr sz="1200" b="0">
                          <a:solidFill>
                            <a:srgbClr val="000000"/>
                          </a:solidFill>
                          <a:latin typeface="Malgun Gothic"/>
                          <a:ea typeface="Malgun Gothic"/>
                          <a:cs typeface="Malgun Gothic"/>
                        </a:rPr>
                        <a:t>운전조건의 성능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4008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변동 검증조건 60개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입력범위를 나누어 생성한 48개(LHS)</a:t>
                      </a:r>
                    </a:p>
                    <a:p>
                      <a:pPr algn="l">
                        <a:lnSpc>
                          <a:spcPct val="105000"/>
                        </a:lnSpc>
                        <a:spcBef>
                          <a:spcPts val="0"/>
                        </a:spcBef>
                        <a:spcAft>
                          <a:spcPts val="100"/>
                        </a:spcAft>
                      </a:pPr>
                      <a:r>
                        <a:rPr sz="1200" b="0">
                          <a:solidFill>
                            <a:srgbClr val="000000"/>
                          </a:solidFill>
                          <a:latin typeface="Malgun Gothic"/>
                          <a:ea typeface="Malgun Gothic"/>
                          <a:cs typeface="Malgun Gothic"/>
                        </a:rPr>
                        <a:t>+ 낮은 Vdc·높은 Vac 등의 경계값 검증조건 12개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설정 고정 후</a:t>
                      </a:r>
                    </a:p>
                    <a:p>
                      <a:pPr algn="l">
                        <a:lnSpc>
                          <a:spcPct val="105000"/>
                        </a:lnSpc>
                        <a:spcBef>
                          <a:spcPts val="0"/>
                        </a:spcBef>
                        <a:spcAft>
                          <a:spcPts val="100"/>
                        </a:spcAft>
                      </a:pPr>
                      <a:r>
                        <a:rPr sz="1200" b="0">
                          <a:solidFill>
                            <a:srgbClr val="000000"/>
                          </a:solidFill>
                          <a:latin typeface="Malgun Gothic"/>
                          <a:ea typeface="Malgun Gothic"/>
                          <a:cs typeface="Malgun Gothic"/>
                        </a:rPr>
                        <a:t>변동 영향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411480" y="5431536"/>
            <a:ext cx="9052560" cy="640080"/>
          </a:xfrm>
          <a:prstGeom prst="rect">
            <a:avLst/>
          </a:prstGeom>
          <a:solidFill>
            <a:srgbClr val="FFFFFF"/>
          </a:solidFill>
          <a:ln w="8255">
            <a:solidFill>
              <a:srgbClr val="B8B8B8"/>
            </a:solidFill>
          </a:ln>
          <a:effectLst/>
        </p:spPr>
        <p:txBody>
          <a:bodyPr rtlCol="0" anchor="ctr"/>
          <a:lstStyle/>
          <a:p>
            <a:pPr algn="ctr"/>
          </a:p>
        </p:txBody>
      </p:sp>
      <p:sp>
        <p:nvSpPr>
          <p:cNvPr id="19" name="TextBox 18"/>
          <p:cNvSpPr txBox="1"/>
          <p:nvPr/>
        </p:nvSpPr>
        <p:spPr>
          <a:xfrm>
            <a:off x="493776" y="5495544"/>
            <a:ext cx="8887968" cy="512063"/>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170" b="0">
                <a:solidFill>
                  <a:srgbClr val="000000"/>
                </a:solidFill>
                <a:latin typeface="Malgun Gothic"/>
                <a:ea typeface="Malgun Gothic"/>
                <a:cs typeface="Malgun Gothic"/>
              </a:rPr>
              <a:t>운전 지령의 정의</a:t>
            </a:r>
          </a:p>
          <a:p>
            <a:pPr algn="l">
              <a:lnSpc>
                <a:spcPct val="108000"/>
              </a:lnSpc>
              <a:spcBef>
                <a:spcPts val="0"/>
              </a:spcBef>
              <a:spcAft>
                <a:spcPts val="200"/>
              </a:spcAft>
            </a:pPr>
            <a:r>
              <a:rPr sz="1170" b="0">
                <a:solidFill>
                  <a:srgbClr val="000000"/>
                </a:solidFill>
                <a:latin typeface="Malgun Gothic"/>
                <a:ea typeface="Malgun Gothic"/>
                <a:cs typeface="Malgun Gothic"/>
              </a:rPr>
              <a:t>P* = S*·cosφ, Q* = S*·sinφ.  φ&gt;0은 지상, φ&lt;0은 진상전류로 정의함.</a:t>
            </a:r>
          </a:p>
          <a:p>
            <a:pPr algn="l">
              <a:lnSpc>
                <a:spcPct val="108000"/>
              </a:lnSpc>
              <a:spcBef>
                <a:spcPts val="0"/>
              </a:spcBef>
              <a:spcAft>
                <a:spcPts val="200"/>
              </a:spcAft>
            </a:pPr>
            <a:r>
              <a:rPr sz="1170" b="0">
                <a:solidFill>
                  <a:srgbClr val="000000"/>
                </a:solidFill>
                <a:latin typeface="Malgun Gothic"/>
                <a:ea typeface="Malgun Gothic"/>
                <a:cs typeface="Malgun Gothic"/>
              </a:rPr>
              <a:t>변동 검증 60개의 상세 범위와 기준조건 ID는 부록에 수록함.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study_config.json; results/main_cases.csv; selected_control.json; holdout_cases.csv.</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10/58</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1. Define / 단계별 분석 방법</a:t>
            </a:r>
          </a:p>
        </p:txBody>
      </p:sp>
      <p:sp>
        <p:nvSpPr>
          <p:cNvPr id="3" name="Chevron 2"/>
          <p:cNvSpPr/>
          <p:nvPr/>
        </p:nvSpPr>
        <p:spPr>
          <a:xfrm>
            <a:off x="797356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분석 목적과 의사결정의 연결</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분석 도구의 이름보다 ‘확인할 질문→계산 방법→결과 해석→다음 결정’을 연결함. 방법의 상세 계산과 적용 한계는 부록에 수록함.</a:t>
            </a:r>
          </a:p>
        </p:txBody>
      </p:sp>
      <p:graphicFrame>
        <p:nvGraphicFramePr>
          <p:cNvPr id="17" name="Table 16"/>
          <p:cNvGraphicFramePr>
            <a:graphicFrameLocks noGrp="1"/>
          </p:cNvGraphicFramePr>
          <p:nvPr/>
        </p:nvGraphicFramePr>
        <p:xfrm>
          <a:off x="393192" y="1956816"/>
          <a:ext cx="9107422" cy="3977640"/>
        </p:xfrm>
        <a:graphic>
          <a:graphicData uri="http://schemas.openxmlformats.org/drawingml/2006/table">
            <a:tbl>
              <a:tblPr firstRow="1" bandRow="1">
                <a:tableStyleId>{5C22544A-7EE6-4342-B048-85BDC9FD1C3A}</a:tableStyleId>
              </a:tblPr>
              <a:tblGrid>
                <a:gridCol w="867373"/>
                <a:gridCol w="2341909"/>
                <a:gridCol w="2688858"/>
                <a:gridCol w="3209282"/>
              </a:tblGrid>
              <a:tr h="662940">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단계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확인 질문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적용 방법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결과로 결정하는 것</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662940">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Measure</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어느 조건에서 기준을 넘는가?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평균·최대·만족률</a:t>
                      </a:r>
                    </a:p>
                    <a:p>
                      <a:pPr algn="l">
                        <a:lnSpc>
                          <a:spcPct val="105000"/>
                        </a:lnSpc>
                        <a:spcBef>
                          <a:spcPts val="0"/>
                        </a:spcBef>
                        <a:spcAft>
                          <a:spcPts val="100"/>
                        </a:spcAft>
                      </a:pPr>
                      <a:r>
                        <a:rPr sz="1160" b="0">
                          <a:solidFill>
                            <a:srgbClr val="000000"/>
                          </a:solidFill>
                          <a:latin typeface="Malgun Gothic"/>
                          <a:ea typeface="Malgun Gothic"/>
                          <a:cs typeface="Malgun Gothic"/>
                        </a:rPr>
                        <a:t>조건별 구분(층별 분석)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취약 조건 및 비교 범위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62940">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Analyze</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가정한 왜곡 경로가 작동하는가?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오차항 제거 비교</a:t>
                      </a:r>
                    </a:p>
                    <a:p>
                      <a:pPr algn="l">
                        <a:lnSpc>
                          <a:spcPct val="105000"/>
                        </a:lnSpc>
                        <a:spcBef>
                          <a:spcPts val="0"/>
                        </a:spcBef>
                        <a:spcAft>
                          <a:spcPts val="100"/>
                        </a:spcAft>
                      </a:pPr>
                      <a:r>
                        <a:rPr sz="1160" b="0">
                          <a:solidFill>
                            <a:srgbClr val="000000"/>
                          </a:solidFill>
                          <a:latin typeface="Malgun Gothic"/>
                          <a:ea typeface="Malgun Gothic"/>
                          <a:cs typeface="Malgun Gothic"/>
                        </a:rPr>
                        <a:t>차수·위상별 반응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검토할 제어 인자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62940">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Improve</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어떤 제어 조합을 고를 것인가?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모든 27조합 비교(DOE)</a:t>
                      </a:r>
                    </a:p>
                    <a:p>
                      <a:pPr algn="l">
                        <a:lnSpc>
                          <a:spcPct val="105000"/>
                        </a:lnSpc>
                        <a:spcBef>
                          <a:spcPts val="0"/>
                        </a:spcBef>
                        <a:spcAft>
                          <a:spcPts val="100"/>
                        </a:spcAft>
                      </a:pPr>
                      <a:r>
                        <a:rPr sz="1160" b="0">
                          <a:solidFill>
                            <a:srgbClr val="000000"/>
                          </a:solidFill>
                          <a:latin typeface="Malgun Gothic"/>
                          <a:ea typeface="Malgun Gothic"/>
                          <a:cs typeface="Malgun Gothic"/>
                        </a:rPr>
                        <a:t>주효과·교호작용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조건 집합 내 선정 조합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62940">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Improve</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같은 조건에서 좋아졌는가?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초기·개선 짝 비교</a:t>
                      </a:r>
                    </a:p>
                    <a:p>
                      <a:pPr algn="l">
                        <a:lnSpc>
                          <a:spcPct val="105000"/>
                        </a:lnSpc>
                        <a:spcBef>
                          <a:spcPts val="0"/>
                        </a:spcBef>
                        <a:spcAft>
                          <a:spcPts val="100"/>
                        </a:spcAft>
                      </a:pPr>
                      <a:r>
                        <a:rPr sz="1160" b="0">
                          <a:solidFill>
                            <a:srgbClr val="000000"/>
                          </a:solidFill>
                          <a:latin typeface="Malgun Gothic"/>
                          <a:ea typeface="Malgun Gothic"/>
                          <a:cs typeface="Malgun Gothic"/>
                        </a:rPr>
                        <a:t>만족·미달 상태 변화</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개선 폭과 새 부작용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62940">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Control</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변경 후에도 유지되는가?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동일시험 재실행(회귀시험)</a:t>
                      </a:r>
                    </a:p>
                    <a:p>
                      <a:pPr algn="l">
                        <a:lnSpc>
                          <a:spcPct val="105000"/>
                        </a:lnSpc>
                        <a:spcBef>
                          <a:spcPts val="0"/>
                        </a:spcBef>
                        <a:spcAft>
                          <a:spcPts val="100"/>
                        </a:spcAft>
                      </a:pPr>
                      <a:r>
                        <a:rPr sz="1160" b="0">
                          <a:solidFill>
                            <a:srgbClr val="000000"/>
                          </a:solidFill>
                          <a:latin typeface="Malgun Gothic"/>
                          <a:ea typeface="Malgun Gothic"/>
                          <a:cs typeface="Malgun Gothic"/>
                        </a:rPr>
                        <a:t>설정·판정·데이터 관리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재검증 또는 재발행 필요성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393192" y="6080760"/>
            <a:ext cx="9107424" cy="22860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통계검정의 형식을 일괄 적용하지 않고, 결정론적 수치실험의 데이터 구조에 맞추어 분석 방법을 선정함.</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구성 참고: CLLC p.16~19, DC CAP p.9·14 | 분석 계획: V2 study_config.json / V3 설명 보완</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11/58</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데이터 취득 시스템</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수치해석 모델 및 데이터 취득 방법</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평균 AC단 모델과 디지털 제어기를 구성함. 제어주기, 지연 및 전압 제한을 고정하여 개선 전후 동일 조건에서 데이터를 취득함.</a:t>
            </a:r>
          </a:p>
        </p:txBody>
      </p:sp>
      <p:sp>
        <p:nvSpPr>
          <p:cNvPr id="17" name="Rectangle 16"/>
          <p:cNvSpPr/>
          <p:nvPr/>
        </p:nvSpPr>
        <p:spPr>
          <a:xfrm>
            <a:off x="502920" y="2423160"/>
            <a:ext cx="1143000" cy="594360"/>
          </a:xfrm>
          <a:prstGeom prst="rect">
            <a:avLst/>
          </a:prstGeom>
          <a:solidFill>
            <a:srgbClr val="FFFFFF"/>
          </a:solidFill>
          <a:ln w="8255">
            <a:solidFill>
              <a:srgbClr val="B8B8B8"/>
            </a:solidFill>
          </a:ln>
          <a:effectLst/>
        </p:spPr>
        <p:txBody>
          <a:bodyPr rtlCol="0" anchor="ctr"/>
          <a:lstStyle/>
          <a:p>
            <a:pPr algn="ctr"/>
          </a:p>
        </p:txBody>
      </p:sp>
      <p:sp>
        <p:nvSpPr>
          <p:cNvPr id="18" name="TextBox 17"/>
          <p:cNvSpPr txBox="1"/>
          <p:nvPr/>
        </p:nvSpPr>
        <p:spPr>
          <a:xfrm>
            <a:off x="585216" y="2487168"/>
            <a:ext cx="978408" cy="46634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1">
                <a:solidFill>
                  <a:srgbClr val="000000"/>
                </a:solidFill>
                <a:latin typeface="Malgun Gothic"/>
                <a:ea typeface="Malgun Gothic"/>
                <a:cs typeface="Malgun Gothic"/>
              </a:rPr>
              <a:t>P*·Q* 지령</a:t>
            </a:r>
          </a:p>
        </p:txBody>
      </p:sp>
      <p:cxnSp>
        <p:nvCxnSpPr>
          <p:cNvPr id="19" name="Connector 18"/>
          <p:cNvCxnSpPr/>
          <p:nvPr/>
        </p:nvCxnSpPr>
        <p:spPr>
          <a:xfrm>
            <a:off x="1645920" y="2724912"/>
            <a:ext cx="320040" cy="0"/>
          </a:xfrm>
          <a:prstGeom prst="line">
            <a:avLst/>
          </a:prstGeom>
          <a:ln w="12700">
            <a:solidFill>
              <a:srgbClr val="757575"/>
            </a:solidFill>
            <a:tailEnd type="triangle" w="sm" len="sm"/>
          </a:ln>
          <a:effectLst/>
        </p:spPr>
      </p:cxnSp>
      <p:sp>
        <p:nvSpPr>
          <p:cNvPr id="20" name="Rectangle 19"/>
          <p:cNvSpPr/>
          <p:nvPr/>
        </p:nvSpPr>
        <p:spPr>
          <a:xfrm>
            <a:off x="1965960" y="2286000"/>
            <a:ext cx="1417320" cy="868680"/>
          </a:xfrm>
          <a:prstGeom prst="rect">
            <a:avLst/>
          </a:prstGeom>
          <a:solidFill>
            <a:srgbClr val="FFFFFF"/>
          </a:solidFill>
          <a:ln w="8255">
            <a:solidFill>
              <a:srgbClr val="B8B8B8"/>
            </a:solidFill>
          </a:ln>
          <a:effectLst/>
        </p:spPr>
        <p:txBody>
          <a:bodyPr rtlCol="0" anchor="ctr"/>
          <a:lstStyle/>
          <a:p>
            <a:pPr algn="ctr"/>
          </a:p>
        </p:txBody>
      </p:sp>
      <p:sp>
        <p:nvSpPr>
          <p:cNvPr id="21" name="TextBox 20"/>
          <p:cNvSpPr txBox="1"/>
          <p:nvPr/>
        </p:nvSpPr>
        <p:spPr>
          <a:xfrm>
            <a:off x="2048255" y="2350008"/>
            <a:ext cx="1252728" cy="74066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전류 지령 생성</a:t>
            </a:r>
          </a:p>
          <a:p>
            <a:pPr algn="ctr">
              <a:lnSpc>
                <a:spcPct val="108000"/>
              </a:lnSpc>
              <a:spcBef>
                <a:spcPts val="0"/>
              </a:spcBef>
              <a:spcAft>
                <a:spcPts val="200"/>
              </a:spcAft>
            </a:pPr>
            <a:r>
              <a:rPr sz="1300" b="0">
                <a:solidFill>
                  <a:srgbClr val="000000"/>
                </a:solidFill>
                <a:latin typeface="Malgun Gothic"/>
                <a:ea typeface="Malgun Gothic"/>
                <a:cs typeface="Malgun Gothic"/>
              </a:rPr>
              <a:t>iref(θ)</a:t>
            </a:r>
          </a:p>
        </p:txBody>
      </p:sp>
      <p:cxnSp>
        <p:nvCxnSpPr>
          <p:cNvPr id="22" name="Connector 21"/>
          <p:cNvCxnSpPr/>
          <p:nvPr/>
        </p:nvCxnSpPr>
        <p:spPr>
          <a:xfrm>
            <a:off x="3383280" y="2724912"/>
            <a:ext cx="365759" cy="0"/>
          </a:xfrm>
          <a:prstGeom prst="line">
            <a:avLst/>
          </a:prstGeom>
          <a:ln w="12700">
            <a:solidFill>
              <a:srgbClr val="757575"/>
            </a:solidFill>
            <a:tailEnd type="triangle" w="sm" len="sm"/>
          </a:ln>
          <a:effectLst/>
        </p:spPr>
      </p:cxnSp>
      <p:sp>
        <p:nvSpPr>
          <p:cNvPr id="23" name="Rectangle 22"/>
          <p:cNvSpPr/>
          <p:nvPr/>
        </p:nvSpPr>
        <p:spPr>
          <a:xfrm>
            <a:off x="3749039" y="2286000"/>
            <a:ext cx="1600200" cy="868680"/>
          </a:xfrm>
          <a:prstGeom prst="rect">
            <a:avLst/>
          </a:prstGeom>
          <a:solidFill>
            <a:srgbClr val="FFFFFF"/>
          </a:solidFill>
          <a:ln w="8255">
            <a:solidFill>
              <a:srgbClr val="B8B8B8"/>
            </a:solidFill>
          </a:ln>
          <a:effectLst/>
        </p:spPr>
        <p:txBody>
          <a:bodyPr rtlCol="0" anchor="ctr"/>
          <a:lstStyle/>
          <a:p>
            <a:pPr algn="ctr"/>
          </a:p>
        </p:txBody>
      </p:sp>
      <p:sp>
        <p:nvSpPr>
          <p:cNvPr id="24" name="TextBox 23"/>
          <p:cNvSpPr txBox="1"/>
          <p:nvPr/>
        </p:nvSpPr>
        <p:spPr>
          <a:xfrm>
            <a:off x="3831335" y="2350008"/>
            <a:ext cx="1435608" cy="74066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dq-PI + 전향보상</a:t>
            </a:r>
          </a:p>
          <a:p>
            <a:pPr algn="ctr">
              <a:lnSpc>
                <a:spcPct val="108000"/>
              </a:lnSpc>
              <a:spcBef>
                <a:spcPts val="0"/>
              </a:spcBef>
              <a:spcAft>
                <a:spcPts val="200"/>
              </a:spcAft>
            </a:pPr>
            <a:r>
              <a:rPr sz="1300" b="0">
                <a:solidFill>
                  <a:srgbClr val="000000"/>
                </a:solidFill>
                <a:latin typeface="Malgun Gothic"/>
                <a:ea typeface="Malgun Gothic"/>
                <a:cs typeface="Malgun Gothic"/>
              </a:rPr>
              <a:t>(초기 제어)</a:t>
            </a:r>
          </a:p>
        </p:txBody>
      </p:sp>
      <p:cxnSp>
        <p:nvCxnSpPr>
          <p:cNvPr id="25" name="Connector 24"/>
          <p:cNvCxnSpPr/>
          <p:nvPr/>
        </p:nvCxnSpPr>
        <p:spPr>
          <a:xfrm>
            <a:off x="5349240" y="2724912"/>
            <a:ext cx="338328" cy="0"/>
          </a:xfrm>
          <a:prstGeom prst="line">
            <a:avLst/>
          </a:prstGeom>
          <a:ln w="12700">
            <a:solidFill>
              <a:srgbClr val="757575"/>
            </a:solidFill>
            <a:tailEnd type="triangle" w="sm" len="sm"/>
          </a:ln>
          <a:effectLst/>
        </p:spPr>
      </p:cxnSp>
      <p:sp>
        <p:nvSpPr>
          <p:cNvPr id="26" name="Rectangle 25"/>
          <p:cNvSpPr/>
          <p:nvPr/>
        </p:nvSpPr>
        <p:spPr>
          <a:xfrm>
            <a:off x="5687568" y="2286000"/>
            <a:ext cx="1600200" cy="868680"/>
          </a:xfrm>
          <a:prstGeom prst="rect">
            <a:avLst/>
          </a:prstGeom>
          <a:solidFill>
            <a:srgbClr val="FFFFFF"/>
          </a:solidFill>
          <a:ln w="8255">
            <a:solidFill>
              <a:srgbClr val="B8B8B8"/>
            </a:solidFill>
          </a:ln>
          <a:effectLst/>
        </p:spPr>
        <p:txBody>
          <a:bodyPr rtlCol="0" anchor="ctr"/>
          <a:lstStyle/>
          <a:p>
            <a:pPr algn="ctr"/>
          </a:p>
        </p:txBody>
      </p:sp>
      <p:sp>
        <p:nvSpPr>
          <p:cNvPr id="27" name="TextBox 26"/>
          <p:cNvSpPr txBox="1"/>
          <p:nvPr/>
        </p:nvSpPr>
        <p:spPr>
          <a:xfrm>
            <a:off x="5769864" y="2350008"/>
            <a:ext cx="1435608" cy="74066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200" b="0">
                <a:solidFill>
                  <a:srgbClr val="000000"/>
                </a:solidFill>
                <a:latin typeface="Malgun Gothic"/>
                <a:ea typeface="Malgun Gothic"/>
                <a:cs typeface="Malgun Gothic"/>
              </a:rPr>
              <a:t>1Ts 지연</a:t>
            </a:r>
          </a:p>
          <a:p>
            <a:pPr algn="ctr">
              <a:lnSpc>
                <a:spcPct val="108000"/>
              </a:lnSpc>
              <a:spcBef>
                <a:spcPts val="0"/>
              </a:spcBef>
              <a:spcAft>
                <a:spcPts val="200"/>
              </a:spcAft>
            </a:pPr>
            <a:r>
              <a:rPr sz="1200" b="0">
                <a:solidFill>
                  <a:srgbClr val="000000"/>
                </a:solidFill>
                <a:latin typeface="Malgun Gothic"/>
                <a:ea typeface="Malgun Gothic"/>
                <a:cs typeface="Malgun Gothic"/>
              </a:rPr>
              <a:t>±0.95Vdc 제한</a:t>
            </a:r>
          </a:p>
        </p:txBody>
      </p:sp>
      <p:cxnSp>
        <p:nvCxnSpPr>
          <p:cNvPr id="28" name="Connector 27"/>
          <p:cNvCxnSpPr/>
          <p:nvPr/>
        </p:nvCxnSpPr>
        <p:spPr>
          <a:xfrm>
            <a:off x="7287768" y="2724912"/>
            <a:ext cx="320040" cy="0"/>
          </a:xfrm>
          <a:prstGeom prst="line">
            <a:avLst/>
          </a:prstGeom>
          <a:ln w="12700">
            <a:solidFill>
              <a:srgbClr val="757575"/>
            </a:solidFill>
            <a:tailEnd type="triangle" w="sm" len="sm"/>
          </a:ln>
          <a:effectLst/>
        </p:spPr>
      </p:cxnSp>
      <p:sp>
        <p:nvSpPr>
          <p:cNvPr id="29" name="Rectangle 28"/>
          <p:cNvSpPr/>
          <p:nvPr/>
        </p:nvSpPr>
        <p:spPr>
          <a:xfrm>
            <a:off x="7607808" y="2286000"/>
            <a:ext cx="1783080" cy="868680"/>
          </a:xfrm>
          <a:prstGeom prst="rect">
            <a:avLst/>
          </a:prstGeom>
          <a:solidFill>
            <a:srgbClr val="000000"/>
          </a:solidFill>
          <a:ln w="8255">
            <a:solidFill>
              <a:srgbClr val="B8B8B8"/>
            </a:solidFill>
          </a:ln>
          <a:effectLst/>
        </p:spPr>
        <p:txBody>
          <a:bodyPr rtlCol="0" anchor="ctr"/>
          <a:lstStyle/>
          <a:p>
            <a:pPr algn="ctr"/>
          </a:p>
        </p:txBody>
      </p:sp>
      <p:sp>
        <p:nvSpPr>
          <p:cNvPr id="30" name="TextBox 29"/>
          <p:cNvSpPr txBox="1"/>
          <p:nvPr/>
        </p:nvSpPr>
        <p:spPr>
          <a:xfrm>
            <a:off x="7690104" y="2350008"/>
            <a:ext cx="1618488" cy="74066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FFFFFF"/>
                </a:solidFill>
                <a:latin typeface="Malgun Gothic"/>
                <a:ea typeface="Malgun Gothic"/>
                <a:cs typeface="Malgun Gothic"/>
              </a:rPr>
              <a:t>평균 브리지</a:t>
            </a:r>
          </a:p>
          <a:p>
            <a:pPr algn="ctr">
              <a:lnSpc>
                <a:spcPct val="108000"/>
              </a:lnSpc>
              <a:spcBef>
                <a:spcPts val="0"/>
              </a:spcBef>
              <a:spcAft>
                <a:spcPts val="200"/>
              </a:spcAft>
            </a:pPr>
            <a:r>
              <a:rPr sz="1300" b="0">
                <a:solidFill>
                  <a:srgbClr val="FFFFFF"/>
                </a:solidFill>
                <a:latin typeface="Malgun Gothic"/>
                <a:ea typeface="Malgun Gothic"/>
                <a:cs typeface="Malgun Gothic"/>
              </a:rPr>
              <a:t>L/R + 계통</a:t>
            </a:r>
          </a:p>
        </p:txBody>
      </p:sp>
      <p:sp>
        <p:nvSpPr>
          <p:cNvPr id="31" name="TextBox 30"/>
          <p:cNvSpPr txBox="1"/>
          <p:nvPr/>
        </p:nvSpPr>
        <p:spPr>
          <a:xfrm>
            <a:off x="685800" y="3931920"/>
            <a:ext cx="457200" cy="3200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00" b="1">
                <a:solidFill>
                  <a:srgbClr val="000000"/>
                </a:solidFill>
                <a:latin typeface="Malgun Gothic"/>
                <a:ea typeface="Malgun Gothic"/>
                <a:cs typeface="Malgun Gothic"/>
              </a:rPr>
              <a:t>vg</a:t>
            </a:r>
          </a:p>
        </p:txBody>
      </p:sp>
      <p:cxnSp>
        <p:nvCxnSpPr>
          <p:cNvPr id="32" name="Connector 31"/>
          <p:cNvCxnSpPr/>
          <p:nvPr/>
        </p:nvCxnSpPr>
        <p:spPr>
          <a:xfrm>
            <a:off x="1097280" y="4078224"/>
            <a:ext cx="868680" cy="0"/>
          </a:xfrm>
          <a:prstGeom prst="line">
            <a:avLst/>
          </a:prstGeom>
          <a:ln w="12700">
            <a:solidFill>
              <a:srgbClr val="757575"/>
            </a:solidFill>
            <a:tailEnd type="triangle" w="sm" len="sm"/>
          </a:ln>
          <a:effectLst/>
        </p:spPr>
      </p:cxnSp>
      <p:sp>
        <p:nvSpPr>
          <p:cNvPr id="33" name="Rectangle 32"/>
          <p:cNvSpPr/>
          <p:nvPr/>
        </p:nvSpPr>
        <p:spPr>
          <a:xfrm>
            <a:off x="1965960" y="3703320"/>
            <a:ext cx="1417320" cy="731520"/>
          </a:xfrm>
          <a:prstGeom prst="rect">
            <a:avLst/>
          </a:prstGeom>
          <a:solidFill>
            <a:srgbClr val="FFFFFF"/>
          </a:solidFill>
          <a:ln w="8255">
            <a:solidFill>
              <a:srgbClr val="B8B8B8"/>
            </a:solidFill>
          </a:ln>
          <a:effectLst/>
        </p:spPr>
        <p:txBody>
          <a:bodyPr rtlCol="0" anchor="ctr"/>
          <a:lstStyle/>
          <a:p>
            <a:pPr algn="ctr"/>
          </a:p>
        </p:txBody>
      </p:sp>
      <p:sp>
        <p:nvSpPr>
          <p:cNvPr id="34" name="TextBox 33"/>
          <p:cNvSpPr txBox="1"/>
          <p:nvPr/>
        </p:nvSpPr>
        <p:spPr>
          <a:xfrm>
            <a:off x="2048255" y="3767328"/>
            <a:ext cx="1252728" cy="60350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250" b="0">
                <a:solidFill>
                  <a:srgbClr val="000000"/>
                </a:solidFill>
                <a:latin typeface="Malgun Gothic"/>
                <a:ea typeface="Malgun Gothic"/>
                <a:cs typeface="Malgun Gothic"/>
              </a:rPr>
              <a:t>SOGI-PLL</a:t>
            </a:r>
          </a:p>
          <a:p>
            <a:pPr algn="ctr">
              <a:lnSpc>
                <a:spcPct val="108000"/>
              </a:lnSpc>
              <a:spcBef>
                <a:spcPts val="0"/>
              </a:spcBef>
              <a:spcAft>
                <a:spcPts val="200"/>
              </a:spcAft>
            </a:pPr>
            <a:r>
              <a:rPr sz="1250" b="0">
                <a:solidFill>
                  <a:srgbClr val="000000"/>
                </a:solidFill>
                <a:latin typeface="Malgun Gothic"/>
                <a:ea typeface="Malgun Gothic"/>
                <a:cs typeface="Malgun Gothic"/>
              </a:rPr>
              <a:t>계통 위상 θ</a:t>
            </a:r>
          </a:p>
        </p:txBody>
      </p:sp>
      <p:cxnSp>
        <p:nvCxnSpPr>
          <p:cNvPr id="35" name="Connector 34"/>
          <p:cNvCxnSpPr/>
          <p:nvPr/>
        </p:nvCxnSpPr>
        <p:spPr>
          <a:xfrm flipV="1">
            <a:off x="2670048" y="3154680"/>
            <a:ext cx="0" cy="548640"/>
          </a:xfrm>
          <a:prstGeom prst="line">
            <a:avLst/>
          </a:prstGeom>
          <a:ln w="12700">
            <a:solidFill>
              <a:srgbClr val="757575"/>
            </a:solidFill>
            <a:tailEnd type="triangle" w="sm" len="sm"/>
          </a:ln>
          <a:effectLst/>
        </p:spPr>
      </p:cxnSp>
      <p:sp>
        <p:nvSpPr>
          <p:cNvPr id="36" name="Rectangle 35"/>
          <p:cNvSpPr/>
          <p:nvPr/>
        </p:nvSpPr>
        <p:spPr>
          <a:xfrm>
            <a:off x="5650992" y="3703320"/>
            <a:ext cx="1783080" cy="731520"/>
          </a:xfrm>
          <a:prstGeom prst="rect">
            <a:avLst/>
          </a:prstGeom>
          <a:solidFill>
            <a:srgbClr val="FFFFFF"/>
          </a:solidFill>
          <a:ln w="8255">
            <a:solidFill>
              <a:srgbClr val="B8B8B8"/>
            </a:solidFill>
          </a:ln>
          <a:effectLst/>
        </p:spPr>
        <p:txBody>
          <a:bodyPr rtlCol="0" anchor="ctr"/>
          <a:lstStyle/>
          <a:p>
            <a:pPr algn="ctr"/>
          </a:p>
        </p:txBody>
      </p:sp>
      <p:sp>
        <p:nvSpPr>
          <p:cNvPr id="37" name="TextBox 36"/>
          <p:cNvSpPr txBox="1"/>
          <p:nvPr/>
        </p:nvSpPr>
        <p:spPr>
          <a:xfrm>
            <a:off x="5733288" y="3767328"/>
            <a:ext cx="1618488" cy="60350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250" b="0">
                <a:solidFill>
                  <a:srgbClr val="000000"/>
                </a:solidFill>
                <a:latin typeface="Malgun Gothic"/>
                <a:ea typeface="Malgun Gothic"/>
                <a:cs typeface="Malgun Gothic"/>
              </a:rPr>
              <a:t>12비트 양자화 가정</a:t>
            </a:r>
          </a:p>
          <a:p>
            <a:pPr algn="ctr">
              <a:lnSpc>
                <a:spcPct val="108000"/>
              </a:lnSpc>
              <a:spcBef>
                <a:spcPts val="0"/>
              </a:spcBef>
              <a:spcAft>
                <a:spcPts val="200"/>
              </a:spcAft>
            </a:pPr>
            <a:r>
              <a:rPr sz="1250" b="0">
                <a:solidFill>
                  <a:srgbClr val="000000"/>
                </a:solidFill>
                <a:latin typeface="Malgun Gothic"/>
                <a:ea typeface="Malgun Gothic"/>
                <a:cs typeface="Malgun Gothic"/>
              </a:rPr>
              <a:t>전류 피드백</a:t>
            </a:r>
          </a:p>
        </p:txBody>
      </p:sp>
      <p:cxnSp>
        <p:nvCxnSpPr>
          <p:cNvPr id="38" name="Connector 37"/>
          <p:cNvCxnSpPr/>
          <p:nvPr/>
        </p:nvCxnSpPr>
        <p:spPr>
          <a:xfrm>
            <a:off x="8458200" y="3154680"/>
            <a:ext cx="0" cy="923544"/>
          </a:xfrm>
          <a:prstGeom prst="line">
            <a:avLst/>
          </a:prstGeom>
          <a:ln w="12700">
            <a:solidFill>
              <a:srgbClr val="757575"/>
            </a:solidFill>
            <a:tailEnd type="triangle" w="sm" len="sm"/>
          </a:ln>
          <a:effectLst/>
        </p:spPr>
      </p:cxnSp>
      <p:cxnSp>
        <p:nvCxnSpPr>
          <p:cNvPr id="39" name="Connector 38"/>
          <p:cNvCxnSpPr/>
          <p:nvPr/>
        </p:nvCxnSpPr>
        <p:spPr>
          <a:xfrm flipH="1">
            <a:off x="7434072" y="4078224"/>
            <a:ext cx="1024128" cy="0"/>
          </a:xfrm>
          <a:prstGeom prst="line">
            <a:avLst/>
          </a:prstGeom>
          <a:ln w="12700">
            <a:solidFill>
              <a:srgbClr val="757575"/>
            </a:solidFill>
            <a:tailEnd type="triangle" w="sm" len="sm"/>
          </a:ln>
          <a:effectLst/>
        </p:spPr>
      </p:cxnSp>
      <p:cxnSp>
        <p:nvCxnSpPr>
          <p:cNvPr id="40" name="Connector 39"/>
          <p:cNvCxnSpPr/>
          <p:nvPr/>
        </p:nvCxnSpPr>
        <p:spPr>
          <a:xfrm flipH="1">
            <a:off x="4498848" y="4078224"/>
            <a:ext cx="1152144" cy="0"/>
          </a:xfrm>
          <a:prstGeom prst="line">
            <a:avLst/>
          </a:prstGeom>
          <a:ln w="12700">
            <a:solidFill>
              <a:srgbClr val="757575"/>
            </a:solidFill>
            <a:tailEnd type="triangle" w="sm" len="sm"/>
          </a:ln>
          <a:effectLst/>
        </p:spPr>
      </p:cxnSp>
      <p:cxnSp>
        <p:nvCxnSpPr>
          <p:cNvPr id="41" name="Connector 40"/>
          <p:cNvCxnSpPr/>
          <p:nvPr/>
        </p:nvCxnSpPr>
        <p:spPr>
          <a:xfrm flipV="1">
            <a:off x="4498848" y="3154680"/>
            <a:ext cx="0" cy="923544"/>
          </a:xfrm>
          <a:prstGeom prst="line">
            <a:avLst/>
          </a:prstGeom>
          <a:ln w="12700">
            <a:solidFill>
              <a:srgbClr val="757575"/>
            </a:solidFill>
            <a:tailEnd type="triangle" w="sm" len="sm"/>
          </a:ln>
          <a:effectLst/>
        </p:spPr>
      </p:cxnSp>
      <p:sp>
        <p:nvSpPr>
          <p:cNvPr id="42" name="Rectangle 41"/>
          <p:cNvSpPr/>
          <p:nvPr/>
        </p:nvSpPr>
        <p:spPr>
          <a:xfrm>
            <a:off x="566928" y="4800600"/>
            <a:ext cx="8778240" cy="868680"/>
          </a:xfrm>
          <a:prstGeom prst="rect">
            <a:avLst/>
          </a:prstGeom>
          <a:solidFill>
            <a:srgbClr val="F3F3F3"/>
          </a:solidFill>
          <a:ln w="8255">
            <a:solidFill>
              <a:srgbClr val="B8B8B8"/>
            </a:solidFill>
          </a:ln>
          <a:effectLst/>
        </p:spPr>
        <p:txBody>
          <a:bodyPr rtlCol="0" anchor="ctr"/>
          <a:lstStyle/>
          <a:p>
            <a:pPr algn="ctr"/>
          </a:p>
        </p:txBody>
      </p:sp>
      <p:sp>
        <p:nvSpPr>
          <p:cNvPr id="43" name="TextBox 42"/>
          <p:cNvSpPr txBox="1"/>
          <p:nvPr/>
        </p:nvSpPr>
        <p:spPr>
          <a:xfrm>
            <a:off x="649224" y="4864608"/>
            <a:ext cx="8613648" cy="740664"/>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600" b="0">
                <a:solidFill>
                  <a:srgbClr val="000000"/>
                </a:solidFill>
                <a:latin typeface="Malgun Gothic"/>
                <a:ea typeface="Malgun Gothic"/>
                <a:cs typeface="Malgun Gothic"/>
              </a:rPr>
              <a:t>(Lf + Lg) di/dt = vb − (Rf + Rg)i − vg</a:t>
            </a:r>
          </a:p>
          <a:p>
            <a:pPr algn="ctr">
              <a:lnSpc>
                <a:spcPct val="108000"/>
              </a:lnSpc>
              <a:spcBef>
                <a:spcPts val="0"/>
              </a:spcBef>
              <a:spcAft>
                <a:spcPts val="200"/>
              </a:spcAft>
            </a:pPr>
            <a:r>
              <a:rPr sz="1600" b="0">
                <a:solidFill>
                  <a:srgbClr val="000000"/>
                </a:solidFill>
                <a:latin typeface="Malgun Gothic"/>
                <a:ea typeface="Malgun Gothic"/>
                <a:cs typeface="Malgun Gothic"/>
              </a:rPr>
              <a:t>vb = clip(udelayed − er(i), −Vdc, +Vdc)</a:t>
            </a:r>
          </a:p>
        </p:txBody>
      </p:sp>
      <p:sp>
        <p:nvSpPr>
          <p:cNvPr id="44" name="TextBox 43"/>
          <p:cNvSpPr txBox="1"/>
          <p:nvPr/>
        </p:nvSpPr>
        <p:spPr>
          <a:xfrm>
            <a:off x="411480" y="5916168"/>
            <a:ext cx="9052560" cy="2743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적분: 4차 Runge–Kutta(RK4), Ts/8  |  제어: 32 kHz, Ts=31.25 μs  |  스위칭 리플 미포함</a:t>
            </a:r>
          </a:p>
        </p:txBody>
      </p:sp>
      <p:cxnSp>
        <p:nvCxnSpPr>
          <p:cNvPr id="45" name="Connector 44"/>
          <p:cNvCxnSpPr/>
          <p:nvPr/>
        </p:nvCxnSpPr>
        <p:spPr>
          <a:xfrm>
            <a:off x="365760" y="6428232"/>
            <a:ext cx="9189720" cy="0"/>
          </a:xfrm>
          <a:prstGeom prst="line">
            <a:avLst/>
          </a:prstGeom>
          <a:ln w="5715">
            <a:solidFill>
              <a:srgbClr val="000000"/>
            </a:solidFill>
          </a:ln>
          <a:effectLst/>
        </p:spPr>
      </p:cxnSp>
      <p:sp>
        <p:nvSpPr>
          <p:cNvPr id="46" name="TextBox 45"/>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docs/01_model.md; src/model.py. 도식은 소스에 근거한 평균모델 설명.</a:t>
            </a:r>
          </a:p>
        </p:txBody>
      </p:sp>
      <p:sp>
        <p:nvSpPr>
          <p:cNvPr id="47" name="TextBox 46"/>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12/58</a:t>
            </a:r>
          </a:p>
        </p:txBody>
      </p:sp>
      <p:sp>
        <p:nvSpPr>
          <p:cNvPr id="48" name="TextBox 47">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49" name="TextBox 48">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모델 조건 설정</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회로·제어 파라미터 및 초기값 보정</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초기 왜곡의 크기를 맞추기 위해 잔류 전압오차의 등가시간 teq 하나를 보정함. 이후 회로와 보정값은 초기·개선 비교에서 동일하게 유지함.</a:t>
            </a:r>
          </a:p>
        </p:txBody>
      </p:sp>
      <p:graphicFrame>
        <p:nvGraphicFramePr>
          <p:cNvPr id="17" name="Table 16"/>
          <p:cNvGraphicFramePr>
            <a:graphicFrameLocks noGrp="1"/>
          </p:cNvGraphicFramePr>
          <p:nvPr/>
        </p:nvGraphicFramePr>
        <p:xfrm>
          <a:off x="438912" y="2057400"/>
          <a:ext cx="5120640" cy="3328415"/>
        </p:xfrm>
        <a:graphic>
          <a:graphicData uri="http://schemas.openxmlformats.org/drawingml/2006/table">
            <a:tbl>
              <a:tblPr firstRow="1" bandRow="1">
                <a:tableStyleId>{5C22544A-7EE6-4342-B048-85BDC9FD1C3A}</a:tableStyleId>
              </a:tblPr>
              <a:tblGrid>
                <a:gridCol w="1508760"/>
                <a:gridCol w="3611880"/>
              </a:tblGrid>
              <a:tr h="665683">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참조 가정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값</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665683">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필터 / 계통</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Lf 1.5 mH, Lg 0.2 mH</a:t>
                      </a:r>
                    </a:p>
                    <a:p>
                      <a:pPr algn="l">
                        <a:lnSpc>
                          <a:spcPct val="105000"/>
                        </a:lnSpc>
                        <a:spcBef>
                          <a:spcPts val="0"/>
                        </a:spcBef>
                        <a:spcAft>
                          <a:spcPts val="100"/>
                        </a:spcAft>
                      </a:pPr>
                      <a:r>
                        <a:rPr sz="1200" b="0">
                          <a:solidFill>
                            <a:srgbClr val="000000"/>
                          </a:solidFill>
                          <a:latin typeface="Malgun Gothic"/>
                          <a:ea typeface="Malgun Gothic"/>
                          <a:cs typeface="Malgun Gothic"/>
                        </a:rPr>
                        <a:t>Rf 0.15 Ω, Rg 0.10 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65683">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전원 / 시간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Vdc 400 V, fgrid 50 Hz</a:t>
                      </a:r>
                    </a:p>
                    <a:p>
                      <a:pPr algn="l">
                        <a:lnSpc>
                          <a:spcPct val="105000"/>
                        </a:lnSpc>
                        <a:spcBef>
                          <a:spcPts val="0"/>
                        </a:spcBef>
                        <a:spcAft>
                          <a:spcPts val="100"/>
                        </a:spcAft>
                      </a:pPr>
                      <a:r>
                        <a:rPr sz="1200" b="0">
                          <a:solidFill>
                            <a:srgbClr val="000000"/>
                          </a:solidFill>
                          <a:latin typeface="Malgun Gothic"/>
                          <a:ea typeface="Malgun Gothic"/>
                          <a:cs typeface="Malgun Gothic"/>
                        </a:rPr>
                        <a:t>fs 32 kHz, Ts 31.25 μs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65683">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기본 제어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이득 산정 파라미터 800 Hz</a:t>
                      </a:r>
                    </a:p>
                    <a:p>
                      <a:pPr algn="l">
                        <a:lnSpc>
                          <a:spcPct val="105000"/>
                        </a:lnSpc>
                        <a:spcBef>
                          <a:spcPts val="0"/>
                        </a:spcBef>
                        <a:spcAft>
                          <a:spcPts val="100"/>
                        </a:spcAft>
                      </a:pPr>
                      <a:r>
                        <a:rPr sz="1200" b="0">
                          <a:solidFill>
                            <a:srgbClr val="000000"/>
                          </a:solidFill>
                          <a:latin typeface="Malgun Gothic"/>
                          <a:ea typeface="Malgun Gothic"/>
                          <a:cs typeface="Malgun Gothic"/>
                        </a:rPr>
                        <a:t>PLL 설계 파라미터 20 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65683">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잔류 오차 모델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er = Vdc fs teq tanh(i/Iz)</a:t>
                      </a:r>
                    </a:p>
                    <a:p>
                      <a:pPr algn="l">
                        <a:lnSpc>
                          <a:spcPct val="105000"/>
                        </a:lnSpc>
                        <a:spcBef>
                          <a:spcPts val="0"/>
                        </a:spcBef>
                        <a:spcAft>
                          <a:spcPts val="100"/>
                        </a:spcAft>
                      </a:pPr>
                      <a:r>
                        <a:rPr sz="1200" b="0">
                          <a:solidFill>
                            <a:srgbClr val="000000"/>
                          </a:solidFill>
                          <a:latin typeface="Malgun Gothic"/>
                          <a:ea typeface="Malgun Gothic"/>
                          <a:cs typeface="Malgun Gothic"/>
                        </a:rPr>
                        <a:t>Iz = 0.25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5815584" y="2103120"/>
            <a:ext cx="3611880" cy="1673352"/>
          </a:xfrm>
          <a:prstGeom prst="rect">
            <a:avLst/>
          </a:prstGeom>
          <a:solidFill>
            <a:srgbClr val="FFFFFF"/>
          </a:solidFill>
          <a:ln w="8255">
            <a:solidFill>
              <a:srgbClr val="B8B8B8"/>
            </a:solidFill>
          </a:ln>
          <a:effectLst/>
        </p:spPr>
        <p:txBody>
          <a:bodyPr rtlCol="0" anchor="ctr"/>
          <a:lstStyle/>
          <a:p>
            <a:pPr algn="ctr"/>
          </a:p>
        </p:txBody>
      </p:sp>
      <p:sp>
        <p:nvSpPr>
          <p:cNvPr id="19" name="TextBox 18"/>
          <p:cNvSpPr txBox="1"/>
          <p:nvPr/>
        </p:nvSpPr>
        <p:spPr>
          <a:xfrm>
            <a:off x="5961888" y="2212848"/>
            <a:ext cx="3319272" cy="3200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단일 기준점 보정</a:t>
            </a:r>
          </a:p>
        </p:txBody>
      </p:sp>
      <p:sp>
        <p:nvSpPr>
          <p:cNvPr id="20" name="TextBox 19"/>
          <p:cNvSpPr txBox="1"/>
          <p:nvPr/>
        </p:nvSpPr>
        <p:spPr>
          <a:xfrm>
            <a:off x="5961888" y="2624327"/>
            <a:ext cx="3319272" cy="5486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500" b="1">
                <a:solidFill>
                  <a:srgbClr val="C00000"/>
                </a:solidFill>
                <a:latin typeface="Malgun Gothic"/>
                <a:ea typeface="Malgun Gothic"/>
                <a:cs typeface="Malgun Gothic"/>
              </a:rPr>
              <a:t>7.30003%</a:t>
            </a:r>
          </a:p>
        </p:txBody>
      </p:sp>
      <p:sp>
        <p:nvSpPr>
          <p:cNvPr id="21" name="TextBox 20"/>
          <p:cNvSpPr txBox="1"/>
          <p:nvPr/>
        </p:nvSpPr>
        <p:spPr>
          <a:xfrm>
            <a:off x="5961888" y="3163824"/>
            <a:ext cx="3319272"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50" b="0">
                <a:solidFill>
                  <a:srgbClr val="555555"/>
                </a:solidFill>
                <a:latin typeface="Malgun Gothic"/>
                <a:ea typeface="Malgun Gothic"/>
                <a:cs typeface="Malgun Gothic"/>
              </a:rPr>
              <a:t>공개 기준점: 7.30%</a:t>
            </a:r>
          </a:p>
          <a:p>
            <a:pPr algn="l">
              <a:lnSpc>
                <a:spcPct val="108000"/>
              </a:lnSpc>
              <a:spcBef>
                <a:spcPts val="0"/>
              </a:spcBef>
              <a:spcAft>
                <a:spcPts val="200"/>
              </a:spcAft>
            </a:pPr>
            <a:r>
              <a:rPr sz="1050" b="0">
                <a:solidFill>
                  <a:srgbClr val="555555"/>
                </a:solidFill>
                <a:latin typeface="Malgun Gothic"/>
                <a:ea typeface="Malgun Gothic"/>
                <a:cs typeface="Malgun Gothic"/>
              </a:rPr>
              <a:t>teq = 0.484656 μs (등가값)</a:t>
            </a:r>
          </a:p>
        </p:txBody>
      </p:sp>
      <p:sp>
        <p:nvSpPr>
          <p:cNvPr id="22" name="Rectangle 21"/>
          <p:cNvSpPr/>
          <p:nvPr/>
        </p:nvSpPr>
        <p:spPr>
          <a:xfrm>
            <a:off x="5815584" y="3995928"/>
            <a:ext cx="3611880" cy="1444752"/>
          </a:xfrm>
          <a:prstGeom prst="rect">
            <a:avLst/>
          </a:prstGeom>
          <a:solidFill>
            <a:srgbClr val="FFFFFF"/>
          </a:solidFill>
          <a:ln w="8255">
            <a:solidFill>
              <a:srgbClr val="B8B8B8"/>
            </a:solidFill>
          </a:ln>
          <a:effectLst/>
        </p:spPr>
        <p:txBody>
          <a:bodyPr rtlCol="0" anchor="ctr"/>
          <a:lstStyle/>
          <a:p>
            <a:pPr algn="ctr"/>
          </a:p>
        </p:txBody>
      </p:sp>
      <p:sp>
        <p:nvSpPr>
          <p:cNvPr id="23" name="TextBox 22"/>
          <p:cNvSpPr txBox="1"/>
          <p:nvPr/>
        </p:nvSpPr>
        <p:spPr>
          <a:xfrm>
            <a:off x="5897880" y="4059936"/>
            <a:ext cx="3447288" cy="1316736"/>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50" b="0">
                <a:solidFill>
                  <a:srgbClr val="000000"/>
                </a:solidFill>
                <a:latin typeface="Malgun Gothic"/>
                <a:ea typeface="Malgun Gothic"/>
                <a:cs typeface="Malgun Gothic"/>
              </a:rPr>
              <a:t>모델 검증 범위</a:t>
            </a:r>
          </a:p>
          <a:p>
            <a:pPr algn="l">
              <a:lnSpc>
                <a:spcPct val="108000"/>
              </a:lnSpc>
              <a:spcBef>
                <a:spcPts val="0"/>
              </a:spcBef>
              <a:spcAft>
                <a:spcPts val="200"/>
              </a:spcAft>
            </a:pPr>
            <a:r>
              <a:rPr sz="1250" b="0">
                <a:solidFill>
                  <a:srgbClr val="000000"/>
                </a:solidFill>
                <a:latin typeface="Malgun Gothic"/>
                <a:ea typeface="Malgun Gothic"/>
                <a:cs typeface="Malgun Gothic"/>
              </a:rPr>
              <a:t>등가 teq는 실물 dead-time 측정값이 아님. 기준점 일치는 초기 THD 크기 보정 결과이며, 제품 모델의 정확도 검증과는 구분함.</a:t>
            </a:r>
          </a:p>
        </p:txBody>
      </p:sp>
      <p:sp>
        <p:nvSpPr>
          <p:cNvPr id="24" name="TextBox 23"/>
          <p:cNvSpPr txBox="1"/>
          <p:nvPr/>
        </p:nvSpPr>
        <p:spPr>
          <a:xfrm>
            <a:off x="411480" y="5879592"/>
            <a:ext cx="9052560" cy="38404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30" b="0">
                <a:solidFill>
                  <a:srgbClr val="555555"/>
                </a:solidFill>
                <a:latin typeface="Malgun Gothic"/>
                <a:ea typeface="Malgun Gothic"/>
                <a:cs typeface="Malgun Gothic"/>
              </a:rPr>
              <a:t>800 Hz·20 Hz는 기본 제어·PLL 이득 산정값임. 실제 폐루프 대역폭이 아니며 fc=2 Hz와도 다른 값임.</a:t>
            </a:r>
          </a:p>
        </p:txBody>
      </p:sp>
      <p:cxnSp>
        <p:nvCxnSpPr>
          <p:cNvPr id="25" name="Connector 24"/>
          <p:cNvCxnSpPr/>
          <p:nvPr/>
        </p:nvCxnSpPr>
        <p:spPr>
          <a:xfrm>
            <a:off x="365760" y="6428232"/>
            <a:ext cx="9189720" cy="0"/>
          </a:xfrm>
          <a:prstGeom prst="line">
            <a:avLst/>
          </a:prstGeom>
          <a:ln w="5715">
            <a:solidFill>
              <a:srgbClr val="000000"/>
            </a:solidFill>
          </a:ln>
          <a:effectLst/>
        </p:spPr>
      </p:cxnSp>
      <p:sp>
        <p:nvSpPr>
          <p:cNvPr id="26" name="TextBox 25"/>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results/calibration.json; docs/01_model.md; src/calibrate.py; src/model.py.</a:t>
            </a:r>
          </a:p>
        </p:txBody>
      </p:sp>
      <p:sp>
        <p:nvSpPr>
          <p:cNvPr id="27" name="TextBox 26"/>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13/58</a:t>
            </a:r>
          </a:p>
        </p:txBody>
      </p:sp>
      <p:sp>
        <p:nvSpPr>
          <p:cNvPr id="28" name="TextBox 27">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9" name="TextBox 28">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데이터 계산 구간</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측정 대역·시간 표본·주기성 조건을 고정함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50 Hz에서 1.0 s를 해석하고 마지막 0.2 s의 6,400개 시간 표본으로 평가함. 50주기는 반복실험 50회가 아니라 1회의 해석시간임.</a:t>
            </a:r>
          </a:p>
        </p:txBody>
      </p:sp>
      <p:sp>
        <p:nvSpPr>
          <p:cNvPr id="17" name="Rectangle 16"/>
          <p:cNvSpPr/>
          <p:nvPr/>
        </p:nvSpPr>
        <p:spPr>
          <a:xfrm>
            <a:off x="502920" y="2267712"/>
            <a:ext cx="1993392" cy="941832"/>
          </a:xfrm>
          <a:prstGeom prst="rect">
            <a:avLst/>
          </a:prstGeom>
          <a:solidFill>
            <a:srgbClr val="FFFFFF"/>
          </a:solidFill>
          <a:ln w="8255">
            <a:solidFill>
              <a:srgbClr val="B8B8B8"/>
            </a:solidFill>
          </a:ln>
          <a:effectLst/>
        </p:spPr>
        <p:txBody>
          <a:bodyPr rtlCol="0" anchor="ctr"/>
          <a:lstStyle/>
          <a:p>
            <a:pPr algn="ctr"/>
          </a:p>
        </p:txBody>
      </p:sp>
      <p:sp>
        <p:nvSpPr>
          <p:cNvPr id="18" name="TextBox 17"/>
          <p:cNvSpPr txBox="1"/>
          <p:nvPr/>
        </p:nvSpPr>
        <p:spPr>
          <a:xfrm>
            <a:off x="585216" y="2331720"/>
            <a:ext cx="1828800" cy="813816"/>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400" b="1">
                <a:solidFill>
                  <a:srgbClr val="000000"/>
                </a:solidFill>
                <a:latin typeface="Malgun Gothic"/>
                <a:ea typeface="Malgun Gothic"/>
                <a:cs typeface="Malgun Gothic"/>
              </a:rPr>
              <a:t>① 수치 해석</a:t>
            </a:r>
          </a:p>
          <a:p>
            <a:pPr algn="ctr">
              <a:lnSpc>
                <a:spcPct val="108000"/>
              </a:lnSpc>
              <a:spcBef>
                <a:spcPts val="0"/>
              </a:spcBef>
              <a:spcAft>
                <a:spcPts val="200"/>
              </a:spcAft>
            </a:pPr>
            <a:r>
              <a:rPr sz="1400" b="1">
                <a:solidFill>
                  <a:srgbClr val="000000"/>
                </a:solidFill>
                <a:latin typeface="Malgun Gothic"/>
                <a:ea typeface="Malgun Gothic"/>
                <a:cs typeface="Malgun Gothic"/>
              </a:rPr>
              <a:t>1.0 s / 50주기</a:t>
            </a:r>
          </a:p>
        </p:txBody>
      </p:sp>
      <p:cxnSp>
        <p:nvCxnSpPr>
          <p:cNvPr id="19" name="Connector 18"/>
          <p:cNvCxnSpPr/>
          <p:nvPr/>
        </p:nvCxnSpPr>
        <p:spPr>
          <a:xfrm>
            <a:off x="2496312" y="2734056"/>
            <a:ext cx="237744" cy="0"/>
          </a:xfrm>
          <a:prstGeom prst="line">
            <a:avLst/>
          </a:prstGeom>
          <a:ln w="12700">
            <a:solidFill>
              <a:srgbClr val="757575"/>
            </a:solidFill>
            <a:tailEnd type="triangle" w="sm" len="sm"/>
          </a:ln>
          <a:effectLst/>
        </p:spPr>
      </p:cxnSp>
      <p:sp>
        <p:nvSpPr>
          <p:cNvPr id="20" name="Rectangle 19"/>
          <p:cNvSpPr/>
          <p:nvPr/>
        </p:nvSpPr>
        <p:spPr>
          <a:xfrm>
            <a:off x="2734056" y="2267712"/>
            <a:ext cx="1993392" cy="941832"/>
          </a:xfrm>
          <a:prstGeom prst="rect">
            <a:avLst/>
          </a:prstGeom>
          <a:solidFill>
            <a:srgbClr val="FFFFFF"/>
          </a:solidFill>
          <a:ln w="8255">
            <a:solidFill>
              <a:srgbClr val="B8B8B8"/>
            </a:solidFill>
          </a:ln>
          <a:effectLst/>
        </p:spPr>
        <p:txBody>
          <a:bodyPr rtlCol="0" anchor="ctr"/>
          <a:lstStyle/>
          <a:p>
            <a:pPr algn="ctr"/>
          </a:p>
        </p:txBody>
      </p:sp>
      <p:sp>
        <p:nvSpPr>
          <p:cNvPr id="21" name="TextBox 20"/>
          <p:cNvSpPr txBox="1"/>
          <p:nvPr/>
        </p:nvSpPr>
        <p:spPr>
          <a:xfrm>
            <a:off x="2816352" y="2331720"/>
            <a:ext cx="1828800" cy="813816"/>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400" b="1">
                <a:solidFill>
                  <a:srgbClr val="000000"/>
                </a:solidFill>
                <a:latin typeface="Malgun Gothic"/>
                <a:ea typeface="Malgun Gothic"/>
                <a:cs typeface="Malgun Gothic"/>
              </a:rPr>
              <a:t>② 평가 구간</a:t>
            </a:r>
          </a:p>
          <a:p>
            <a:pPr algn="ctr">
              <a:lnSpc>
                <a:spcPct val="108000"/>
              </a:lnSpc>
              <a:spcBef>
                <a:spcPts val="0"/>
              </a:spcBef>
              <a:spcAft>
                <a:spcPts val="200"/>
              </a:spcAft>
            </a:pPr>
            <a:r>
              <a:rPr sz="1400" b="1">
                <a:solidFill>
                  <a:srgbClr val="000000"/>
                </a:solidFill>
                <a:latin typeface="Malgun Gothic"/>
                <a:ea typeface="Malgun Gothic"/>
                <a:cs typeface="Malgun Gothic"/>
              </a:rPr>
              <a:t>0.8~1.0 s</a:t>
            </a:r>
          </a:p>
        </p:txBody>
      </p:sp>
      <p:cxnSp>
        <p:nvCxnSpPr>
          <p:cNvPr id="22" name="Connector 21"/>
          <p:cNvCxnSpPr/>
          <p:nvPr/>
        </p:nvCxnSpPr>
        <p:spPr>
          <a:xfrm>
            <a:off x="4727448" y="2734056"/>
            <a:ext cx="237744" cy="0"/>
          </a:xfrm>
          <a:prstGeom prst="line">
            <a:avLst/>
          </a:prstGeom>
          <a:ln w="12700">
            <a:solidFill>
              <a:srgbClr val="757575"/>
            </a:solidFill>
            <a:tailEnd type="triangle" w="sm" len="sm"/>
          </a:ln>
          <a:effectLst/>
        </p:spPr>
      </p:cxnSp>
      <p:sp>
        <p:nvSpPr>
          <p:cNvPr id="23" name="Rectangle 22"/>
          <p:cNvSpPr/>
          <p:nvPr/>
        </p:nvSpPr>
        <p:spPr>
          <a:xfrm>
            <a:off x="4965192" y="2267712"/>
            <a:ext cx="1993392" cy="941832"/>
          </a:xfrm>
          <a:prstGeom prst="rect">
            <a:avLst/>
          </a:prstGeom>
          <a:solidFill>
            <a:srgbClr val="FFFFFF"/>
          </a:solidFill>
          <a:ln w="8255">
            <a:solidFill>
              <a:srgbClr val="B8B8B8"/>
            </a:solidFill>
          </a:ln>
          <a:effectLst/>
        </p:spPr>
        <p:txBody>
          <a:bodyPr rtlCol="0" anchor="ctr"/>
          <a:lstStyle/>
          <a:p>
            <a:pPr algn="ctr"/>
          </a:p>
        </p:txBody>
      </p:sp>
      <p:sp>
        <p:nvSpPr>
          <p:cNvPr id="24" name="TextBox 23"/>
          <p:cNvSpPr txBox="1"/>
          <p:nvPr/>
        </p:nvSpPr>
        <p:spPr>
          <a:xfrm>
            <a:off x="5047488" y="2331720"/>
            <a:ext cx="1828800" cy="813816"/>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400" b="1">
                <a:solidFill>
                  <a:srgbClr val="000000"/>
                </a:solidFill>
                <a:latin typeface="Malgun Gothic"/>
                <a:ea typeface="Malgun Gothic"/>
                <a:cs typeface="Malgun Gothic"/>
              </a:rPr>
              <a:t>③ 정수주기 FFT</a:t>
            </a:r>
          </a:p>
          <a:p>
            <a:pPr algn="ctr">
              <a:lnSpc>
                <a:spcPct val="108000"/>
              </a:lnSpc>
              <a:spcBef>
                <a:spcPts val="0"/>
              </a:spcBef>
              <a:spcAft>
                <a:spcPts val="200"/>
              </a:spcAft>
            </a:pPr>
            <a:r>
              <a:rPr sz="1400" b="1">
                <a:solidFill>
                  <a:srgbClr val="000000"/>
                </a:solidFill>
                <a:latin typeface="Malgun Gothic"/>
                <a:ea typeface="Malgun Gothic"/>
                <a:cs typeface="Malgun Gothic"/>
              </a:rPr>
              <a:t>2~40차 RMS</a:t>
            </a:r>
          </a:p>
        </p:txBody>
      </p:sp>
      <p:cxnSp>
        <p:nvCxnSpPr>
          <p:cNvPr id="25" name="Connector 24"/>
          <p:cNvCxnSpPr/>
          <p:nvPr/>
        </p:nvCxnSpPr>
        <p:spPr>
          <a:xfrm>
            <a:off x="6958584" y="2734056"/>
            <a:ext cx="237744" cy="0"/>
          </a:xfrm>
          <a:prstGeom prst="line">
            <a:avLst/>
          </a:prstGeom>
          <a:ln w="12700">
            <a:solidFill>
              <a:srgbClr val="757575"/>
            </a:solidFill>
            <a:tailEnd type="triangle" w="sm" len="sm"/>
          </a:ln>
          <a:effectLst/>
        </p:spPr>
      </p:cxnSp>
      <p:sp>
        <p:nvSpPr>
          <p:cNvPr id="26" name="Rectangle 25"/>
          <p:cNvSpPr/>
          <p:nvPr/>
        </p:nvSpPr>
        <p:spPr>
          <a:xfrm>
            <a:off x="7196328" y="2267712"/>
            <a:ext cx="2176272" cy="941832"/>
          </a:xfrm>
          <a:prstGeom prst="rect">
            <a:avLst/>
          </a:prstGeom>
          <a:solidFill>
            <a:srgbClr val="F3F3F3"/>
          </a:solidFill>
          <a:ln w="8255">
            <a:solidFill>
              <a:srgbClr val="B8B8B8"/>
            </a:solidFill>
          </a:ln>
          <a:effectLst/>
        </p:spPr>
        <p:txBody>
          <a:bodyPr rtlCol="0" anchor="ctr"/>
          <a:lstStyle/>
          <a:p>
            <a:pPr algn="ctr"/>
          </a:p>
        </p:txBody>
      </p:sp>
      <p:sp>
        <p:nvSpPr>
          <p:cNvPr id="27" name="TextBox 26"/>
          <p:cNvSpPr txBox="1"/>
          <p:nvPr/>
        </p:nvSpPr>
        <p:spPr>
          <a:xfrm>
            <a:off x="7278624" y="2331720"/>
            <a:ext cx="2011679" cy="813816"/>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400" b="1">
                <a:solidFill>
                  <a:srgbClr val="C00000"/>
                </a:solidFill>
                <a:latin typeface="Malgun Gothic"/>
                <a:ea typeface="Malgun Gothic"/>
                <a:cs typeface="Malgun Gothic"/>
              </a:rPr>
              <a:t>④ 종합 판정</a:t>
            </a:r>
          </a:p>
          <a:p>
            <a:pPr algn="ctr">
              <a:lnSpc>
                <a:spcPct val="108000"/>
              </a:lnSpc>
              <a:spcBef>
                <a:spcPts val="0"/>
              </a:spcBef>
              <a:spcAft>
                <a:spcPts val="200"/>
              </a:spcAft>
            </a:pPr>
            <a:r>
              <a:rPr sz="1400" b="1">
                <a:solidFill>
                  <a:srgbClr val="C00000"/>
                </a:solidFill>
                <a:latin typeface="Malgun Gothic"/>
                <a:ea typeface="Malgun Gothic"/>
                <a:cs typeface="Malgun Gothic"/>
              </a:rPr>
              <a:t>THD + 보조 조건</a:t>
            </a:r>
          </a:p>
        </p:txBody>
      </p:sp>
      <p:graphicFrame>
        <p:nvGraphicFramePr>
          <p:cNvPr id="28" name="Table 27"/>
          <p:cNvGraphicFramePr>
            <a:graphicFrameLocks noGrp="1"/>
          </p:cNvGraphicFramePr>
          <p:nvPr/>
        </p:nvGraphicFramePr>
        <p:xfrm>
          <a:off x="411480" y="3611880"/>
          <a:ext cx="9052559" cy="2240280"/>
        </p:xfrm>
        <a:graphic>
          <a:graphicData uri="http://schemas.openxmlformats.org/drawingml/2006/table">
            <a:tbl>
              <a:tblPr firstRow="1" bandRow="1">
                <a:tableStyleId>{5C22544A-7EE6-4342-B048-85BDC9FD1C3A}</a:tableStyleId>
              </a:tblPr>
              <a:tblGrid>
                <a:gridCol w="2057400"/>
                <a:gridCol w="6995159"/>
              </a:tblGrid>
              <a:tr h="448056">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평가 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연산 / 해석</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48056">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THD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정수주기 FFT(고속 푸리에 변환)로 기본파 및 2~40차 RMS를 계산함.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8056">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 [W] / Q₁ [var]</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P=mean(vg·i); Q₁은 50 Hz 기본파 기준으로 계산함.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8056">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주기성 / 포화</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연속 두 주기 파형 차이의 RMS / 전압 명령 제한이 발생한 표본 비율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8056">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저장 데이터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조건 ID→실행 ID→저장 파형으로 추적. 상세 파일명은 부록 참조.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29" name="Connector 28"/>
          <p:cNvCxnSpPr/>
          <p:nvPr/>
        </p:nvCxnSpPr>
        <p:spPr>
          <a:xfrm>
            <a:off x="365760" y="6428232"/>
            <a:ext cx="9189720" cy="0"/>
          </a:xfrm>
          <a:prstGeom prst="line">
            <a:avLst/>
          </a:prstGeom>
          <a:ln w="5715">
            <a:solidFill>
              <a:srgbClr val="000000"/>
            </a:solidFill>
          </a:ln>
          <a:effectLst/>
        </p:spPr>
      </p:cxnSp>
      <p:sp>
        <p:nvSpPr>
          <p:cNvPr id="30" name="TextBox 2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docs/01_model.md; data/schema.json; src/model.py; tests/test_study.py.</a:t>
            </a:r>
          </a:p>
        </p:txBody>
      </p:sp>
      <p:sp>
        <p:nvSpPr>
          <p:cNvPr id="31" name="TextBox 3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14/58</a:t>
            </a:r>
          </a:p>
        </p:txBody>
      </p:sp>
      <p:sp>
        <p:nvSpPr>
          <p:cNvPr id="32" name="TextBox 3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33" name="TextBox 3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수치 계산 검증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수치 정확도 및 결과 재현성 확인</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계산 블록 검증, 원시 파형 재계산 및 적분 시간간격 비교를 수행함. 반복 계측 대신 수치해석의 계산 일관성을 확인함.</a:t>
            </a:r>
          </a:p>
        </p:txBody>
      </p:sp>
      <p:graphicFrame>
        <p:nvGraphicFramePr>
          <p:cNvPr id="17" name="Table 16"/>
          <p:cNvGraphicFramePr>
            <a:graphicFrameLocks noGrp="1"/>
          </p:cNvGraphicFramePr>
          <p:nvPr/>
        </p:nvGraphicFramePr>
        <p:xfrm>
          <a:off x="411480" y="2039112"/>
          <a:ext cx="9052560" cy="3200400"/>
        </p:xfrm>
        <a:graphic>
          <a:graphicData uri="http://schemas.openxmlformats.org/drawingml/2006/table">
            <a:tbl>
              <a:tblPr firstRow="1" bandRow="1">
                <a:tableStyleId>{5C22544A-7EE6-4342-B048-85BDC9FD1C3A}</a:tableStyleId>
              </a:tblPr>
              <a:tblGrid>
                <a:gridCol w="2057400"/>
                <a:gridCol w="4206240"/>
                <a:gridCol w="2788920"/>
              </a:tblGrid>
              <a:tr h="640080">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확인 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방법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결과 / 한계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64008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계산 블록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알려진 THD/DC 파형, RK4 해석해 대조</a:t>
                      </a:r>
                    </a:p>
                    <a:p>
                      <a:pPr algn="l">
                        <a:lnSpc>
                          <a:spcPct val="105000"/>
                        </a:lnSpc>
                        <a:spcBef>
                          <a:spcPts val="0"/>
                        </a:spcBef>
                        <a:spcAft>
                          <a:spcPts val="100"/>
                        </a:spcAft>
                      </a:pPr>
                      <a:r>
                        <a:rPr sz="1200" b="0">
                          <a:solidFill>
                            <a:srgbClr val="000000"/>
                          </a:solidFill>
                          <a:latin typeface="Malgun Gothic"/>
                          <a:ea typeface="Malgun Gothic"/>
                          <a:cs typeface="Malgun Gothic"/>
                        </a:rPr>
                        <a:t>SOGI·공진 필터 극점 및 이득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30/30 통과</a:t>
                      </a:r>
                    </a:p>
                    <a:p>
                      <a:pPr algn="l">
                        <a:lnSpc>
                          <a:spcPct val="105000"/>
                        </a:lnSpc>
                        <a:spcBef>
                          <a:spcPts val="0"/>
                        </a:spcBef>
                        <a:spcAft>
                          <a:spcPts val="100"/>
                        </a:spcAft>
                      </a:pPr>
                      <a:r>
                        <a:rPr sz="1200" b="0">
                          <a:solidFill>
                            <a:srgbClr val="000000"/>
                          </a:solidFill>
                          <a:latin typeface="Malgun Gothic"/>
                          <a:ea typeface="Malgun Gothic"/>
                          <a:cs typeface="Malgun Gothic"/>
                        </a:rPr>
                        <a:t>전체 폐루프 안정성 증명은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4008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원시 데이터 재계산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저장 파형 → THD·고조파·P/Q</a:t>
                      </a:r>
                    </a:p>
                    <a:p>
                      <a:pPr algn="l">
                        <a:lnSpc>
                          <a:spcPct val="105000"/>
                        </a:lnSpc>
                        <a:spcBef>
                          <a:spcPts val="0"/>
                        </a:spcBef>
                        <a:spcAft>
                          <a:spcPts val="100"/>
                        </a:spcAft>
                      </a:pPr>
                      <a:r>
                        <a:rPr sz="1200" b="0">
                          <a:solidFill>
                            <a:srgbClr val="000000"/>
                          </a:solidFill>
                          <a:latin typeface="Malgun Gothic"/>
                          <a:ea typeface="Malgun Gothic"/>
                          <a:cs typeface="Malgun Gothic"/>
                        </a:rPr>
                        <a:t>포화·수렴·합부 판정 재계산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24개 자동 점검 통과</a:t>
                      </a:r>
                    </a:p>
                    <a:p>
                      <a:pPr algn="l">
                        <a:lnSpc>
                          <a:spcPct val="105000"/>
                        </a:lnSpc>
                        <a:spcBef>
                          <a:spcPts val="0"/>
                        </a:spcBef>
                        <a:spcAft>
                          <a:spcPts val="100"/>
                        </a:spcAft>
                      </a:pPr>
                      <a:r>
                        <a:rPr sz="1200" b="0">
                          <a:solidFill>
                            <a:srgbClr val="000000"/>
                          </a:solidFill>
                          <a:latin typeface="Malgun Gothic"/>
                          <a:ea typeface="Malgun Gothic"/>
                          <a:cs typeface="Malgun Gothic"/>
                        </a:rPr>
                        <a:t>본 PPTX 작성 시 재실행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4008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수치 간격 의존성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대표 5개 조건: Ts/8 → Ts/32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THD 최대 차이 0.00331%p</a:t>
                      </a:r>
                    </a:p>
                    <a:p>
                      <a:pPr algn="l">
                        <a:lnSpc>
                          <a:spcPct val="105000"/>
                        </a:lnSpc>
                        <a:spcBef>
                          <a:spcPts val="0"/>
                        </a:spcBef>
                        <a:spcAft>
                          <a:spcPts val="100"/>
                        </a:spcAft>
                      </a:pPr>
                      <a:r>
                        <a:rPr sz="1200" b="0">
                          <a:solidFill>
                            <a:srgbClr val="000000"/>
                          </a:solidFill>
                          <a:latin typeface="Malgun Gothic"/>
                          <a:ea typeface="Malgun Gothic"/>
                          <a:cs typeface="Malgun Gothic"/>
                        </a:rPr>
                        <a:t>5개 조건의 THD 판정 동일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40080">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계산시간 의존성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대표 2개 조건: 50 → 100주기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성공·실패 판정 유지</a:t>
                      </a:r>
                    </a:p>
                    <a:p>
                      <a:pPr algn="l">
                        <a:lnSpc>
                          <a:spcPct val="105000"/>
                        </a:lnSpc>
                        <a:spcBef>
                          <a:spcPts val="0"/>
                        </a:spcBef>
                        <a:spcAft>
                          <a:spcPts val="100"/>
                        </a:spcAft>
                      </a:pPr>
                      <a:r>
                        <a:rPr sz="1200" b="0">
                          <a:solidFill>
                            <a:srgbClr val="000000"/>
                          </a:solidFill>
                          <a:latin typeface="Malgun Gothic"/>
                          <a:ea typeface="Malgun Gothic"/>
                          <a:cs typeface="Malgun Gothic"/>
                        </a:rPr>
                        <a:t>유한시간 검증으로 한정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530352" y="5513832"/>
            <a:ext cx="8823960" cy="713232"/>
          </a:xfrm>
          <a:prstGeom prst="rect">
            <a:avLst/>
          </a:prstGeom>
          <a:solidFill>
            <a:srgbClr val="F3F3F3"/>
          </a:solidFill>
          <a:ln w="8255">
            <a:solidFill>
              <a:srgbClr val="B8B8B8"/>
            </a:solidFill>
          </a:ln>
          <a:effectLst/>
        </p:spPr>
        <p:txBody>
          <a:bodyPr rtlCol="0" anchor="ctr"/>
          <a:lstStyle/>
          <a:p>
            <a:pPr algn="ctr"/>
          </a:p>
        </p:txBody>
      </p:sp>
      <p:sp>
        <p:nvSpPr>
          <p:cNvPr id="19" name="TextBox 18"/>
          <p:cNvSpPr txBox="1"/>
          <p:nvPr/>
        </p:nvSpPr>
        <p:spPr>
          <a:xfrm>
            <a:off x="612647" y="5577840"/>
            <a:ext cx="8659368" cy="585216"/>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50" b="0">
                <a:solidFill>
                  <a:srgbClr val="555555"/>
                </a:solidFill>
                <a:latin typeface="Malgun Gothic"/>
                <a:ea typeface="Malgun Gothic"/>
                <a:cs typeface="Malgun Gothic"/>
              </a:rPr>
              <a:t>동일 입력의 반복 계산은 계측 오차 추정자료에서 제외함.</a:t>
            </a:r>
          </a:p>
          <a:p>
            <a:pPr algn="l">
              <a:lnSpc>
                <a:spcPct val="108000"/>
              </a:lnSpc>
              <a:spcBef>
                <a:spcPts val="0"/>
              </a:spcBef>
              <a:spcAft>
                <a:spcPts val="200"/>
              </a:spcAft>
            </a:pPr>
            <a:r>
              <a:rPr sz="1250" b="0">
                <a:solidFill>
                  <a:srgbClr val="555555"/>
                </a:solidFill>
                <a:latin typeface="Malgun Gothic"/>
                <a:ea typeface="Malgun Gothic"/>
                <a:cs typeface="Malgun Gothic"/>
              </a:rPr>
              <a:t>코드·데이터의 재현성 확인과 실제 제품에 대한 모델 유효성 검증은 별도 항목으로 관리함.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verification.json; numerical_refinement.csv; long_duration.csv; test_results.json; 재점검 로그.</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15/58</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2. Measure / 현 수준 및 조건별 분석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피상전력·계통전압별 취약 조건 확인</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기준 운전조건 63개를 S*·Vac별 9개 그룹으로 구분함. 표의 각 행은 φ가 다른 7개 조건을 동일 가중으로 집계한 값임.</a:t>
            </a:r>
          </a:p>
        </p:txBody>
      </p:sp>
      <p:graphicFrame>
        <p:nvGraphicFramePr>
          <p:cNvPr id="17" name="Table 16"/>
          <p:cNvGraphicFramePr>
            <a:graphicFrameLocks noGrp="1"/>
          </p:cNvGraphicFramePr>
          <p:nvPr/>
        </p:nvGraphicFramePr>
        <p:xfrm>
          <a:off x="393192" y="1956816"/>
          <a:ext cx="5779005" cy="3840480"/>
        </p:xfrm>
        <a:graphic>
          <a:graphicData uri="http://schemas.openxmlformats.org/drawingml/2006/table">
            <a:tbl>
              <a:tblPr firstRow="1" bandRow="1">
                <a:tableStyleId>{5C22544A-7EE6-4342-B048-85BDC9FD1C3A}</a:tableStyleId>
              </a:tblPr>
              <a:tblGrid>
                <a:gridCol w="1058749"/>
                <a:gridCol w="1014634"/>
                <a:gridCol w="1499895"/>
                <a:gridCol w="1146978"/>
                <a:gridCol w="1058749"/>
              </a:tblGrid>
              <a:tr h="384048">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S* [VA]</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Vac [Vrms]</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평균 THD [%]</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최대 THD [%]</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만족 수/7</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900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207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6.549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6.555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900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230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7.139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7.150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900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253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7.693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7.698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1100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207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5.529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5.534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1100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230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6.050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6.056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1100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253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6.547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6.553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1400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207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4.481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4.487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7/7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1400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230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4.925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4.927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7/7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4048">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1400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253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5.347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5.351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0">
                          <a:solidFill>
                            <a:srgbClr val="000000"/>
                          </a:solidFill>
                          <a:latin typeface="Malgun Gothic"/>
                          <a:ea typeface="Malgun Gothic"/>
                          <a:cs typeface="Malgun Gothic"/>
                        </a:rPr>
                        <a:t>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6382512" y="1956816"/>
            <a:ext cx="3118104" cy="1051560"/>
          </a:xfrm>
          <a:prstGeom prst="rect">
            <a:avLst/>
          </a:prstGeom>
          <a:solidFill>
            <a:srgbClr val="FFFFFF"/>
          </a:solidFill>
          <a:ln w="8255">
            <a:solidFill>
              <a:srgbClr val="B8B8B8"/>
            </a:solidFill>
          </a:ln>
          <a:effectLst/>
        </p:spPr>
        <p:txBody>
          <a:bodyPr rtlCol="0" anchor="ctr"/>
          <a:lstStyle/>
          <a:p>
            <a:pPr algn="ctr"/>
          </a:p>
        </p:txBody>
      </p:sp>
      <p:sp>
        <p:nvSpPr>
          <p:cNvPr id="19" name="TextBox 18"/>
          <p:cNvSpPr txBox="1"/>
          <p:nvPr/>
        </p:nvSpPr>
        <p:spPr>
          <a:xfrm>
            <a:off x="6464808" y="2020824"/>
            <a:ext cx="2953512" cy="923543"/>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00" b="0">
                <a:solidFill>
                  <a:srgbClr val="000000"/>
                </a:solidFill>
                <a:latin typeface="Malgun Gothic"/>
                <a:ea typeface="Malgun Gothic"/>
                <a:cs typeface="Malgun Gothic"/>
              </a:rPr>
              <a:t>분석 목적</a:t>
            </a:r>
          </a:p>
          <a:p>
            <a:pPr algn="l">
              <a:lnSpc>
                <a:spcPct val="108000"/>
              </a:lnSpc>
              <a:spcBef>
                <a:spcPts val="0"/>
              </a:spcBef>
              <a:spcAft>
                <a:spcPts val="200"/>
              </a:spcAft>
            </a:pPr>
            <a:r>
              <a:rPr sz="1200" b="0">
                <a:solidFill>
                  <a:srgbClr val="000000"/>
                </a:solidFill>
                <a:latin typeface="Malgun Gothic"/>
                <a:ea typeface="Malgun Gothic"/>
                <a:cs typeface="Malgun Gothic"/>
              </a:rPr>
              <a:t>운전조건 차이에 따른 미달 집중 영역을 파악하고 개선 검증 범위를 정하기 위함.</a:t>
            </a:r>
          </a:p>
        </p:txBody>
      </p:sp>
      <p:sp>
        <p:nvSpPr>
          <p:cNvPr id="20" name="Rectangle 19"/>
          <p:cNvSpPr/>
          <p:nvPr/>
        </p:nvSpPr>
        <p:spPr>
          <a:xfrm>
            <a:off x="6382512" y="3172968"/>
            <a:ext cx="3118104" cy="1362456"/>
          </a:xfrm>
          <a:prstGeom prst="rect">
            <a:avLst/>
          </a:prstGeom>
          <a:solidFill>
            <a:srgbClr val="FFFFFF"/>
          </a:solidFill>
          <a:ln w="8255">
            <a:solidFill>
              <a:srgbClr val="B8B8B8"/>
            </a:solidFill>
          </a:ln>
          <a:effectLst/>
        </p:spPr>
        <p:txBody>
          <a:bodyPr rtlCol="0" anchor="ctr"/>
          <a:lstStyle/>
          <a:p>
            <a:pPr algn="ctr"/>
          </a:p>
        </p:txBody>
      </p:sp>
      <p:sp>
        <p:nvSpPr>
          <p:cNvPr id="21" name="TextBox 20"/>
          <p:cNvSpPr txBox="1"/>
          <p:nvPr/>
        </p:nvSpPr>
        <p:spPr>
          <a:xfrm>
            <a:off x="6464808" y="3236976"/>
            <a:ext cx="2953512" cy="1234440"/>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00" b="0">
                <a:solidFill>
                  <a:srgbClr val="008000"/>
                </a:solidFill>
                <a:latin typeface="Malgun Gothic"/>
                <a:ea typeface="Malgun Gothic"/>
                <a:cs typeface="Malgun Gothic"/>
              </a:rPr>
              <a:t>결과 해석</a:t>
            </a:r>
          </a:p>
          <a:p>
            <a:pPr algn="l">
              <a:lnSpc>
                <a:spcPct val="108000"/>
              </a:lnSpc>
              <a:spcBef>
                <a:spcPts val="0"/>
              </a:spcBef>
              <a:spcAft>
                <a:spcPts val="200"/>
              </a:spcAft>
            </a:pPr>
            <a:r>
              <a:rPr sz="1200" b="0">
                <a:solidFill>
                  <a:srgbClr val="008000"/>
                </a:solidFill>
                <a:latin typeface="Malgun Gothic"/>
                <a:ea typeface="Malgun Gothic"/>
                <a:cs typeface="Malgun Gothic"/>
              </a:rPr>
              <a:t>900·1,100 VA는 각각 0/21 만족함. 1,400 VA는 14/21 만족하여 낮은 S* 영역의 개선 필요성이 확인됨.</a:t>
            </a:r>
          </a:p>
        </p:txBody>
      </p:sp>
      <p:sp>
        <p:nvSpPr>
          <p:cNvPr id="22" name="Rectangle 21"/>
          <p:cNvSpPr/>
          <p:nvPr/>
        </p:nvSpPr>
        <p:spPr>
          <a:xfrm>
            <a:off x="6382512" y="4681728"/>
            <a:ext cx="3118104" cy="1097280"/>
          </a:xfrm>
          <a:prstGeom prst="rect">
            <a:avLst/>
          </a:prstGeom>
          <a:solidFill>
            <a:srgbClr val="FFFFFF"/>
          </a:solidFill>
          <a:ln w="8255">
            <a:solidFill>
              <a:srgbClr val="B8B8B8"/>
            </a:solidFill>
          </a:ln>
          <a:effectLst/>
        </p:spPr>
        <p:txBody>
          <a:bodyPr rtlCol="0" anchor="ctr"/>
          <a:lstStyle/>
          <a:p>
            <a:pPr algn="ctr"/>
          </a:p>
        </p:txBody>
      </p:sp>
      <p:sp>
        <p:nvSpPr>
          <p:cNvPr id="23" name="TextBox 22"/>
          <p:cNvSpPr txBox="1"/>
          <p:nvPr/>
        </p:nvSpPr>
        <p:spPr>
          <a:xfrm>
            <a:off x="6464808" y="4745736"/>
            <a:ext cx="2953512" cy="96926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170" b="0">
                <a:solidFill>
                  <a:srgbClr val="000000"/>
                </a:solidFill>
                <a:latin typeface="Malgun Gothic"/>
                <a:ea typeface="Malgun Gothic"/>
                <a:cs typeface="Malgun Gothic"/>
              </a:rPr>
              <a:t>해석 범위</a:t>
            </a:r>
          </a:p>
          <a:p>
            <a:pPr algn="l">
              <a:lnSpc>
                <a:spcPct val="108000"/>
              </a:lnSpc>
              <a:spcBef>
                <a:spcPts val="0"/>
              </a:spcBef>
              <a:spcAft>
                <a:spcPts val="200"/>
              </a:spcAft>
            </a:pPr>
            <a:r>
              <a:rPr sz="1170" b="0">
                <a:solidFill>
                  <a:srgbClr val="000000"/>
                </a:solidFill>
                <a:latin typeface="Malgun Gothic"/>
                <a:ea typeface="Malgun Gothic"/>
                <a:cs typeface="Malgun Gothic"/>
              </a:rPr>
              <a:t>조건 그룹 간 차이는 운전조건 영향임. 동일 운전조건의 제품 산포 또는 계측 산포로 해석하지 않음.</a:t>
            </a:r>
          </a:p>
        </p:txBody>
      </p:sp>
      <p:sp>
        <p:nvSpPr>
          <p:cNvPr id="24" name="TextBox 23"/>
          <p:cNvSpPr txBox="1"/>
          <p:nvPr/>
        </p:nvSpPr>
        <p:spPr>
          <a:xfrm>
            <a:off x="393192" y="6016752"/>
            <a:ext cx="9107424" cy="2743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60" b="0">
                <a:solidFill>
                  <a:srgbClr val="008000"/>
                </a:solidFill>
                <a:latin typeface="Malgun Gothic"/>
                <a:ea typeface="Malgun Gothic"/>
                <a:cs typeface="Malgun Gothic"/>
              </a:rPr>
              <a:t>판단: 900~1,400 VA 전 영역을 유지하되, 낮은 S*에서 최대 THD 개선 여부를 우선 확인함.</a:t>
            </a:r>
          </a:p>
        </p:txBody>
      </p:sp>
      <p:cxnSp>
        <p:nvCxnSpPr>
          <p:cNvPr id="25" name="Connector 24"/>
          <p:cNvCxnSpPr/>
          <p:nvPr/>
        </p:nvCxnSpPr>
        <p:spPr>
          <a:xfrm>
            <a:off x="365760" y="6428232"/>
            <a:ext cx="9189720" cy="0"/>
          </a:xfrm>
          <a:prstGeom prst="line">
            <a:avLst/>
          </a:prstGeom>
          <a:ln w="5715">
            <a:solidFill>
              <a:srgbClr val="000000"/>
            </a:solidFill>
          </a:ln>
          <a:effectLst/>
        </p:spPr>
      </p:cxnSp>
      <p:sp>
        <p:nvSpPr>
          <p:cNvPr id="26" name="TextBox 25"/>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V2 results/baseline.csv → V3 analysis/baseline_strata.csv | V3 추가 기술통계</a:t>
            </a:r>
          </a:p>
        </p:txBody>
      </p:sp>
      <p:sp>
        <p:nvSpPr>
          <p:cNvPr id="27" name="TextBox 26"/>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16/58</a:t>
            </a:r>
          </a:p>
        </p:txBody>
      </p:sp>
      <p:sp>
        <p:nvSpPr>
          <p:cNvPr id="28" name="TextBox 27">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9" name="TextBox 28">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3. Analyze / 잠재인자 및 가인자 선정</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변경 가능 인자와 검증 대상 구분</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전류 품질에 영향을 주는 인자를 전개하고, 본 과제에서 변경 가능한 고조파 제어 이득·대역·차수 조합을 가인자로 선정함.</a:t>
            </a:r>
          </a:p>
        </p:txBody>
      </p:sp>
      <p:graphicFrame>
        <p:nvGraphicFramePr>
          <p:cNvPr id="17" name="Table 16"/>
          <p:cNvGraphicFramePr>
            <a:graphicFrameLocks noGrp="1"/>
          </p:cNvGraphicFramePr>
          <p:nvPr/>
        </p:nvGraphicFramePr>
        <p:xfrm>
          <a:off x="411480" y="2048256"/>
          <a:ext cx="9052559" cy="3447288"/>
        </p:xfrm>
        <a:graphic>
          <a:graphicData uri="http://schemas.openxmlformats.org/drawingml/2006/table">
            <a:tbl>
              <a:tblPr firstRow="1" bandRow="1">
                <a:tableStyleId>{5C22544A-7EE6-4342-B048-85BDC9FD1C3A}</a:tableStyleId>
              </a:tblPr>
              <a:tblGrid>
                <a:gridCol w="2240280"/>
                <a:gridCol w="3977639"/>
                <a:gridCol w="2834640"/>
              </a:tblGrid>
              <a:tr h="574548">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영향 경로</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검토 내용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처리 / 근거 범위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74548">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잔류 비선형 전압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초기 왜곡전압 er(i); 제거시험으로 모델 내 영향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회로측 고정 / 보정값 유지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74548">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기본 전류제어 / PLL</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dq-PI·FF·지연·ADC·PLL 설정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고정: 개선을 위한 동시 변경 금지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74548">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고조파 전류 오차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3·5·7차 잔류 성분에 대한 선택적 피드백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조정 X: Kr, fc, 포함 차수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74548">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부품·계통·전압 여유</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Lf/Lg, Vdc, 계통 고조파, 센서오차, 지연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변동 검증조건 60개의 변동 인자로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74548">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실제 소자 전환 동작</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저주파 레그 전환, 불연속 전류, 출력 기생용량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주모델 미포함</a:t>
                      </a:r>
                    </a:p>
                    <a:p>
                      <a:pPr algn="l">
                        <a:lnSpc>
                          <a:spcPct val="105000"/>
                        </a:lnSpc>
                        <a:spcBef>
                          <a:spcPts val="0"/>
                        </a:spcBef>
                        <a:spcAft>
                          <a:spcPts val="100"/>
                        </a:spcAft>
                      </a:pPr>
                      <a:r>
                        <a:rPr sz="1170" b="0">
                          <a:solidFill>
                            <a:srgbClr val="000000"/>
                          </a:solidFill>
                          <a:latin typeface="Malgun Gothic"/>
                          <a:ea typeface="Malgun Gothic"/>
                          <a:cs typeface="Malgun Gothic"/>
                        </a:rPr>
                        <a:t>실제 원인으로 판정하지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411480" y="5833872"/>
            <a:ext cx="9052560" cy="38404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80" b="0">
                <a:solidFill>
                  <a:srgbClr val="555555"/>
                </a:solidFill>
                <a:latin typeface="Malgun Gothic"/>
                <a:ea typeface="Malgun Gothic"/>
                <a:cs typeface="Malgun Gothic"/>
              </a:rPr>
              <a:t>인자 선정 기준: 변경 가능 여부와 예상 영향으로 구분함. 제외 인자는 선정 사유 및 후속 검증 항목에 기록함.</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docs/00_protocol.md; docs/01_model.md; results/ablation.csv. 구성: 기존 Snubber p.10 참조.</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17/58</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3. Analyze / 가인자 영향 확인</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모델 내 왜곡 경로 및 차수별 개선 효과</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900 VA, 230 V, Q=0 조건에서 잔류오차 제거와 고조파 제어 추가 결과를 비교함. 각 변경에 따른 THD 감소 경향을 확인함.</a:t>
            </a:r>
          </a:p>
        </p:txBody>
      </p:sp>
      <p:sp>
        <p:nvSpPr>
          <p:cNvPr id="17" name="TextBox 16"/>
          <p:cNvSpPr txBox="1"/>
          <p:nvPr/>
        </p:nvSpPr>
        <p:spPr>
          <a:xfrm>
            <a:off x="411480" y="1993392"/>
            <a:ext cx="5715000" cy="2743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THD [%] · 동일 회로 / 단계적 제어 추가</a:t>
            </a:r>
          </a:p>
        </p:txBody>
      </p:sp>
      <p:graphicFrame>
        <p:nvGraphicFramePr>
          <p:cNvPr id="18" name="Chart 17"/>
          <p:cNvGraphicFramePr>
            <a:graphicFrameLocks noGrp="1"/>
          </p:cNvGraphicFramePr>
          <p:nvPr/>
        </p:nvGraphicFramePr>
        <p:xfrm>
          <a:off x="365760" y="2286000"/>
          <a:ext cx="5715000" cy="3840480"/>
        </p:xfrm>
        <a:graphic>
          <a:graphicData uri="http://schemas.openxmlformats.org/drawingml/2006/chart">
            <c:chart xmlns:c="http://schemas.openxmlformats.org/drawingml/2006/chart" r:id="rId2"/>
          </a:graphicData>
        </a:graphic>
      </p:graphicFrame>
      <p:sp>
        <p:nvSpPr>
          <p:cNvPr id="19" name="Rectangle 18"/>
          <p:cNvSpPr/>
          <p:nvPr/>
        </p:nvSpPr>
        <p:spPr>
          <a:xfrm>
            <a:off x="6263640" y="2103120"/>
            <a:ext cx="3154680" cy="1993392"/>
          </a:xfrm>
          <a:prstGeom prst="rect">
            <a:avLst/>
          </a:prstGeom>
          <a:solidFill>
            <a:srgbClr val="FFFFFF"/>
          </a:solidFill>
          <a:ln w="8255">
            <a:solidFill>
              <a:srgbClr val="B8B8B8"/>
            </a:solidFill>
          </a:ln>
          <a:effectLst/>
        </p:spPr>
        <p:txBody>
          <a:bodyPr rtlCol="0" anchor="ctr"/>
          <a:lstStyle/>
          <a:p>
            <a:pPr algn="ctr"/>
          </a:p>
        </p:txBody>
      </p:sp>
      <p:sp>
        <p:nvSpPr>
          <p:cNvPr id="20" name="TextBox 19"/>
          <p:cNvSpPr txBox="1"/>
          <p:nvPr/>
        </p:nvSpPr>
        <p:spPr>
          <a:xfrm>
            <a:off x="6345936" y="2167127"/>
            <a:ext cx="2990088" cy="1865376"/>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70" b="0">
                <a:solidFill>
                  <a:srgbClr val="000000"/>
                </a:solidFill>
                <a:latin typeface="Malgun Gothic"/>
                <a:ea typeface="Malgun Gothic"/>
                <a:cs typeface="Malgun Gothic"/>
              </a:rPr>
              <a:t>원인 확인 범위</a:t>
            </a:r>
          </a:p>
          <a:p>
            <a:pPr algn="l">
              <a:lnSpc>
                <a:spcPct val="108000"/>
              </a:lnSpc>
              <a:spcBef>
                <a:spcPts val="0"/>
              </a:spcBef>
              <a:spcAft>
                <a:spcPts val="200"/>
              </a:spcAft>
            </a:pPr>
            <a:r>
              <a:rPr sz="1270" b="0">
                <a:solidFill>
                  <a:srgbClr val="000000"/>
                </a:solidFill>
                <a:latin typeface="Malgun Gothic"/>
                <a:ea typeface="Malgun Gothic"/>
                <a:cs typeface="Malgun Gothic"/>
              </a:rPr>
              <a:t>잔류오차 제거는 모델 내 원인 확인을 위한 수치 진단임. er(i)의 왜곡 경로를 확인한 결과이며 실제 제품 원인 규명과는 구분함.</a:t>
            </a:r>
          </a:p>
        </p:txBody>
      </p:sp>
      <p:sp>
        <p:nvSpPr>
          <p:cNvPr id="21" name="Rectangle 20"/>
          <p:cNvSpPr/>
          <p:nvPr/>
        </p:nvSpPr>
        <p:spPr>
          <a:xfrm>
            <a:off x="6263640" y="4315968"/>
            <a:ext cx="3154680" cy="1417320"/>
          </a:xfrm>
          <a:prstGeom prst="rect">
            <a:avLst/>
          </a:prstGeom>
          <a:solidFill>
            <a:srgbClr val="FFFFFF"/>
          </a:solidFill>
          <a:ln w="8255">
            <a:solidFill>
              <a:srgbClr val="B8B8B8"/>
            </a:solidFill>
          </a:ln>
          <a:effectLst/>
        </p:spPr>
        <p:txBody>
          <a:bodyPr rtlCol="0" anchor="ctr"/>
          <a:lstStyle/>
          <a:p>
            <a:pPr algn="ctr"/>
          </a:p>
        </p:txBody>
      </p:sp>
      <p:sp>
        <p:nvSpPr>
          <p:cNvPr id="22" name="TextBox 21"/>
          <p:cNvSpPr txBox="1"/>
          <p:nvPr/>
        </p:nvSpPr>
        <p:spPr>
          <a:xfrm>
            <a:off x="6345936" y="4379976"/>
            <a:ext cx="2990088" cy="128930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70" b="0">
                <a:solidFill>
                  <a:srgbClr val="000000"/>
                </a:solidFill>
                <a:latin typeface="Malgun Gothic"/>
                <a:ea typeface="Malgun Gothic"/>
                <a:cs typeface="Malgun Gothic"/>
              </a:rPr>
              <a:t>제어 개선 방향</a:t>
            </a:r>
          </a:p>
          <a:p>
            <a:pPr algn="l">
              <a:lnSpc>
                <a:spcPct val="108000"/>
              </a:lnSpc>
              <a:spcBef>
                <a:spcPts val="0"/>
              </a:spcBef>
              <a:spcAft>
                <a:spcPts val="200"/>
              </a:spcAft>
            </a:pPr>
            <a:r>
              <a:rPr sz="1270" b="0">
                <a:solidFill>
                  <a:srgbClr val="000000"/>
                </a:solidFill>
                <a:latin typeface="Malgun Gothic"/>
                <a:ea typeface="Malgun Gothic"/>
                <a:cs typeface="Malgun Gothic"/>
              </a:rPr>
              <a:t>보상 차수 추가에 따른 THD 감소가 확인됨. 보정한 teq는 사용하지 않고 전류 오차 피드백만 적용함.</a:t>
            </a:r>
          </a:p>
        </p:txBody>
      </p:sp>
      <p:cxnSp>
        <p:nvCxnSpPr>
          <p:cNvPr id="23" name="Connector 22"/>
          <p:cNvCxnSpPr/>
          <p:nvPr/>
        </p:nvCxnSpPr>
        <p:spPr>
          <a:xfrm>
            <a:off x="365760" y="6428232"/>
            <a:ext cx="9189720" cy="0"/>
          </a:xfrm>
          <a:prstGeom prst="line">
            <a:avLst/>
          </a:prstGeom>
          <a:ln w="5715">
            <a:solidFill>
              <a:srgbClr val="000000"/>
            </a:solidFill>
          </a:ln>
          <a:effectLst/>
        </p:spPr>
      </p:cxnSp>
      <p:sp>
        <p:nvSpPr>
          <p:cNvPr id="24" name="TextBox 23"/>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results/ablation.csv A00_*; src/model.py. 오차 제거는 진단이며 정식 개선안이 아님.</a:t>
            </a:r>
          </a:p>
        </p:txBody>
      </p:sp>
      <p:sp>
        <p:nvSpPr>
          <p:cNvPr id="25" name="TextBox 24"/>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18/58</a:t>
            </a:r>
          </a:p>
        </p:txBody>
      </p:sp>
      <p:sp>
        <p:nvSpPr>
          <p:cNvPr id="26" name="TextBox 25">
            <a:hlinkClick action="ppaction://hlinksldjump" r:id="rId4"/>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7" name="TextBox 26">
            <a:hlinkClick action="ppaction://hlinksldjump" r:id="rId5"/>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3. Analyze / 운전 조건별 영향 분석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일정 피상전력에서 위상 변화 영향 확인</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피상전력을 고정하고 전류 위상을 변경하여 THD를 비교함. 현재 모델에서는 무효전력에 의한 추가 왜곡이 뚜렷하지 않음.</a:t>
            </a:r>
          </a:p>
        </p:txBody>
      </p:sp>
      <p:sp>
        <p:nvSpPr>
          <p:cNvPr id="17" name="TextBox 16"/>
          <p:cNvSpPr txBox="1"/>
          <p:nvPr/>
        </p:nvSpPr>
        <p:spPr>
          <a:xfrm>
            <a:off x="411480" y="1993392"/>
            <a:ext cx="5760720" cy="2743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THD [%] · S*=900 VA, Vac=230 V 고정</a:t>
            </a:r>
          </a:p>
        </p:txBody>
      </p:sp>
      <p:graphicFrame>
        <p:nvGraphicFramePr>
          <p:cNvPr id="18" name="Chart 17"/>
          <p:cNvGraphicFramePr>
            <a:graphicFrameLocks noGrp="1"/>
          </p:cNvGraphicFramePr>
          <p:nvPr/>
        </p:nvGraphicFramePr>
        <p:xfrm>
          <a:off x="365760" y="2286000"/>
          <a:ext cx="5715000" cy="3840480"/>
        </p:xfrm>
        <a:graphic>
          <a:graphicData uri="http://schemas.openxmlformats.org/drawingml/2006/chart">
            <c:chart xmlns:c="http://schemas.openxmlformats.org/drawingml/2006/chart" r:id="rId2"/>
          </a:graphicData>
        </a:graphic>
      </p:graphicFrame>
      <p:sp>
        <p:nvSpPr>
          <p:cNvPr id="19" name="Rectangle 18"/>
          <p:cNvSpPr/>
          <p:nvPr/>
        </p:nvSpPr>
        <p:spPr>
          <a:xfrm>
            <a:off x="6263640" y="2103120"/>
            <a:ext cx="3154680" cy="1865376"/>
          </a:xfrm>
          <a:prstGeom prst="rect">
            <a:avLst/>
          </a:prstGeom>
          <a:solidFill>
            <a:srgbClr val="FFFFFF"/>
          </a:solidFill>
          <a:ln w="8255">
            <a:solidFill>
              <a:srgbClr val="B8B8B8"/>
            </a:solidFill>
          </a:ln>
          <a:effectLst/>
        </p:spPr>
        <p:txBody>
          <a:bodyPr rtlCol="0" anchor="ctr"/>
          <a:lstStyle/>
          <a:p>
            <a:pPr algn="ctr"/>
          </a:p>
        </p:txBody>
      </p:sp>
      <p:sp>
        <p:nvSpPr>
          <p:cNvPr id="20" name="TextBox 19"/>
          <p:cNvSpPr txBox="1"/>
          <p:nvPr/>
        </p:nvSpPr>
        <p:spPr>
          <a:xfrm>
            <a:off x="6345936" y="2167127"/>
            <a:ext cx="2990088" cy="1737360"/>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70" b="0">
                <a:solidFill>
                  <a:srgbClr val="000000"/>
                </a:solidFill>
                <a:latin typeface="Malgun Gothic"/>
                <a:ea typeface="Malgun Gothic"/>
                <a:cs typeface="Malgun Gothic"/>
              </a:rPr>
              <a:t>해석 결과</a:t>
            </a:r>
          </a:p>
          <a:p>
            <a:pPr algn="l">
              <a:lnSpc>
                <a:spcPct val="108000"/>
              </a:lnSpc>
              <a:spcBef>
                <a:spcPts val="0"/>
              </a:spcBef>
              <a:spcAft>
                <a:spcPts val="200"/>
              </a:spcAft>
            </a:pPr>
            <a:r>
              <a:rPr sz="1270" b="0">
                <a:solidFill>
                  <a:srgbClr val="000000"/>
                </a:solidFill>
                <a:latin typeface="Malgun Gothic"/>
                <a:ea typeface="Malgun Gothic"/>
                <a:cs typeface="Malgun Gothic"/>
              </a:rPr>
              <a:t>위상 −90°~+90°에서 THD 변화는 작게 나타남. 현재 모델은 전류 크기와 잔류오차가 지배적인 조건으로 확인됨.</a:t>
            </a:r>
          </a:p>
        </p:txBody>
      </p:sp>
      <p:sp>
        <p:nvSpPr>
          <p:cNvPr id="21" name="Rectangle 20"/>
          <p:cNvSpPr/>
          <p:nvPr/>
        </p:nvSpPr>
        <p:spPr>
          <a:xfrm>
            <a:off x="6263640" y="4233672"/>
            <a:ext cx="3154680" cy="1572768"/>
          </a:xfrm>
          <a:prstGeom prst="rect">
            <a:avLst/>
          </a:prstGeom>
          <a:solidFill>
            <a:srgbClr val="F3F3F3"/>
          </a:solidFill>
          <a:ln w="8255">
            <a:solidFill>
              <a:srgbClr val="B8B8B8"/>
            </a:solidFill>
          </a:ln>
          <a:effectLst/>
        </p:spPr>
        <p:txBody>
          <a:bodyPr rtlCol="0" anchor="ctr"/>
          <a:lstStyle/>
          <a:p>
            <a:pPr algn="ctr"/>
          </a:p>
        </p:txBody>
      </p:sp>
      <p:sp>
        <p:nvSpPr>
          <p:cNvPr id="22" name="TextBox 21"/>
          <p:cNvSpPr txBox="1"/>
          <p:nvPr/>
        </p:nvSpPr>
        <p:spPr>
          <a:xfrm>
            <a:off x="6345936" y="4297680"/>
            <a:ext cx="2990088" cy="1444752"/>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70" b="0">
                <a:solidFill>
                  <a:srgbClr val="555555"/>
                </a:solidFill>
                <a:latin typeface="Malgun Gothic"/>
                <a:ea typeface="Malgun Gothic"/>
                <a:cs typeface="Malgun Gothic"/>
              </a:rPr>
              <a:t>적용 범위</a:t>
            </a:r>
          </a:p>
          <a:p>
            <a:pPr algn="l">
              <a:lnSpc>
                <a:spcPct val="108000"/>
              </a:lnSpc>
              <a:spcBef>
                <a:spcPts val="0"/>
              </a:spcBef>
              <a:spcAft>
                <a:spcPts val="200"/>
              </a:spcAft>
            </a:pPr>
            <a:r>
              <a:rPr sz="1270" b="0">
                <a:solidFill>
                  <a:srgbClr val="555555"/>
                </a:solidFill>
                <a:latin typeface="Malgun Gothic"/>
                <a:ea typeface="Malgun Gothic"/>
                <a:cs typeface="Malgun Gothic"/>
              </a:rPr>
              <a:t>저부하 및 위상 변화 조건에서 제어 후보의 효과를 확인함. 실제 무효전력 고유 왜곡에 대한 검증은 추가로 필요함.</a:t>
            </a:r>
          </a:p>
        </p:txBody>
      </p:sp>
      <p:sp>
        <p:nvSpPr>
          <p:cNvPr id="23" name="TextBox 22"/>
          <p:cNvSpPr txBox="1"/>
          <p:nvPr/>
        </p:nvSpPr>
        <p:spPr>
          <a:xfrm>
            <a:off x="411480" y="6080760"/>
            <a:ext cx="90525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φ는 전류 지상각임. φ&gt;0: Q*&gt;0 / φ&lt;0: Q*&lt;0. 실제 무효전력 운전의 원인·성능으로 확대하지 않음.</a:t>
            </a:r>
          </a:p>
        </p:txBody>
      </p:sp>
      <p:cxnSp>
        <p:nvCxnSpPr>
          <p:cNvPr id="24" name="Connector 23"/>
          <p:cNvCxnSpPr/>
          <p:nvPr/>
        </p:nvCxnSpPr>
        <p:spPr>
          <a:xfrm>
            <a:off x="365760" y="6428232"/>
            <a:ext cx="9189720" cy="0"/>
          </a:xfrm>
          <a:prstGeom prst="line">
            <a:avLst/>
          </a:prstGeom>
          <a:ln w="5715">
            <a:solidFill>
              <a:srgbClr val="000000"/>
            </a:solidFill>
          </a:ln>
          <a:effectLst/>
        </p:spPr>
      </p:cxnSp>
      <p:sp>
        <p:nvSpPr>
          <p:cNvPr id="25" name="TextBox 24"/>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results/baseline.csv; improved.csv (M022~M028); docs/03_logic_review.md.</a:t>
            </a:r>
          </a:p>
        </p:txBody>
      </p:sp>
      <p:sp>
        <p:nvSpPr>
          <p:cNvPr id="26" name="TextBox 25"/>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19/58</a:t>
            </a:r>
          </a:p>
        </p:txBody>
      </p:sp>
      <p:sp>
        <p:nvSpPr>
          <p:cNvPr id="27" name="TextBox 26">
            <a:hlinkClick action="ppaction://hlinksldjump" r:id="rId4"/>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8" name="TextBox 27">
            <a:hlinkClick action="ppaction://hlinksldjump" r:id="rId5"/>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실험계획 수립</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3인자·3수준 완전요인배치</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3개 제어 인자의 모든 수준 조합 27개를 선정함. 각 조합에 동일한 9개 운전조건을 적용하여 총 243개 해석 결과를 확보함.</a:t>
            </a:r>
          </a:p>
        </p:txBody>
      </p:sp>
      <p:graphicFrame>
        <p:nvGraphicFramePr>
          <p:cNvPr id="17" name="Table 16"/>
          <p:cNvGraphicFramePr>
            <a:graphicFrameLocks noGrp="1"/>
          </p:cNvGraphicFramePr>
          <p:nvPr/>
        </p:nvGraphicFramePr>
        <p:xfrm>
          <a:off x="411480" y="2066543"/>
          <a:ext cx="9052560" cy="1783080"/>
        </p:xfrm>
        <a:graphic>
          <a:graphicData uri="http://schemas.openxmlformats.org/drawingml/2006/table">
            <a:tbl>
              <a:tblPr firstRow="1" bandRow="1">
                <a:tableStyleId>{5C22544A-7EE6-4342-B048-85BDC9FD1C3A}</a:tableStyleId>
              </a:tblPr>
              <a:tblGrid>
                <a:gridCol w="1874520"/>
                <a:gridCol w="1234440"/>
                <a:gridCol w="1234440"/>
                <a:gridCol w="1234440"/>
                <a:gridCol w="3474720"/>
              </a:tblGrid>
              <a:tr h="445770">
                <a:tc>
                  <a:txBody>
                    <a:bodyPr/>
                    <a:lstStyle/>
                    <a:p>
                      <a:pPr algn="ctr">
                        <a:lnSpc>
                          <a:spcPct val="105000"/>
                        </a:lnSpc>
                        <a:spcBef>
                          <a:spcPts val="0"/>
                        </a:spcBef>
                        <a:spcAft>
                          <a:spcPts val="100"/>
                        </a:spcAft>
                      </a:pPr>
                      <a:r>
                        <a:rPr sz="1230" b="1">
                          <a:solidFill>
                            <a:srgbClr val="000000"/>
                          </a:solidFill>
                          <a:latin typeface="Malgun Gothic"/>
                          <a:ea typeface="Malgun Gothic"/>
                          <a:cs typeface="Malgun Gothic"/>
                        </a:rPr>
                        <a:t>조정 인자</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30" b="1">
                          <a:solidFill>
                            <a:srgbClr val="000000"/>
                          </a:solidFill>
                          <a:latin typeface="Malgun Gothic"/>
                          <a:ea typeface="Malgun Gothic"/>
                          <a:cs typeface="Malgun Gothic"/>
                        </a:rPr>
                        <a:t>수준 1</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30" b="1">
                          <a:solidFill>
                            <a:srgbClr val="000000"/>
                          </a:solidFill>
                          <a:latin typeface="Malgun Gothic"/>
                          <a:ea typeface="Malgun Gothic"/>
                          <a:cs typeface="Malgun Gothic"/>
                        </a:rPr>
                        <a:t>수준 2</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30" b="1">
                          <a:solidFill>
                            <a:srgbClr val="000000"/>
                          </a:solidFill>
                          <a:latin typeface="Malgun Gothic"/>
                          <a:ea typeface="Malgun Gothic"/>
                          <a:cs typeface="Malgun Gothic"/>
                        </a:rPr>
                        <a:t>수준 3</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30" b="1">
                          <a:solidFill>
                            <a:srgbClr val="000000"/>
                          </a:solidFill>
                          <a:latin typeface="Malgun Gothic"/>
                          <a:ea typeface="Malgun Gothic"/>
                          <a:cs typeface="Malgun Gothic"/>
                        </a:rPr>
                        <a:t>의미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45770">
                <a:tc>
                  <a:txBody>
                    <a:bodyPr/>
                    <a:lstStyle/>
                    <a:p>
                      <a:pPr algn="l">
                        <a:lnSpc>
                          <a:spcPct val="105000"/>
                        </a:lnSpc>
                        <a:spcBef>
                          <a:spcPts val="0"/>
                        </a:spcBef>
                        <a:spcAft>
                          <a:spcPts val="100"/>
                        </a:spcAft>
                      </a:pPr>
                      <a:r>
                        <a:rPr sz="1230" b="0">
                          <a:solidFill>
                            <a:srgbClr val="000000"/>
                          </a:solidFill>
                          <a:latin typeface="Malgun Gothic"/>
                          <a:ea typeface="Malgun Gothic"/>
                          <a:cs typeface="Malgun Gothic"/>
                        </a:rPr>
                        <a:t>공진 이득 Kr [Ω]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3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3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30" b="0">
                          <a:solidFill>
                            <a:srgbClr val="000000"/>
                          </a:solidFill>
                          <a:latin typeface="Malgun Gothic"/>
                          <a:ea typeface="Malgun Gothic"/>
                          <a:cs typeface="Malgun Gothic"/>
                        </a:rPr>
                        <a:t>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30" b="0">
                          <a:solidFill>
                            <a:srgbClr val="000000"/>
                          </a:solidFill>
                          <a:latin typeface="Malgun Gothic"/>
                          <a:ea typeface="Malgun Gothic"/>
                          <a:cs typeface="Malgun Gothic"/>
                        </a:rPr>
                        <a:t>전류오차→전압의 이득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5770">
                <a:tc>
                  <a:txBody>
                    <a:bodyPr/>
                    <a:lstStyle/>
                    <a:p>
                      <a:pPr algn="l">
                        <a:lnSpc>
                          <a:spcPct val="105000"/>
                        </a:lnSpc>
                        <a:spcBef>
                          <a:spcPts val="0"/>
                        </a:spcBef>
                        <a:spcAft>
                          <a:spcPts val="100"/>
                        </a:spcAft>
                      </a:pPr>
                      <a:r>
                        <a:rPr sz="1230" b="0">
                          <a:solidFill>
                            <a:srgbClr val="000000"/>
                          </a:solidFill>
                          <a:latin typeface="Malgun Gothic"/>
                          <a:ea typeface="Malgun Gothic"/>
                          <a:cs typeface="Malgun Gothic"/>
                        </a:rPr>
                        <a:t>대역 파라미터 fc [Hz]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3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30" b="0">
                          <a:solidFill>
                            <a:srgbClr val="000000"/>
                          </a:solidFill>
                          <a:latin typeface="Malgun Gothic"/>
                          <a:ea typeface="Malgun Gothic"/>
                          <a:cs typeface="Malgun Gothic"/>
                        </a:rPr>
                        <a:t>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30" b="0">
                          <a:solidFill>
                            <a:srgbClr val="000000"/>
                          </a:solidFill>
                          <a:latin typeface="Malgun Gothic"/>
                          <a:ea typeface="Malgun Gothic"/>
                          <a:cs typeface="Malgun Gothic"/>
                        </a:rPr>
                        <a:t>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30" b="0">
                          <a:solidFill>
                            <a:srgbClr val="000000"/>
                          </a:solidFill>
                          <a:latin typeface="Malgun Gothic"/>
                          <a:ea typeface="Malgun Gothic"/>
                          <a:cs typeface="Malgun Gothic"/>
                        </a:rPr>
                        <a:t>준공진기의 ωc=2πfc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5770">
                <a:tc>
                  <a:txBody>
                    <a:bodyPr/>
                    <a:lstStyle/>
                    <a:p>
                      <a:pPr algn="l">
                        <a:lnSpc>
                          <a:spcPct val="105000"/>
                        </a:lnSpc>
                        <a:spcBef>
                          <a:spcPts val="0"/>
                        </a:spcBef>
                        <a:spcAft>
                          <a:spcPts val="100"/>
                        </a:spcAft>
                      </a:pPr>
                      <a:r>
                        <a:rPr sz="1230" b="0">
                          <a:solidFill>
                            <a:srgbClr val="000000"/>
                          </a:solidFill>
                          <a:latin typeface="Malgun Gothic"/>
                          <a:ea typeface="Malgun Gothic"/>
                          <a:cs typeface="Malgun Gothic"/>
                        </a:rPr>
                        <a:t>적용 고조파 조합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3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3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3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30" b="0">
                          <a:solidFill>
                            <a:srgbClr val="000000"/>
                          </a:solidFill>
                          <a:latin typeface="Malgun Gothic"/>
                          <a:ea typeface="Malgun Gothic"/>
                          <a:cs typeface="Malgun Gothic"/>
                        </a:rPr>
                        <a:t>범주형 인자. 7차만이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521207" y="4133087"/>
            <a:ext cx="8851392" cy="1005840"/>
          </a:xfrm>
          <a:prstGeom prst="rect">
            <a:avLst/>
          </a:prstGeom>
          <a:solidFill>
            <a:srgbClr val="FFFFFF"/>
          </a:solidFill>
          <a:ln w="8255">
            <a:solidFill>
              <a:srgbClr val="B8B8B8"/>
            </a:solidFill>
          </a:ln>
          <a:effectLst/>
        </p:spPr>
        <p:txBody>
          <a:bodyPr rtlCol="0" anchor="ctr"/>
          <a:lstStyle/>
          <a:p>
            <a:pPr algn="ctr"/>
          </a:p>
        </p:txBody>
      </p:sp>
      <p:sp>
        <p:nvSpPr>
          <p:cNvPr id="19" name="TextBox 18"/>
          <p:cNvSpPr txBox="1"/>
          <p:nvPr/>
        </p:nvSpPr>
        <p:spPr>
          <a:xfrm>
            <a:off x="603503" y="4197096"/>
            <a:ext cx="8686800" cy="87782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300" b="0">
                <a:solidFill>
                  <a:srgbClr val="000000"/>
                </a:solidFill>
                <a:latin typeface="Malgun Gothic"/>
                <a:ea typeface="Malgun Gothic"/>
                <a:cs typeface="Malgun Gothic"/>
              </a:rPr>
              <a:t>총 해석 수: 27조합 × 9운전조건 = 243회</a:t>
            </a:r>
          </a:p>
          <a:p>
            <a:pPr algn="l">
              <a:lnSpc>
                <a:spcPct val="108000"/>
              </a:lnSpc>
              <a:spcBef>
                <a:spcPts val="0"/>
              </a:spcBef>
              <a:spcAft>
                <a:spcPts val="200"/>
              </a:spcAft>
            </a:pPr>
            <a:r>
              <a:rPr sz="1300" b="0">
                <a:solidFill>
                  <a:srgbClr val="000000"/>
                </a:solidFill>
                <a:latin typeface="Malgun Gothic"/>
                <a:ea typeface="Malgun Gothic"/>
                <a:cs typeface="Malgun Gothic"/>
              </a:rPr>
              <a:t>운전조건: 230 V / S*=900·1,100·1,400 VA / φ=−60·0·60°</a:t>
            </a:r>
          </a:p>
          <a:p>
            <a:pPr algn="l">
              <a:lnSpc>
                <a:spcPct val="108000"/>
              </a:lnSpc>
              <a:spcBef>
                <a:spcPts val="0"/>
              </a:spcBef>
              <a:spcAft>
                <a:spcPts val="200"/>
              </a:spcAft>
            </a:pPr>
            <a:r>
              <a:rPr sz="1300" b="0">
                <a:solidFill>
                  <a:srgbClr val="000000"/>
                </a:solidFill>
                <a:latin typeface="Malgun Gothic"/>
                <a:ea typeface="Malgun Gothic"/>
                <a:cs typeface="Malgun Gothic"/>
              </a:rPr>
              <a:t>9개 운전조건은 서로 다른 조건이며 동일 조건 반복실험과 구분함.</a:t>
            </a:r>
          </a:p>
        </p:txBody>
      </p:sp>
      <p:sp>
        <p:nvSpPr>
          <p:cNvPr id="20" name="Rectangle 19"/>
          <p:cNvSpPr/>
          <p:nvPr/>
        </p:nvSpPr>
        <p:spPr>
          <a:xfrm>
            <a:off x="521207" y="5230368"/>
            <a:ext cx="8851392" cy="859536"/>
          </a:xfrm>
          <a:prstGeom prst="rect">
            <a:avLst/>
          </a:prstGeom>
          <a:solidFill>
            <a:srgbClr val="F3F3F3"/>
          </a:solidFill>
          <a:ln w="8255">
            <a:solidFill>
              <a:srgbClr val="B8B8B8"/>
            </a:solidFill>
          </a:ln>
          <a:effectLst/>
        </p:spPr>
        <p:txBody>
          <a:bodyPr rtlCol="0" anchor="ctr"/>
          <a:lstStyle/>
          <a:p>
            <a:pPr algn="ctr"/>
          </a:p>
        </p:txBody>
      </p:sp>
      <p:sp>
        <p:nvSpPr>
          <p:cNvPr id="21" name="TextBox 20"/>
          <p:cNvSpPr txBox="1"/>
          <p:nvPr/>
        </p:nvSpPr>
        <p:spPr>
          <a:xfrm>
            <a:off x="603503" y="5294376"/>
            <a:ext cx="8686800" cy="731519"/>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00" b="0">
                <a:solidFill>
                  <a:srgbClr val="555555"/>
                </a:solidFill>
                <a:latin typeface="Malgun Gothic"/>
                <a:ea typeface="Malgun Gothic"/>
                <a:cs typeface="Malgun Gothic"/>
              </a:rPr>
              <a:t>제어 조합 선정 순서</a:t>
            </a:r>
          </a:p>
          <a:p>
            <a:pPr algn="l">
              <a:lnSpc>
                <a:spcPct val="108000"/>
              </a:lnSpc>
              <a:spcBef>
                <a:spcPts val="0"/>
              </a:spcBef>
              <a:spcAft>
                <a:spcPts val="200"/>
              </a:spcAft>
            </a:pPr>
            <a:r>
              <a:rPr sz="1200" b="0">
                <a:solidFill>
                  <a:srgbClr val="555555"/>
                </a:solidFill>
                <a:latin typeface="Malgun Gothic"/>
                <a:ea typeface="Malgun Gothic"/>
                <a:cs typeface="Malgun Gothic"/>
              </a:rPr>
              <a:t>① 9개 조건의 종합 만족 수 최대 → ② 최대 THD 최소 → ③ 평균 THD 최소</a:t>
            </a:r>
          </a:p>
          <a:p>
            <a:pPr algn="l">
              <a:lnSpc>
                <a:spcPct val="108000"/>
              </a:lnSpc>
              <a:spcBef>
                <a:spcPts val="0"/>
              </a:spcBef>
              <a:spcAft>
                <a:spcPts val="200"/>
              </a:spcAft>
            </a:pPr>
            <a:r>
              <a:rPr sz="1200" b="0">
                <a:solidFill>
                  <a:srgbClr val="555555"/>
                </a:solidFill>
                <a:latin typeface="Malgun Gothic"/>
                <a:ea typeface="Malgun Gothic"/>
                <a:cs typeface="Malgun Gothic"/>
              </a:rPr>
              <a:t>동률 시 Kr → fc → 고조파 최고차수 순으로 작은 값을 선택함.</a:t>
            </a:r>
          </a:p>
        </p:txBody>
      </p:sp>
      <p:cxnSp>
        <p:nvCxnSpPr>
          <p:cNvPr id="22" name="Connector 21"/>
          <p:cNvCxnSpPr/>
          <p:nvPr/>
        </p:nvCxnSpPr>
        <p:spPr>
          <a:xfrm>
            <a:off x="365760" y="6428232"/>
            <a:ext cx="9189720" cy="0"/>
          </a:xfrm>
          <a:prstGeom prst="line">
            <a:avLst/>
          </a:prstGeom>
          <a:ln w="5715">
            <a:solidFill>
              <a:srgbClr val="000000"/>
            </a:solidFill>
          </a:ln>
          <a:effectLst/>
        </p:spPr>
      </p:cxnSp>
      <p:sp>
        <p:nvSpPr>
          <p:cNvPr id="23" name="TextBox 22"/>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study_config.json; results/doe.csv; results/doe_candidates.csv; selected_control.json.</a:t>
            </a:r>
          </a:p>
        </p:txBody>
      </p:sp>
      <p:sp>
        <p:nvSpPr>
          <p:cNvPr id="24" name="TextBox 23"/>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20/58</a:t>
            </a:r>
          </a:p>
        </p:txBody>
      </p:sp>
      <p:sp>
        <p:nvSpPr>
          <p:cNvPr id="25" name="TextBox 24">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6" name="TextBox 25">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주효과 분석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8"/>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9"/>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10"/>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11"/>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2"/>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제어 인자별 영향도 · 세로축은 평균 THD [%]</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한 인자의 각 수준에서 나머지 인자·운전조건을 동일 가중 평균함. 평균 차이는 이 설계범위의 효과 크기이며 통계적 유의확률은 아님.</a:t>
            </a:r>
          </a:p>
        </p:txBody>
      </p:sp>
      <p:sp>
        <p:nvSpPr>
          <p:cNvPr id="17" name="TextBox 16"/>
          <p:cNvSpPr txBox="1"/>
          <p:nvPr/>
        </p:nvSpPr>
        <p:spPr>
          <a:xfrm>
            <a:off x="393192" y="2048256"/>
            <a:ext cx="2834640" cy="30175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00" b="1">
                <a:solidFill>
                  <a:srgbClr val="000000"/>
                </a:solidFill>
                <a:latin typeface="Malgun Gothic"/>
                <a:ea typeface="Malgun Gothic"/>
                <a:cs typeface="Malgun Gothic"/>
              </a:rPr>
              <a:t>Kr [Ω]</a:t>
            </a:r>
          </a:p>
        </p:txBody>
      </p:sp>
      <p:graphicFrame>
        <p:nvGraphicFramePr>
          <p:cNvPr id="18" name="Chart 17"/>
          <p:cNvGraphicFramePr>
            <a:graphicFrameLocks noGrp="1"/>
          </p:cNvGraphicFramePr>
          <p:nvPr/>
        </p:nvGraphicFramePr>
        <p:xfrm>
          <a:off x="393192" y="2441448"/>
          <a:ext cx="2926080" cy="2560320"/>
        </p:xfrm>
        <a:graphic>
          <a:graphicData uri="http://schemas.openxmlformats.org/drawingml/2006/chart">
            <c:chart xmlns:c="http://schemas.openxmlformats.org/drawingml/2006/chart" r:id="rId2"/>
          </a:graphicData>
        </a:graphic>
      </p:graphicFrame>
      <p:sp>
        <p:nvSpPr>
          <p:cNvPr id="19" name="TextBox 18"/>
          <p:cNvSpPr txBox="1"/>
          <p:nvPr/>
        </p:nvSpPr>
        <p:spPr>
          <a:xfrm>
            <a:off x="3520440" y="2048256"/>
            <a:ext cx="2834640" cy="30175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00" b="1">
                <a:solidFill>
                  <a:srgbClr val="000000"/>
                </a:solidFill>
                <a:latin typeface="Malgun Gothic"/>
                <a:ea typeface="Malgun Gothic"/>
                <a:cs typeface="Malgun Gothic"/>
              </a:rPr>
              <a:t>fc [Hz]</a:t>
            </a:r>
          </a:p>
        </p:txBody>
      </p:sp>
      <p:graphicFrame>
        <p:nvGraphicFramePr>
          <p:cNvPr id="20" name="Chart 19"/>
          <p:cNvGraphicFramePr>
            <a:graphicFrameLocks noGrp="1"/>
          </p:cNvGraphicFramePr>
          <p:nvPr/>
        </p:nvGraphicFramePr>
        <p:xfrm>
          <a:off x="3520440" y="2441448"/>
          <a:ext cx="2926080" cy="2560320"/>
        </p:xfrm>
        <a:graphic>
          <a:graphicData uri="http://schemas.openxmlformats.org/drawingml/2006/chart">
            <c:chart xmlns:c="http://schemas.openxmlformats.org/drawingml/2006/chart" r:id="rId3"/>
          </a:graphicData>
        </a:graphic>
      </p:graphicFrame>
      <p:sp>
        <p:nvSpPr>
          <p:cNvPr id="21" name="TextBox 20"/>
          <p:cNvSpPr txBox="1"/>
          <p:nvPr/>
        </p:nvSpPr>
        <p:spPr>
          <a:xfrm>
            <a:off x="6647688" y="2048256"/>
            <a:ext cx="2834640" cy="30175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00" b="1">
                <a:solidFill>
                  <a:srgbClr val="000000"/>
                </a:solidFill>
                <a:latin typeface="Malgun Gothic"/>
                <a:ea typeface="Malgun Gothic"/>
                <a:cs typeface="Malgun Gothic"/>
              </a:rPr>
              <a:t>포함 고조파</a:t>
            </a:r>
          </a:p>
        </p:txBody>
      </p:sp>
      <p:graphicFrame>
        <p:nvGraphicFramePr>
          <p:cNvPr id="22" name="Chart 21"/>
          <p:cNvGraphicFramePr>
            <a:graphicFrameLocks noGrp="1"/>
          </p:cNvGraphicFramePr>
          <p:nvPr/>
        </p:nvGraphicFramePr>
        <p:xfrm>
          <a:off x="6647688" y="2441448"/>
          <a:ext cx="2926080" cy="2560320"/>
        </p:xfrm>
        <a:graphic>
          <a:graphicData uri="http://schemas.openxmlformats.org/drawingml/2006/chart">
            <c:chart xmlns:c="http://schemas.openxmlformats.org/drawingml/2006/chart" r:id="rId4"/>
          </a:graphicData>
        </a:graphic>
      </p:graphicFrame>
      <p:sp>
        <p:nvSpPr>
          <p:cNvPr id="23" name="Rectangle 22"/>
          <p:cNvSpPr/>
          <p:nvPr/>
        </p:nvSpPr>
        <p:spPr>
          <a:xfrm>
            <a:off x="393192" y="5422392"/>
            <a:ext cx="9107424" cy="822960"/>
          </a:xfrm>
          <a:prstGeom prst="rect">
            <a:avLst/>
          </a:prstGeom>
          <a:solidFill>
            <a:srgbClr val="FFFFFF"/>
          </a:solidFill>
          <a:ln w="8255">
            <a:solidFill>
              <a:srgbClr val="B8B8B8"/>
            </a:solidFill>
          </a:ln>
          <a:effectLst/>
        </p:spPr>
        <p:txBody>
          <a:bodyPr rtlCol="0" anchor="ctr"/>
          <a:lstStyle/>
          <a:p>
            <a:pPr algn="ctr"/>
          </a:p>
        </p:txBody>
      </p:sp>
      <p:sp>
        <p:nvSpPr>
          <p:cNvPr id="24" name="TextBox 23"/>
          <p:cNvSpPr txBox="1"/>
          <p:nvPr/>
        </p:nvSpPr>
        <p:spPr>
          <a:xfrm>
            <a:off x="475488" y="5486400"/>
            <a:ext cx="8942832" cy="69494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00" b="0">
                <a:solidFill>
                  <a:srgbClr val="008000"/>
                </a:solidFill>
                <a:latin typeface="Malgun Gothic"/>
                <a:ea typeface="Malgun Gothic"/>
                <a:cs typeface="Malgun Gothic"/>
              </a:rPr>
              <a:t>결과 해석</a:t>
            </a:r>
          </a:p>
          <a:p>
            <a:pPr algn="l">
              <a:lnSpc>
                <a:spcPct val="108000"/>
              </a:lnSpc>
              <a:spcBef>
                <a:spcPts val="0"/>
              </a:spcBef>
              <a:spcAft>
                <a:spcPts val="200"/>
              </a:spcAft>
            </a:pPr>
            <a:r>
              <a:rPr sz="1200" b="0">
                <a:solidFill>
                  <a:srgbClr val="008000"/>
                </a:solidFill>
                <a:latin typeface="Malgun Gothic"/>
                <a:ea typeface="Malgun Gothic"/>
                <a:cs typeface="Malgun Gothic"/>
              </a:rPr>
              <a:t>수준별 평균의 최대−최소: 차수 조합 1.213%p &gt; Kr 0.734%p &gt; fc 0.045%p.</a:t>
            </a:r>
          </a:p>
          <a:p>
            <a:pPr algn="l">
              <a:lnSpc>
                <a:spcPct val="108000"/>
              </a:lnSpc>
              <a:spcBef>
                <a:spcPts val="0"/>
              </a:spcBef>
              <a:spcAft>
                <a:spcPts val="200"/>
              </a:spcAft>
            </a:pPr>
            <a:r>
              <a:rPr sz="1200" b="0">
                <a:solidFill>
                  <a:srgbClr val="008000"/>
                </a:solidFill>
                <a:latin typeface="Malgun Gothic"/>
                <a:ea typeface="Malgun Gothic"/>
                <a:cs typeface="Malgun Gothic"/>
              </a:rPr>
              <a:t>각 수준은 81개 계산값의 동일 가중 평균임. 차수와 Kr의 조합 효과를 다음 페이지에서 확인함.</a:t>
            </a:r>
          </a:p>
        </p:txBody>
      </p:sp>
      <p:cxnSp>
        <p:nvCxnSpPr>
          <p:cNvPr id="25" name="Connector 24"/>
          <p:cNvCxnSpPr/>
          <p:nvPr/>
        </p:nvCxnSpPr>
        <p:spPr>
          <a:xfrm>
            <a:off x="365760" y="6428232"/>
            <a:ext cx="9189720" cy="0"/>
          </a:xfrm>
          <a:prstGeom prst="line">
            <a:avLst/>
          </a:prstGeom>
          <a:ln w="5715">
            <a:solidFill>
              <a:srgbClr val="000000"/>
            </a:solidFill>
          </a:ln>
          <a:effectLst/>
        </p:spPr>
      </p:cxnSp>
      <p:sp>
        <p:nvSpPr>
          <p:cNvPr id="26" name="TextBox 25"/>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results/factor_effects.csv; results/doe.csv. 세 그래프 세로축: 평균 THD [%], 동일 0~5 범위.</a:t>
            </a:r>
          </a:p>
        </p:txBody>
      </p:sp>
      <p:sp>
        <p:nvSpPr>
          <p:cNvPr id="27" name="TextBox 26"/>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21/58</a:t>
            </a:r>
          </a:p>
        </p:txBody>
      </p:sp>
      <p:sp>
        <p:nvSpPr>
          <p:cNvPr id="28" name="TextBox 27">
            <a:hlinkClick action="ppaction://hlinksldjump" r:id="rId6"/>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9" name="TextBox 28">
            <a:hlinkClick action="ppaction://hlinksldjump" r:id="rId7"/>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교호작용 분석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공진 이득과 차수 조합의 동시 영향</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Kr를 바꿀 때 THD가 줄어드는 양을 차수 조합별로 비교함. 감소량이 서로 다르면 두 인자가 함께 영향을 미치는 교호작용으로 해석함.</a:t>
            </a:r>
          </a:p>
        </p:txBody>
      </p:sp>
      <p:sp>
        <p:nvSpPr>
          <p:cNvPr id="17" name="TextBox 16"/>
          <p:cNvSpPr txBox="1"/>
          <p:nvPr/>
        </p:nvSpPr>
        <p:spPr>
          <a:xfrm>
            <a:off x="393192" y="1938528"/>
            <a:ext cx="5760720" cy="2743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000000"/>
                </a:solidFill>
                <a:latin typeface="Malgun Gothic"/>
                <a:ea typeface="Malgun Gothic"/>
                <a:cs typeface="Malgun Gothic"/>
              </a:rPr>
              <a:t>THD [%] / Kr [Ω]  ·  각 점: fc 3수준 × 운전조건 9개 평균</a:t>
            </a:r>
          </a:p>
        </p:txBody>
      </p:sp>
      <p:graphicFrame>
        <p:nvGraphicFramePr>
          <p:cNvPr id="18" name="Chart 17"/>
          <p:cNvGraphicFramePr>
            <a:graphicFrameLocks noGrp="1"/>
          </p:cNvGraphicFramePr>
          <p:nvPr/>
        </p:nvGraphicFramePr>
        <p:xfrm>
          <a:off x="393192" y="2286000"/>
          <a:ext cx="5596128" cy="3410712"/>
        </p:xfrm>
        <a:graphic>
          <a:graphicData uri="http://schemas.openxmlformats.org/drawingml/2006/chart">
            <c:chart xmlns:c="http://schemas.openxmlformats.org/drawingml/2006/chart" r:id="rId2"/>
          </a:graphicData>
        </a:graphic>
      </p:graphicFrame>
      <p:graphicFrame>
        <p:nvGraphicFramePr>
          <p:cNvPr id="19" name="Table 18"/>
          <p:cNvGraphicFramePr>
            <a:graphicFrameLocks noGrp="1"/>
          </p:cNvGraphicFramePr>
          <p:nvPr/>
        </p:nvGraphicFramePr>
        <p:xfrm>
          <a:off x="6199632" y="1956816"/>
          <a:ext cx="3300984" cy="1737360"/>
        </p:xfrm>
        <a:graphic>
          <a:graphicData uri="http://schemas.openxmlformats.org/drawingml/2006/table">
            <a:tbl>
              <a:tblPr firstRow="1" bandRow="1">
                <a:tableStyleId>{5C22544A-7EE6-4342-B048-85BDC9FD1C3A}</a:tableStyleId>
              </a:tblPr>
              <a:tblGrid>
                <a:gridCol w="1833880"/>
                <a:gridCol w="1467104"/>
              </a:tblGrid>
              <a:tr h="434340">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Kr: 8 → 24 Ω</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평균 THD 감소</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34340">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3차만 적용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0.469%p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4340">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3·5·7차 적용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0.973%p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4340">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감소 폭의 차이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0.505%p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20" name="Rectangle 19"/>
          <p:cNvSpPr/>
          <p:nvPr/>
        </p:nvSpPr>
        <p:spPr>
          <a:xfrm>
            <a:off x="6199632" y="3877056"/>
            <a:ext cx="3300984" cy="1783080"/>
          </a:xfrm>
          <a:prstGeom prst="rect">
            <a:avLst/>
          </a:prstGeom>
          <a:solidFill>
            <a:srgbClr val="FFFFFF"/>
          </a:solidFill>
          <a:ln w="8255">
            <a:solidFill>
              <a:srgbClr val="B8B8B8"/>
            </a:solidFill>
          </a:ln>
          <a:effectLst/>
        </p:spPr>
        <p:txBody>
          <a:bodyPr rtlCol="0" anchor="ctr"/>
          <a:lstStyle/>
          <a:p>
            <a:pPr algn="ctr"/>
          </a:p>
        </p:txBody>
      </p:sp>
      <p:sp>
        <p:nvSpPr>
          <p:cNvPr id="21" name="TextBox 20"/>
          <p:cNvSpPr txBox="1"/>
          <p:nvPr/>
        </p:nvSpPr>
        <p:spPr>
          <a:xfrm>
            <a:off x="6281928" y="3941064"/>
            <a:ext cx="3136391" cy="165506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00" b="0">
                <a:solidFill>
                  <a:srgbClr val="008000"/>
                </a:solidFill>
                <a:latin typeface="Malgun Gothic"/>
                <a:ea typeface="Malgun Gothic"/>
                <a:cs typeface="Malgun Gothic"/>
              </a:rPr>
              <a:t>결과 해석</a:t>
            </a:r>
          </a:p>
          <a:p>
            <a:pPr algn="l">
              <a:lnSpc>
                <a:spcPct val="108000"/>
              </a:lnSpc>
              <a:spcBef>
                <a:spcPts val="0"/>
              </a:spcBef>
              <a:spcAft>
                <a:spcPts val="200"/>
              </a:spcAft>
            </a:pPr>
            <a:r>
              <a:rPr sz="1200" b="0">
                <a:solidFill>
                  <a:srgbClr val="008000"/>
                </a:solidFill>
                <a:latin typeface="Malgun Gothic"/>
                <a:ea typeface="Malgun Gothic"/>
                <a:cs typeface="Malgun Gothic"/>
              </a:rPr>
              <a:t>선이 평행하지 않음. Kr의 효과가 차수 조합에 따라 달라지는 교호작용이 확인됨.</a:t>
            </a:r>
          </a:p>
          <a:p>
            <a:pPr algn="l">
              <a:lnSpc>
                <a:spcPct val="108000"/>
              </a:lnSpc>
              <a:spcBef>
                <a:spcPts val="0"/>
              </a:spcBef>
              <a:spcAft>
                <a:spcPts val="200"/>
              </a:spcAft>
            </a:pPr>
            <a:r>
              <a:rPr sz="1200" b="0">
                <a:solidFill>
                  <a:srgbClr val="008000"/>
                </a:solidFill>
                <a:latin typeface="Malgun Gothic"/>
                <a:ea typeface="Malgun Gothic"/>
                <a:cs typeface="Malgun Gothic"/>
              </a:rPr>
              <a:t>→ 27개 조합의 실제 반응값으로 최종 조건을 비교함.</a:t>
            </a:r>
          </a:p>
        </p:txBody>
      </p:sp>
      <p:sp>
        <p:nvSpPr>
          <p:cNvPr id="22" name="TextBox 21"/>
          <p:cNvSpPr txBox="1"/>
          <p:nvPr/>
        </p:nvSpPr>
        <p:spPr>
          <a:xfrm>
            <a:off x="393192" y="6035040"/>
            <a:ext cx="9107424" cy="265176"/>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본 결과는 설계범위 내 반응 차이임. 교호작용의 통계적 유의확률을 검정한 결과는 아님.</a:t>
            </a:r>
          </a:p>
        </p:txBody>
      </p:sp>
      <p:cxnSp>
        <p:nvCxnSpPr>
          <p:cNvPr id="23" name="Connector 22"/>
          <p:cNvCxnSpPr/>
          <p:nvPr/>
        </p:nvCxnSpPr>
        <p:spPr>
          <a:xfrm>
            <a:off x="365760" y="6428232"/>
            <a:ext cx="9189720" cy="0"/>
          </a:xfrm>
          <a:prstGeom prst="line">
            <a:avLst/>
          </a:prstGeom>
          <a:ln w="5715">
            <a:solidFill>
              <a:srgbClr val="000000"/>
            </a:solidFill>
          </a:ln>
          <a:effectLst/>
        </p:spPr>
      </p:cxnSp>
      <p:sp>
        <p:nvSpPr>
          <p:cNvPr id="24" name="TextBox 23"/>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V2 results/doe.csv → V3 analysis/interaction_Kr_hmax.csv | 설명 참고: NIST §5.3.3.9</a:t>
            </a:r>
          </a:p>
        </p:txBody>
      </p:sp>
      <p:sp>
        <p:nvSpPr>
          <p:cNvPr id="25" name="TextBox 24"/>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22/58</a:t>
            </a:r>
          </a:p>
        </p:txBody>
      </p:sp>
      <p:sp>
        <p:nvSpPr>
          <p:cNvPr id="26" name="TextBox 25">
            <a:hlinkClick action="ppaction://hlinksldjump" r:id="rId4"/>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7" name="TextBox 26">
            <a:hlinkClick action="ppaction://hlinksldjump" r:id="rId5"/>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개선안 구현</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고조파 전류제어 적용</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기본 dq-PI는 유지하고 3·5·7차 준공진 제어기를 병렬 추가함. 전류 오차를 이용한 피드백으로 고조파 성분을 저감하고자 함.</a:t>
            </a:r>
          </a:p>
        </p:txBody>
      </p:sp>
      <p:sp>
        <p:nvSpPr>
          <p:cNvPr id="17" name="Rectangle 16"/>
          <p:cNvSpPr/>
          <p:nvPr/>
        </p:nvSpPr>
        <p:spPr>
          <a:xfrm>
            <a:off x="502920" y="2770632"/>
            <a:ext cx="1261872" cy="576072"/>
          </a:xfrm>
          <a:prstGeom prst="rect">
            <a:avLst/>
          </a:prstGeom>
          <a:solidFill>
            <a:srgbClr val="FFFFFF"/>
          </a:solidFill>
          <a:ln w="8255">
            <a:solidFill>
              <a:srgbClr val="B8B8B8"/>
            </a:solidFill>
          </a:ln>
          <a:effectLst/>
        </p:spPr>
        <p:txBody>
          <a:bodyPr rtlCol="0" anchor="ctr"/>
          <a:lstStyle/>
          <a:p>
            <a:pPr algn="ctr"/>
          </a:p>
        </p:txBody>
      </p:sp>
      <p:sp>
        <p:nvSpPr>
          <p:cNvPr id="18" name="TextBox 17"/>
          <p:cNvSpPr txBox="1"/>
          <p:nvPr/>
        </p:nvSpPr>
        <p:spPr>
          <a:xfrm>
            <a:off x="585216" y="2834639"/>
            <a:ext cx="1097280" cy="448056"/>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1">
                <a:solidFill>
                  <a:srgbClr val="000000"/>
                </a:solidFill>
                <a:latin typeface="Malgun Gothic"/>
                <a:ea typeface="Malgun Gothic"/>
                <a:cs typeface="Malgun Gothic"/>
              </a:rPr>
              <a:t>전류 오차 e</a:t>
            </a:r>
          </a:p>
        </p:txBody>
      </p:sp>
      <p:cxnSp>
        <p:nvCxnSpPr>
          <p:cNvPr id="19" name="Connector 18"/>
          <p:cNvCxnSpPr/>
          <p:nvPr/>
        </p:nvCxnSpPr>
        <p:spPr>
          <a:xfrm>
            <a:off x="1764792" y="3054096"/>
            <a:ext cx="411480" cy="0"/>
          </a:xfrm>
          <a:prstGeom prst="line">
            <a:avLst/>
          </a:prstGeom>
          <a:ln w="12700">
            <a:solidFill>
              <a:srgbClr val="757575"/>
            </a:solidFill>
            <a:tailEnd type="triangle" w="sm" len="sm"/>
          </a:ln>
          <a:effectLst/>
        </p:spPr>
      </p:cxnSp>
      <p:cxnSp>
        <p:nvCxnSpPr>
          <p:cNvPr id="20" name="Connector 19"/>
          <p:cNvCxnSpPr/>
          <p:nvPr/>
        </p:nvCxnSpPr>
        <p:spPr>
          <a:xfrm flipV="1">
            <a:off x="2176272" y="2331720"/>
            <a:ext cx="0" cy="722376"/>
          </a:xfrm>
          <a:prstGeom prst="line">
            <a:avLst/>
          </a:prstGeom>
          <a:ln w="12700">
            <a:solidFill>
              <a:srgbClr val="757575"/>
            </a:solidFill>
            <a:tailEnd type="triangle" w="sm" len="sm"/>
          </a:ln>
          <a:effectLst/>
        </p:spPr>
      </p:cxnSp>
      <p:cxnSp>
        <p:nvCxnSpPr>
          <p:cNvPr id="21" name="Connector 20"/>
          <p:cNvCxnSpPr/>
          <p:nvPr/>
        </p:nvCxnSpPr>
        <p:spPr>
          <a:xfrm>
            <a:off x="2176272" y="2331720"/>
            <a:ext cx="594360" cy="0"/>
          </a:xfrm>
          <a:prstGeom prst="line">
            <a:avLst/>
          </a:prstGeom>
          <a:ln w="12700">
            <a:solidFill>
              <a:srgbClr val="757575"/>
            </a:solidFill>
            <a:tailEnd type="triangle" w="sm" len="sm"/>
          </a:ln>
          <a:effectLst/>
        </p:spPr>
      </p:cxnSp>
      <p:sp>
        <p:nvSpPr>
          <p:cNvPr id="22" name="Rectangle 21"/>
          <p:cNvSpPr/>
          <p:nvPr/>
        </p:nvSpPr>
        <p:spPr>
          <a:xfrm>
            <a:off x="2770632" y="1975104"/>
            <a:ext cx="2377440" cy="758952"/>
          </a:xfrm>
          <a:prstGeom prst="rect">
            <a:avLst/>
          </a:prstGeom>
          <a:solidFill>
            <a:srgbClr val="FFFFFF"/>
          </a:solidFill>
          <a:ln w="8255">
            <a:solidFill>
              <a:srgbClr val="B8B8B8"/>
            </a:solidFill>
          </a:ln>
          <a:effectLst/>
        </p:spPr>
        <p:txBody>
          <a:bodyPr rtlCol="0" anchor="ctr"/>
          <a:lstStyle/>
          <a:p>
            <a:pPr algn="ctr"/>
          </a:p>
        </p:txBody>
      </p:sp>
      <p:sp>
        <p:nvSpPr>
          <p:cNvPr id="23" name="TextBox 22"/>
          <p:cNvSpPr txBox="1"/>
          <p:nvPr/>
        </p:nvSpPr>
        <p:spPr>
          <a:xfrm>
            <a:off x="2852927" y="2039112"/>
            <a:ext cx="2212848" cy="630936"/>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0">
                <a:solidFill>
                  <a:srgbClr val="000000"/>
                </a:solidFill>
                <a:latin typeface="Malgun Gothic"/>
                <a:ea typeface="Malgun Gothic"/>
                <a:cs typeface="Malgun Gothic"/>
              </a:rPr>
              <a:t>기존 dq-PI + FF</a:t>
            </a:r>
          </a:p>
          <a:p>
            <a:pPr algn="ctr">
              <a:lnSpc>
                <a:spcPct val="108000"/>
              </a:lnSpc>
              <a:spcBef>
                <a:spcPts val="0"/>
              </a:spcBef>
              <a:spcAft>
                <a:spcPts val="200"/>
              </a:spcAft>
            </a:pPr>
            <a:r>
              <a:rPr sz="1300" b="0">
                <a:solidFill>
                  <a:srgbClr val="000000"/>
                </a:solidFill>
                <a:latin typeface="Malgun Gothic"/>
                <a:ea typeface="Malgun Gothic"/>
                <a:cs typeface="Malgun Gothic"/>
              </a:rPr>
              <a:t>변경 없음</a:t>
            </a:r>
          </a:p>
        </p:txBody>
      </p:sp>
      <p:cxnSp>
        <p:nvCxnSpPr>
          <p:cNvPr id="24" name="Connector 23"/>
          <p:cNvCxnSpPr/>
          <p:nvPr/>
        </p:nvCxnSpPr>
        <p:spPr>
          <a:xfrm>
            <a:off x="5148072" y="2350008"/>
            <a:ext cx="1362456" cy="0"/>
          </a:xfrm>
          <a:prstGeom prst="line">
            <a:avLst/>
          </a:prstGeom>
          <a:ln w="12700">
            <a:solidFill>
              <a:srgbClr val="757575"/>
            </a:solidFill>
            <a:tailEnd type="triangle" w="sm" len="sm"/>
          </a:ln>
          <a:effectLst/>
        </p:spPr>
      </p:cxnSp>
      <p:cxnSp>
        <p:nvCxnSpPr>
          <p:cNvPr id="25" name="Connector 24"/>
          <p:cNvCxnSpPr/>
          <p:nvPr/>
        </p:nvCxnSpPr>
        <p:spPr>
          <a:xfrm>
            <a:off x="6510528" y="2350008"/>
            <a:ext cx="0" cy="694944"/>
          </a:xfrm>
          <a:prstGeom prst="line">
            <a:avLst/>
          </a:prstGeom>
          <a:ln w="12700">
            <a:solidFill>
              <a:srgbClr val="757575"/>
            </a:solidFill>
            <a:tailEnd type="triangle" w="sm" len="sm"/>
          </a:ln>
          <a:effectLst/>
        </p:spPr>
      </p:cxnSp>
      <p:cxnSp>
        <p:nvCxnSpPr>
          <p:cNvPr id="26" name="Connector 25"/>
          <p:cNvCxnSpPr/>
          <p:nvPr/>
        </p:nvCxnSpPr>
        <p:spPr>
          <a:xfrm>
            <a:off x="2176272" y="3054096"/>
            <a:ext cx="0" cy="832104"/>
          </a:xfrm>
          <a:prstGeom prst="line">
            <a:avLst/>
          </a:prstGeom>
          <a:ln w="12700">
            <a:solidFill>
              <a:srgbClr val="757575"/>
            </a:solidFill>
            <a:tailEnd type="triangle" w="sm" len="sm"/>
          </a:ln>
          <a:effectLst/>
        </p:spPr>
      </p:cxnSp>
      <p:cxnSp>
        <p:nvCxnSpPr>
          <p:cNvPr id="27" name="Connector 26"/>
          <p:cNvCxnSpPr/>
          <p:nvPr/>
        </p:nvCxnSpPr>
        <p:spPr>
          <a:xfrm>
            <a:off x="2176272" y="3886200"/>
            <a:ext cx="594360" cy="0"/>
          </a:xfrm>
          <a:prstGeom prst="line">
            <a:avLst/>
          </a:prstGeom>
          <a:ln w="12700">
            <a:solidFill>
              <a:srgbClr val="757575"/>
            </a:solidFill>
            <a:tailEnd type="triangle" w="sm" len="sm"/>
          </a:ln>
          <a:effectLst/>
        </p:spPr>
      </p:cxnSp>
      <p:sp>
        <p:nvSpPr>
          <p:cNvPr id="28" name="Rectangle 27"/>
          <p:cNvSpPr/>
          <p:nvPr/>
        </p:nvSpPr>
        <p:spPr>
          <a:xfrm>
            <a:off x="2770632" y="3456432"/>
            <a:ext cx="2377440" cy="877824"/>
          </a:xfrm>
          <a:prstGeom prst="rect">
            <a:avLst/>
          </a:prstGeom>
          <a:solidFill>
            <a:srgbClr val="F3F3F3"/>
          </a:solidFill>
          <a:ln w="8255">
            <a:solidFill>
              <a:srgbClr val="B8B8B8"/>
            </a:solidFill>
          </a:ln>
          <a:effectLst/>
        </p:spPr>
        <p:txBody>
          <a:bodyPr rtlCol="0" anchor="ctr"/>
          <a:lstStyle/>
          <a:p>
            <a:pPr algn="ctr"/>
          </a:p>
        </p:txBody>
      </p:sp>
      <p:sp>
        <p:nvSpPr>
          <p:cNvPr id="29" name="TextBox 28"/>
          <p:cNvSpPr txBox="1"/>
          <p:nvPr/>
        </p:nvSpPr>
        <p:spPr>
          <a:xfrm>
            <a:off x="2852927" y="3520439"/>
            <a:ext cx="2212848" cy="749808"/>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300" b="1">
                <a:solidFill>
                  <a:srgbClr val="C00000"/>
                </a:solidFill>
                <a:latin typeface="Malgun Gothic"/>
                <a:ea typeface="Malgun Gothic"/>
                <a:cs typeface="Malgun Gothic"/>
              </a:rPr>
              <a:t>G₃ + G₅ + G₇</a:t>
            </a:r>
          </a:p>
          <a:p>
            <a:pPr algn="ctr">
              <a:lnSpc>
                <a:spcPct val="108000"/>
              </a:lnSpc>
              <a:spcBef>
                <a:spcPts val="0"/>
              </a:spcBef>
              <a:spcAft>
                <a:spcPts val="200"/>
              </a:spcAft>
            </a:pPr>
            <a:r>
              <a:rPr sz="1300" b="1">
                <a:solidFill>
                  <a:srgbClr val="C00000"/>
                </a:solidFill>
                <a:latin typeface="Malgun Gothic"/>
                <a:ea typeface="Malgun Gothic"/>
                <a:cs typeface="Malgun Gothic"/>
              </a:rPr>
              <a:t>준공진 피드백 추가</a:t>
            </a:r>
          </a:p>
        </p:txBody>
      </p:sp>
      <p:cxnSp>
        <p:nvCxnSpPr>
          <p:cNvPr id="30" name="Connector 29"/>
          <p:cNvCxnSpPr/>
          <p:nvPr/>
        </p:nvCxnSpPr>
        <p:spPr>
          <a:xfrm>
            <a:off x="5148072" y="3895344"/>
            <a:ext cx="1362456" cy="0"/>
          </a:xfrm>
          <a:prstGeom prst="line">
            <a:avLst/>
          </a:prstGeom>
          <a:ln w="12700">
            <a:solidFill>
              <a:srgbClr val="757575"/>
            </a:solidFill>
            <a:tailEnd type="triangle" w="sm" len="sm"/>
          </a:ln>
          <a:effectLst/>
        </p:spPr>
      </p:cxnSp>
      <p:cxnSp>
        <p:nvCxnSpPr>
          <p:cNvPr id="31" name="Connector 30"/>
          <p:cNvCxnSpPr/>
          <p:nvPr/>
        </p:nvCxnSpPr>
        <p:spPr>
          <a:xfrm flipV="1">
            <a:off x="6510528" y="3044952"/>
            <a:ext cx="0" cy="850392"/>
          </a:xfrm>
          <a:prstGeom prst="line">
            <a:avLst/>
          </a:prstGeom>
          <a:ln w="12700">
            <a:solidFill>
              <a:srgbClr val="757575"/>
            </a:solidFill>
            <a:tailEnd type="triangle" w="sm" len="sm"/>
          </a:ln>
          <a:effectLst/>
        </p:spPr>
      </p:cxnSp>
      <p:sp>
        <p:nvSpPr>
          <p:cNvPr id="32" name="Rectangle 31"/>
          <p:cNvSpPr/>
          <p:nvPr/>
        </p:nvSpPr>
        <p:spPr>
          <a:xfrm>
            <a:off x="5961888" y="2761488"/>
            <a:ext cx="1463040" cy="585216"/>
          </a:xfrm>
          <a:prstGeom prst="rect">
            <a:avLst/>
          </a:prstGeom>
          <a:solidFill>
            <a:srgbClr val="FFFFFF"/>
          </a:solidFill>
          <a:ln w="8255">
            <a:solidFill>
              <a:srgbClr val="B8B8B8"/>
            </a:solidFill>
          </a:ln>
          <a:effectLst/>
        </p:spPr>
        <p:txBody>
          <a:bodyPr rtlCol="0" anchor="ctr"/>
          <a:lstStyle/>
          <a:p>
            <a:pPr algn="ctr"/>
          </a:p>
        </p:txBody>
      </p:sp>
      <p:sp>
        <p:nvSpPr>
          <p:cNvPr id="33" name="TextBox 32"/>
          <p:cNvSpPr txBox="1"/>
          <p:nvPr/>
        </p:nvSpPr>
        <p:spPr>
          <a:xfrm>
            <a:off x="6044183" y="2825496"/>
            <a:ext cx="1298448" cy="457200"/>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270" b="0">
                <a:solidFill>
                  <a:srgbClr val="000000"/>
                </a:solidFill>
                <a:latin typeface="Malgun Gothic"/>
                <a:ea typeface="Malgun Gothic"/>
                <a:cs typeface="Malgun Gothic"/>
              </a:rPr>
              <a:t>합산 / 제한</a:t>
            </a:r>
          </a:p>
        </p:txBody>
      </p:sp>
      <p:cxnSp>
        <p:nvCxnSpPr>
          <p:cNvPr id="34" name="Connector 33"/>
          <p:cNvCxnSpPr/>
          <p:nvPr/>
        </p:nvCxnSpPr>
        <p:spPr>
          <a:xfrm>
            <a:off x="7424927" y="3054096"/>
            <a:ext cx="393193" cy="0"/>
          </a:xfrm>
          <a:prstGeom prst="line">
            <a:avLst/>
          </a:prstGeom>
          <a:ln w="12700">
            <a:solidFill>
              <a:srgbClr val="757575"/>
            </a:solidFill>
            <a:tailEnd type="triangle" w="sm" len="sm"/>
          </a:ln>
          <a:effectLst/>
        </p:spPr>
      </p:cxnSp>
      <p:sp>
        <p:nvSpPr>
          <p:cNvPr id="35" name="Rectangle 34"/>
          <p:cNvSpPr/>
          <p:nvPr/>
        </p:nvSpPr>
        <p:spPr>
          <a:xfrm>
            <a:off x="7818120" y="2624328"/>
            <a:ext cx="1554480" cy="859536"/>
          </a:xfrm>
          <a:prstGeom prst="rect">
            <a:avLst/>
          </a:prstGeom>
          <a:solidFill>
            <a:srgbClr val="FFFFFF"/>
          </a:solidFill>
          <a:ln w="8255">
            <a:solidFill>
              <a:srgbClr val="B8B8B8"/>
            </a:solidFill>
          </a:ln>
          <a:effectLst/>
        </p:spPr>
        <p:txBody>
          <a:bodyPr rtlCol="0" anchor="ctr"/>
          <a:lstStyle/>
          <a:p>
            <a:pPr algn="ctr"/>
          </a:p>
        </p:txBody>
      </p:sp>
      <p:sp>
        <p:nvSpPr>
          <p:cNvPr id="36" name="TextBox 35"/>
          <p:cNvSpPr txBox="1"/>
          <p:nvPr/>
        </p:nvSpPr>
        <p:spPr>
          <a:xfrm>
            <a:off x="7900416" y="2688336"/>
            <a:ext cx="1389888" cy="731519"/>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270" b="0">
                <a:solidFill>
                  <a:srgbClr val="000000"/>
                </a:solidFill>
                <a:latin typeface="Malgun Gothic"/>
                <a:ea typeface="Malgun Gothic"/>
                <a:cs typeface="Malgun Gothic"/>
              </a:rPr>
              <a:t>지연 + 회로 모델</a:t>
            </a:r>
          </a:p>
          <a:p>
            <a:pPr algn="ctr">
              <a:lnSpc>
                <a:spcPct val="108000"/>
              </a:lnSpc>
              <a:spcBef>
                <a:spcPts val="0"/>
              </a:spcBef>
              <a:spcAft>
                <a:spcPts val="200"/>
              </a:spcAft>
            </a:pPr>
            <a:r>
              <a:rPr sz="1270" b="0">
                <a:solidFill>
                  <a:srgbClr val="000000"/>
                </a:solidFill>
                <a:latin typeface="Malgun Gothic"/>
                <a:ea typeface="Malgun Gothic"/>
                <a:cs typeface="Malgun Gothic"/>
              </a:rPr>
              <a:t>변경 없음</a:t>
            </a:r>
          </a:p>
        </p:txBody>
      </p:sp>
      <p:sp>
        <p:nvSpPr>
          <p:cNvPr id="37" name="Rectangle 36"/>
          <p:cNvSpPr/>
          <p:nvPr/>
        </p:nvSpPr>
        <p:spPr>
          <a:xfrm>
            <a:off x="539496" y="4709160"/>
            <a:ext cx="8823960" cy="923544"/>
          </a:xfrm>
          <a:prstGeom prst="rect">
            <a:avLst/>
          </a:prstGeom>
          <a:solidFill>
            <a:srgbClr val="FFFFFF"/>
          </a:solidFill>
          <a:ln w="8255">
            <a:solidFill>
              <a:srgbClr val="B8B8B8"/>
            </a:solidFill>
          </a:ln>
          <a:effectLst/>
        </p:spPr>
        <p:txBody>
          <a:bodyPr rtlCol="0" anchor="ctr"/>
          <a:lstStyle/>
          <a:p>
            <a:pPr algn="ctr"/>
          </a:p>
        </p:txBody>
      </p:sp>
      <p:sp>
        <p:nvSpPr>
          <p:cNvPr id="38" name="TextBox 37"/>
          <p:cNvSpPr txBox="1"/>
          <p:nvPr/>
        </p:nvSpPr>
        <p:spPr>
          <a:xfrm>
            <a:off x="621792" y="4773168"/>
            <a:ext cx="8659368" cy="795528"/>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600" b="0">
                <a:solidFill>
                  <a:srgbClr val="000000"/>
                </a:solidFill>
                <a:latin typeface="Malgun Gothic"/>
                <a:ea typeface="Malgun Gothic"/>
                <a:cs typeface="Malgun Gothic"/>
              </a:rPr>
              <a:t>Gₕ(s) = 2Krωc s / [s² + 2ωc s + (hω₀)²]</a:t>
            </a:r>
          </a:p>
          <a:p>
            <a:pPr algn="ctr">
              <a:lnSpc>
                <a:spcPct val="108000"/>
              </a:lnSpc>
              <a:spcBef>
                <a:spcPts val="0"/>
              </a:spcBef>
              <a:spcAft>
                <a:spcPts val="200"/>
              </a:spcAft>
            </a:pPr>
            <a:r>
              <a:rPr sz="1600" b="0">
                <a:solidFill>
                  <a:srgbClr val="000000"/>
                </a:solidFill>
                <a:latin typeface="Malgun Gothic"/>
                <a:ea typeface="Malgun Gothic"/>
                <a:cs typeface="Malgun Gothic"/>
              </a:rPr>
              <a:t>Kr=24 Ω,  fc=2 Hz,  h={3,5,7};  각 출력 제한 ±20 V</a:t>
            </a:r>
          </a:p>
        </p:txBody>
      </p:sp>
      <p:sp>
        <p:nvSpPr>
          <p:cNvPr id="39" name="TextBox 38"/>
          <p:cNvSpPr txBox="1"/>
          <p:nvPr/>
        </p:nvSpPr>
        <p:spPr>
          <a:xfrm>
            <a:off x="411480" y="5897880"/>
            <a:ext cx="9052560" cy="3474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30" b="0">
                <a:solidFill>
                  <a:srgbClr val="555555"/>
                </a:solidFill>
                <a:latin typeface="Malgun Gothic"/>
                <a:ea typeface="Malgun Gothic"/>
                <a:cs typeface="Malgun Gothic"/>
              </a:rPr>
              <a:t>기준 기본파 f₀=50 Hz. 공진 중심은 3차 150 Hz·5차 250 Hz·7차 350 Hz임. 주파수 편차 성능은 미검증.</a:t>
            </a:r>
          </a:p>
        </p:txBody>
      </p:sp>
      <p:cxnSp>
        <p:nvCxnSpPr>
          <p:cNvPr id="40" name="Connector 39"/>
          <p:cNvCxnSpPr/>
          <p:nvPr/>
        </p:nvCxnSpPr>
        <p:spPr>
          <a:xfrm>
            <a:off x="365760" y="6428232"/>
            <a:ext cx="9189720" cy="0"/>
          </a:xfrm>
          <a:prstGeom prst="line">
            <a:avLst/>
          </a:prstGeom>
          <a:ln w="5715">
            <a:solidFill>
              <a:srgbClr val="000000"/>
            </a:solidFill>
          </a:ln>
          <a:effectLst/>
        </p:spPr>
      </p:cxnSp>
      <p:sp>
        <p:nvSpPr>
          <p:cNvPr id="41" name="TextBox 4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src/model.py harmonic_coeff / _simulate; results/selected_control.json; docs/01_model.md.</a:t>
            </a:r>
          </a:p>
        </p:txBody>
      </p:sp>
      <p:sp>
        <p:nvSpPr>
          <p:cNvPr id="42" name="TextBox 4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23/58</a:t>
            </a:r>
          </a:p>
        </p:txBody>
      </p:sp>
      <p:sp>
        <p:nvSpPr>
          <p:cNvPr id="43" name="TextBox 4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44" name="TextBox 4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제어 조합 선정</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제약조건을 고려한 제어 조합 선정</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9개 선정용 조건에서 종합 만족 수→최대 THD→평균 THD 순으로 비교함. 27개 후보 안에서 Kr=24 Ω, fc=2 Hz, {3,5,7}을 선정함.</a:t>
            </a:r>
          </a:p>
        </p:txBody>
      </p:sp>
      <p:graphicFrame>
        <p:nvGraphicFramePr>
          <p:cNvPr id="17" name="Table 16"/>
          <p:cNvGraphicFramePr>
            <a:graphicFrameLocks noGrp="1"/>
          </p:cNvGraphicFramePr>
          <p:nvPr/>
        </p:nvGraphicFramePr>
        <p:xfrm>
          <a:off x="411480" y="2029968"/>
          <a:ext cx="9052559" cy="2999227"/>
        </p:xfrm>
        <a:graphic>
          <a:graphicData uri="http://schemas.openxmlformats.org/drawingml/2006/table">
            <a:tbl>
              <a:tblPr firstRow="1" bandRow="1">
                <a:tableStyleId>{5C22544A-7EE6-4342-B048-85BDC9FD1C3A}</a:tableStyleId>
              </a:tblPr>
              <a:tblGrid>
                <a:gridCol w="1207008"/>
                <a:gridCol w="1207008"/>
                <a:gridCol w="1207008"/>
                <a:gridCol w="1531971"/>
                <a:gridCol w="1949782"/>
                <a:gridCol w="1949782"/>
              </a:tblGrid>
              <a:tr h="428461">
                <a:tc>
                  <a:txBody>
                    <a:bodyPr/>
                    <a:lstStyle/>
                    <a:p>
                      <a:pPr algn="ctr">
                        <a:lnSpc>
                          <a:spcPct val="105000"/>
                        </a:lnSpc>
                        <a:spcBef>
                          <a:spcPts val="0"/>
                        </a:spcBef>
                        <a:spcAft>
                          <a:spcPts val="100"/>
                        </a:spcAft>
                      </a:pPr>
                      <a:r>
                        <a:rPr sz="1220" b="1">
                          <a:solidFill>
                            <a:srgbClr val="000000"/>
                          </a:solidFill>
                          <a:latin typeface="Malgun Gothic"/>
                          <a:ea typeface="Malgun Gothic"/>
                          <a:cs typeface="Malgun Gothic"/>
                        </a:rPr>
                        <a:t>Kr [Ω]</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1">
                          <a:solidFill>
                            <a:srgbClr val="000000"/>
                          </a:solidFill>
                          <a:latin typeface="Malgun Gothic"/>
                          <a:ea typeface="Malgun Gothic"/>
                          <a:cs typeface="Malgun Gothic"/>
                        </a:rPr>
                        <a:t>fc [Hz]</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1">
                          <a:solidFill>
                            <a:srgbClr val="000000"/>
                          </a:solidFill>
                          <a:latin typeface="Malgun Gothic"/>
                          <a:ea typeface="Malgun Gothic"/>
                          <a:cs typeface="Malgun Gothic"/>
                        </a:rPr>
                        <a:t>차수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1">
                          <a:solidFill>
                            <a:srgbClr val="000000"/>
                          </a:solidFill>
                          <a:latin typeface="Malgun Gothic"/>
                          <a:ea typeface="Malgun Gothic"/>
                          <a:cs typeface="Malgun Gothic"/>
                        </a:rPr>
                        <a:t>종합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1">
                          <a:solidFill>
                            <a:srgbClr val="000000"/>
                          </a:solidFill>
                          <a:latin typeface="Malgun Gothic"/>
                          <a:ea typeface="Malgun Gothic"/>
                          <a:cs typeface="Malgun Gothic"/>
                        </a:rPr>
                        <a:t>최대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1">
                          <a:solidFill>
                            <a:srgbClr val="000000"/>
                          </a:solidFill>
                          <a:latin typeface="Malgun Gothic"/>
                          <a:ea typeface="Malgun Gothic"/>
                          <a:cs typeface="Malgun Gothic"/>
                        </a:rPr>
                        <a:t>평균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28461">
                <a:tc>
                  <a:txBody>
                    <a:bodyPr/>
                    <a:lstStyle/>
                    <a:p>
                      <a:pPr algn="ctr">
                        <a:lnSpc>
                          <a:spcPct val="105000"/>
                        </a:lnSpc>
                        <a:spcBef>
                          <a:spcPts val="0"/>
                        </a:spcBef>
                        <a:spcAft>
                          <a:spcPts val="100"/>
                        </a:spcAft>
                      </a:pPr>
                      <a:r>
                        <a:rPr sz="1220" b="0">
                          <a:solidFill>
                            <a:srgbClr val="008000"/>
                          </a:solidFill>
                          <a:latin typeface="Malgun Gothic"/>
                          <a:ea typeface="Malgun Gothic"/>
                          <a:cs typeface="Malgun Gothic"/>
                        </a:rPr>
                        <a:t>24</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8000"/>
                          </a:solidFill>
                          <a:latin typeface="Malgun Gothic"/>
                          <a:ea typeface="Malgun Gothic"/>
                          <a:cs typeface="Malgun Gothic"/>
                        </a:rPr>
                        <a:t>2</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8000"/>
                          </a:solidFill>
                          <a:latin typeface="Malgun Gothic"/>
                          <a:ea typeface="Malgun Gothic"/>
                          <a:cs typeface="Malgun Gothic"/>
                        </a:rPr>
                        <a:t>3,5,7</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8000"/>
                          </a:solidFill>
                          <a:latin typeface="Malgun Gothic"/>
                          <a:ea typeface="Malgun Gothic"/>
                          <a:cs typeface="Malgun Gothic"/>
                        </a:rPr>
                        <a:t>9/9</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8000"/>
                          </a:solidFill>
                          <a:latin typeface="Malgun Gothic"/>
                          <a:ea typeface="Malgun Gothic"/>
                          <a:cs typeface="Malgun Gothic"/>
                        </a:rPr>
                        <a:t>2.77%</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8000"/>
                          </a:solidFill>
                          <a:latin typeface="Malgun Gothic"/>
                          <a:ea typeface="Malgun Gothic"/>
                          <a:cs typeface="Malgun Gothic"/>
                        </a:rPr>
                        <a:t>2.42%</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r>
              <a:tr h="428461">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2.84%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2.49%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8461">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2.85%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2.52%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8461">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3.12%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2.71%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8461">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3.17%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2.75%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8461">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3.20%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20" b="0">
                          <a:solidFill>
                            <a:srgbClr val="000000"/>
                          </a:solidFill>
                          <a:latin typeface="Malgun Gothic"/>
                          <a:ea typeface="Malgun Gothic"/>
                          <a:cs typeface="Malgun Gothic"/>
                        </a:rPr>
                        <a:t>2.78%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502920" y="5303520"/>
            <a:ext cx="8897112" cy="914400"/>
          </a:xfrm>
          <a:prstGeom prst="rect">
            <a:avLst/>
          </a:prstGeom>
          <a:solidFill>
            <a:srgbClr val="FFFFFF"/>
          </a:solidFill>
          <a:ln w="8255">
            <a:solidFill>
              <a:srgbClr val="B8B8B8"/>
            </a:solidFill>
          </a:ln>
          <a:effectLst/>
        </p:spPr>
        <p:txBody>
          <a:bodyPr rtlCol="0" anchor="ctr"/>
          <a:lstStyle/>
          <a:p>
            <a:pPr algn="ctr"/>
          </a:p>
        </p:txBody>
      </p:sp>
      <p:sp>
        <p:nvSpPr>
          <p:cNvPr id="19" name="TextBox 18"/>
          <p:cNvSpPr txBox="1"/>
          <p:nvPr/>
        </p:nvSpPr>
        <p:spPr>
          <a:xfrm>
            <a:off x="585216" y="5367528"/>
            <a:ext cx="8732520" cy="78638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300" b="0">
                <a:solidFill>
                  <a:srgbClr val="000000"/>
                </a:solidFill>
                <a:latin typeface="Malgun Gothic"/>
                <a:ea typeface="Malgun Gothic"/>
                <a:cs typeface="Malgun Gothic"/>
              </a:rPr>
              <a:t>최종 조건 고정</a:t>
            </a:r>
          </a:p>
          <a:p>
            <a:pPr algn="l">
              <a:lnSpc>
                <a:spcPct val="108000"/>
              </a:lnSpc>
              <a:spcBef>
                <a:spcPts val="0"/>
              </a:spcBef>
              <a:spcAft>
                <a:spcPts val="200"/>
              </a:spcAft>
            </a:pPr>
            <a:r>
              <a:rPr sz="1300" b="0">
                <a:solidFill>
                  <a:srgbClr val="000000"/>
                </a:solidFill>
                <a:latin typeface="Malgun Gothic"/>
                <a:ea typeface="Malgun Gothic"/>
                <a:cs typeface="Malgun Gothic"/>
              </a:rPr>
              <a:t>기본 제어·회로·등가오차와 선정한 Kr·fc·차수 및 판정 기준을 고정함.</a:t>
            </a:r>
          </a:p>
          <a:p>
            <a:pPr algn="l">
              <a:lnSpc>
                <a:spcPct val="108000"/>
              </a:lnSpc>
              <a:spcBef>
                <a:spcPts val="0"/>
              </a:spcBef>
              <a:spcAft>
                <a:spcPts val="200"/>
              </a:spcAft>
            </a:pPr>
            <a:r>
              <a:rPr sz="1300" b="0">
                <a:solidFill>
                  <a:srgbClr val="000000"/>
                </a:solidFill>
                <a:latin typeface="Malgun Gothic"/>
                <a:ea typeface="Malgun Gothic"/>
                <a:cs typeface="Malgun Gothic"/>
              </a:rPr>
              <a:t>추가 검증 이후 제어 설정의 재조정은 수행하지 않음.</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results/doe_candidates.csv 상위6조합; selected_control.json; tests/test_study.py.</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24/58</a:t>
            </a:r>
          </a:p>
        </p:txBody>
      </p:sp>
      <p:sp>
        <p:nvSpPr>
          <p:cNvPr id="23" name="TextBox 2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4" name="TextBox 2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개선 효과 확인</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기준 운전조건 63개에서 초기·개선 결과를 비교함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동일 운전조건에서 평균 THD가 6.03%에서 2.42%로 감소함. 기준 만족률은 22.22%에서 100%로 향상되어 목표를 만족함.</a:t>
            </a:r>
          </a:p>
        </p:txBody>
      </p:sp>
      <p:sp>
        <p:nvSpPr>
          <p:cNvPr id="17" name="TextBox 16"/>
          <p:cNvSpPr txBox="1"/>
          <p:nvPr/>
        </p:nvSpPr>
        <p:spPr>
          <a:xfrm>
            <a:off x="411480" y="1993392"/>
            <a:ext cx="5852160" cy="2743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THD [%] · 조건 ID별 결과 (시간 순서 아님)</a:t>
            </a:r>
          </a:p>
        </p:txBody>
      </p:sp>
      <p:graphicFrame>
        <p:nvGraphicFramePr>
          <p:cNvPr id="18" name="Chart 17"/>
          <p:cNvGraphicFramePr>
            <a:graphicFrameLocks noGrp="1"/>
          </p:cNvGraphicFramePr>
          <p:nvPr/>
        </p:nvGraphicFramePr>
        <p:xfrm>
          <a:off x="365760" y="2286000"/>
          <a:ext cx="5715000" cy="3840480"/>
        </p:xfrm>
        <a:graphic>
          <a:graphicData uri="http://schemas.openxmlformats.org/drawingml/2006/chart">
            <c:chart xmlns:c="http://schemas.openxmlformats.org/drawingml/2006/chart" r:id="rId2"/>
          </a:graphicData>
        </a:graphic>
      </p:graphicFrame>
      <p:sp>
        <p:nvSpPr>
          <p:cNvPr id="19" name="Rectangle 18"/>
          <p:cNvSpPr/>
          <p:nvPr/>
        </p:nvSpPr>
        <p:spPr>
          <a:xfrm>
            <a:off x="6263640" y="2112264"/>
            <a:ext cx="3154680" cy="1737360"/>
          </a:xfrm>
          <a:prstGeom prst="rect">
            <a:avLst/>
          </a:prstGeom>
          <a:solidFill>
            <a:srgbClr val="FFFFFF"/>
          </a:solidFill>
          <a:ln w="8255">
            <a:solidFill>
              <a:srgbClr val="B8B8B8"/>
            </a:solidFill>
          </a:ln>
          <a:effectLst/>
        </p:spPr>
        <p:txBody>
          <a:bodyPr rtlCol="0" anchor="ctr"/>
          <a:lstStyle/>
          <a:p>
            <a:pPr algn="ctr"/>
          </a:p>
        </p:txBody>
      </p:sp>
      <p:sp>
        <p:nvSpPr>
          <p:cNvPr id="20" name="TextBox 19"/>
          <p:cNvSpPr txBox="1"/>
          <p:nvPr/>
        </p:nvSpPr>
        <p:spPr>
          <a:xfrm>
            <a:off x="6409944" y="2221992"/>
            <a:ext cx="2862072" cy="3200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Project Y 변화</a:t>
            </a:r>
          </a:p>
        </p:txBody>
      </p:sp>
      <p:sp>
        <p:nvSpPr>
          <p:cNvPr id="21" name="TextBox 20"/>
          <p:cNvSpPr txBox="1"/>
          <p:nvPr/>
        </p:nvSpPr>
        <p:spPr>
          <a:xfrm>
            <a:off x="6409944" y="2633472"/>
            <a:ext cx="2862072" cy="5486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500" b="1">
                <a:solidFill>
                  <a:srgbClr val="C00000"/>
                </a:solidFill>
                <a:latin typeface="Malgun Gothic"/>
                <a:ea typeface="Malgun Gothic"/>
                <a:cs typeface="Malgun Gothic"/>
              </a:rPr>
              <a:t>+77.78%p</a:t>
            </a:r>
          </a:p>
        </p:txBody>
      </p:sp>
      <p:sp>
        <p:nvSpPr>
          <p:cNvPr id="22" name="TextBox 21"/>
          <p:cNvSpPr txBox="1"/>
          <p:nvPr/>
        </p:nvSpPr>
        <p:spPr>
          <a:xfrm>
            <a:off x="6409944" y="3172968"/>
            <a:ext cx="2862072" cy="64008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50" b="0">
                <a:solidFill>
                  <a:srgbClr val="555555"/>
                </a:solidFill>
                <a:latin typeface="Malgun Gothic"/>
                <a:ea typeface="Malgun Gothic"/>
                <a:cs typeface="Malgun Gothic"/>
              </a:rPr>
              <a:t>14/63 → 63/63</a:t>
            </a:r>
          </a:p>
          <a:p>
            <a:pPr algn="l">
              <a:lnSpc>
                <a:spcPct val="108000"/>
              </a:lnSpc>
              <a:spcBef>
                <a:spcPts val="0"/>
              </a:spcBef>
              <a:spcAft>
                <a:spcPts val="200"/>
              </a:spcAft>
            </a:pPr>
            <a:r>
              <a:rPr sz="1050" b="0">
                <a:solidFill>
                  <a:srgbClr val="555555"/>
                </a:solidFill>
                <a:latin typeface="Malgun Gothic"/>
                <a:ea typeface="Malgun Gothic"/>
                <a:cs typeface="Malgun Gothic"/>
              </a:rPr>
              <a:t>기준 운전조건 목표 95% 이상 달성</a:t>
            </a:r>
          </a:p>
        </p:txBody>
      </p:sp>
      <p:sp>
        <p:nvSpPr>
          <p:cNvPr id="23" name="Rectangle 22"/>
          <p:cNvSpPr/>
          <p:nvPr/>
        </p:nvSpPr>
        <p:spPr>
          <a:xfrm>
            <a:off x="6263640" y="4050791"/>
            <a:ext cx="3154680" cy="1737360"/>
          </a:xfrm>
          <a:prstGeom prst="rect">
            <a:avLst/>
          </a:prstGeom>
          <a:solidFill>
            <a:srgbClr val="FFFFFF"/>
          </a:solidFill>
          <a:ln w="8255">
            <a:solidFill>
              <a:srgbClr val="B8B8B8"/>
            </a:solidFill>
          </a:ln>
          <a:effectLst/>
        </p:spPr>
        <p:txBody>
          <a:bodyPr rtlCol="0" anchor="ctr"/>
          <a:lstStyle/>
          <a:p>
            <a:pPr algn="ctr"/>
          </a:p>
        </p:txBody>
      </p:sp>
      <p:sp>
        <p:nvSpPr>
          <p:cNvPr id="24" name="TextBox 23"/>
          <p:cNvSpPr txBox="1"/>
          <p:nvPr/>
        </p:nvSpPr>
        <p:spPr>
          <a:xfrm>
            <a:off x="6409944" y="4160520"/>
            <a:ext cx="2862072" cy="3200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평균 THD 감소</a:t>
            </a:r>
          </a:p>
        </p:txBody>
      </p:sp>
      <p:sp>
        <p:nvSpPr>
          <p:cNvPr id="25" name="TextBox 24"/>
          <p:cNvSpPr txBox="1"/>
          <p:nvPr/>
        </p:nvSpPr>
        <p:spPr>
          <a:xfrm>
            <a:off x="6409944" y="4572000"/>
            <a:ext cx="2862072" cy="5486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500" b="1">
                <a:solidFill>
                  <a:srgbClr val="008000"/>
                </a:solidFill>
                <a:latin typeface="Malgun Gothic"/>
                <a:ea typeface="Malgun Gothic"/>
                <a:cs typeface="Malgun Gothic"/>
              </a:rPr>
              <a:t>3.61%p</a:t>
            </a:r>
          </a:p>
        </p:txBody>
      </p:sp>
      <p:sp>
        <p:nvSpPr>
          <p:cNvPr id="26" name="TextBox 25"/>
          <p:cNvSpPr txBox="1"/>
          <p:nvPr/>
        </p:nvSpPr>
        <p:spPr>
          <a:xfrm>
            <a:off x="6409944" y="5111496"/>
            <a:ext cx="2862072" cy="64008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50" b="0">
                <a:solidFill>
                  <a:srgbClr val="555555"/>
                </a:solidFill>
                <a:latin typeface="Malgun Gothic"/>
                <a:ea typeface="Malgun Gothic"/>
                <a:cs typeface="Malgun Gothic"/>
              </a:rPr>
              <a:t>상대 감소율 59.92%</a:t>
            </a:r>
          </a:p>
          <a:p>
            <a:pPr algn="l">
              <a:lnSpc>
                <a:spcPct val="108000"/>
              </a:lnSpc>
              <a:spcBef>
                <a:spcPts val="0"/>
              </a:spcBef>
              <a:spcAft>
                <a:spcPts val="200"/>
              </a:spcAft>
            </a:pPr>
            <a:r>
              <a:rPr sz="1050" b="0">
                <a:solidFill>
                  <a:srgbClr val="555555"/>
                </a:solidFill>
                <a:latin typeface="Malgun Gothic"/>
                <a:ea typeface="Malgun Gothic"/>
                <a:cs typeface="Malgun Gothic"/>
              </a:rPr>
              <a:t>개선 후 범위 1.91~2.93%</a:t>
            </a:r>
          </a:p>
        </p:txBody>
      </p:sp>
      <p:sp>
        <p:nvSpPr>
          <p:cNvPr id="27" name="TextBox 26"/>
          <p:cNvSpPr txBox="1"/>
          <p:nvPr/>
        </p:nvSpPr>
        <p:spPr>
          <a:xfrm>
            <a:off x="411480" y="6080760"/>
            <a:ext cx="9052560" cy="23774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기준 운전조건 63개에는 제어 선정용 운전조건 9개이 포함됨. 선정 미사용 운전조건 54개의 결과는 별도 집계하여 확인함.</a:t>
            </a:r>
          </a:p>
        </p:txBody>
      </p:sp>
      <p:cxnSp>
        <p:nvCxnSpPr>
          <p:cNvPr id="28" name="Connector 27"/>
          <p:cNvCxnSpPr/>
          <p:nvPr/>
        </p:nvCxnSpPr>
        <p:spPr>
          <a:xfrm>
            <a:off x="365760" y="6428232"/>
            <a:ext cx="9189720" cy="0"/>
          </a:xfrm>
          <a:prstGeom prst="line">
            <a:avLst/>
          </a:prstGeom>
          <a:ln w="5715">
            <a:solidFill>
              <a:srgbClr val="000000"/>
            </a:solidFill>
          </a:ln>
          <a:effectLst/>
        </p:spPr>
      </p:cxnSp>
      <p:sp>
        <p:nvSpPr>
          <p:cNvPr id="29" name="TextBox 2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results/baseline.csv; improved.csv; summary.json. 잠정 THD≤5%.</a:t>
            </a:r>
          </a:p>
        </p:txBody>
      </p:sp>
      <p:sp>
        <p:nvSpPr>
          <p:cNvPr id="30" name="TextBox 2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25/58</a:t>
            </a:r>
          </a:p>
        </p:txBody>
      </p:sp>
      <p:sp>
        <p:nvSpPr>
          <p:cNvPr id="31" name="TextBox 30">
            <a:hlinkClick action="ppaction://hlinksldjump" r:id="rId4"/>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32" name="TextBox 31">
            <a:hlinkClick action="ppaction://hlinksldjump" r:id="rId5"/>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개선 전후 대응 비교</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동일 운전조건의 THD 감소량 확인</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동일 Case ID의 개선 전후 결과를 1:1로 대응시켜 차이를 계산함. 모든 63개 조건에서 THD가 감소하였으며 평균 감소량은 3.612%p임.</a:t>
            </a:r>
          </a:p>
        </p:txBody>
      </p:sp>
      <p:sp>
        <p:nvSpPr>
          <p:cNvPr id="17" name="TextBox 16"/>
          <p:cNvSpPr txBox="1"/>
          <p:nvPr/>
        </p:nvSpPr>
        <p:spPr>
          <a:xfrm>
            <a:off x="393192" y="1938528"/>
            <a:ext cx="5760720" cy="2743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10" b="0">
                <a:solidFill>
                  <a:srgbClr val="000000"/>
                </a:solidFill>
                <a:latin typeface="Malgun Gothic"/>
                <a:ea typeface="Malgun Gothic"/>
                <a:cs typeface="Malgun Gothic"/>
              </a:rPr>
              <a:t>THD 감소량 [%p] = 개선 전 − 개선 후</a:t>
            </a:r>
          </a:p>
        </p:txBody>
      </p:sp>
      <p:graphicFrame>
        <p:nvGraphicFramePr>
          <p:cNvPr id="18" name="Chart 17"/>
          <p:cNvGraphicFramePr>
            <a:graphicFrameLocks noGrp="1"/>
          </p:cNvGraphicFramePr>
          <p:nvPr/>
        </p:nvGraphicFramePr>
        <p:xfrm>
          <a:off x="393192" y="2276856"/>
          <a:ext cx="5623560" cy="3410712"/>
        </p:xfrm>
        <a:graphic>
          <a:graphicData uri="http://schemas.openxmlformats.org/drawingml/2006/chart">
            <c:chart xmlns:c="http://schemas.openxmlformats.org/drawingml/2006/chart" r:id="rId2"/>
          </a:graphicData>
        </a:graphic>
      </p:graphicFrame>
      <p:graphicFrame>
        <p:nvGraphicFramePr>
          <p:cNvPr id="19" name="Table 18"/>
          <p:cNvGraphicFramePr>
            <a:graphicFrameLocks noGrp="1"/>
          </p:cNvGraphicFramePr>
          <p:nvPr/>
        </p:nvGraphicFramePr>
        <p:xfrm>
          <a:off x="6245352" y="1965960"/>
          <a:ext cx="3255263" cy="2377440"/>
        </p:xfrm>
        <a:graphic>
          <a:graphicData uri="http://schemas.openxmlformats.org/drawingml/2006/table">
            <a:tbl>
              <a:tblPr firstRow="1" bandRow="1">
                <a:tableStyleId>{5C22544A-7EE6-4342-B048-85BDC9FD1C3A}</a:tableStyleId>
              </a:tblPr>
              <a:tblGrid>
                <a:gridCol w="1676954"/>
                <a:gridCol w="1578309"/>
              </a:tblGrid>
              <a:tr h="396240">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평가 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결과</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396240">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평균 감소량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3.612%p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96240">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중앙값</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3.623%p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96240">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최소 감소량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2.565%p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96240">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최대 감소량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4.777%p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96240">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감소 / 악화</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63개 조건 / 0개 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20" name="Rectangle 19"/>
          <p:cNvSpPr/>
          <p:nvPr/>
        </p:nvSpPr>
        <p:spPr>
          <a:xfrm>
            <a:off x="6245352" y="4526280"/>
            <a:ext cx="3255264" cy="1170432"/>
          </a:xfrm>
          <a:prstGeom prst="rect">
            <a:avLst/>
          </a:prstGeom>
          <a:solidFill>
            <a:srgbClr val="FFFFFF"/>
          </a:solidFill>
          <a:ln w="8255">
            <a:solidFill>
              <a:srgbClr val="B8B8B8"/>
            </a:solidFill>
          </a:ln>
          <a:effectLst/>
        </p:spPr>
        <p:txBody>
          <a:bodyPr rtlCol="0" anchor="ctr"/>
          <a:lstStyle/>
          <a:p>
            <a:pPr algn="ctr"/>
          </a:p>
        </p:txBody>
      </p:sp>
      <p:sp>
        <p:nvSpPr>
          <p:cNvPr id="21" name="TextBox 20"/>
          <p:cNvSpPr txBox="1"/>
          <p:nvPr/>
        </p:nvSpPr>
        <p:spPr>
          <a:xfrm>
            <a:off x="6327648" y="4590288"/>
            <a:ext cx="3090672" cy="1042416"/>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00" b="0">
                <a:solidFill>
                  <a:srgbClr val="008000"/>
                </a:solidFill>
                <a:latin typeface="Malgun Gothic"/>
                <a:ea typeface="Malgun Gothic"/>
                <a:cs typeface="Malgun Gothic"/>
              </a:rPr>
              <a:t>결과 해석</a:t>
            </a:r>
          </a:p>
          <a:p>
            <a:pPr algn="l">
              <a:lnSpc>
                <a:spcPct val="108000"/>
              </a:lnSpc>
              <a:spcBef>
                <a:spcPts val="0"/>
              </a:spcBef>
              <a:spcAft>
                <a:spcPts val="200"/>
              </a:spcAft>
            </a:pPr>
            <a:r>
              <a:rPr sz="1200" b="0">
                <a:solidFill>
                  <a:srgbClr val="008000"/>
                </a:solidFill>
                <a:latin typeface="Malgun Gothic"/>
                <a:ea typeface="Malgun Gothic"/>
                <a:cs typeface="Malgun Gothic"/>
              </a:rPr>
              <a:t>평균값 이동뿐 아니라 각 운전조건의 개선 방향이 일치함.</a:t>
            </a:r>
          </a:p>
          <a:p>
            <a:pPr algn="l">
              <a:lnSpc>
                <a:spcPct val="108000"/>
              </a:lnSpc>
              <a:spcBef>
                <a:spcPts val="0"/>
              </a:spcBef>
              <a:spcAft>
                <a:spcPts val="200"/>
              </a:spcAft>
            </a:pPr>
            <a:r>
              <a:rPr sz="1200" b="0">
                <a:solidFill>
                  <a:srgbClr val="008000"/>
                </a:solidFill>
                <a:latin typeface="Malgun Gothic"/>
                <a:ea typeface="Malgun Gothic"/>
                <a:cs typeface="Malgun Gothic"/>
              </a:rPr>
              <a:t>→ 기준 시험조건 집합에서 개선 효과가 확인됨.</a:t>
            </a:r>
          </a:p>
        </p:txBody>
      </p:sp>
      <p:sp>
        <p:nvSpPr>
          <p:cNvPr id="22" name="TextBox 21"/>
          <p:cNvSpPr txBox="1"/>
          <p:nvPr/>
        </p:nvSpPr>
        <p:spPr>
          <a:xfrm>
            <a:off x="393192" y="6025896"/>
            <a:ext cx="9107424" cy="28346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같은 조건의 초기−개선 차이를 집계한 기술통계임. 평균 감소량 3.612%p는 상대 감소율 59.92%와 구분함.</a:t>
            </a:r>
          </a:p>
        </p:txBody>
      </p:sp>
      <p:cxnSp>
        <p:nvCxnSpPr>
          <p:cNvPr id="23" name="Connector 22"/>
          <p:cNvCxnSpPr/>
          <p:nvPr/>
        </p:nvCxnSpPr>
        <p:spPr>
          <a:xfrm>
            <a:off x="365760" y="6428232"/>
            <a:ext cx="9189720" cy="0"/>
          </a:xfrm>
          <a:prstGeom prst="line">
            <a:avLst/>
          </a:prstGeom>
          <a:ln w="5715">
            <a:solidFill>
              <a:srgbClr val="000000"/>
            </a:solidFill>
          </a:ln>
          <a:effectLst/>
        </p:spPr>
      </p:cxnSp>
      <p:sp>
        <p:nvSpPr>
          <p:cNvPr id="24" name="TextBox 23"/>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V2 baseline.csv·improved.csv → V3 analysis/paired_main.csv | 대응 개념: NIST §7.3.1.1</a:t>
            </a:r>
          </a:p>
        </p:txBody>
      </p:sp>
      <p:sp>
        <p:nvSpPr>
          <p:cNvPr id="25" name="TextBox 24"/>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26/58</a:t>
            </a:r>
          </a:p>
        </p:txBody>
      </p:sp>
      <p:sp>
        <p:nvSpPr>
          <p:cNvPr id="26" name="TextBox 25">
            <a:hlinkClick action="ppaction://hlinksldjump" r:id="rId4"/>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7" name="TextBox 26">
            <a:hlinkClick action="ppaction://hlinksldjump" r:id="rId5"/>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파형 및 고조파 분석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7"/>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8"/>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9"/>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10"/>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1"/>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선정 미사용 운전조건 M024의 전류 파형·고조파를 대조함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M024: S*=900 VA, Vac=230 V, φ=−30°. 동일 조건에서 초기 THD 7.15%가 개선 후 2.76%로 감소함.</a:t>
            </a:r>
          </a:p>
        </p:txBody>
      </p:sp>
      <p:sp>
        <p:nvSpPr>
          <p:cNvPr id="17" name="TextBox 16"/>
          <p:cNvSpPr txBox="1"/>
          <p:nvPr/>
        </p:nvSpPr>
        <p:spPr>
          <a:xfrm>
            <a:off x="411480" y="1993392"/>
            <a:ext cx="4453128" cy="29260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계통전류 [A] · 마지막 1주기</a:t>
            </a:r>
          </a:p>
        </p:txBody>
      </p:sp>
      <p:graphicFrame>
        <p:nvGraphicFramePr>
          <p:cNvPr id="18" name="Chart 17"/>
          <p:cNvGraphicFramePr>
            <a:graphicFrameLocks noGrp="1"/>
          </p:cNvGraphicFramePr>
          <p:nvPr/>
        </p:nvGraphicFramePr>
        <p:xfrm>
          <a:off x="338328" y="2340864"/>
          <a:ext cx="4572000" cy="3337560"/>
        </p:xfrm>
        <a:graphic>
          <a:graphicData uri="http://schemas.openxmlformats.org/drawingml/2006/chart">
            <c:chart xmlns:c="http://schemas.openxmlformats.org/drawingml/2006/chart" r:id="rId2"/>
          </a:graphicData>
        </a:graphic>
      </p:graphicFrame>
      <p:sp>
        <p:nvSpPr>
          <p:cNvPr id="19" name="TextBox 18"/>
          <p:cNvSpPr txBox="1"/>
          <p:nvPr/>
        </p:nvSpPr>
        <p:spPr>
          <a:xfrm>
            <a:off x="5184648" y="1993392"/>
            <a:ext cx="4206240" cy="29260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차수별 성분 / I₁ [%]</a:t>
            </a:r>
          </a:p>
        </p:txBody>
      </p:sp>
      <p:graphicFrame>
        <p:nvGraphicFramePr>
          <p:cNvPr id="20" name="Chart 19"/>
          <p:cNvGraphicFramePr>
            <a:graphicFrameLocks noGrp="1"/>
          </p:cNvGraphicFramePr>
          <p:nvPr/>
        </p:nvGraphicFramePr>
        <p:xfrm>
          <a:off x="4956048" y="2340864"/>
          <a:ext cx="4526280" cy="3337560"/>
        </p:xfrm>
        <a:graphic>
          <a:graphicData uri="http://schemas.openxmlformats.org/drawingml/2006/chart">
            <c:chart xmlns:c="http://schemas.openxmlformats.org/drawingml/2006/chart" r:id="rId3"/>
          </a:graphicData>
        </a:graphic>
      </p:graphicFrame>
      <p:sp>
        <p:nvSpPr>
          <p:cNvPr id="21" name="Rectangle 20"/>
          <p:cNvSpPr/>
          <p:nvPr/>
        </p:nvSpPr>
        <p:spPr>
          <a:xfrm>
            <a:off x="502920" y="5715000"/>
            <a:ext cx="8887968" cy="521207"/>
          </a:xfrm>
          <a:prstGeom prst="rect">
            <a:avLst/>
          </a:prstGeom>
          <a:solidFill>
            <a:srgbClr val="F3F3F3"/>
          </a:solidFill>
          <a:ln w="8255">
            <a:solidFill>
              <a:srgbClr val="B8B8B8"/>
            </a:solidFill>
          </a:ln>
          <a:effectLst/>
        </p:spPr>
        <p:txBody>
          <a:bodyPr rtlCol="0" anchor="ctr"/>
          <a:lstStyle/>
          <a:p>
            <a:pPr algn="ctr"/>
          </a:p>
        </p:txBody>
      </p:sp>
      <p:sp>
        <p:nvSpPr>
          <p:cNvPr id="22" name="TextBox 21"/>
          <p:cNvSpPr txBox="1"/>
          <p:nvPr/>
        </p:nvSpPr>
        <p:spPr>
          <a:xfrm>
            <a:off x="585216" y="5779008"/>
            <a:ext cx="8723376" cy="393191"/>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120" b="0">
                <a:solidFill>
                  <a:srgbClr val="555555"/>
                </a:solidFill>
                <a:latin typeface="Malgun Gothic"/>
                <a:ea typeface="Malgun Gothic"/>
                <a:cs typeface="Malgun Gothic"/>
              </a:rPr>
              <a:t>차수별 결과: 3·5·7차 성분의 감소를 확인함. 고차 잔류 성분은 존재함.</a:t>
            </a:r>
          </a:p>
          <a:p>
            <a:pPr algn="l">
              <a:lnSpc>
                <a:spcPct val="108000"/>
              </a:lnSpc>
              <a:spcBef>
                <a:spcPts val="0"/>
              </a:spcBef>
              <a:spcAft>
                <a:spcPts val="200"/>
              </a:spcAft>
            </a:pPr>
            <a:r>
              <a:rPr sz="1120" b="0">
                <a:solidFill>
                  <a:srgbClr val="555555"/>
                </a:solidFill>
                <a:latin typeface="Malgun Gothic"/>
                <a:ea typeface="Malgun Gothic"/>
                <a:cs typeface="Malgun Gothic"/>
              </a:rPr>
              <a:t>파형은 표시 간격만 4:1로 축소하였으며, THD는 전체 6,400표본으로 계산함.</a:t>
            </a:r>
          </a:p>
        </p:txBody>
      </p:sp>
      <p:cxnSp>
        <p:nvCxnSpPr>
          <p:cNvPr id="23" name="Connector 22"/>
          <p:cNvCxnSpPr/>
          <p:nvPr/>
        </p:nvCxnSpPr>
        <p:spPr>
          <a:xfrm>
            <a:off x="365760" y="6428232"/>
            <a:ext cx="9189720" cy="0"/>
          </a:xfrm>
          <a:prstGeom prst="line">
            <a:avLst/>
          </a:prstGeom>
          <a:ln w="5715">
            <a:solidFill>
              <a:srgbClr val="000000"/>
            </a:solidFill>
          </a:ln>
          <a:effectLst/>
        </p:spPr>
      </p:cxnSp>
      <p:sp>
        <p:nvSpPr>
          <p:cNvPr id="24" name="TextBox 23"/>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M024, V2_0024/V2_0330 원시파형; results/harmonics.csv. 가로축: ms / 고조파 차수.</a:t>
            </a:r>
          </a:p>
        </p:txBody>
      </p:sp>
      <p:sp>
        <p:nvSpPr>
          <p:cNvPr id="25" name="TextBox 24"/>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27/58</a:t>
            </a:r>
          </a:p>
        </p:txBody>
      </p:sp>
      <p:sp>
        <p:nvSpPr>
          <p:cNvPr id="26" name="TextBox 25">
            <a:hlinkClick action="ppaction://hlinksldjump" r:id="rId5"/>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7" name="TextBox 26">
            <a:hlinkClick action="ppaction://hlinksldjump" r:id="rId6"/>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선정 미사용 운전조건 검증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선정 조건의 유효성 및 보조 조건 확인</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선정 미사용 운전조건 54개에서도 THD 및 보조 조건을 모두 만족함. 동일 모델 내 운전조건 확장에 대한 유효성을 확인함.</a:t>
            </a:r>
          </a:p>
        </p:txBody>
      </p:sp>
      <p:graphicFrame>
        <p:nvGraphicFramePr>
          <p:cNvPr id="17" name="Table 16"/>
          <p:cNvGraphicFramePr>
            <a:graphicFrameLocks noGrp="1"/>
          </p:cNvGraphicFramePr>
          <p:nvPr/>
        </p:nvGraphicFramePr>
        <p:xfrm>
          <a:off x="411480" y="1984248"/>
          <a:ext cx="9052558" cy="2560314"/>
        </p:xfrm>
        <a:graphic>
          <a:graphicData uri="http://schemas.openxmlformats.org/drawingml/2006/table">
            <a:tbl>
              <a:tblPr firstRow="1" bandRow="1">
                <a:tableStyleId>{5C22544A-7EE6-4342-B048-85BDC9FD1C3A}</a:tableStyleId>
              </a:tblPr>
              <a:tblGrid>
                <a:gridCol w="4345228"/>
                <a:gridCol w="2353665"/>
                <a:gridCol w="2353665"/>
              </a:tblGrid>
              <a:tr h="426719">
                <a:tc>
                  <a:txBody>
                    <a:bodyPr/>
                    <a:lstStyle/>
                    <a:p>
                      <a:pPr algn="ctr">
                        <a:lnSpc>
                          <a:spcPct val="105000"/>
                        </a:lnSpc>
                        <a:spcBef>
                          <a:spcPts val="0"/>
                        </a:spcBef>
                        <a:spcAft>
                          <a:spcPts val="100"/>
                        </a:spcAft>
                      </a:pPr>
                      <a:r>
                        <a:rPr sz="1300" b="1">
                          <a:solidFill>
                            <a:srgbClr val="000000"/>
                          </a:solidFill>
                          <a:latin typeface="Malgun Gothic"/>
                          <a:ea typeface="Malgun Gothic"/>
                          <a:cs typeface="Malgun Gothic"/>
                        </a:rPr>
                        <a:t>선정 미사용 운전조건 54개</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300" b="1">
                          <a:solidFill>
                            <a:srgbClr val="000000"/>
                          </a:solidFill>
                          <a:latin typeface="Malgun Gothic"/>
                          <a:ea typeface="Malgun Gothic"/>
                          <a:cs typeface="Malgun Gothic"/>
                        </a:rPr>
                        <a:t>초기</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300" b="1">
                          <a:solidFill>
                            <a:srgbClr val="000000"/>
                          </a:solidFill>
                          <a:latin typeface="Malgun Gothic"/>
                          <a:ea typeface="Malgun Gothic"/>
                          <a:cs typeface="Malgun Gothic"/>
                        </a:rPr>
                        <a:t>개선</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26719">
                <a:tc>
                  <a:txBody>
                    <a:bodyPr/>
                    <a:lstStyle/>
                    <a:p>
                      <a:pPr algn="l">
                        <a:lnSpc>
                          <a:spcPct val="105000"/>
                        </a:lnSpc>
                        <a:spcBef>
                          <a:spcPts val="0"/>
                        </a:spcBef>
                        <a:spcAft>
                          <a:spcPts val="100"/>
                        </a:spcAft>
                      </a:pPr>
                      <a:r>
                        <a:rPr sz="1300" b="0">
                          <a:solidFill>
                            <a:srgbClr val="000000"/>
                          </a:solidFill>
                          <a:latin typeface="Malgun Gothic"/>
                          <a:ea typeface="Malgun Gothic"/>
                          <a:cs typeface="Malgun Gothic"/>
                        </a:rPr>
                        <a:t>THD 기준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300" b="0">
                          <a:solidFill>
                            <a:srgbClr val="000000"/>
                          </a:solidFill>
                          <a:latin typeface="Malgun Gothic"/>
                          <a:ea typeface="Malgun Gothic"/>
                          <a:cs typeface="Malgun Gothic"/>
                        </a:rPr>
                        <a:t>11/54 (20.37%)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300" b="0">
                          <a:solidFill>
                            <a:srgbClr val="000000"/>
                          </a:solidFill>
                          <a:latin typeface="Malgun Gothic"/>
                          <a:ea typeface="Malgun Gothic"/>
                          <a:cs typeface="Malgun Gothic"/>
                        </a:rPr>
                        <a:t>54/54 (100%)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6719">
                <a:tc>
                  <a:txBody>
                    <a:bodyPr/>
                    <a:lstStyle/>
                    <a:p>
                      <a:pPr algn="l">
                        <a:lnSpc>
                          <a:spcPct val="105000"/>
                        </a:lnSpc>
                        <a:spcBef>
                          <a:spcPts val="0"/>
                        </a:spcBef>
                        <a:spcAft>
                          <a:spcPts val="100"/>
                        </a:spcAft>
                      </a:pPr>
                      <a:r>
                        <a:rPr sz="1300" b="0">
                          <a:solidFill>
                            <a:srgbClr val="000000"/>
                          </a:solidFill>
                          <a:latin typeface="Malgun Gothic"/>
                          <a:ea typeface="Malgun Gothic"/>
                          <a:cs typeface="Malgun Gothic"/>
                        </a:rPr>
                        <a:t>보조 조건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300" b="0">
                          <a:solidFill>
                            <a:srgbClr val="000000"/>
                          </a:solidFill>
                          <a:latin typeface="Malgun Gothic"/>
                          <a:ea typeface="Malgun Gothic"/>
                          <a:cs typeface="Malgun Gothic"/>
                        </a:rPr>
                        <a:t>54/54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300" b="0">
                          <a:solidFill>
                            <a:srgbClr val="000000"/>
                          </a:solidFill>
                          <a:latin typeface="Malgun Gothic"/>
                          <a:ea typeface="Malgun Gothic"/>
                          <a:cs typeface="Malgun Gothic"/>
                        </a:rPr>
                        <a:t>54/54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6719">
                <a:tc>
                  <a:txBody>
                    <a:bodyPr/>
                    <a:lstStyle/>
                    <a:p>
                      <a:pPr algn="l">
                        <a:lnSpc>
                          <a:spcPct val="105000"/>
                        </a:lnSpc>
                        <a:spcBef>
                          <a:spcPts val="0"/>
                        </a:spcBef>
                        <a:spcAft>
                          <a:spcPts val="100"/>
                        </a:spcAft>
                      </a:pPr>
                      <a:r>
                        <a:rPr sz="1300" b="0">
                          <a:solidFill>
                            <a:srgbClr val="000000"/>
                          </a:solidFill>
                          <a:latin typeface="Malgun Gothic"/>
                          <a:ea typeface="Malgun Gothic"/>
                          <a:cs typeface="Malgun Gothic"/>
                        </a:rPr>
                        <a:t>종합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300" b="0">
                          <a:solidFill>
                            <a:srgbClr val="000000"/>
                          </a:solidFill>
                          <a:latin typeface="Malgun Gothic"/>
                          <a:ea typeface="Malgun Gothic"/>
                          <a:cs typeface="Malgun Gothic"/>
                        </a:rPr>
                        <a:t>11/54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300" b="0">
                          <a:solidFill>
                            <a:srgbClr val="000000"/>
                          </a:solidFill>
                          <a:latin typeface="Malgun Gothic"/>
                          <a:ea typeface="Malgun Gothic"/>
                          <a:cs typeface="Malgun Gothic"/>
                        </a:rPr>
                        <a:t>54/54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6719">
                <a:tc>
                  <a:txBody>
                    <a:bodyPr/>
                    <a:lstStyle/>
                    <a:p>
                      <a:pPr algn="l">
                        <a:lnSpc>
                          <a:spcPct val="105000"/>
                        </a:lnSpc>
                        <a:spcBef>
                          <a:spcPts val="0"/>
                        </a:spcBef>
                        <a:spcAft>
                          <a:spcPts val="100"/>
                        </a:spcAft>
                      </a:pPr>
                      <a:r>
                        <a:rPr sz="1300" b="0">
                          <a:solidFill>
                            <a:srgbClr val="000000"/>
                          </a:solidFill>
                          <a:latin typeface="Malgun Gothic"/>
                          <a:ea typeface="Malgun Gothic"/>
                          <a:cs typeface="Malgun Gothic"/>
                        </a:rPr>
                        <a:t>평균 THD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300" b="0">
                          <a:solidFill>
                            <a:srgbClr val="000000"/>
                          </a:solidFill>
                          <a:latin typeface="Malgun Gothic"/>
                          <a:ea typeface="Malgun Gothic"/>
                          <a:cs typeface="Malgun Gothic"/>
                        </a:rPr>
                        <a:t>6.028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300" b="0">
                          <a:solidFill>
                            <a:srgbClr val="000000"/>
                          </a:solidFill>
                          <a:latin typeface="Malgun Gothic"/>
                          <a:ea typeface="Malgun Gothic"/>
                          <a:cs typeface="Malgun Gothic"/>
                        </a:rPr>
                        <a:t>2.416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26719">
                <a:tc>
                  <a:txBody>
                    <a:bodyPr/>
                    <a:lstStyle/>
                    <a:p>
                      <a:pPr algn="l">
                        <a:lnSpc>
                          <a:spcPct val="105000"/>
                        </a:lnSpc>
                        <a:spcBef>
                          <a:spcPts val="0"/>
                        </a:spcBef>
                        <a:spcAft>
                          <a:spcPts val="100"/>
                        </a:spcAft>
                      </a:pPr>
                      <a:r>
                        <a:rPr sz="1300" b="0">
                          <a:solidFill>
                            <a:srgbClr val="000000"/>
                          </a:solidFill>
                          <a:latin typeface="Malgun Gothic"/>
                          <a:ea typeface="Malgun Gothic"/>
                          <a:cs typeface="Malgun Gothic"/>
                        </a:rPr>
                        <a:t>최대 THD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300" b="0">
                          <a:solidFill>
                            <a:srgbClr val="000000"/>
                          </a:solidFill>
                          <a:latin typeface="Malgun Gothic"/>
                          <a:ea typeface="Malgun Gothic"/>
                          <a:cs typeface="Malgun Gothic"/>
                        </a:rPr>
                        <a:t>7.698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300" b="0">
                          <a:solidFill>
                            <a:srgbClr val="000000"/>
                          </a:solidFill>
                          <a:latin typeface="Malgun Gothic"/>
                          <a:ea typeface="Malgun Gothic"/>
                          <a:cs typeface="Malgun Gothic"/>
                        </a:rPr>
                        <a:t>2.932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411480" y="4828032"/>
            <a:ext cx="9052560" cy="996696"/>
          </a:xfrm>
          <a:prstGeom prst="rect">
            <a:avLst/>
          </a:prstGeom>
          <a:solidFill>
            <a:srgbClr val="FFFFFF"/>
          </a:solidFill>
          <a:ln w="8255">
            <a:solidFill>
              <a:srgbClr val="B8B8B8"/>
            </a:solidFill>
          </a:ln>
          <a:effectLst/>
        </p:spPr>
        <p:txBody>
          <a:bodyPr rtlCol="0" anchor="ctr"/>
          <a:lstStyle/>
          <a:p>
            <a:pPr algn="ctr"/>
          </a:p>
        </p:txBody>
      </p:sp>
      <p:sp>
        <p:nvSpPr>
          <p:cNvPr id="19" name="TextBox 18"/>
          <p:cNvSpPr txBox="1"/>
          <p:nvPr/>
        </p:nvSpPr>
        <p:spPr>
          <a:xfrm>
            <a:off x="493776" y="4892040"/>
            <a:ext cx="8887968" cy="868680"/>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300" b="0">
                <a:solidFill>
                  <a:srgbClr val="000000"/>
                </a:solidFill>
                <a:latin typeface="Malgun Gothic"/>
                <a:ea typeface="Malgun Gothic"/>
                <a:cs typeface="Malgun Gothic"/>
              </a:rPr>
              <a:t>검증의 의미</a:t>
            </a:r>
          </a:p>
          <a:p>
            <a:pPr algn="l">
              <a:lnSpc>
                <a:spcPct val="108000"/>
              </a:lnSpc>
              <a:spcBef>
                <a:spcPts val="0"/>
              </a:spcBef>
              <a:spcAft>
                <a:spcPts val="200"/>
              </a:spcAft>
            </a:pPr>
            <a:r>
              <a:rPr sz="1300" b="0">
                <a:solidFill>
                  <a:srgbClr val="000000"/>
                </a:solidFill>
                <a:latin typeface="Malgun Gothic"/>
                <a:ea typeface="Malgun Gothic"/>
                <a:cs typeface="Malgun Gothic"/>
              </a:rPr>
              <a:t>제어 조합 선정에 사용한 9개 조건에만 효과가 국한되지 않았음을 확인함.</a:t>
            </a:r>
          </a:p>
          <a:p>
            <a:pPr algn="l">
              <a:lnSpc>
                <a:spcPct val="108000"/>
              </a:lnSpc>
              <a:spcBef>
                <a:spcPts val="0"/>
              </a:spcBef>
              <a:spcAft>
                <a:spcPts val="200"/>
              </a:spcAft>
            </a:pPr>
            <a:r>
              <a:rPr sz="1300" b="0">
                <a:solidFill>
                  <a:srgbClr val="000000"/>
                </a:solidFill>
                <a:latin typeface="Malgun Gothic"/>
                <a:ea typeface="Malgun Gothic"/>
                <a:cs typeface="Malgun Gothic"/>
              </a:rPr>
              <a:t>다만 동일한 참조모델의 다른 운전조건이므로 실물·다른 회로에 대한 검증과 구분함.</a:t>
            </a:r>
          </a:p>
        </p:txBody>
      </p:sp>
      <p:sp>
        <p:nvSpPr>
          <p:cNvPr id="20" name="TextBox 19"/>
          <p:cNvSpPr txBox="1"/>
          <p:nvPr/>
        </p:nvSpPr>
        <p:spPr>
          <a:xfrm>
            <a:off x="411480" y="5897880"/>
            <a:ext cx="90525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30" b="0">
                <a:solidFill>
                  <a:srgbClr val="000000"/>
                </a:solidFill>
                <a:latin typeface="Malgun Gothic"/>
                <a:ea typeface="Malgun Gothic"/>
                <a:cs typeface="Malgun Gothic"/>
              </a:rPr>
              <a:t>54개는 기준 63개에 포함된 조건임. 기준 63개와 더하여 성과 분모를 117개로 만들지 않음.</a:t>
            </a:r>
          </a:p>
        </p:txBody>
      </p:sp>
      <p:cxnSp>
        <p:nvCxnSpPr>
          <p:cNvPr id="21" name="Connector 20"/>
          <p:cNvCxnSpPr/>
          <p:nvPr/>
        </p:nvCxnSpPr>
        <p:spPr>
          <a:xfrm>
            <a:off x="365760" y="6428232"/>
            <a:ext cx="9189720" cy="0"/>
          </a:xfrm>
          <a:prstGeom prst="line">
            <a:avLst/>
          </a:prstGeom>
          <a:ln w="5715">
            <a:solidFill>
              <a:srgbClr val="000000"/>
            </a:solidFill>
          </a:ln>
          <a:effectLst/>
        </p:spPr>
      </p:cxnSp>
      <p:sp>
        <p:nvSpPr>
          <p:cNvPr id="22" name="TextBox 21"/>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baseline.csv/improved.csv; selected_control.json training_ids; guardrail 판정.</a:t>
            </a:r>
          </a:p>
        </p:txBody>
      </p:sp>
      <p:sp>
        <p:nvSpPr>
          <p:cNvPr id="23" name="TextBox 22"/>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28/58</a:t>
            </a:r>
          </a:p>
        </p:txBody>
      </p:sp>
      <p:sp>
        <p:nvSpPr>
          <p:cNvPr id="24" name="TextBox 23">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5" name="TextBox 24">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변동조건 검증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변동 검증조건 60개 · THD와 종합 판정을 별도 집계함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선정 제어를 고정하고 부품·환경·모델 가정을 바꿔 검증함. THD만 보면 54/60 만족, 보조 조건까지 포함하면 51/60 만족임.</a:t>
            </a:r>
          </a:p>
        </p:txBody>
      </p:sp>
      <p:sp>
        <p:nvSpPr>
          <p:cNvPr id="17" name="TextBox 16"/>
          <p:cNvSpPr txBox="1"/>
          <p:nvPr/>
        </p:nvSpPr>
        <p:spPr>
          <a:xfrm>
            <a:off x="411480" y="1993392"/>
            <a:ext cx="5760720" cy="28346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THD [%] · 제어 설정 고정 후 추가 검증</a:t>
            </a:r>
          </a:p>
        </p:txBody>
      </p:sp>
      <p:graphicFrame>
        <p:nvGraphicFramePr>
          <p:cNvPr id="18" name="Chart 17"/>
          <p:cNvGraphicFramePr>
            <a:graphicFrameLocks noGrp="1"/>
          </p:cNvGraphicFramePr>
          <p:nvPr/>
        </p:nvGraphicFramePr>
        <p:xfrm>
          <a:off x="365760" y="2286000"/>
          <a:ext cx="5715000" cy="3840480"/>
        </p:xfrm>
        <a:graphic>
          <a:graphicData uri="http://schemas.openxmlformats.org/drawingml/2006/chart">
            <c:chart xmlns:c="http://schemas.openxmlformats.org/drawingml/2006/chart" r:id="rId2"/>
          </a:graphicData>
        </a:graphic>
      </p:graphicFrame>
      <p:graphicFrame>
        <p:nvGraphicFramePr>
          <p:cNvPr id="19" name="Table 18"/>
          <p:cNvGraphicFramePr>
            <a:graphicFrameLocks noGrp="1"/>
          </p:cNvGraphicFramePr>
          <p:nvPr/>
        </p:nvGraphicFramePr>
        <p:xfrm>
          <a:off x="6254496" y="2304288"/>
          <a:ext cx="3145536" cy="2350005"/>
        </p:xfrm>
        <a:graphic>
          <a:graphicData uri="http://schemas.openxmlformats.org/drawingml/2006/table">
            <a:tbl>
              <a:tblPr firstRow="1" bandRow="1">
                <a:tableStyleId>{5C22544A-7EE6-4342-B048-85BDC9FD1C3A}</a:tableStyleId>
              </a:tblPr>
              <a:tblGrid>
                <a:gridCol w="1243584"/>
                <a:gridCol w="950976"/>
                <a:gridCol w="950976"/>
              </a:tblGrid>
              <a:tr h="470001">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초기</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개선</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70001">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평균 THD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6.28%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2.91%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0001">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THD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16/60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54/60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0001">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종합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16/60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51/60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70001">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보조 조건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53/60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51/60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20" name="Rectangle 19"/>
          <p:cNvSpPr/>
          <p:nvPr/>
        </p:nvSpPr>
        <p:spPr>
          <a:xfrm>
            <a:off x="6254496" y="5358384"/>
            <a:ext cx="3145536" cy="621792"/>
          </a:xfrm>
          <a:prstGeom prst="rect">
            <a:avLst/>
          </a:prstGeom>
          <a:solidFill>
            <a:srgbClr val="F3F3F3"/>
          </a:solidFill>
          <a:ln w="8255">
            <a:solidFill>
              <a:srgbClr val="B8B8B8"/>
            </a:solidFill>
          </a:ln>
          <a:effectLst/>
        </p:spPr>
        <p:txBody>
          <a:bodyPr rtlCol="0" anchor="ctr"/>
          <a:lstStyle/>
          <a:p>
            <a:pPr algn="ctr"/>
          </a:p>
        </p:txBody>
      </p:sp>
      <p:sp>
        <p:nvSpPr>
          <p:cNvPr id="21" name="TextBox 20"/>
          <p:cNvSpPr txBox="1"/>
          <p:nvPr/>
        </p:nvSpPr>
        <p:spPr>
          <a:xfrm>
            <a:off x="6336792" y="5422392"/>
            <a:ext cx="2980944" cy="493776"/>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00" b="0">
                <a:solidFill>
                  <a:srgbClr val="C00000"/>
                </a:solidFill>
                <a:latin typeface="Malgun Gothic"/>
                <a:ea typeface="Malgun Gothic"/>
                <a:cs typeface="Malgun Gothic"/>
              </a:rPr>
              <a:t>종합 미달 9개 = THD 미달 6개 + THD는 만족하지만 보조 조건이 미달한 3개. 실패를 분모에서 제외하지 않음.</a:t>
            </a:r>
          </a:p>
        </p:txBody>
      </p:sp>
      <p:cxnSp>
        <p:nvCxnSpPr>
          <p:cNvPr id="22" name="Connector 21"/>
          <p:cNvCxnSpPr/>
          <p:nvPr/>
        </p:nvCxnSpPr>
        <p:spPr>
          <a:xfrm>
            <a:off x="365760" y="6428232"/>
            <a:ext cx="9189720" cy="0"/>
          </a:xfrm>
          <a:prstGeom prst="line">
            <a:avLst/>
          </a:prstGeom>
          <a:ln w="5715">
            <a:solidFill>
              <a:srgbClr val="000000"/>
            </a:solidFill>
          </a:ln>
          <a:effectLst/>
        </p:spPr>
      </p:cxnSp>
      <p:sp>
        <p:nvSpPr>
          <p:cNvPr id="23" name="TextBox 22"/>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holdout_baseline.csv; holdout_improved.csv; summary.json. 48 LHS + 12 경계조건.</a:t>
            </a:r>
          </a:p>
        </p:txBody>
      </p:sp>
      <p:sp>
        <p:nvSpPr>
          <p:cNvPr id="24" name="TextBox 23"/>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29/58</a:t>
            </a:r>
          </a:p>
        </p:txBody>
      </p:sp>
      <p:sp>
        <p:nvSpPr>
          <p:cNvPr id="25" name="TextBox 24">
            <a:hlinkClick action="ppaction://hlinksldjump" r:id="rId4"/>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6" name="TextBox 25">
            <a:hlinkClick action="ppaction://hlinksldjump" r:id="rId5"/>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만족·미달 상태 변화 분석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변동 검증조건 60개의 개선 및 신규 미달 구분</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변동 검증조건 60개의 초기·개선 판정을 교차 집계함. ‘보조 조건 신규 미달 2개’와 ‘종합 신규 미달 0개’는 다른 의미임.</a:t>
            </a:r>
          </a:p>
        </p:txBody>
      </p:sp>
      <p:graphicFrame>
        <p:nvGraphicFramePr>
          <p:cNvPr id="17" name="Table 16"/>
          <p:cNvGraphicFramePr>
            <a:graphicFrameLocks noGrp="1"/>
          </p:cNvGraphicFramePr>
          <p:nvPr/>
        </p:nvGraphicFramePr>
        <p:xfrm>
          <a:off x="393192" y="1993392"/>
          <a:ext cx="4370831" cy="1399032"/>
        </p:xfrm>
        <a:graphic>
          <a:graphicData uri="http://schemas.openxmlformats.org/drawingml/2006/table">
            <a:tbl>
              <a:tblPr firstRow="1" bandRow="1">
                <a:tableStyleId>{5C22544A-7EE6-4342-B048-85BDC9FD1C3A}</a:tableStyleId>
              </a:tblPr>
              <a:tblGrid>
                <a:gridCol w="1580939"/>
                <a:gridCol w="1394946"/>
                <a:gridCol w="1394946"/>
              </a:tblGrid>
              <a:tr h="466344">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THD 판정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개선 후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개선 후 미달</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66344">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개선 전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6344">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개선 전 미달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graphicFrame>
        <p:nvGraphicFramePr>
          <p:cNvPr id="18" name="Table 17"/>
          <p:cNvGraphicFramePr>
            <a:graphicFrameLocks noGrp="1"/>
          </p:cNvGraphicFramePr>
          <p:nvPr/>
        </p:nvGraphicFramePr>
        <p:xfrm>
          <a:off x="5111496" y="1993392"/>
          <a:ext cx="4370831" cy="1399032"/>
        </p:xfrm>
        <a:graphic>
          <a:graphicData uri="http://schemas.openxmlformats.org/drawingml/2006/table">
            <a:tbl>
              <a:tblPr firstRow="1" bandRow="1">
                <a:tableStyleId>{5C22544A-7EE6-4342-B048-85BDC9FD1C3A}</a:tableStyleId>
              </a:tblPr>
              <a:tblGrid>
                <a:gridCol w="1580939"/>
                <a:gridCol w="1394946"/>
                <a:gridCol w="1394946"/>
              </a:tblGrid>
              <a:tr h="466344">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보조 조건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개선 후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개선 후 미달</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66344">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개선 전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51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6344">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개선 전 미달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graphicFrame>
        <p:nvGraphicFramePr>
          <p:cNvPr id="19" name="Table 18"/>
          <p:cNvGraphicFramePr>
            <a:graphicFrameLocks noGrp="1"/>
          </p:cNvGraphicFramePr>
          <p:nvPr/>
        </p:nvGraphicFramePr>
        <p:xfrm>
          <a:off x="393192" y="3703320"/>
          <a:ext cx="4370831" cy="1399032"/>
        </p:xfrm>
        <a:graphic>
          <a:graphicData uri="http://schemas.openxmlformats.org/drawingml/2006/table">
            <a:tbl>
              <a:tblPr firstRow="1" bandRow="1">
                <a:tableStyleId>{5C22544A-7EE6-4342-B048-85BDC9FD1C3A}</a:tableStyleId>
              </a:tblPr>
              <a:tblGrid>
                <a:gridCol w="1580939"/>
                <a:gridCol w="1394946"/>
                <a:gridCol w="1394946"/>
              </a:tblGrid>
              <a:tr h="466344">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종합 판정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개선 후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개선 후 미달</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66344">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개선 전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6344">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개선 전 미달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20" name="Rectangle 19"/>
          <p:cNvSpPr/>
          <p:nvPr/>
        </p:nvSpPr>
        <p:spPr>
          <a:xfrm>
            <a:off x="5111496" y="3703320"/>
            <a:ext cx="4370832" cy="1399032"/>
          </a:xfrm>
          <a:prstGeom prst="rect">
            <a:avLst/>
          </a:prstGeom>
          <a:solidFill>
            <a:srgbClr val="FFFFFF"/>
          </a:solidFill>
          <a:ln w="8255">
            <a:solidFill>
              <a:srgbClr val="B8B8B8"/>
            </a:solidFill>
          </a:ln>
          <a:effectLst/>
        </p:spPr>
        <p:txBody>
          <a:bodyPr rtlCol="0" anchor="ctr"/>
          <a:lstStyle/>
          <a:p>
            <a:pPr algn="ctr"/>
          </a:p>
        </p:txBody>
      </p:sp>
      <p:sp>
        <p:nvSpPr>
          <p:cNvPr id="21" name="TextBox 20"/>
          <p:cNvSpPr txBox="1"/>
          <p:nvPr/>
        </p:nvSpPr>
        <p:spPr>
          <a:xfrm>
            <a:off x="5193792" y="3767328"/>
            <a:ext cx="4206240" cy="1271016"/>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00" b="0">
                <a:solidFill>
                  <a:srgbClr val="008000"/>
                </a:solidFill>
                <a:latin typeface="Malgun Gothic"/>
                <a:ea typeface="Malgun Gothic"/>
                <a:cs typeface="Malgun Gothic"/>
              </a:rPr>
              <a:t>결과 해석</a:t>
            </a:r>
          </a:p>
          <a:p>
            <a:pPr algn="l">
              <a:lnSpc>
                <a:spcPct val="108000"/>
              </a:lnSpc>
              <a:spcBef>
                <a:spcPts val="0"/>
              </a:spcBef>
              <a:spcAft>
                <a:spcPts val="200"/>
              </a:spcAft>
            </a:pPr>
            <a:r>
              <a:rPr sz="1200" b="0">
                <a:solidFill>
                  <a:srgbClr val="008000"/>
                </a:solidFill>
                <a:latin typeface="Malgun Gothic"/>
                <a:ea typeface="Malgun Gothic"/>
                <a:cs typeface="Malgun Gothic"/>
              </a:rPr>
              <a:t>H053·H054는 THD가 개선됐으나 새 포화 미달이 발생함.</a:t>
            </a:r>
          </a:p>
          <a:p>
            <a:pPr algn="l">
              <a:lnSpc>
                <a:spcPct val="108000"/>
              </a:lnSpc>
              <a:spcBef>
                <a:spcPts val="0"/>
              </a:spcBef>
              <a:spcAft>
                <a:spcPts val="200"/>
              </a:spcAft>
            </a:pPr>
            <a:r>
              <a:rPr sz="1200" b="0">
                <a:solidFill>
                  <a:srgbClr val="008000"/>
                </a:solidFill>
                <a:latin typeface="Malgun Gothic"/>
                <a:ea typeface="Malgun Gothic"/>
                <a:cs typeface="Malgun Gothic"/>
              </a:rPr>
              <a:t>두 조건은 초기에도 THD 미달이었으므로 ‘신규 종합 미달’은 아님.</a:t>
            </a:r>
          </a:p>
        </p:txBody>
      </p:sp>
      <p:sp>
        <p:nvSpPr>
          <p:cNvPr id="22" name="TextBox 21"/>
          <p:cNvSpPr txBox="1"/>
          <p:nvPr/>
        </p:nvSpPr>
        <p:spPr>
          <a:xfrm>
            <a:off x="393192" y="5705856"/>
            <a:ext cx="9107424" cy="53035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80" b="0">
                <a:solidFill>
                  <a:srgbClr val="000000"/>
                </a:solidFill>
                <a:latin typeface="Malgun Gothic"/>
                <a:ea typeface="Malgun Gothic"/>
                <a:cs typeface="Malgun Gothic"/>
              </a:rPr>
              <a:t>48개 LHS + 12개 경계값 검증조건의 설계 검증 결과임. 만족률 85%를 실제 제품 수율 또는 신뢰도로 환산하지 않음.</a:t>
            </a:r>
          </a:p>
        </p:txBody>
      </p:sp>
      <p:cxnSp>
        <p:nvCxnSpPr>
          <p:cNvPr id="23" name="Connector 22"/>
          <p:cNvCxnSpPr/>
          <p:nvPr/>
        </p:nvCxnSpPr>
        <p:spPr>
          <a:xfrm>
            <a:off x="365760" y="6428232"/>
            <a:ext cx="9189720" cy="0"/>
          </a:xfrm>
          <a:prstGeom prst="line">
            <a:avLst/>
          </a:prstGeom>
          <a:ln w="5715">
            <a:solidFill>
              <a:srgbClr val="000000"/>
            </a:solidFill>
          </a:ln>
          <a:effectLst/>
        </p:spPr>
      </p:cxnSp>
      <p:sp>
        <p:nvSpPr>
          <p:cNvPr id="24" name="TextBox 23"/>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V2 holdout_baseline.csv·holdout_improved.csv → V3 analysis/pass_transitions.csv</a:t>
            </a:r>
          </a:p>
        </p:txBody>
      </p:sp>
      <p:sp>
        <p:nvSpPr>
          <p:cNvPr id="25" name="TextBox 24"/>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30/58</a:t>
            </a:r>
          </a:p>
        </p:txBody>
      </p:sp>
      <p:sp>
        <p:nvSpPr>
          <p:cNvPr id="26" name="TextBox 25">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7" name="TextBox 26">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미달 조건 분석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전압 여유 및 제어 포화 영향</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변동 검증에서 높은 계통전압과 낮은 DC 전압 조건에 미달이 집중됨. H053·H054는 개선 후 보조 조건을 새로 위반함.</a:t>
            </a:r>
          </a:p>
        </p:txBody>
      </p:sp>
      <p:graphicFrame>
        <p:nvGraphicFramePr>
          <p:cNvPr id="17" name="Table 16"/>
          <p:cNvGraphicFramePr>
            <a:graphicFrameLocks noGrp="1"/>
          </p:cNvGraphicFramePr>
          <p:nvPr/>
        </p:nvGraphicFramePr>
        <p:xfrm>
          <a:off x="402336" y="1993392"/>
          <a:ext cx="5760717" cy="4087360"/>
        </p:xfrm>
        <a:graphic>
          <a:graphicData uri="http://schemas.openxmlformats.org/drawingml/2006/table">
            <a:tbl>
              <a:tblPr firstRow="1" bandRow="1">
                <a:tableStyleId>{5C22544A-7EE6-4342-B048-85BDC9FD1C3A}</a:tableStyleId>
              </a:tblPr>
              <a:tblGrid>
                <a:gridCol w="913284"/>
                <a:gridCol w="878158"/>
                <a:gridCol w="1721190"/>
                <a:gridCol w="1088916"/>
                <a:gridCol w="1159169"/>
              </a:tblGrid>
              <a:tr h="408736">
                <a:tc>
                  <a:txBody>
                    <a:bodyPr/>
                    <a:lstStyle/>
                    <a:p>
                      <a:pPr algn="ctr">
                        <a:lnSpc>
                          <a:spcPct val="105000"/>
                        </a:lnSpc>
                        <a:spcBef>
                          <a:spcPts val="0"/>
                        </a:spcBef>
                        <a:spcAft>
                          <a:spcPts val="100"/>
                        </a:spcAft>
                      </a:pPr>
                      <a:r>
                        <a:rPr sz="1110" b="1">
                          <a:solidFill>
                            <a:srgbClr val="000000"/>
                          </a:solidFill>
                          <a:latin typeface="Malgun Gothic"/>
                          <a:ea typeface="Malgun Gothic"/>
                          <a:cs typeface="Malgun Gothic"/>
                        </a:rPr>
                        <a:t>실패 ID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1">
                          <a:solidFill>
                            <a:srgbClr val="000000"/>
                          </a:solidFill>
                          <a:latin typeface="Malgun Gothic"/>
                          <a:ea typeface="Malgun Gothic"/>
                          <a:cs typeface="Malgun Gothic"/>
                        </a:rPr>
                        <a:t>S* [VA]</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1">
                          <a:solidFill>
                            <a:srgbClr val="000000"/>
                          </a:solidFill>
                          <a:latin typeface="Malgun Gothic"/>
                          <a:ea typeface="Malgun Gothic"/>
                          <a:cs typeface="Malgun Gothic"/>
                        </a:rPr>
                        <a:t>Vac / Vdc [V]</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1">
                          <a:solidFill>
                            <a:srgbClr val="000000"/>
                          </a:solidFill>
                          <a:latin typeface="Malgun Gothic"/>
                          <a:ea typeface="Malgun Gothic"/>
                          <a:cs typeface="Malgun Gothic"/>
                        </a:rPr>
                        <a:t>THD [%]</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1">
                          <a:solidFill>
                            <a:srgbClr val="000000"/>
                          </a:solidFill>
                          <a:latin typeface="Malgun Gothic"/>
                          <a:ea typeface="Malgun Gothic"/>
                          <a:cs typeface="Malgun Gothic"/>
                        </a:rPr>
                        <a:t>포화 시간비 [%]</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08736">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H007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924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252.4 / 380.4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6.72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13.12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08736">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H051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900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253.0 / 380.0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8.81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14.06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08736">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H052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900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253.0 / 380.0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8.19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13.59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08736">
                <a:tc>
                  <a:txBody>
                    <a:bodyPr/>
                    <a:lstStyle/>
                    <a:p>
                      <a:pPr algn="l">
                        <a:lnSpc>
                          <a:spcPct val="105000"/>
                        </a:lnSpc>
                        <a:spcBef>
                          <a:spcPts val="0"/>
                        </a:spcBef>
                        <a:spcAft>
                          <a:spcPts val="100"/>
                        </a:spcAft>
                      </a:pPr>
                      <a:r>
                        <a:rPr sz="1110" b="0">
                          <a:solidFill>
                            <a:srgbClr val="C00000"/>
                          </a:solidFill>
                          <a:latin typeface="Malgun Gothic"/>
                          <a:ea typeface="Malgun Gothic"/>
                          <a:cs typeface="Malgun Gothic"/>
                        </a:rPr>
                        <a:t>H053</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C00000"/>
                          </a:solidFill>
                          <a:latin typeface="Malgun Gothic"/>
                          <a:ea typeface="Malgun Gothic"/>
                          <a:cs typeface="Malgun Gothic"/>
                        </a:rPr>
                        <a:t>900</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C00000"/>
                          </a:solidFill>
                          <a:latin typeface="Malgun Gothic"/>
                          <a:ea typeface="Malgun Gothic"/>
                          <a:cs typeface="Malgun Gothic"/>
                        </a:rPr>
                        <a:t>253.0 / 380.0</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C00000"/>
                          </a:solidFill>
                          <a:latin typeface="Malgun Gothic"/>
                          <a:ea typeface="Malgun Gothic"/>
                          <a:cs typeface="Malgun Gothic"/>
                        </a:rPr>
                        <a:t>4.40</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C00000"/>
                          </a:solidFill>
                          <a:latin typeface="Malgun Gothic"/>
                          <a:ea typeface="Malgun Gothic"/>
                          <a:cs typeface="Malgun Gothic"/>
                        </a:rPr>
                        <a:t>4.69</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r>
              <a:tr h="408736">
                <a:tc>
                  <a:txBody>
                    <a:bodyPr/>
                    <a:lstStyle/>
                    <a:p>
                      <a:pPr algn="l">
                        <a:lnSpc>
                          <a:spcPct val="105000"/>
                        </a:lnSpc>
                        <a:spcBef>
                          <a:spcPts val="0"/>
                        </a:spcBef>
                        <a:spcAft>
                          <a:spcPts val="100"/>
                        </a:spcAft>
                      </a:pPr>
                      <a:r>
                        <a:rPr sz="1110" b="0">
                          <a:solidFill>
                            <a:srgbClr val="C00000"/>
                          </a:solidFill>
                          <a:latin typeface="Malgun Gothic"/>
                          <a:ea typeface="Malgun Gothic"/>
                          <a:cs typeface="Malgun Gothic"/>
                        </a:rPr>
                        <a:t>H054</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C00000"/>
                          </a:solidFill>
                          <a:latin typeface="Malgun Gothic"/>
                          <a:ea typeface="Malgun Gothic"/>
                          <a:cs typeface="Malgun Gothic"/>
                        </a:rPr>
                        <a:t>900</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C00000"/>
                          </a:solidFill>
                          <a:latin typeface="Malgun Gothic"/>
                          <a:ea typeface="Malgun Gothic"/>
                          <a:cs typeface="Malgun Gothic"/>
                        </a:rPr>
                        <a:t>253.0 / 380.0</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C00000"/>
                          </a:solidFill>
                          <a:latin typeface="Malgun Gothic"/>
                          <a:ea typeface="Malgun Gothic"/>
                          <a:cs typeface="Malgun Gothic"/>
                        </a:rPr>
                        <a:t>3.48</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C00000"/>
                          </a:solidFill>
                          <a:latin typeface="Malgun Gothic"/>
                          <a:ea typeface="Malgun Gothic"/>
                          <a:cs typeface="Malgun Gothic"/>
                        </a:rPr>
                        <a:t>2.19</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r>
              <a:tr h="408736">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H057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1400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253.0 / 380.0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7.39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15.41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08736">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H058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1400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253.0 / 380.0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7.09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15.34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08736">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H059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1400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253.0 / 380.0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5.07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9.38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08736">
                <a:tc>
                  <a:txBody>
                    <a:bodyPr/>
                    <a:lstStyle/>
                    <a:p>
                      <a:pPr algn="l">
                        <a:lnSpc>
                          <a:spcPct val="105000"/>
                        </a:lnSpc>
                        <a:spcBef>
                          <a:spcPts val="0"/>
                        </a:spcBef>
                        <a:spcAft>
                          <a:spcPts val="100"/>
                        </a:spcAft>
                      </a:pPr>
                      <a:r>
                        <a:rPr sz="1110" b="0">
                          <a:solidFill>
                            <a:srgbClr val="000000"/>
                          </a:solidFill>
                          <a:latin typeface="Malgun Gothic"/>
                          <a:ea typeface="Malgun Gothic"/>
                          <a:cs typeface="Malgun Gothic"/>
                        </a:rPr>
                        <a:t>H060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1400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253.0 / 380.0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3.87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10" b="0">
                          <a:solidFill>
                            <a:srgbClr val="000000"/>
                          </a:solidFill>
                          <a:latin typeface="Malgun Gothic"/>
                          <a:ea typeface="Malgun Gothic"/>
                          <a:cs typeface="Malgun Gothic"/>
                        </a:rPr>
                        <a:t>7.97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6400800" y="2112264"/>
            <a:ext cx="2999232" cy="1517904"/>
          </a:xfrm>
          <a:prstGeom prst="rect">
            <a:avLst/>
          </a:prstGeom>
          <a:solidFill>
            <a:srgbClr val="FFFFFF"/>
          </a:solidFill>
          <a:ln w="8255">
            <a:solidFill>
              <a:srgbClr val="B8B8B8"/>
            </a:solidFill>
          </a:ln>
          <a:effectLst/>
        </p:spPr>
        <p:txBody>
          <a:bodyPr rtlCol="0" anchor="ctr"/>
          <a:lstStyle/>
          <a:p>
            <a:pPr algn="ctr"/>
          </a:p>
        </p:txBody>
      </p:sp>
      <p:sp>
        <p:nvSpPr>
          <p:cNvPr id="19" name="TextBox 18"/>
          <p:cNvSpPr txBox="1"/>
          <p:nvPr/>
        </p:nvSpPr>
        <p:spPr>
          <a:xfrm>
            <a:off x="6483096" y="2176272"/>
            <a:ext cx="2834639" cy="1389888"/>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40" b="0">
                <a:solidFill>
                  <a:srgbClr val="000000"/>
                </a:solidFill>
                <a:latin typeface="Malgun Gothic"/>
                <a:ea typeface="Malgun Gothic"/>
                <a:cs typeface="Malgun Gothic"/>
              </a:rPr>
              <a:t>미달 조건 확인</a:t>
            </a:r>
          </a:p>
          <a:p>
            <a:pPr algn="l">
              <a:lnSpc>
                <a:spcPct val="108000"/>
              </a:lnSpc>
              <a:spcBef>
                <a:spcPts val="0"/>
              </a:spcBef>
              <a:spcAft>
                <a:spcPts val="200"/>
              </a:spcAft>
            </a:pPr>
            <a:r>
              <a:rPr sz="1240" b="0">
                <a:solidFill>
                  <a:srgbClr val="000000"/>
                </a:solidFill>
                <a:latin typeface="Malgun Gothic"/>
                <a:ea typeface="Malgun Gothic"/>
                <a:cs typeface="Malgun Gothic"/>
              </a:rPr>
              <a:t>9개 조건 모두 전압 명령의 포화가 확인됨. H053·H054·H060은 THD 5% 이하여도 종합 미달로 판정함.</a:t>
            </a:r>
          </a:p>
        </p:txBody>
      </p:sp>
      <p:sp>
        <p:nvSpPr>
          <p:cNvPr id="20" name="Rectangle 19"/>
          <p:cNvSpPr/>
          <p:nvPr/>
        </p:nvSpPr>
        <p:spPr>
          <a:xfrm>
            <a:off x="6400800" y="3822191"/>
            <a:ext cx="2999232" cy="1828800"/>
          </a:xfrm>
          <a:prstGeom prst="rect">
            <a:avLst/>
          </a:prstGeom>
          <a:solidFill>
            <a:srgbClr val="F3F3F3"/>
          </a:solidFill>
          <a:ln w="8255">
            <a:solidFill>
              <a:srgbClr val="B8B8B8"/>
            </a:solidFill>
          </a:ln>
          <a:effectLst/>
        </p:spPr>
        <p:txBody>
          <a:bodyPr rtlCol="0" anchor="ctr"/>
          <a:lstStyle/>
          <a:p>
            <a:pPr algn="ctr"/>
          </a:p>
        </p:txBody>
      </p:sp>
      <p:sp>
        <p:nvSpPr>
          <p:cNvPr id="21" name="TextBox 20"/>
          <p:cNvSpPr txBox="1"/>
          <p:nvPr/>
        </p:nvSpPr>
        <p:spPr>
          <a:xfrm>
            <a:off x="6483096" y="3886200"/>
            <a:ext cx="2834639" cy="170078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30" b="0">
                <a:solidFill>
                  <a:srgbClr val="C00000"/>
                </a:solidFill>
                <a:latin typeface="Malgun Gothic"/>
                <a:ea typeface="Malgun Gothic"/>
                <a:cs typeface="Malgun Gothic"/>
              </a:rPr>
              <a:t>추가 원인 진단</a:t>
            </a:r>
          </a:p>
          <a:p>
            <a:pPr algn="l">
              <a:lnSpc>
                <a:spcPct val="108000"/>
              </a:lnSpc>
              <a:spcBef>
                <a:spcPts val="0"/>
              </a:spcBef>
              <a:spcAft>
                <a:spcPts val="200"/>
              </a:spcAft>
            </a:pPr>
            <a:r>
              <a:rPr sz="1230" b="0">
                <a:solidFill>
                  <a:srgbClr val="C00000"/>
                </a:solidFill>
                <a:latin typeface="Malgun Gothic"/>
                <a:ea typeface="Malgun Gothic"/>
                <a:cs typeface="Malgun Gothic"/>
              </a:rPr>
              <a:t>동일 9개 조건의 Vdc만 400 V로 변경 시 9/9이 종합 만족함.</a:t>
            </a:r>
          </a:p>
          <a:p>
            <a:pPr algn="l">
              <a:lnSpc>
                <a:spcPct val="108000"/>
              </a:lnSpc>
              <a:spcBef>
                <a:spcPts val="0"/>
              </a:spcBef>
              <a:spcAft>
                <a:spcPts val="200"/>
              </a:spcAft>
            </a:pPr>
            <a:r>
              <a:rPr sz="1230" b="0">
                <a:solidFill>
                  <a:srgbClr val="C00000"/>
                </a:solidFill>
                <a:latin typeface="Malgun Gothic"/>
                <a:ea typeface="Malgun Gothic"/>
                <a:cs typeface="Malgun Gothic"/>
              </a:rPr>
              <a:t>전압 여유의 영향을 확인한 결과이며 정식 설계 변경안은 아님.</a:t>
            </a:r>
          </a:p>
        </p:txBody>
      </p:sp>
      <p:sp>
        <p:nvSpPr>
          <p:cNvPr id="22" name="TextBox 21"/>
          <p:cNvSpPr txBox="1"/>
          <p:nvPr/>
        </p:nvSpPr>
        <p:spPr>
          <a:xfrm>
            <a:off x="6400800" y="5833872"/>
            <a:ext cx="2999232" cy="3657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Vdc=400 V 재계산은 실패 원인 진단임. 변동 검증 60개의 원 판정과 51/60 만족률은 그대로 유지함.</a:t>
            </a:r>
          </a:p>
        </p:txBody>
      </p:sp>
      <p:cxnSp>
        <p:nvCxnSpPr>
          <p:cNvPr id="23" name="Connector 22"/>
          <p:cNvCxnSpPr/>
          <p:nvPr/>
        </p:nvCxnSpPr>
        <p:spPr>
          <a:xfrm>
            <a:off x="365760" y="6428232"/>
            <a:ext cx="9189720" cy="0"/>
          </a:xfrm>
          <a:prstGeom prst="line">
            <a:avLst/>
          </a:prstGeom>
          <a:ln w="5715">
            <a:solidFill>
              <a:srgbClr val="000000"/>
            </a:solidFill>
          </a:ln>
          <a:effectLst/>
        </p:spPr>
      </p:cxnSp>
      <p:sp>
        <p:nvSpPr>
          <p:cNvPr id="24" name="TextBox 23"/>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holdout_failures.csv; holdout_improved.csv; diagnostic_vdc400.csv. 포화비 한계 &lt;0.1%.</a:t>
            </a:r>
          </a:p>
        </p:txBody>
      </p:sp>
      <p:sp>
        <p:nvSpPr>
          <p:cNvPr id="25" name="TextBox 24"/>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31/58</a:t>
            </a:r>
          </a:p>
        </p:txBody>
      </p:sp>
      <p:sp>
        <p:nvSpPr>
          <p:cNvPr id="26" name="TextBox 25">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7" name="TextBox 26">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4. Improve / 부작용 검증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과도응답 및 범위 외 조건 확인</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정착시간과 전류 피크를 비교함. T3의 관측 증가량 0.0625 ms는 제어주기 2개에 해당하며, 이를 제품 성능열화로 단정하지 않음.</a:t>
            </a:r>
          </a:p>
        </p:txBody>
      </p:sp>
      <p:graphicFrame>
        <p:nvGraphicFramePr>
          <p:cNvPr id="17" name="Table 16"/>
          <p:cNvGraphicFramePr>
            <a:graphicFrameLocks noGrp="1"/>
          </p:cNvGraphicFramePr>
          <p:nvPr/>
        </p:nvGraphicFramePr>
        <p:xfrm>
          <a:off x="411480" y="2048256"/>
          <a:ext cx="5623558" cy="2340860"/>
        </p:xfrm>
        <a:graphic>
          <a:graphicData uri="http://schemas.openxmlformats.org/drawingml/2006/table">
            <a:tbl>
              <a:tblPr firstRow="1" bandRow="1">
                <a:tableStyleId>{5C22544A-7EE6-4342-B048-85BDC9FD1C3A}</a:tableStyleId>
              </a:tblPr>
              <a:tblGrid>
                <a:gridCol w="892628"/>
                <a:gridCol w="2677885"/>
                <a:gridCol w="2053045"/>
              </a:tblGrid>
              <a:tr h="468172">
                <a:tc>
                  <a:txBody>
                    <a:bodyPr/>
                    <a:lstStyle/>
                    <a:p>
                      <a:pPr algn="ctr">
                        <a:lnSpc>
                          <a:spcPct val="105000"/>
                        </a:lnSpc>
                        <a:spcBef>
                          <a:spcPts val="0"/>
                        </a:spcBef>
                        <a:spcAft>
                          <a:spcPts val="100"/>
                        </a:spcAft>
                      </a:pPr>
                      <a:r>
                        <a:rPr sz="1180" b="1">
                          <a:solidFill>
                            <a:srgbClr val="000000"/>
                          </a:solidFill>
                          <a:latin typeface="Malgun Gothic"/>
                          <a:ea typeface="Malgun Gothic"/>
                          <a:cs typeface="Malgun Gothic"/>
                        </a:rPr>
                        <a:t>시험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80" b="1">
                          <a:solidFill>
                            <a:srgbClr val="000000"/>
                          </a:solidFill>
                          <a:latin typeface="Malgun Gothic"/>
                          <a:ea typeface="Malgun Gothic"/>
                          <a:cs typeface="Malgun Gothic"/>
                        </a:rPr>
                        <a:t>명령 변화 후 정착 [ms]</a:t>
                      </a:r>
                    </a:p>
                    <a:p>
                      <a:pPr algn="ctr">
                        <a:lnSpc>
                          <a:spcPct val="105000"/>
                        </a:lnSpc>
                        <a:spcBef>
                          <a:spcPts val="0"/>
                        </a:spcBef>
                        <a:spcAft>
                          <a:spcPts val="100"/>
                        </a:spcAft>
                      </a:pPr>
                      <a:r>
                        <a:rPr sz="1180" b="1">
                          <a:solidFill>
                            <a:srgbClr val="000000"/>
                          </a:solidFill>
                          <a:latin typeface="Malgun Gothic"/>
                          <a:ea typeface="Malgun Gothic"/>
                          <a:cs typeface="Malgun Gothic"/>
                        </a:rPr>
                        <a:t>초기 → 개선</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80" b="1">
                          <a:solidFill>
                            <a:srgbClr val="000000"/>
                          </a:solidFill>
                          <a:latin typeface="Malgun Gothic"/>
                          <a:ea typeface="Malgun Gothic"/>
                          <a:cs typeface="Malgun Gothic"/>
                        </a:rPr>
                        <a:t>전체 실행 전류 피크 [A]</a:t>
                      </a:r>
                    </a:p>
                    <a:p>
                      <a:pPr algn="ctr">
                        <a:lnSpc>
                          <a:spcPct val="105000"/>
                        </a:lnSpc>
                        <a:spcBef>
                          <a:spcPts val="0"/>
                        </a:spcBef>
                        <a:spcAft>
                          <a:spcPts val="100"/>
                        </a:spcAft>
                      </a:pPr>
                      <a:r>
                        <a:rPr sz="1180" b="1">
                          <a:solidFill>
                            <a:srgbClr val="000000"/>
                          </a:solidFill>
                          <a:latin typeface="Malgun Gothic"/>
                          <a:ea typeface="Malgun Gothic"/>
                          <a:cs typeface="Malgun Gothic"/>
                        </a:rPr>
                        <a:t>초기 → 개선</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68172">
                <a:tc>
                  <a:txBody>
                    <a:bodyPr/>
                    <a:lstStyle/>
                    <a:p>
                      <a:pPr algn="ctr">
                        <a:lnSpc>
                          <a:spcPct val="105000"/>
                        </a:lnSpc>
                        <a:spcBef>
                          <a:spcPts val="0"/>
                        </a:spcBef>
                        <a:spcAft>
                          <a:spcPts val="100"/>
                        </a:spcAft>
                      </a:pPr>
                      <a:r>
                        <a:rPr sz="1180" b="0">
                          <a:solidFill>
                            <a:srgbClr val="000000"/>
                          </a:solidFill>
                          <a:latin typeface="Malgun Gothic"/>
                          <a:ea typeface="Malgun Gothic"/>
                          <a:cs typeface="Malgun Gothic"/>
                        </a:rPr>
                        <a:t>T1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80" b="0">
                          <a:solidFill>
                            <a:srgbClr val="000000"/>
                          </a:solidFill>
                          <a:latin typeface="Malgun Gothic"/>
                          <a:ea typeface="Malgun Gothic"/>
                          <a:cs typeface="Malgun Gothic"/>
                        </a:rPr>
                        <a:t>33.469 → 32.969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80" b="0">
                          <a:solidFill>
                            <a:srgbClr val="000000"/>
                          </a:solidFill>
                          <a:latin typeface="Malgun Gothic"/>
                          <a:ea typeface="Malgun Gothic"/>
                          <a:cs typeface="Malgun Gothic"/>
                        </a:rPr>
                        <a:t>6.33 → 6.13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8172">
                <a:tc>
                  <a:txBody>
                    <a:bodyPr/>
                    <a:lstStyle/>
                    <a:p>
                      <a:pPr algn="ctr">
                        <a:lnSpc>
                          <a:spcPct val="105000"/>
                        </a:lnSpc>
                        <a:spcBef>
                          <a:spcPts val="0"/>
                        </a:spcBef>
                        <a:spcAft>
                          <a:spcPts val="100"/>
                        </a:spcAft>
                      </a:pPr>
                      <a:r>
                        <a:rPr sz="1180" b="0">
                          <a:solidFill>
                            <a:srgbClr val="000000"/>
                          </a:solidFill>
                          <a:latin typeface="Malgun Gothic"/>
                          <a:ea typeface="Malgun Gothic"/>
                          <a:cs typeface="Malgun Gothic"/>
                        </a:rPr>
                        <a:t>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80" b="0">
                          <a:solidFill>
                            <a:srgbClr val="000000"/>
                          </a:solidFill>
                          <a:latin typeface="Malgun Gothic"/>
                          <a:ea typeface="Malgun Gothic"/>
                          <a:cs typeface="Malgun Gothic"/>
                        </a:rPr>
                        <a:t>32.562 → 32.562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80" b="0">
                          <a:solidFill>
                            <a:srgbClr val="000000"/>
                          </a:solidFill>
                          <a:latin typeface="Malgun Gothic"/>
                          <a:ea typeface="Malgun Gothic"/>
                          <a:cs typeface="Malgun Gothic"/>
                        </a:rPr>
                        <a:t>6.32 → 6.22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8172">
                <a:tc>
                  <a:txBody>
                    <a:bodyPr/>
                    <a:lstStyle/>
                    <a:p>
                      <a:pPr algn="ctr">
                        <a:lnSpc>
                          <a:spcPct val="105000"/>
                        </a:lnSpc>
                        <a:spcBef>
                          <a:spcPts val="0"/>
                        </a:spcBef>
                        <a:spcAft>
                          <a:spcPts val="100"/>
                        </a:spcAft>
                      </a:pPr>
                      <a:r>
                        <a:rPr sz="1180" b="0">
                          <a:solidFill>
                            <a:srgbClr val="000000"/>
                          </a:solidFill>
                          <a:latin typeface="Malgun Gothic"/>
                          <a:ea typeface="Malgun Gothic"/>
                          <a:cs typeface="Malgun Gothic"/>
                        </a:rPr>
                        <a:t>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80" b="0">
                          <a:solidFill>
                            <a:srgbClr val="000000"/>
                          </a:solidFill>
                          <a:latin typeface="Malgun Gothic"/>
                          <a:ea typeface="Malgun Gothic"/>
                          <a:cs typeface="Malgun Gothic"/>
                        </a:rPr>
                        <a:t>32.750 → 32.812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80" b="0">
                          <a:solidFill>
                            <a:srgbClr val="000000"/>
                          </a:solidFill>
                          <a:latin typeface="Malgun Gothic"/>
                          <a:ea typeface="Malgun Gothic"/>
                          <a:cs typeface="Malgun Gothic"/>
                        </a:rPr>
                        <a:t>9.13 → 8.88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8172">
                <a:tc>
                  <a:txBody>
                    <a:bodyPr/>
                    <a:lstStyle/>
                    <a:p>
                      <a:pPr algn="ctr">
                        <a:lnSpc>
                          <a:spcPct val="105000"/>
                        </a:lnSpc>
                        <a:spcBef>
                          <a:spcPts val="0"/>
                        </a:spcBef>
                        <a:spcAft>
                          <a:spcPts val="100"/>
                        </a:spcAft>
                      </a:pPr>
                      <a:r>
                        <a:rPr sz="1180" b="0">
                          <a:solidFill>
                            <a:srgbClr val="000000"/>
                          </a:solidFill>
                          <a:latin typeface="Malgun Gothic"/>
                          <a:ea typeface="Malgun Gothic"/>
                          <a:cs typeface="Malgun Gothic"/>
                        </a:rPr>
                        <a:t>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80" b="0">
                          <a:solidFill>
                            <a:srgbClr val="000000"/>
                          </a:solidFill>
                          <a:latin typeface="Malgun Gothic"/>
                          <a:ea typeface="Malgun Gothic"/>
                          <a:cs typeface="Malgun Gothic"/>
                        </a:rPr>
                        <a:t>32.875 → 32.781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80" b="0">
                          <a:solidFill>
                            <a:srgbClr val="000000"/>
                          </a:solidFill>
                          <a:latin typeface="Malgun Gothic"/>
                          <a:ea typeface="Malgun Gothic"/>
                          <a:cs typeface="Malgun Gothic"/>
                        </a:rPr>
                        <a:t>24.07 → 23.77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6272784" y="2084831"/>
            <a:ext cx="3136392" cy="1645920"/>
          </a:xfrm>
          <a:prstGeom prst="rect">
            <a:avLst/>
          </a:prstGeom>
          <a:solidFill>
            <a:srgbClr val="FFFFFF"/>
          </a:solidFill>
          <a:ln w="8255">
            <a:solidFill>
              <a:srgbClr val="B8B8B8"/>
            </a:solidFill>
          </a:ln>
          <a:effectLst/>
        </p:spPr>
        <p:txBody>
          <a:bodyPr rtlCol="0" anchor="ctr"/>
          <a:lstStyle/>
          <a:p>
            <a:pPr algn="ctr"/>
          </a:p>
        </p:txBody>
      </p:sp>
      <p:sp>
        <p:nvSpPr>
          <p:cNvPr id="19" name="TextBox 18"/>
          <p:cNvSpPr txBox="1"/>
          <p:nvPr/>
        </p:nvSpPr>
        <p:spPr>
          <a:xfrm>
            <a:off x="6355080" y="2148839"/>
            <a:ext cx="2971800" cy="151790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40" b="0">
                <a:solidFill>
                  <a:srgbClr val="000000"/>
                </a:solidFill>
                <a:latin typeface="Malgun Gothic"/>
                <a:ea typeface="Malgun Gothic"/>
                <a:cs typeface="Malgun Gothic"/>
              </a:rPr>
              <a:t>과도응답 확인</a:t>
            </a:r>
          </a:p>
          <a:p>
            <a:pPr algn="l">
              <a:lnSpc>
                <a:spcPct val="108000"/>
              </a:lnSpc>
              <a:spcBef>
                <a:spcPts val="0"/>
              </a:spcBef>
              <a:spcAft>
                <a:spcPts val="200"/>
              </a:spcAft>
            </a:pPr>
            <a:r>
              <a:rPr sz="1240" b="0">
                <a:solidFill>
                  <a:srgbClr val="000000"/>
                </a:solidFill>
                <a:latin typeface="Malgun Gothic"/>
                <a:ea typeface="Malgun Gothic"/>
                <a:cs typeface="Malgun Gothic"/>
              </a:rPr>
              <a:t>T3 정착시간이 0.0625 ms(2Ts) 증가함. 계산 해상도·민감도 대비 중요성은 추가 확인이 필요함.</a:t>
            </a:r>
          </a:p>
        </p:txBody>
      </p:sp>
      <p:sp>
        <p:nvSpPr>
          <p:cNvPr id="20" name="Rectangle 19"/>
          <p:cNvSpPr/>
          <p:nvPr/>
        </p:nvSpPr>
        <p:spPr>
          <a:xfrm>
            <a:off x="6272784" y="3968496"/>
            <a:ext cx="3136392" cy="1609344"/>
          </a:xfrm>
          <a:prstGeom prst="rect">
            <a:avLst/>
          </a:prstGeom>
          <a:solidFill>
            <a:srgbClr val="FFFFFF"/>
          </a:solidFill>
          <a:ln w="8255">
            <a:solidFill>
              <a:srgbClr val="B8B8B8"/>
            </a:solidFill>
          </a:ln>
          <a:effectLst/>
        </p:spPr>
        <p:txBody>
          <a:bodyPr rtlCol="0" anchor="ctr"/>
          <a:lstStyle/>
          <a:p>
            <a:pPr algn="ctr"/>
          </a:p>
        </p:txBody>
      </p:sp>
      <p:sp>
        <p:nvSpPr>
          <p:cNvPr id="21" name="TextBox 20"/>
          <p:cNvSpPr txBox="1"/>
          <p:nvPr/>
        </p:nvSpPr>
        <p:spPr>
          <a:xfrm>
            <a:off x="6355080" y="4032504"/>
            <a:ext cx="2971800" cy="1481328"/>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40" b="0">
                <a:solidFill>
                  <a:srgbClr val="000000"/>
                </a:solidFill>
                <a:latin typeface="Malgun Gothic"/>
                <a:ea typeface="Malgun Gothic"/>
                <a:cs typeface="Malgun Gothic"/>
              </a:rPr>
              <a:t>추가 확인 결과</a:t>
            </a:r>
          </a:p>
          <a:p>
            <a:pPr algn="l">
              <a:lnSpc>
                <a:spcPct val="108000"/>
              </a:lnSpc>
              <a:spcBef>
                <a:spcPts val="0"/>
              </a:spcBef>
              <a:spcAft>
                <a:spcPts val="200"/>
              </a:spcAft>
            </a:pPr>
            <a:r>
              <a:rPr sz="1240" b="0">
                <a:solidFill>
                  <a:srgbClr val="000000"/>
                </a:solidFill>
                <a:latin typeface="Malgun Gothic"/>
                <a:ea typeface="Malgun Gothic"/>
                <a:cs typeface="Malgun Gothic"/>
              </a:rPr>
              <a:t>범위 외 15개 조건은 별도 집계함. 대표점의 해석시간 및 적분 간격 변경에서도 주요 판정은 유지됨.</a:t>
            </a:r>
          </a:p>
        </p:txBody>
      </p:sp>
      <p:sp>
        <p:nvSpPr>
          <p:cNvPr id="22" name="TextBox 21"/>
          <p:cNvSpPr txBox="1"/>
          <p:nvPr/>
        </p:nvSpPr>
        <p:spPr>
          <a:xfrm>
            <a:off x="502920" y="4462272"/>
            <a:ext cx="5504688" cy="69494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000000"/>
                </a:solidFill>
                <a:latin typeface="Malgun Gothic"/>
                <a:ea typeface="Malgun Gothic"/>
                <a:cs typeface="Malgun Gothic"/>
              </a:rPr>
              <a:t>t=0.4 s에 P*·Q* 지령 50%→100%</a:t>
            </a:r>
          </a:p>
          <a:p>
            <a:pPr algn="l">
              <a:lnSpc>
                <a:spcPct val="108000"/>
              </a:lnSpc>
              <a:spcBef>
                <a:spcPts val="0"/>
              </a:spcBef>
              <a:spcAft>
                <a:spcPts val="200"/>
              </a:spcAft>
            </a:pPr>
            <a:r>
              <a:rPr sz="1100" b="0">
                <a:solidFill>
                  <a:srgbClr val="000000"/>
                </a:solidFill>
                <a:latin typeface="Malgun Gothic"/>
                <a:ea typeface="Malgun Gothic"/>
                <a:cs typeface="Malgun Gothic"/>
              </a:rPr>
              <a:t>T1:900 VA/0° · T2:900 VA/90°</a:t>
            </a:r>
          </a:p>
          <a:p>
            <a:pPr algn="l">
              <a:lnSpc>
                <a:spcPct val="108000"/>
              </a:lnSpc>
              <a:spcBef>
                <a:spcPts val="0"/>
              </a:spcBef>
              <a:spcAft>
                <a:spcPts val="200"/>
              </a:spcAft>
            </a:pPr>
            <a:r>
              <a:rPr sz="1100" b="0">
                <a:solidFill>
                  <a:srgbClr val="000000"/>
                </a:solidFill>
                <a:latin typeface="Malgun Gothic"/>
                <a:ea typeface="Malgun Gothic"/>
                <a:cs typeface="Malgun Gothic"/>
              </a:rPr>
              <a:t>T3:1,400 VA/−60° · T4:3,500 VA/0°</a:t>
            </a:r>
          </a:p>
        </p:txBody>
      </p:sp>
      <p:sp>
        <p:nvSpPr>
          <p:cNvPr id="23" name="Rectangle 22"/>
          <p:cNvSpPr/>
          <p:nvPr/>
        </p:nvSpPr>
        <p:spPr>
          <a:xfrm>
            <a:off x="502920" y="5367528"/>
            <a:ext cx="5504688" cy="594360"/>
          </a:xfrm>
          <a:prstGeom prst="rect">
            <a:avLst/>
          </a:prstGeom>
          <a:solidFill>
            <a:srgbClr val="F3F3F3"/>
          </a:solidFill>
          <a:ln w="8255">
            <a:solidFill>
              <a:srgbClr val="B8B8B8"/>
            </a:solidFill>
          </a:ln>
          <a:effectLst/>
        </p:spPr>
        <p:txBody>
          <a:bodyPr rtlCol="0" anchor="ctr"/>
          <a:lstStyle/>
          <a:p>
            <a:pPr algn="ctr"/>
          </a:p>
        </p:txBody>
      </p:sp>
      <p:sp>
        <p:nvSpPr>
          <p:cNvPr id="24" name="TextBox 23"/>
          <p:cNvSpPr txBox="1"/>
          <p:nvPr/>
        </p:nvSpPr>
        <p:spPr>
          <a:xfrm>
            <a:off x="585216" y="5431536"/>
            <a:ext cx="5340096" cy="46634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140" b="0">
                <a:solidFill>
                  <a:srgbClr val="555555"/>
                </a:solidFill>
                <a:latin typeface="Malgun Gothic"/>
                <a:ea typeface="Malgun Gothic"/>
                <a:cs typeface="Malgun Gothic"/>
              </a:rPr>
              <a:t>정착: 1주기 이동평균 P·Q 오차가 한계 내에 들어와 유지됨.</a:t>
            </a:r>
          </a:p>
          <a:p>
            <a:pPr algn="l">
              <a:lnSpc>
                <a:spcPct val="108000"/>
              </a:lnSpc>
              <a:spcBef>
                <a:spcPts val="0"/>
              </a:spcBef>
              <a:spcAft>
                <a:spcPts val="200"/>
              </a:spcAft>
            </a:pPr>
            <a:r>
              <a:rPr sz="1140" b="0">
                <a:solidFill>
                  <a:srgbClr val="555555"/>
                </a:solidFill>
                <a:latin typeface="Malgun Gothic"/>
                <a:ea typeface="Malgun Gothic"/>
                <a:cs typeface="Malgun Gothic"/>
              </a:rPr>
              <a:t>미검증: 주파수 편차·DC-link/CLLC·발열·효율·DSP 실행시간·안정도 여유</a:t>
            </a:r>
          </a:p>
        </p:txBody>
      </p:sp>
      <p:cxnSp>
        <p:nvCxnSpPr>
          <p:cNvPr id="25" name="Connector 24"/>
          <p:cNvCxnSpPr/>
          <p:nvPr/>
        </p:nvCxnSpPr>
        <p:spPr>
          <a:xfrm>
            <a:off x="365760" y="6428232"/>
            <a:ext cx="9189720" cy="0"/>
          </a:xfrm>
          <a:prstGeom prst="line">
            <a:avLst/>
          </a:prstGeom>
          <a:ln w="5715">
            <a:solidFill>
              <a:srgbClr val="000000"/>
            </a:solidFill>
          </a:ln>
          <a:effectLst/>
        </p:spPr>
      </p:cxnSp>
      <p:sp>
        <p:nvSpPr>
          <p:cNvPr id="26" name="TextBox 25"/>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transient.csv; numerical_refinement.csv; long_duration.csv; docs/01_model.md.</a:t>
            </a:r>
          </a:p>
        </p:txBody>
      </p:sp>
      <p:sp>
        <p:nvSpPr>
          <p:cNvPr id="27" name="TextBox 26"/>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32/58</a:t>
            </a:r>
          </a:p>
        </p:txBody>
      </p:sp>
      <p:sp>
        <p:nvSpPr>
          <p:cNvPr id="28" name="TextBox 27">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9" name="TextBox 28">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5. Control / 표준화 및 관리계획</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설정·시험조건·판정 기준 관리</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제어 설정, 시험조건 집합 및 판정 코드를 관리 대상으로 선정함. 변경 시 동일 절차로 재검증하고 원시 데이터와 결과의 연결을 유지함.</a:t>
            </a:r>
          </a:p>
        </p:txBody>
      </p:sp>
      <p:graphicFrame>
        <p:nvGraphicFramePr>
          <p:cNvPr id="17" name="Table 16"/>
          <p:cNvGraphicFramePr>
            <a:graphicFrameLocks noGrp="1"/>
          </p:cNvGraphicFramePr>
          <p:nvPr/>
        </p:nvGraphicFramePr>
        <p:xfrm>
          <a:off x="411480" y="2029968"/>
          <a:ext cx="9052560" cy="3621024"/>
        </p:xfrm>
        <a:graphic>
          <a:graphicData uri="http://schemas.openxmlformats.org/drawingml/2006/table">
            <a:tbl>
              <a:tblPr firstRow="1" bandRow="1">
                <a:tableStyleId>{5C22544A-7EE6-4342-B048-85BDC9FD1C3A}</a:tableStyleId>
              </a:tblPr>
              <a:tblGrid>
                <a:gridCol w="1828800"/>
                <a:gridCol w="4709160"/>
                <a:gridCol w="2514600"/>
              </a:tblGrid>
              <a:tr h="603504">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관리 대상</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관리·재확인 방법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70" b="1">
                          <a:solidFill>
                            <a:srgbClr val="000000"/>
                          </a:solidFill>
                          <a:latin typeface="Malgun Gothic"/>
                          <a:ea typeface="Malgun Gothic"/>
                          <a:cs typeface="Malgun Gothic"/>
                        </a:rPr>
                        <a:t>이상 시 조치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603504">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모델 / 제어 설정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모델·보정값·선정 제어 파일의 해시 보존</a:t>
                      </a:r>
                    </a:p>
                    <a:p>
                      <a:pPr algn="l">
                        <a:lnSpc>
                          <a:spcPct val="105000"/>
                        </a:lnSpc>
                        <a:spcBef>
                          <a:spcPts val="0"/>
                        </a:spcBef>
                        <a:spcAft>
                          <a:spcPts val="100"/>
                        </a:spcAft>
                      </a:pPr>
                      <a:r>
                        <a:rPr sz="1170" b="0">
                          <a:solidFill>
                            <a:srgbClr val="000000"/>
                          </a:solidFill>
                          <a:latin typeface="Malgun Gothic"/>
                          <a:ea typeface="Malgun Gothic"/>
                          <a:cs typeface="Malgun Gothic"/>
                        </a:rPr>
                        <a:t>변경 시 기준점 및 전체 조건 집합 재실행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이전 설정과 분리</a:t>
                      </a:r>
                    </a:p>
                    <a:p>
                      <a:pPr algn="l">
                        <a:lnSpc>
                          <a:spcPct val="105000"/>
                        </a:lnSpc>
                        <a:spcBef>
                          <a:spcPts val="0"/>
                        </a:spcBef>
                        <a:spcAft>
                          <a:spcPts val="100"/>
                        </a:spcAft>
                      </a:pPr>
                      <a:r>
                        <a:rPr sz="1170" b="0">
                          <a:solidFill>
                            <a:srgbClr val="000000"/>
                          </a:solidFill>
                          <a:latin typeface="Malgun Gothic"/>
                          <a:ea typeface="Malgun Gothic"/>
                          <a:cs typeface="Malgun Gothic"/>
                        </a:rPr>
                        <a:t>승인 여부 별도 기록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03504">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운전조건 / 판정 한계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설정파일 및 조건 ID 고정</a:t>
                      </a:r>
                    </a:p>
                    <a:p>
                      <a:pPr algn="l">
                        <a:lnSpc>
                          <a:spcPct val="105000"/>
                        </a:lnSpc>
                        <a:spcBef>
                          <a:spcPts val="0"/>
                        </a:spcBef>
                        <a:spcAft>
                          <a:spcPts val="100"/>
                        </a:spcAft>
                      </a:pPr>
                      <a:r>
                        <a:rPr sz="1170" b="0">
                          <a:solidFill>
                            <a:srgbClr val="000000"/>
                          </a:solidFill>
                          <a:latin typeface="Malgun Gothic"/>
                          <a:ea typeface="Malgun Gothic"/>
                          <a:cs typeface="Malgun Gothic"/>
                        </a:rPr>
                        <a:t>한계값·대상 조건·분모를 함께 점검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변경 사유와 새 버전 기록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03504">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데이터 / 보고서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원시파형→결과표→그림·표 연결</a:t>
                      </a:r>
                    </a:p>
                    <a:p>
                      <a:pPr algn="l">
                        <a:lnSpc>
                          <a:spcPct val="105000"/>
                        </a:lnSpc>
                        <a:spcBef>
                          <a:spcPts val="0"/>
                        </a:spcBef>
                        <a:spcAft>
                          <a:spcPts val="100"/>
                        </a:spcAft>
                      </a:pPr>
                      <a:r>
                        <a:rPr sz="1170" b="0">
                          <a:solidFill>
                            <a:srgbClr val="000000"/>
                          </a:solidFill>
                          <a:latin typeface="Malgun Gothic"/>
                          <a:ea typeface="Malgun Gothic"/>
                          <a:cs typeface="Malgun Gothic"/>
                        </a:rPr>
                        <a:t>파형 축약과 통계 집계를 구분하여 기록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원시 데이터 재계산 후 재발행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03504">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회귀시험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원자료 재계산 및 수치 확인</a:t>
                      </a:r>
                    </a:p>
                    <a:p>
                      <a:pPr algn="l">
                        <a:lnSpc>
                          <a:spcPct val="105000"/>
                        </a:lnSpc>
                        <a:spcBef>
                          <a:spcPts val="0"/>
                        </a:spcBef>
                        <a:spcAft>
                          <a:spcPts val="100"/>
                        </a:spcAft>
                      </a:pPr>
                      <a:r>
                        <a:rPr sz="1170" b="0">
                          <a:solidFill>
                            <a:srgbClr val="000000"/>
                          </a:solidFill>
                          <a:latin typeface="Malgun Gothic"/>
                          <a:ea typeface="Malgun Gothic"/>
                          <a:cs typeface="Malgun Gothic"/>
                        </a:rPr>
                        <a:t>대표 시간간격·해석시간 의존성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미통과 상태에서 배포 금지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03504">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실제 적용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실제 사양·기존 제어·판정기준 확인</a:t>
                      </a:r>
                    </a:p>
                    <a:p>
                      <a:pPr algn="l">
                        <a:lnSpc>
                          <a:spcPct val="105000"/>
                        </a:lnSpc>
                        <a:spcBef>
                          <a:spcPts val="0"/>
                        </a:spcBef>
                        <a:spcAft>
                          <a:spcPts val="100"/>
                        </a:spcAft>
                      </a:pPr>
                      <a:r>
                        <a:rPr sz="1170" b="0">
                          <a:solidFill>
                            <a:srgbClr val="000000"/>
                          </a:solidFill>
                          <a:latin typeface="Malgun Gothic"/>
                          <a:ea typeface="Malgun Gothic"/>
                          <a:cs typeface="Malgun Gothic"/>
                        </a:rPr>
                        <a:t>PSIM과 실물 결과를 조건별 대조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70" b="0">
                          <a:solidFill>
                            <a:srgbClr val="000000"/>
                          </a:solidFill>
                          <a:latin typeface="Malgun Gothic"/>
                          <a:ea typeface="Malgun Gothic"/>
                          <a:cs typeface="Malgun Gothic"/>
                        </a:rPr>
                        <a:t>기술 검토·사내 승인 별도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411480" y="5833872"/>
            <a:ext cx="9052560" cy="39319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관리 역할 제안: 과제 리더(자산·버전), 제어 담당(모델·로직), 시험 담당(실측), MBB(과제 범위).</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docs/03_logic_review.md; manifest.json; tests/test_study.py. 관리 역할은 실행 제안이며 배정 기록 아님.</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33/58</a:t>
            </a:r>
          </a:p>
        </p:txBody>
      </p:sp>
      <p:sp>
        <p:nvSpPr>
          <p:cNvPr id="22" name="TextBox 21">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3" name="TextBox 22">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5. Control / 성과 확인</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정량적 성과 및 개발 산출물</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기준 운전조건 63개에서는 설정한 THD 목표를 달성함. 변동 검증조건 60개에는 종합 미달 9개가 남아 제품 적용 완료로 판단하지 않음.</a:t>
            </a:r>
          </a:p>
        </p:txBody>
      </p:sp>
      <p:sp>
        <p:nvSpPr>
          <p:cNvPr id="17" name="Rectangle 16"/>
          <p:cNvSpPr/>
          <p:nvPr/>
        </p:nvSpPr>
        <p:spPr>
          <a:xfrm>
            <a:off x="438912" y="2039112"/>
            <a:ext cx="2871216" cy="1709928"/>
          </a:xfrm>
          <a:prstGeom prst="rect">
            <a:avLst/>
          </a:prstGeom>
          <a:solidFill>
            <a:srgbClr val="FFFFFF"/>
          </a:solidFill>
          <a:ln w="8255">
            <a:solidFill>
              <a:srgbClr val="B8B8B8"/>
            </a:solidFill>
          </a:ln>
          <a:effectLst/>
        </p:spPr>
        <p:txBody>
          <a:bodyPr rtlCol="0" anchor="ctr"/>
          <a:lstStyle/>
          <a:p>
            <a:pPr algn="ctr"/>
          </a:p>
        </p:txBody>
      </p:sp>
      <p:sp>
        <p:nvSpPr>
          <p:cNvPr id="18" name="TextBox 17"/>
          <p:cNvSpPr txBox="1"/>
          <p:nvPr/>
        </p:nvSpPr>
        <p:spPr>
          <a:xfrm>
            <a:off x="585216" y="2148840"/>
            <a:ext cx="2578608" cy="3200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기준 운전조건 63개 THD 만족률</a:t>
            </a:r>
          </a:p>
        </p:txBody>
      </p:sp>
      <p:sp>
        <p:nvSpPr>
          <p:cNvPr id="19" name="TextBox 18"/>
          <p:cNvSpPr txBox="1"/>
          <p:nvPr/>
        </p:nvSpPr>
        <p:spPr>
          <a:xfrm>
            <a:off x="585216" y="2560320"/>
            <a:ext cx="2578608" cy="5486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500" b="1">
                <a:solidFill>
                  <a:srgbClr val="C00000"/>
                </a:solidFill>
                <a:latin typeface="Malgun Gothic"/>
                <a:ea typeface="Malgun Gothic"/>
                <a:cs typeface="Malgun Gothic"/>
              </a:rPr>
              <a:t>100%</a:t>
            </a:r>
          </a:p>
        </p:txBody>
      </p:sp>
      <p:sp>
        <p:nvSpPr>
          <p:cNvPr id="20" name="TextBox 19"/>
          <p:cNvSpPr txBox="1"/>
          <p:nvPr/>
        </p:nvSpPr>
        <p:spPr>
          <a:xfrm>
            <a:off x="585216" y="3099815"/>
            <a:ext cx="2578608" cy="61264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50" b="0">
                <a:solidFill>
                  <a:srgbClr val="555555"/>
                </a:solidFill>
                <a:latin typeface="Malgun Gothic"/>
                <a:ea typeface="Malgun Gothic"/>
                <a:cs typeface="Malgun Gothic"/>
              </a:rPr>
              <a:t>초기 22.22% → 개선 100%</a:t>
            </a:r>
          </a:p>
          <a:p>
            <a:pPr algn="l">
              <a:lnSpc>
                <a:spcPct val="108000"/>
              </a:lnSpc>
              <a:spcBef>
                <a:spcPts val="0"/>
              </a:spcBef>
              <a:spcAft>
                <a:spcPts val="200"/>
              </a:spcAft>
            </a:pPr>
            <a:r>
              <a:rPr sz="1050" b="0">
                <a:solidFill>
                  <a:srgbClr val="555555"/>
                </a:solidFill>
                <a:latin typeface="Malgun Gothic"/>
                <a:ea typeface="Malgun Gothic"/>
                <a:cs typeface="Malgun Gothic"/>
              </a:rPr>
              <a:t>목표 95% 이상 달성</a:t>
            </a:r>
          </a:p>
        </p:txBody>
      </p:sp>
      <p:sp>
        <p:nvSpPr>
          <p:cNvPr id="21" name="Rectangle 20"/>
          <p:cNvSpPr/>
          <p:nvPr/>
        </p:nvSpPr>
        <p:spPr>
          <a:xfrm>
            <a:off x="3520440" y="2039112"/>
            <a:ext cx="2871216" cy="1709928"/>
          </a:xfrm>
          <a:prstGeom prst="rect">
            <a:avLst/>
          </a:prstGeom>
          <a:solidFill>
            <a:srgbClr val="FFFFFF"/>
          </a:solidFill>
          <a:ln w="8255">
            <a:solidFill>
              <a:srgbClr val="B8B8B8"/>
            </a:solidFill>
          </a:ln>
          <a:effectLst/>
        </p:spPr>
        <p:txBody>
          <a:bodyPr rtlCol="0" anchor="ctr"/>
          <a:lstStyle/>
          <a:p>
            <a:pPr algn="ctr"/>
          </a:p>
        </p:txBody>
      </p:sp>
      <p:sp>
        <p:nvSpPr>
          <p:cNvPr id="22" name="TextBox 21"/>
          <p:cNvSpPr txBox="1"/>
          <p:nvPr/>
        </p:nvSpPr>
        <p:spPr>
          <a:xfrm>
            <a:off x="3666744" y="2148840"/>
            <a:ext cx="2578608" cy="3200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변동 검증조건 60개 종합 만족</a:t>
            </a:r>
          </a:p>
        </p:txBody>
      </p:sp>
      <p:sp>
        <p:nvSpPr>
          <p:cNvPr id="23" name="TextBox 22"/>
          <p:cNvSpPr txBox="1"/>
          <p:nvPr/>
        </p:nvSpPr>
        <p:spPr>
          <a:xfrm>
            <a:off x="3666744" y="2560320"/>
            <a:ext cx="2578608" cy="5486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500" b="1">
                <a:solidFill>
                  <a:srgbClr val="805000"/>
                </a:solidFill>
                <a:latin typeface="Malgun Gothic"/>
                <a:ea typeface="Malgun Gothic"/>
                <a:cs typeface="Malgun Gothic"/>
              </a:rPr>
              <a:t>85%</a:t>
            </a:r>
          </a:p>
        </p:txBody>
      </p:sp>
      <p:sp>
        <p:nvSpPr>
          <p:cNvPr id="24" name="TextBox 23"/>
          <p:cNvSpPr txBox="1"/>
          <p:nvPr/>
        </p:nvSpPr>
        <p:spPr>
          <a:xfrm>
            <a:off x="3666744" y="3099815"/>
            <a:ext cx="2578608" cy="61264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50" b="0">
                <a:solidFill>
                  <a:srgbClr val="555555"/>
                </a:solidFill>
                <a:latin typeface="Malgun Gothic"/>
                <a:ea typeface="Malgun Gothic"/>
                <a:cs typeface="Malgun Gothic"/>
              </a:rPr>
              <a:t>51/60 통과, 9건 실패</a:t>
            </a:r>
          </a:p>
          <a:p>
            <a:pPr algn="l">
              <a:lnSpc>
                <a:spcPct val="108000"/>
              </a:lnSpc>
              <a:spcBef>
                <a:spcPts val="0"/>
              </a:spcBef>
              <a:spcAft>
                <a:spcPts val="200"/>
              </a:spcAft>
            </a:pPr>
            <a:r>
              <a:rPr sz="1050" b="0">
                <a:solidFill>
                  <a:srgbClr val="555555"/>
                </a:solidFill>
                <a:latin typeface="Malgun Gothic"/>
                <a:ea typeface="Malgun Gothic"/>
                <a:cs typeface="Malgun Gothic"/>
              </a:rPr>
              <a:t>보조 조건 신규 위반 2건</a:t>
            </a:r>
          </a:p>
        </p:txBody>
      </p:sp>
      <p:sp>
        <p:nvSpPr>
          <p:cNvPr id="25" name="Rectangle 24"/>
          <p:cNvSpPr/>
          <p:nvPr/>
        </p:nvSpPr>
        <p:spPr>
          <a:xfrm>
            <a:off x="6601968" y="2039112"/>
            <a:ext cx="2871216" cy="1709928"/>
          </a:xfrm>
          <a:prstGeom prst="rect">
            <a:avLst/>
          </a:prstGeom>
          <a:solidFill>
            <a:srgbClr val="FFFFFF"/>
          </a:solidFill>
          <a:ln w="8255">
            <a:solidFill>
              <a:srgbClr val="B8B8B8"/>
            </a:solidFill>
          </a:ln>
          <a:effectLst/>
        </p:spPr>
        <p:txBody>
          <a:bodyPr rtlCol="0" anchor="ctr"/>
          <a:lstStyle/>
          <a:p>
            <a:pPr algn="ctr"/>
          </a:p>
        </p:txBody>
      </p:sp>
      <p:sp>
        <p:nvSpPr>
          <p:cNvPr id="26" name="TextBox 25"/>
          <p:cNvSpPr txBox="1"/>
          <p:nvPr/>
        </p:nvSpPr>
        <p:spPr>
          <a:xfrm>
            <a:off x="6748272" y="2148840"/>
            <a:ext cx="2578608" cy="3200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선정 미사용 운전조건 54개 확인</a:t>
            </a:r>
          </a:p>
        </p:txBody>
      </p:sp>
      <p:sp>
        <p:nvSpPr>
          <p:cNvPr id="27" name="TextBox 26"/>
          <p:cNvSpPr txBox="1"/>
          <p:nvPr/>
        </p:nvSpPr>
        <p:spPr>
          <a:xfrm>
            <a:off x="6748272" y="2560320"/>
            <a:ext cx="2578608" cy="5486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500" b="1">
                <a:solidFill>
                  <a:srgbClr val="008000"/>
                </a:solidFill>
                <a:latin typeface="Malgun Gothic"/>
                <a:ea typeface="Malgun Gothic"/>
                <a:cs typeface="Malgun Gothic"/>
              </a:rPr>
              <a:t>54 / 54</a:t>
            </a:r>
          </a:p>
        </p:txBody>
      </p:sp>
      <p:sp>
        <p:nvSpPr>
          <p:cNvPr id="28" name="TextBox 27"/>
          <p:cNvSpPr txBox="1"/>
          <p:nvPr/>
        </p:nvSpPr>
        <p:spPr>
          <a:xfrm>
            <a:off x="6748272" y="3099815"/>
            <a:ext cx="2578608" cy="61264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50" b="0">
                <a:solidFill>
                  <a:srgbClr val="555555"/>
                </a:solidFill>
                <a:latin typeface="Malgun Gothic"/>
                <a:ea typeface="Malgun Gothic"/>
                <a:cs typeface="Malgun Gothic"/>
              </a:rPr>
              <a:t>제어 선정용 운전조건 9개과 별도 집계</a:t>
            </a:r>
          </a:p>
          <a:p>
            <a:pPr algn="l">
              <a:lnSpc>
                <a:spcPct val="108000"/>
              </a:lnSpc>
              <a:spcBef>
                <a:spcPts val="0"/>
              </a:spcBef>
              <a:spcAft>
                <a:spcPts val="200"/>
              </a:spcAft>
            </a:pPr>
            <a:r>
              <a:rPr sz="1050" b="0">
                <a:solidFill>
                  <a:srgbClr val="555555"/>
                </a:solidFill>
                <a:latin typeface="Malgun Gothic"/>
                <a:ea typeface="Malgun Gothic"/>
                <a:cs typeface="Malgun Gothic"/>
              </a:rPr>
              <a:t>동일 모델의 미사용 운전조건</a:t>
            </a:r>
          </a:p>
        </p:txBody>
      </p:sp>
      <p:graphicFrame>
        <p:nvGraphicFramePr>
          <p:cNvPr id="29" name="Table 28"/>
          <p:cNvGraphicFramePr>
            <a:graphicFrameLocks noGrp="1"/>
          </p:cNvGraphicFramePr>
          <p:nvPr/>
        </p:nvGraphicFramePr>
        <p:xfrm>
          <a:off x="411480" y="4087368"/>
          <a:ext cx="9052560" cy="1856228"/>
        </p:xfrm>
        <a:graphic>
          <a:graphicData uri="http://schemas.openxmlformats.org/drawingml/2006/table">
            <a:tbl>
              <a:tblPr firstRow="1" bandRow="1">
                <a:tableStyleId>{5C22544A-7EE6-4342-B048-85BDC9FD1C3A}</a:tableStyleId>
              </a:tblPr>
              <a:tblGrid>
                <a:gridCol w="2423160"/>
                <a:gridCol w="5212080"/>
                <a:gridCol w="1417320"/>
              </a:tblGrid>
              <a:tr h="464057">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성과 분류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확인한 내용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상태</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64057">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정량 · 수치 성능</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기준 63개: 평균 THD 6.03→2.42%</a:t>
                      </a:r>
                    </a:p>
                    <a:p>
                      <a:pPr algn="l">
                        <a:lnSpc>
                          <a:spcPct val="105000"/>
                        </a:lnSpc>
                        <a:spcBef>
                          <a:spcPts val="0"/>
                        </a:spcBef>
                        <a:spcAft>
                          <a:spcPts val="100"/>
                        </a:spcAft>
                      </a:pPr>
                      <a:r>
                        <a:rPr sz="1200" b="0">
                          <a:solidFill>
                            <a:srgbClr val="000000"/>
                          </a:solidFill>
                          <a:latin typeface="Malgun Gothic"/>
                          <a:ea typeface="Malgun Gothic"/>
                          <a:cs typeface="Malgun Gothic"/>
                        </a:rPr>
                        <a:t>THD 만족률 22.22→100% (+77.78%p)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4057">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정성 · 개발 산출물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제어 후보, 실패 조건, 원시데이터·재현 코드·관리 기준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확보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64057">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실제 제품·재무·승인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HW 성능, 인증, 실제 공수/비용 절감, 사내 BB 승인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미확인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30" name="Connector 29"/>
          <p:cNvCxnSpPr/>
          <p:nvPr/>
        </p:nvCxnSpPr>
        <p:spPr>
          <a:xfrm>
            <a:off x="365760" y="6428232"/>
            <a:ext cx="9189720" cy="0"/>
          </a:xfrm>
          <a:prstGeom prst="line">
            <a:avLst/>
          </a:prstGeom>
          <a:ln w="5715">
            <a:solidFill>
              <a:srgbClr val="000000"/>
            </a:solidFill>
          </a:ln>
          <a:effectLst/>
        </p:spPr>
      </p:cxnSp>
      <p:sp>
        <p:nvSpPr>
          <p:cNvPr id="31" name="TextBox 3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summary.json; holdout_failures.csv; docs/03_logic_review.md. 모두 수치연구 범위.</a:t>
            </a:r>
          </a:p>
        </p:txBody>
      </p:sp>
      <p:sp>
        <p:nvSpPr>
          <p:cNvPr id="32" name="TextBox 3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34/58</a:t>
            </a:r>
          </a:p>
        </p:txBody>
      </p:sp>
      <p:sp>
        <p:nvSpPr>
          <p:cNvPr id="33" name="TextBox 32">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34" name="TextBox 33">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5. Control / 향후 계획</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5"/>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6"/>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7"/>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8"/>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9"/>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제품 적용을 위한 후속 검증</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수치해석에서는 제어 후보와 잔여 미달조건을 확보함. 실제 제품 적용을 위해 필요한 증거와 승인 항목은 아래 순서로 추가 확인함.</a:t>
            </a:r>
          </a:p>
        </p:txBody>
      </p:sp>
      <p:sp>
        <p:nvSpPr>
          <p:cNvPr id="17" name="Rectangle 16"/>
          <p:cNvSpPr/>
          <p:nvPr/>
        </p:nvSpPr>
        <p:spPr>
          <a:xfrm>
            <a:off x="502920" y="2029968"/>
            <a:ext cx="8887968" cy="1033271"/>
          </a:xfrm>
          <a:prstGeom prst="rect">
            <a:avLst/>
          </a:prstGeom>
          <a:solidFill>
            <a:srgbClr val="F3F3F3"/>
          </a:solidFill>
          <a:ln w="8255">
            <a:solidFill>
              <a:srgbClr val="B8B8B8"/>
            </a:solidFill>
          </a:ln>
          <a:effectLst/>
        </p:spPr>
        <p:txBody>
          <a:bodyPr rtlCol="0" anchor="ctr"/>
          <a:lstStyle/>
          <a:p>
            <a:pPr algn="ctr"/>
          </a:p>
        </p:txBody>
      </p:sp>
      <p:sp>
        <p:nvSpPr>
          <p:cNvPr id="18" name="TextBox 17"/>
          <p:cNvSpPr txBox="1"/>
          <p:nvPr/>
        </p:nvSpPr>
        <p:spPr>
          <a:xfrm>
            <a:off x="585216" y="2093976"/>
            <a:ext cx="8723376" cy="905255"/>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400" b="1">
                <a:solidFill>
                  <a:srgbClr val="C00000"/>
                </a:solidFill>
                <a:latin typeface="Malgun Gothic"/>
                <a:ea typeface="Malgun Gothic"/>
                <a:cs typeface="Malgun Gothic"/>
              </a:rPr>
              <a:t>검토 결과</a:t>
            </a:r>
          </a:p>
          <a:p>
            <a:pPr algn="l">
              <a:lnSpc>
                <a:spcPct val="108000"/>
              </a:lnSpc>
              <a:spcBef>
                <a:spcPts val="0"/>
              </a:spcBef>
              <a:spcAft>
                <a:spcPts val="200"/>
              </a:spcAft>
            </a:pPr>
            <a:r>
              <a:rPr sz="1400" b="1">
                <a:solidFill>
                  <a:srgbClr val="C00000"/>
                </a:solidFill>
                <a:latin typeface="Malgun Gothic"/>
                <a:ea typeface="Malgun Gothic"/>
                <a:cs typeface="Malgun Gothic"/>
              </a:rPr>
              <a:t>기준 운전조건 63개에서 고조파 피드백 추가에 따른 THD 감소가 확인됨.</a:t>
            </a:r>
          </a:p>
          <a:p>
            <a:pPr algn="l">
              <a:lnSpc>
                <a:spcPct val="108000"/>
              </a:lnSpc>
              <a:spcBef>
                <a:spcPts val="0"/>
              </a:spcBef>
              <a:spcAft>
                <a:spcPts val="200"/>
              </a:spcAft>
            </a:pPr>
            <a:r>
              <a:rPr sz="1400" b="1">
                <a:solidFill>
                  <a:srgbClr val="C00000"/>
                </a:solidFill>
                <a:latin typeface="Malgun Gothic"/>
                <a:ea typeface="Malgun Gothic"/>
                <a:cs typeface="Malgun Gothic"/>
              </a:rPr>
              <a:t>선정 미사용 운전조건 54개에서도 THD와 보조 조건을 모두 만족함.</a:t>
            </a:r>
          </a:p>
        </p:txBody>
      </p:sp>
      <p:graphicFrame>
        <p:nvGraphicFramePr>
          <p:cNvPr id="19" name="Table 18"/>
          <p:cNvGraphicFramePr>
            <a:graphicFrameLocks noGrp="1"/>
          </p:cNvGraphicFramePr>
          <p:nvPr/>
        </p:nvGraphicFramePr>
        <p:xfrm>
          <a:off x="411480" y="3364992"/>
          <a:ext cx="9052560" cy="2404870"/>
        </p:xfrm>
        <a:graphic>
          <a:graphicData uri="http://schemas.openxmlformats.org/drawingml/2006/table">
            <a:tbl>
              <a:tblPr firstRow="1" bandRow="1">
                <a:tableStyleId>{5C22544A-7EE6-4342-B048-85BDC9FD1C3A}</a:tableStyleId>
              </a:tblPr>
              <a:tblGrid>
                <a:gridCol w="1508760"/>
                <a:gridCol w="5303520"/>
                <a:gridCol w="2240280"/>
              </a:tblGrid>
              <a:tr h="480974">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우선순위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후속 확인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200" b="1">
                          <a:solidFill>
                            <a:srgbClr val="000000"/>
                          </a:solidFill>
                          <a:latin typeface="Malgun Gothic"/>
                          <a:ea typeface="Malgun Gothic"/>
                          <a:cs typeface="Malgun Gothic"/>
                        </a:rPr>
                        <a:t>현재 상태</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8097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1 · 판정 정합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실제 고객 지표·대역·한계, P/Q 부호·시험조건 확정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잠정 기준 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097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2 · 모델 대응</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실물 기존파형·파라미터·토폴로지·기존 코드와 대조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타제품 단일 크기 기준점만 사용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097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3 · 설계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DC-link/CLLC·주파수 편차·실제 전압여유·부작용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변동 검증조건 60개 중 9건 종합 실패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80974">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4 · 적용 및 승인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PSIM/HW 확인 후 SW·시험표준 반영 및 MBB 검토</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200" b="0">
                          <a:solidFill>
                            <a:srgbClr val="000000"/>
                          </a:solidFill>
                          <a:latin typeface="Malgun Gothic"/>
                          <a:ea typeface="Malgun Gothic"/>
                          <a:cs typeface="Malgun Gothic"/>
                        </a:rPr>
                        <a:t>수치연구 완료와 별도 단계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20" name="TextBox 19"/>
          <p:cNvSpPr txBox="1"/>
          <p:nvPr/>
        </p:nvSpPr>
        <p:spPr>
          <a:xfrm>
            <a:off x="411480" y="5989320"/>
            <a:ext cx="9052560" cy="2743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부록: 모델·시험조건·통계 해석 및 기존 사례 비교의 상세 근거를 정리함.</a:t>
            </a:r>
          </a:p>
        </p:txBody>
      </p:sp>
      <p:cxnSp>
        <p:nvCxnSpPr>
          <p:cNvPr id="21" name="Connector 20"/>
          <p:cNvCxnSpPr/>
          <p:nvPr/>
        </p:nvCxnSpPr>
        <p:spPr>
          <a:xfrm>
            <a:off x="365760" y="6428232"/>
            <a:ext cx="9189720" cy="0"/>
          </a:xfrm>
          <a:prstGeom prst="line">
            <a:avLst/>
          </a:prstGeom>
          <a:ln w="5715">
            <a:solidFill>
              <a:srgbClr val="000000"/>
            </a:solidFill>
          </a:ln>
          <a:effectLst/>
        </p:spPr>
      </p:cxnSp>
      <p:sp>
        <p:nvSpPr>
          <p:cNvPr id="22" name="TextBox 21"/>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docs/03_logic_review.md; results/summary.json. 결론은 수치연구 범위로 제한.</a:t>
            </a:r>
          </a:p>
        </p:txBody>
      </p:sp>
      <p:sp>
        <p:nvSpPr>
          <p:cNvPr id="23" name="TextBox 22"/>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35/58</a:t>
            </a:r>
          </a:p>
        </p:txBody>
      </p:sp>
      <p:sp>
        <p:nvSpPr>
          <p:cNvPr id="24" name="TextBox 23">
            <a:hlinkClick action="ppaction://hlinksldjump" r:id="rId3"/>
          </p:cNvPr>
          <p:cNvSpPr txBox="1"/>
          <p:nvPr/>
        </p:nvSpPr>
        <p:spPr>
          <a:xfrm>
            <a:off x="7242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5" name="TextBox 24">
            <a:hlinkClick action="ppaction://hlinksldjump" r:id="rId4"/>
          </p:cNvPr>
          <p:cNvSpPr txBox="1"/>
          <p:nvPr/>
        </p:nvSpPr>
        <p:spPr>
          <a:xfrm>
            <a:off x="8394192"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1 / 시험과 데이터의 단위</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본문에서 사용하는 의미와 오해하기 쉬운 점을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일반적인 용어의 모든 의미를 나열하지 않고, 이 수치연구에서의 정의와 적용 범위를 정리함.</a:t>
            </a:r>
          </a:p>
        </p:txBody>
      </p:sp>
      <p:graphicFrame>
        <p:nvGraphicFramePr>
          <p:cNvPr id="17" name="Table 16"/>
          <p:cNvGraphicFramePr>
            <a:graphicFrameLocks noGrp="1"/>
          </p:cNvGraphicFramePr>
          <p:nvPr/>
        </p:nvGraphicFramePr>
        <p:xfrm>
          <a:off x="411480" y="1984248"/>
          <a:ext cx="9052559" cy="3877056"/>
        </p:xfrm>
        <a:graphic>
          <a:graphicData uri="http://schemas.openxmlformats.org/drawingml/2006/table">
            <a:tbl>
              <a:tblPr firstRow="1" bandRow="1">
                <a:tableStyleId>{5C22544A-7EE6-4342-B048-85BDC9FD1C3A}</a:tableStyleId>
              </a:tblPr>
              <a:tblGrid>
                <a:gridCol w="2127351"/>
                <a:gridCol w="4028389"/>
                <a:gridCol w="2896819"/>
              </a:tblGrid>
              <a:tr h="430784">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용어 / 기호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이 보고서에서의 의미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구분할 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운전조건 (Case)</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P·Q 지령, 전압, 부품값 등 입력조건 1개 조합. 조건 ID로 식별함.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조건이 다르면 반복 측정이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기준 운전조건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회로 설정을 고정하고 S*·Vac·φ를 조합한 63개 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실제 제품 시료 63대가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제어 선정용 운전조건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기준 63개 중 9개. 27개 제어 조합을 비교하는 데 사용함.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9개는 독립 반복실험 횟수가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선정 미사용 운전조건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기준 63개에서 선정용 9개를 뺀 54개 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63개와 별개로 더하지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변동 검증조건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부품·환경·모델 가정을 바꾼 별도 60개 조건.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실물 검증 또는 수율 표본이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해석 실행 (Run)</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운전조건 1개에 제어 조합 1개를 적용해 1회 계산함.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같은 조건도 제어가 다르면 별도 실행.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시간 표본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전류 등 파형을 일정 시간간격으로 저장한 값 1개.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6,400개 시간 표본 ≠ 시료 6,400개.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조건 ID / 실행 ID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M024 등은 조건 식별자, V2_…는 실행 식별자임.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순서는 시간·생산 로트의 의미가 없음.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411480" y="5925312"/>
            <a:ext cx="9052560" cy="21031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50" b="0">
                <a:solidFill>
                  <a:srgbClr val="000000"/>
                </a:solidFill>
                <a:latin typeface="Malgun Gothic"/>
                <a:ea typeface="Malgun Gothic"/>
                <a:cs typeface="Malgun Gothic"/>
              </a:rPr>
              <a:t>시험조건·판정·수치모델의 정의는 원자료 설정파일과 코드 기준임. 코드의 축약 필드명은 데이터 사전 참조.</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V2 설정·모델·실험계획 코드; V3 분석 설명. 통계 방법은 NIST 참고.</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36/58</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2 / 전력·전류 품질 지표</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본문에서 사용하는 의미와 오해하기 쉬운 점을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일반적인 용어의 모든 의미를 나열하지 않고, 이 수치연구에서의 정의와 적용 범위를 정리함.</a:t>
            </a:r>
          </a:p>
        </p:txBody>
      </p:sp>
      <p:graphicFrame>
        <p:nvGraphicFramePr>
          <p:cNvPr id="17" name="Table 16"/>
          <p:cNvGraphicFramePr>
            <a:graphicFrameLocks noGrp="1"/>
          </p:cNvGraphicFramePr>
          <p:nvPr/>
        </p:nvGraphicFramePr>
        <p:xfrm>
          <a:off x="411480" y="1984248"/>
          <a:ext cx="9052559" cy="3877056"/>
        </p:xfrm>
        <a:graphic>
          <a:graphicData uri="http://schemas.openxmlformats.org/drawingml/2006/table">
            <a:tbl>
              <a:tblPr firstRow="1" bandRow="1">
                <a:tableStyleId>{5C22544A-7EE6-4342-B048-85BDC9FD1C3A}</a:tableStyleId>
              </a:tblPr>
              <a:tblGrid>
                <a:gridCol w="2127351"/>
                <a:gridCol w="4028389"/>
                <a:gridCol w="2896819"/>
              </a:tblGrid>
              <a:tr h="430784">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용어 / 기호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이 보고서에서의 의미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구분할 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S* [VA]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√((P*)²+(Q*)²)로 정의한 피상전력 지령의 크기.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왜곡 파형의 실측 Vac×Irms와 구분.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P* [W] / Q* [var]</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유효·무효전력 지령. 본 모델은 P*&gt;0이 계통 송전 방향.</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Q 부호는 고객·통신 규약과 별도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φ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P* = S*·cosφ, Q* = S*·sinφ의 위상각. φ&gt;0은 지상전류.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P*=0, Q*≠0은 무전류 상태가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Vac [Vrms] / Vdc [V]</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계통 기본파 전압의 RMS / DC 전압 가정값.</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Vdc는 동특성을 가진 제어변수가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I₁ / Iₕ [Arms]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전류의 기본파 / h차 고조파 성분의 실효값.</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본 보고서의 기본파 주파수는 50 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THD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2~40차 전류 RMS 합성값을 I₁로 나눈 비율×100.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DC·40차 초과·스위칭 리플은 제외.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RMS (실효값)</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제곱값의 평균에 제곱근을 취한 값. 파형 크기를 나타냄.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두 RMS의 차이와 파형 차이의 RMS는 다름.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%p (퍼센트포인트)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두 백분율의 산술 차이. 예: 6.03%−2.42%=3.61%p.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상대 감소율 약 59.9%와 구분함.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411480" y="5925312"/>
            <a:ext cx="9052560" cy="21031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50" b="0">
                <a:solidFill>
                  <a:srgbClr val="000000"/>
                </a:solidFill>
                <a:latin typeface="Malgun Gothic"/>
                <a:ea typeface="Malgun Gothic"/>
                <a:cs typeface="Malgun Gothic"/>
              </a:rPr>
              <a:t>시험조건·판정·수치모델의 정의는 원자료 설정파일과 코드 기준임. 코드의 축약 필드명은 데이터 사전 참조.</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V2 설정·모델·실험계획 코드; V3 분석 설명. 통계 방법은 NIST 참고.</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37/58</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3 / 회로와 제어</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본문에서 사용하는 의미와 오해하기 쉬운 점을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일반적인 용어의 모든 의미를 나열하지 않고, 이 수치연구에서의 정의와 적용 범위를 정리함.</a:t>
            </a:r>
          </a:p>
        </p:txBody>
      </p:sp>
      <p:graphicFrame>
        <p:nvGraphicFramePr>
          <p:cNvPr id="17" name="Table 16"/>
          <p:cNvGraphicFramePr>
            <a:graphicFrameLocks noGrp="1"/>
          </p:cNvGraphicFramePr>
          <p:nvPr/>
        </p:nvGraphicFramePr>
        <p:xfrm>
          <a:off x="411480" y="1984248"/>
          <a:ext cx="9052559" cy="3877056"/>
        </p:xfrm>
        <a:graphic>
          <a:graphicData uri="http://schemas.openxmlformats.org/drawingml/2006/table">
            <a:tbl>
              <a:tblPr firstRow="1" bandRow="1">
                <a:tableStyleId>{5C22544A-7EE6-4342-B048-85BDC9FD1C3A}</a:tableStyleId>
              </a:tblPr>
              <a:tblGrid>
                <a:gridCol w="2127351"/>
                <a:gridCol w="4028389"/>
                <a:gridCol w="2896819"/>
              </a:tblGrid>
              <a:tr h="430784">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용어 / 기호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이 보고서에서의 의미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구분할 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OBCM / PFC / V2G</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차량용 충전기 모듈 / 역률 보정 AC단 / 차량→계통 전력 전달.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본 연구는 OBCM 전체 동작 검증이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평균 AC단 모델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스위치의 순간 동작 대신 평균 전압으로 AC단을 계산함.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실제 스위칭·소자 전환은 미포함.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dq-PI</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dq 좌표계 전류오차를 비례·적분 연산하는 기본 제어.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이번 개선에서는 기본 이득을 유지함.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SOGI-PLL</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SOGI로 직교 신호를 만들고 PLL로 계통 위상을 추정함.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PLL 설계값 20 Hz ≠ 검증된 전체 대역폭.</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전향보상 (FF)</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계통전압과 기준 L/R값으로 필요한 전압을 미리 계산함.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전류오차 피드백과 별도의 경로임.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준공진 피드백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선택한 고조파 주파수 부근의 전류오차에 이득을 부여함.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3·5·7차는 150·250·350 Hz에 대응.</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Kr [Ω] / fc [Hz]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공진 이득 / ωc=2πfc로 쓰는 준공진 대역 파라미터.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fc는 계통 주파수나 전체 대역폭이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teq / Iz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잔류 전압오차 크기를 정하는 등가 시간 / 전류 전환폭.</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teq는 실측 dead-time이 아닌 보정값.</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411480" y="5925312"/>
            <a:ext cx="9052560" cy="21031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50" b="0">
                <a:solidFill>
                  <a:srgbClr val="000000"/>
                </a:solidFill>
                <a:latin typeface="Malgun Gothic"/>
                <a:ea typeface="Malgun Gothic"/>
                <a:cs typeface="Malgun Gothic"/>
              </a:rPr>
              <a:t>시험조건·판정·수치모델의 정의는 원자료 설정파일과 코드 기준임. 코드의 축약 필드명은 데이터 사전 참조.</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V2 설정·모델·실험계획 코드; V3 분석 설명. 통계 방법은 NIST 참고.</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38/58</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4 / 분석과 제어 조합 선정</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본문에서 사용하는 의미와 오해하기 쉬운 점을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일반적인 용어의 모든 의미를 나열하지 않고, 이 수치연구에서의 정의와 적용 범위를 정리함.</a:t>
            </a:r>
          </a:p>
        </p:txBody>
      </p:sp>
      <p:graphicFrame>
        <p:nvGraphicFramePr>
          <p:cNvPr id="17" name="Table 16"/>
          <p:cNvGraphicFramePr>
            <a:graphicFrameLocks noGrp="1"/>
          </p:cNvGraphicFramePr>
          <p:nvPr/>
        </p:nvGraphicFramePr>
        <p:xfrm>
          <a:off x="411480" y="1984248"/>
          <a:ext cx="9052559" cy="3877056"/>
        </p:xfrm>
        <a:graphic>
          <a:graphicData uri="http://schemas.openxmlformats.org/drawingml/2006/table">
            <a:tbl>
              <a:tblPr firstRow="1" bandRow="1">
                <a:tableStyleId>{5C22544A-7EE6-4342-B048-85BDC9FD1C3A}</a:tableStyleId>
              </a:tblPr>
              <a:tblGrid>
                <a:gridCol w="2127351"/>
                <a:gridCol w="4028389"/>
                <a:gridCol w="2896819"/>
              </a:tblGrid>
              <a:tr h="430784">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용어 / 기호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이 보고서에서의 의미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구분할 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DOE (실험계획법)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인자 수준의 조합을 계획해 반응값을 비교하는 방법.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이번에는 3인자×각 3수준의 27개 조합.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인자 / 수준 / 반응값</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변경할 변수 / 그 변수의 설정값 / 관측 결과.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예: Kr / 8·16·24 Ω / THD.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가인자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영향 가능성과 변경 가능성을 검토할 후보 인자.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최종 원인으로 확정되었다는 뜻은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완전요인배치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선택한 모든 인자 수준 조합을 빠짐없이 계산함.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27조합×9조건=243회, 243반복이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주효과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다른 조건을 동일 가중한 수준별 평균 반응의 차이.</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선택한 범위의 효과이며 p-value가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교호작용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한 인자의 효과가 다른 인자의 수준에 따라 달라짐.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선이 교차해야만 생기는 것은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대응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동일 조건 ID의 초기·개선 결과를 짝지어 차이를 계산함.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대응 t-검정을 수행했다는 뜻은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제곱합 / 기여도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평균에서의 편차 제곱합 / 총제곱합 중 요인별 비중.</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제품 불량 원인 또는 제조 산포 비율이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411480" y="5925312"/>
            <a:ext cx="9052560" cy="21031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50" b="0">
                <a:solidFill>
                  <a:srgbClr val="000000"/>
                </a:solidFill>
                <a:latin typeface="Malgun Gothic"/>
                <a:ea typeface="Malgun Gothic"/>
                <a:cs typeface="Malgun Gothic"/>
              </a:rPr>
              <a:t>시험조건·판정·수치모델의 정의는 원자료 설정파일과 코드 기준임. 코드의 축약 필드명은 데이터 사전 참조.</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V2 설정·모델·실험계획 코드; V3 분석 설명. 통계 방법은 NIST 참고.</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39/58</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5 / 검증과 판정</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본문에서 사용하는 의미와 오해하기 쉬운 점을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일반적인 용어의 모든 의미를 나열하지 않고, 이 수치연구에서의 정의와 적용 범위를 정리함.</a:t>
            </a:r>
          </a:p>
        </p:txBody>
      </p:sp>
      <p:graphicFrame>
        <p:nvGraphicFramePr>
          <p:cNvPr id="17" name="Table 16"/>
          <p:cNvGraphicFramePr>
            <a:graphicFrameLocks noGrp="1"/>
          </p:cNvGraphicFramePr>
          <p:nvPr/>
        </p:nvGraphicFramePr>
        <p:xfrm>
          <a:off x="411480" y="1984248"/>
          <a:ext cx="9052559" cy="3877056"/>
        </p:xfrm>
        <a:graphic>
          <a:graphicData uri="http://schemas.openxmlformats.org/drawingml/2006/table">
            <a:tbl>
              <a:tblPr firstRow="1" bandRow="1">
                <a:tableStyleId>{5C22544A-7EE6-4342-B048-85BDC9FD1C3A}</a:tableStyleId>
              </a:tblPr>
              <a:tblGrid>
                <a:gridCol w="2127351"/>
                <a:gridCol w="4028389"/>
                <a:gridCol w="2896819"/>
              </a:tblGrid>
              <a:tr h="430784">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용어 / 기호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이 보고서에서의 의미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구분할 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잠정 설계기준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본 수치연구에서 사용한 판정 한계. 고객 확정 규격과 구분함.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THD≤5%와 보조 조건은 모두 연구 가정.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보조 조건 / 종합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P·Q 추종, 전류·포화·주기성 / THD와 보조 조건 전부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THD 만족만으로 종합 만족을 뜻하지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포화 시간비 [%]</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전압 명령이 ±0.95Vdc 제한을 넘은 시간 표본의 비율.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전체 0.2 s 평가 구간을 분모로 계산함.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주기성 오차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연속 두 주기의 전류 파형을 같은 위상끼리 빼고 RMS 계산.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작아도 전체 폐루프 안정성이 증명되지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LHS (라틴 초입방체 표본화)</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가정한 각 입력범위를 나누어 넓게 다루는 조건 생성법.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48개 LHS+12개 경계값 검증조건; 제조 분포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초기값 보정 / 모델 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출력 크기를 기준값에 맞춤 / 실물과의 일치성을 확인함.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단일 THD 보정은 실물 검증을 대체 못함.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수치 검증 / 회귀시험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계산 정확도 확인 / 변경 뒤 기존 시험의 재실행.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회귀시험은 회귀분석과 다른 말임.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강건성 (Robustness)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가정·부품·환경이 달라져도 성능이 유지되는 성질.</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60개 조건의 만족률은 현장 신뢰도가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411480" y="5925312"/>
            <a:ext cx="9052560" cy="21031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50" b="0">
                <a:solidFill>
                  <a:srgbClr val="000000"/>
                </a:solidFill>
                <a:latin typeface="Malgun Gothic"/>
                <a:ea typeface="Malgun Gothic"/>
                <a:cs typeface="Malgun Gothic"/>
              </a:rPr>
              <a:t>시험조건·판정·수치모델의 정의는 원자료 설정파일과 코드 기준임. 코드의 축약 필드명은 데이터 사전 참조.</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V2 설정·모델·실험계획 코드; V3 분석 설명. 통계 방법은 NIST 참고.</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40/58</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6 / 통계 용어의 해석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본문에서 사용하는 의미와 오해하기 쉬운 점을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일반적인 용어의 모든 의미를 나열하지 않고, 이 수치연구에서의 정의와 적용 범위를 정리함.</a:t>
            </a:r>
          </a:p>
        </p:txBody>
      </p:sp>
      <p:graphicFrame>
        <p:nvGraphicFramePr>
          <p:cNvPr id="17" name="Table 16"/>
          <p:cNvGraphicFramePr>
            <a:graphicFrameLocks noGrp="1"/>
          </p:cNvGraphicFramePr>
          <p:nvPr/>
        </p:nvGraphicFramePr>
        <p:xfrm>
          <a:off x="411480" y="1984248"/>
          <a:ext cx="9052559" cy="3877056"/>
        </p:xfrm>
        <a:graphic>
          <a:graphicData uri="http://schemas.openxmlformats.org/drawingml/2006/table">
            <a:tbl>
              <a:tblPr firstRow="1" bandRow="1">
                <a:tableStyleId>{5C22544A-7EE6-4342-B048-85BDC9FD1C3A}</a:tableStyleId>
              </a:tblPr>
              <a:tblGrid>
                <a:gridCol w="2127351"/>
                <a:gridCol w="4028389"/>
                <a:gridCol w="2896819"/>
              </a:tblGrid>
              <a:tr h="430784">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용어 / 기호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이 보고서에서의 의미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구분할 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기술통계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주어진 데이터의 평균·최대·비율 등을 요약하는 계산.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모집단의 성능 보증 또는 가설검정과 구분함.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Gage R&amp;R</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반복 측정과 측정자 차이 등 계측 변동을 분리하는 분석.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본 과제는 실제 반복 계측자료가 없어 미적용.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ANOVA (분산분석)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반응 변동을 요인과 오차로 나누어 효과를 분석하는 방법.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본 과제는 제곱합 분해만, F검정은 미수행.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자유도 (df)</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제약을 반영한 독립 정보 수. 27개 평균의 총자유도는 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모든 요인항을 쓰면 남는 오차 자유도는 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F값 / p-value</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효과와 오차의 비 / 귀무가설하에서 결과의 극단성 지표.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본 과제 미산출. p는 귀무가설이 참일 확률이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신뢰구간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정한 표본추출·오차 모형에 근거해 모집단 값을 추정하는 구간.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시뮬레이션 조건 범위나 최소·최대와 다름.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Cpk / Z.Bench</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공정 산포와 규격의 관계를 요약하는 공정능력 지표.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제품·공정 산포가 없는 이번 자료에 미적용.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층별 분석 / 범주형 인자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조건별 그룹으로 나눔 / 수치간 거리보다 종류로 구분하는 인자.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차수 조합은 범주형. 3→5→7의 선형효과로 보지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411480" y="5925312"/>
            <a:ext cx="9052560" cy="21031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50" b="0">
                <a:solidFill>
                  <a:srgbClr val="000000"/>
                </a:solidFill>
                <a:latin typeface="Malgun Gothic"/>
                <a:ea typeface="Malgun Gothic"/>
                <a:cs typeface="Malgun Gothic"/>
              </a:rPr>
              <a:t>시험조건·판정·수치모델의 정의는 원자료 설정파일과 코드 기준임. 코드의 축약 필드명은 데이터 사전 참조.</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V2 설정·모델·실험계획 코드; V3 분석 설명. 통계 방법은 NIST 참고.</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41/58</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용어집 7 / 수치계산·구현·검증 기록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본문에서 사용하는 의미와 오해하기 쉬운 점을 구분함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일반적인 용어의 모든 의미를 나열하지 않고, 이 수치연구에서의 정의와 적용 범위를 정리함.</a:t>
            </a:r>
          </a:p>
        </p:txBody>
      </p:sp>
      <p:graphicFrame>
        <p:nvGraphicFramePr>
          <p:cNvPr id="17" name="Table 16"/>
          <p:cNvGraphicFramePr>
            <a:graphicFrameLocks noGrp="1"/>
          </p:cNvGraphicFramePr>
          <p:nvPr/>
        </p:nvGraphicFramePr>
        <p:xfrm>
          <a:off x="411480" y="1984248"/>
          <a:ext cx="9052559" cy="3877056"/>
        </p:xfrm>
        <a:graphic>
          <a:graphicData uri="http://schemas.openxmlformats.org/drawingml/2006/table">
            <a:tbl>
              <a:tblPr firstRow="1" bandRow="1">
                <a:tableStyleId>{5C22544A-7EE6-4342-B048-85BDC9FD1C3A}</a:tableStyleId>
              </a:tblPr>
              <a:tblGrid>
                <a:gridCol w="2127351"/>
                <a:gridCol w="4028389"/>
                <a:gridCol w="2896819"/>
              </a:tblGrid>
              <a:tr h="430784">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용어 / 기호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이 보고서에서의 의미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구분할 사항</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Ts / fs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제어·저장 주기 31.25 μs / 주파수 32 kHz. Ts=1/fs.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수치 적분 시간간격 Ts/8과 구분함.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RK4 / 적분 시간간격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상태방정식을 4차 Runge–Kutta로 계산 / 한 계산의 시간간격.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간격 세분화 비교는 수치오차 확인용임.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FFT / 정수주기 구간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파형을 주파수 성분으로 분해 / 기본파의 정수 주기를 포함한 구간.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본 계산은 50 Hz의 10주기 0.2 s, 6,400표본.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ADC / 양자화 / DSP</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아날로그-디지털 변환 / 값의 눈금화 / 제어 연산 프로세서.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양자화는 모델 가정, DSP 실행시간은 미검증.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DC-link / CLLC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DC 중간단 / 양측 공진소자를 갖는 DC-DC 전력변환단.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Vdc를 고정 입력으로 쓰므로 해당 동특성 미포함.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DCM / Coss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전류 불연속 도통 모드 / 전력반도체 출력 커패시턴스.</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실제 전환·비선형성은 본 모델에서 미검증.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정착시간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지령 변경 후 이동평균 전력 오차가 한계 내에 들어와 유지되기까지.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과도응답 정의와 보조 주기성 판정은 다른 항목.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30784">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해시 (SHA-256)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파일 바이트에서 계산하는 식별값. 원자료 변경 여부 확인용.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같은 해시가 물리적 모델 정확도를 보증하지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411480" y="5925312"/>
            <a:ext cx="9052560" cy="21031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50" b="0">
                <a:solidFill>
                  <a:srgbClr val="000000"/>
                </a:solidFill>
                <a:latin typeface="Malgun Gothic"/>
                <a:ea typeface="Malgun Gothic"/>
                <a:cs typeface="Malgun Gothic"/>
              </a:rPr>
              <a:t>시험조건·판정·수치모델의 정의는 원자료 설정파일과 코드 기준임. 코드의 축약 필드명은 데이터 사전 참조.</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V2 설정·모델·실험계획 코드; V3 분석 설명. 통계 방법은 NIST 참고.</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42/58</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A00 / 기준 운전조건 ID 일람</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●는 제어 선정용 9개, 나머지는 선정 미사용 54개 조건임</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한 행은 같은 S*·Vac에서 위상각만 다른 7개 조건임. 54개는 이 표에 포함되어 있으며 별도로 합산하지 않음.</a:t>
            </a:r>
          </a:p>
        </p:txBody>
      </p:sp>
      <p:graphicFrame>
        <p:nvGraphicFramePr>
          <p:cNvPr id="17" name="Table 16"/>
          <p:cNvGraphicFramePr>
            <a:graphicFrameLocks noGrp="1"/>
          </p:cNvGraphicFramePr>
          <p:nvPr/>
        </p:nvGraphicFramePr>
        <p:xfrm>
          <a:off x="411480" y="1984248"/>
          <a:ext cx="9052557" cy="3346700"/>
        </p:xfrm>
        <a:graphic>
          <a:graphicData uri="http://schemas.openxmlformats.org/drawingml/2006/table">
            <a:tbl>
              <a:tblPr firstRow="1" bandRow="1">
                <a:tableStyleId>{5C22544A-7EE6-4342-B048-85BDC9FD1C3A}</a:tableStyleId>
              </a:tblPr>
              <a:tblGrid>
                <a:gridCol w="1161825"/>
                <a:gridCol w="1113416"/>
                <a:gridCol w="968188"/>
                <a:gridCol w="968188"/>
                <a:gridCol w="968188"/>
                <a:gridCol w="968188"/>
                <a:gridCol w="968188"/>
                <a:gridCol w="968188"/>
                <a:gridCol w="968188"/>
              </a:tblGrid>
              <a:tr h="334670">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Vac [V]</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S* [VA]</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-90°</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-60°</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-30°</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0°</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30°</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60°</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90°</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33467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M001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M002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M003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M004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M005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M006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3467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1100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M008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M009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M011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M013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M014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3467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1400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M017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M019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M021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3467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230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M022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56A6"/>
                          </a:solidFill>
                          <a:latin typeface="Malgun Gothic"/>
                          <a:ea typeface="Malgun Gothic"/>
                          <a:cs typeface="Malgun Gothic"/>
                        </a:rPr>
                        <a:t>M023 ●</a:t>
                      </a:r>
                    </a:p>
                  </a:txBody>
                  <a:tcPr marL="64008" marR="64008" marT="41148" marB="41148" anchor="ctr">
                    <a:solidFill>
                      <a:srgbClr val="E8F0F8"/>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56A6"/>
                          </a:solidFill>
                          <a:latin typeface="Malgun Gothic"/>
                          <a:ea typeface="Malgun Gothic"/>
                          <a:cs typeface="Malgun Gothic"/>
                        </a:rPr>
                        <a:t>M025 ●</a:t>
                      </a:r>
                    </a:p>
                  </a:txBody>
                  <a:tcPr marL="64008" marR="64008" marT="41148" marB="41148" anchor="ctr">
                    <a:solidFill>
                      <a:srgbClr val="E8F0F8"/>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56A6"/>
                          </a:solidFill>
                          <a:latin typeface="Malgun Gothic"/>
                          <a:ea typeface="Malgun Gothic"/>
                          <a:cs typeface="Malgun Gothic"/>
                        </a:rPr>
                        <a:t>M027 ●</a:t>
                      </a:r>
                    </a:p>
                  </a:txBody>
                  <a:tcPr marL="64008" marR="64008" marT="41148" marB="41148" anchor="ctr">
                    <a:solidFill>
                      <a:srgbClr val="E8F0F8"/>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M028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3467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230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1100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M029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56A6"/>
                          </a:solidFill>
                          <a:latin typeface="Malgun Gothic"/>
                          <a:ea typeface="Malgun Gothic"/>
                          <a:cs typeface="Malgun Gothic"/>
                        </a:rPr>
                        <a:t>M030 ●</a:t>
                      </a:r>
                    </a:p>
                  </a:txBody>
                  <a:tcPr marL="64008" marR="64008" marT="41148" marB="41148" anchor="ctr">
                    <a:solidFill>
                      <a:srgbClr val="E8F0F8"/>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56A6"/>
                          </a:solidFill>
                          <a:latin typeface="Malgun Gothic"/>
                          <a:ea typeface="Malgun Gothic"/>
                          <a:cs typeface="Malgun Gothic"/>
                        </a:rPr>
                        <a:t>M032 ●</a:t>
                      </a:r>
                    </a:p>
                  </a:txBody>
                  <a:tcPr marL="64008" marR="64008" marT="41148" marB="41148" anchor="ctr">
                    <a:solidFill>
                      <a:srgbClr val="E8F0F8"/>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M033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56A6"/>
                          </a:solidFill>
                          <a:latin typeface="Malgun Gothic"/>
                          <a:ea typeface="Malgun Gothic"/>
                          <a:cs typeface="Malgun Gothic"/>
                        </a:rPr>
                        <a:t>M034 ●</a:t>
                      </a:r>
                    </a:p>
                  </a:txBody>
                  <a:tcPr marL="64008" marR="64008" marT="41148" marB="41148" anchor="ctr">
                    <a:solidFill>
                      <a:srgbClr val="E8F0F8"/>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3467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230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1400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M036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56A6"/>
                          </a:solidFill>
                          <a:latin typeface="Malgun Gothic"/>
                          <a:ea typeface="Malgun Gothic"/>
                          <a:cs typeface="Malgun Gothic"/>
                        </a:rPr>
                        <a:t>M037 ●</a:t>
                      </a:r>
                    </a:p>
                  </a:txBody>
                  <a:tcPr marL="64008" marR="64008" marT="41148" marB="41148" anchor="ctr">
                    <a:solidFill>
                      <a:srgbClr val="E8F0F8"/>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56A6"/>
                          </a:solidFill>
                          <a:latin typeface="Malgun Gothic"/>
                          <a:ea typeface="Malgun Gothic"/>
                          <a:cs typeface="Malgun Gothic"/>
                        </a:rPr>
                        <a:t>M039 ●</a:t>
                      </a:r>
                    </a:p>
                  </a:txBody>
                  <a:tcPr marL="64008" marR="64008" marT="41148" marB="41148" anchor="ctr">
                    <a:solidFill>
                      <a:srgbClr val="E8F0F8"/>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M040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56A6"/>
                          </a:solidFill>
                          <a:latin typeface="Malgun Gothic"/>
                          <a:ea typeface="Malgun Gothic"/>
                          <a:cs typeface="Malgun Gothic"/>
                        </a:rPr>
                        <a:t>M041 ●</a:t>
                      </a:r>
                    </a:p>
                  </a:txBody>
                  <a:tcPr marL="64008" marR="64008" marT="41148" marB="41148" anchor="ctr">
                    <a:solidFill>
                      <a:srgbClr val="E8F0F8"/>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M042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3467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M043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M044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M045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M046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M049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3467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1100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M050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M051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M052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M054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M055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M056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3467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1400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M058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M059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M060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M061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M062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M063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411480" y="5495544"/>
            <a:ext cx="9052560" cy="594360"/>
          </a:xfrm>
          <a:prstGeom prst="rect">
            <a:avLst/>
          </a:prstGeom>
          <a:solidFill>
            <a:srgbClr val="FFFFFF"/>
          </a:solidFill>
          <a:ln w="8255">
            <a:solidFill>
              <a:srgbClr val="B8B8B8"/>
            </a:solidFill>
          </a:ln>
          <a:effectLst/>
        </p:spPr>
        <p:txBody>
          <a:bodyPr rtlCol="0" anchor="ctr"/>
          <a:lstStyle/>
          <a:p>
            <a:pPr algn="ctr"/>
          </a:p>
        </p:txBody>
      </p:sp>
      <p:sp>
        <p:nvSpPr>
          <p:cNvPr id="19" name="TextBox 18"/>
          <p:cNvSpPr txBox="1"/>
          <p:nvPr/>
        </p:nvSpPr>
        <p:spPr>
          <a:xfrm>
            <a:off x="493776" y="5559552"/>
            <a:ext cx="8887968" cy="46634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090" b="0">
                <a:solidFill>
                  <a:srgbClr val="000000"/>
                </a:solidFill>
                <a:latin typeface="Malgun Gothic"/>
                <a:ea typeface="Malgun Gothic"/>
                <a:cs typeface="Malgun Gothic"/>
              </a:rPr>
              <a:t>기준조건 공통 가정</a:t>
            </a:r>
          </a:p>
          <a:p>
            <a:pPr algn="l">
              <a:lnSpc>
                <a:spcPct val="108000"/>
              </a:lnSpc>
              <a:spcBef>
                <a:spcPts val="0"/>
              </a:spcBef>
              <a:spcAft>
                <a:spcPts val="200"/>
              </a:spcAft>
            </a:pPr>
            <a:r>
              <a:rPr sz="1090" b="0">
                <a:solidFill>
                  <a:srgbClr val="000000"/>
                </a:solidFill>
                <a:latin typeface="Malgun Gothic"/>
                <a:ea typeface="Malgun Gothic"/>
                <a:cs typeface="Malgun Gothic"/>
              </a:rPr>
              <a:t>Vdc=400 V, f₀=50 Hz, Lf=1.5 mH, Lg=0.2 mH. 초기·개선은 같은 물리적 조건에서 제어만 바꿈.</a:t>
            </a:r>
          </a:p>
          <a:p>
            <a:pPr algn="l">
              <a:lnSpc>
                <a:spcPct val="108000"/>
              </a:lnSpc>
              <a:spcBef>
                <a:spcPts val="0"/>
              </a:spcBef>
              <a:spcAft>
                <a:spcPts val="200"/>
              </a:spcAft>
            </a:pPr>
            <a:r>
              <a:rPr sz="1090" b="0">
                <a:solidFill>
                  <a:srgbClr val="000000"/>
                </a:solidFill>
                <a:latin typeface="Malgun Gothic"/>
                <a:ea typeface="Malgun Gothic"/>
                <a:cs typeface="Malgun Gothic"/>
              </a:rPr>
              <a:t>원자료 main_cases.csv에는 P*·Q* 및 나머지 회로값도 함께 저장되어 있음.</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results/main_cases.csv; selected_control.json의 training_ids.</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43/58</a:t>
            </a:r>
          </a:p>
        </p:txBody>
      </p:sp>
      <p:sp>
        <p:nvSpPr>
          <p:cNvPr id="23" name="TextBox 22">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4" name="TextBox 23">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5" name="TextBox 24">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A01 / 모델 및 제어식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수치해석 모델의 계산 조건</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기준 모델과 제어식, 제한값 및 디지털 구현 조건을 정리함. 본 보고서의 수치는 해당 코드와 설정으로 산출된 결과임.</a:t>
            </a:r>
          </a:p>
        </p:txBody>
      </p:sp>
      <p:sp>
        <p:nvSpPr>
          <p:cNvPr id="17" name="Rectangle 16"/>
          <p:cNvSpPr/>
          <p:nvPr/>
        </p:nvSpPr>
        <p:spPr>
          <a:xfrm>
            <a:off x="502920" y="2029968"/>
            <a:ext cx="8887968" cy="1298448"/>
          </a:xfrm>
          <a:prstGeom prst="rect">
            <a:avLst/>
          </a:prstGeom>
          <a:solidFill>
            <a:srgbClr val="FFFFFF"/>
          </a:solidFill>
          <a:ln w="8255">
            <a:solidFill>
              <a:srgbClr val="B8B8B8"/>
            </a:solidFill>
          </a:ln>
          <a:effectLst/>
        </p:spPr>
        <p:txBody>
          <a:bodyPr rtlCol="0" anchor="ctr"/>
          <a:lstStyle/>
          <a:p>
            <a:pPr algn="ctr"/>
          </a:p>
        </p:txBody>
      </p:sp>
      <p:sp>
        <p:nvSpPr>
          <p:cNvPr id="18" name="TextBox 17"/>
          <p:cNvSpPr txBox="1"/>
          <p:nvPr/>
        </p:nvSpPr>
        <p:spPr>
          <a:xfrm>
            <a:off x="585216" y="2093976"/>
            <a:ext cx="8723376" cy="1170431"/>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700" b="0">
                <a:solidFill>
                  <a:srgbClr val="000000"/>
                </a:solidFill>
                <a:latin typeface="Malgun Gothic"/>
                <a:ea typeface="Malgun Gothic"/>
                <a:cs typeface="Malgun Gothic"/>
              </a:rPr>
              <a:t>iref = √2 / Vrms · (P* sinθ − Q* cosθ)</a:t>
            </a:r>
          </a:p>
          <a:p>
            <a:pPr algn="ctr">
              <a:lnSpc>
                <a:spcPct val="108000"/>
              </a:lnSpc>
              <a:spcBef>
                <a:spcPts val="0"/>
              </a:spcBef>
              <a:spcAft>
                <a:spcPts val="200"/>
              </a:spcAft>
            </a:pPr>
            <a:r>
              <a:rPr sz="1700" b="0">
                <a:solidFill>
                  <a:srgbClr val="000000"/>
                </a:solidFill>
                <a:latin typeface="Malgun Gothic"/>
                <a:ea typeface="Malgun Gothic"/>
                <a:cs typeface="Malgun Gothic"/>
              </a:rPr>
              <a:t>(Lf+Lg) di/dt = vb − (Rf+Rg)i − vg</a:t>
            </a:r>
          </a:p>
          <a:p>
            <a:pPr algn="ctr">
              <a:lnSpc>
                <a:spcPct val="108000"/>
              </a:lnSpc>
              <a:spcBef>
                <a:spcPts val="0"/>
              </a:spcBef>
              <a:spcAft>
                <a:spcPts val="200"/>
              </a:spcAft>
            </a:pPr>
            <a:r>
              <a:rPr sz="1700" b="0">
                <a:solidFill>
                  <a:srgbClr val="000000"/>
                </a:solidFill>
                <a:latin typeface="Malgun Gothic"/>
                <a:ea typeface="Malgun Gothic"/>
                <a:cs typeface="Malgun Gothic"/>
              </a:rPr>
              <a:t>er(i) = Vdc fs teq tanh(i/Iz)</a:t>
            </a:r>
          </a:p>
        </p:txBody>
      </p:sp>
      <p:sp>
        <p:nvSpPr>
          <p:cNvPr id="19" name="Rectangle 18"/>
          <p:cNvSpPr/>
          <p:nvPr/>
        </p:nvSpPr>
        <p:spPr>
          <a:xfrm>
            <a:off x="502920" y="3575304"/>
            <a:ext cx="8887968" cy="1673352"/>
          </a:xfrm>
          <a:prstGeom prst="rect">
            <a:avLst/>
          </a:prstGeom>
          <a:solidFill>
            <a:srgbClr val="F3F3F3"/>
          </a:solidFill>
          <a:ln w="8255">
            <a:solidFill>
              <a:srgbClr val="B8B8B8"/>
            </a:solidFill>
          </a:ln>
          <a:effectLst/>
        </p:spPr>
        <p:txBody>
          <a:bodyPr rtlCol="0" anchor="ctr"/>
          <a:lstStyle/>
          <a:p>
            <a:pPr algn="ctr"/>
          </a:p>
        </p:txBody>
      </p:sp>
      <p:sp>
        <p:nvSpPr>
          <p:cNvPr id="20" name="TextBox 19"/>
          <p:cNvSpPr txBox="1"/>
          <p:nvPr/>
        </p:nvSpPr>
        <p:spPr>
          <a:xfrm>
            <a:off x="585216" y="3639312"/>
            <a:ext cx="8723376" cy="1545336"/>
          </a:xfrm>
          <a:prstGeom prst="rect">
            <a:avLst/>
          </a:prstGeom>
          <a:noFill/>
        </p:spPr>
        <p:txBody>
          <a:bodyPr wrap="square" lIns="22860" rIns="22860" tIns="22860" bIns="22860" anchor="ctr">
            <a:spAutoFit/>
          </a:bodyPr>
          <a:lstStyle/>
          <a:p>
            <a:pPr algn="ctr">
              <a:lnSpc>
                <a:spcPct val="108000"/>
              </a:lnSpc>
              <a:spcBef>
                <a:spcPts val="0"/>
              </a:spcBef>
              <a:spcAft>
                <a:spcPts val="200"/>
              </a:spcAft>
            </a:pPr>
            <a:r>
              <a:rPr sz="1400" b="0">
                <a:solidFill>
                  <a:srgbClr val="000000"/>
                </a:solidFill>
                <a:latin typeface="Malgun Gothic"/>
                <a:ea typeface="Malgun Gothic"/>
                <a:cs typeface="Malgun Gothic"/>
              </a:rPr>
              <a:t>Gₕ(s) = 2Krωc s / [s² + 2ωc s + ωh²]</a:t>
            </a:r>
          </a:p>
          <a:p>
            <a:pPr algn="ctr">
              <a:lnSpc>
                <a:spcPct val="108000"/>
              </a:lnSpc>
              <a:spcBef>
                <a:spcPts val="0"/>
              </a:spcBef>
              <a:spcAft>
                <a:spcPts val="200"/>
              </a:spcAft>
            </a:pPr>
            <a:r>
              <a:rPr sz="1400" b="0">
                <a:solidFill>
                  <a:srgbClr val="000000"/>
                </a:solidFill>
                <a:latin typeface="Malgun Gothic"/>
                <a:ea typeface="Malgun Gothic"/>
                <a:cs typeface="Malgun Gothic"/>
              </a:rPr>
              <a:t>k = ωh / tan(ωhTs/2),  d = k² + 2ωc k + ωh²</a:t>
            </a:r>
          </a:p>
          <a:p>
            <a:pPr algn="ctr">
              <a:lnSpc>
                <a:spcPct val="108000"/>
              </a:lnSpc>
              <a:spcBef>
                <a:spcPts val="0"/>
              </a:spcBef>
              <a:spcAft>
                <a:spcPts val="200"/>
              </a:spcAft>
            </a:pPr>
            <a:r>
              <a:rPr sz="1400" b="0">
                <a:solidFill>
                  <a:srgbClr val="000000"/>
                </a:solidFill>
                <a:latin typeface="Malgun Gothic"/>
                <a:ea typeface="Malgun Gothic"/>
                <a:cs typeface="Malgun Gothic"/>
              </a:rPr>
              <a:t>b₀ = 2Krωc k/d,  a₁ = 2(ωh²−k²)/d,  a₂ = (k²−2ωc k+ωh²)/d</a:t>
            </a:r>
          </a:p>
          <a:p>
            <a:pPr algn="ctr">
              <a:lnSpc>
                <a:spcPct val="108000"/>
              </a:lnSpc>
              <a:spcBef>
                <a:spcPts val="0"/>
              </a:spcBef>
              <a:spcAft>
                <a:spcPts val="200"/>
              </a:spcAft>
            </a:pPr>
            <a:r>
              <a:rPr sz="1400" b="0">
                <a:solidFill>
                  <a:srgbClr val="000000"/>
                </a:solidFill>
                <a:latin typeface="Malgun Gothic"/>
                <a:ea typeface="Malgun Gothic"/>
                <a:cs typeface="Malgun Gothic"/>
              </a:rPr>
              <a:t>y[n] = b₀(e[n]−e[n−2]) − a₁y[n−1] − a₂y[n−2]</a:t>
            </a:r>
          </a:p>
        </p:txBody>
      </p:sp>
      <p:sp>
        <p:nvSpPr>
          <p:cNvPr id="21" name="TextBox 20"/>
          <p:cNvSpPr txBox="1"/>
          <p:nvPr/>
        </p:nvSpPr>
        <p:spPr>
          <a:xfrm>
            <a:off x="411480" y="5513832"/>
            <a:ext cx="9052560" cy="41148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00" b="0">
                <a:solidFill>
                  <a:srgbClr val="000000"/>
                </a:solidFill>
                <a:latin typeface="Malgun Gothic"/>
                <a:ea typeface="Malgun Gothic"/>
                <a:cs typeface="Malgun Gothic"/>
              </a:rPr>
              <a:t>공진기 조건: h=3/5/7, ωh=h·2π·50, ωc=2πfc. 각 출력은 ±20 V로 제한함.</a:t>
            </a:r>
          </a:p>
        </p:txBody>
      </p:sp>
      <p:sp>
        <p:nvSpPr>
          <p:cNvPr id="22" name="TextBox 21"/>
          <p:cNvSpPr txBox="1"/>
          <p:nvPr/>
        </p:nvSpPr>
        <p:spPr>
          <a:xfrm>
            <a:off x="411480" y="5980176"/>
            <a:ext cx="9052560" cy="2743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전압 명령 제한 ±0.95Vdc / 1Ts 지연. P*&gt;0:계통 송전, Q*&gt;0:지상전류. 고객 부호 규약은 미확인.</a:t>
            </a:r>
          </a:p>
        </p:txBody>
      </p:sp>
      <p:cxnSp>
        <p:nvCxnSpPr>
          <p:cNvPr id="23" name="Connector 22"/>
          <p:cNvCxnSpPr/>
          <p:nvPr/>
        </p:nvCxnSpPr>
        <p:spPr>
          <a:xfrm>
            <a:off x="365760" y="6428232"/>
            <a:ext cx="9189720" cy="0"/>
          </a:xfrm>
          <a:prstGeom prst="line">
            <a:avLst/>
          </a:prstGeom>
          <a:ln w="5715">
            <a:solidFill>
              <a:srgbClr val="000000"/>
            </a:solidFill>
          </a:ln>
          <a:effectLst/>
        </p:spPr>
      </p:cxnSp>
      <p:sp>
        <p:nvSpPr>
          <p:cNvPr id="24" name="TextBox 23"/>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docs/01_model.md; src/model.py harmonic_coeff. 주파수 적응·실제 CAN 부호 mapping 미검증.</a:t>
            </a:r>
          </a:p>
        </p:txBody>
      </p:sp>
      <p:sp>
        <p:nvSpPr>
          <p:cNvPr id="25" name="TextBox 24"/>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44/58</a:t>
            </a:r>
          </a:p>
        </p:txBody>
      </p:sp>
      <p:sp>
        <p:nvSpPr>
          <p:cNvPr id="26" name="TextBox 25">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7" name="TextBox 26">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8" name="TextBox 27">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A02 / 공개 시험값 비교</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7"/>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8"/>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9"/>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10"/>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1"/>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보정 제외 17개 시험점의 차이 확인</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기준점 외 시험값을 비교하여 모델의 적용 한계를 확인함. 단일 THD 크기 보정만으로 실물 모델 검증을 대체할 수는 없음.</a:t>
            </a:r>
          </a:p>
        </p:txBody>
      </p:sp>
      <p:sp>
        <p:nvSpPr>
          <p:cNvPr id="17" name="TextBox 16"/>
          <p:cNvSpPr txBox="1"/>
          <p:nvPr/>
        </p:nvSpPr>
        <p:spPr>
          <a:xfrm>
            <a:off x="411480" y="1993392"/>
            <a:ext cx="5760720" cy="2743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THD [%] · PFC 방향, 원문 부하점 순서</a:t>
            </a:r>
          </a:p>
        </p:txBody>
      </p:sp>
      <p:graphicFrame>
        <p:nvGraphicFramePr>
          <p:cNvPr id="18" name="Chart 17"/>
          <p:cNvGraphicFramePr>
            <a:graphicFrameLocks noGrp="1"/>
          </p:cNvGraphicFramePr>
          <p:nvPr/>
        </p:nvGraphicFramePr>
        <p:xfrm>
          <a:off x="365760" y="2286000"/>
          <a:ext cx="5715000" cy="3840480"/>
        </p:xfrm>
        <a:graphic>
          <a:graphicData uri="http://schemas.openxmlformats.org/drawingml/2006/chart">
            <c:chart xmlns:c="http://schemas.openxmlformats.org/drawingml/2006/chart" r:id="rId2"/>
          </a:graphicData>
        </a:graphic>
      </p:graphicFrame>
      <p:sp>
        <p:nvSpPr>
          <p:cNvPr id="19" name="Rectangle 18"/>
          <p:cNvSpPr/>
          <p:nvPr/>
        </p:nvSpPr>
        <p:spPr>
          <a:xfrm>
            <a:off x="6263640" y="2148840"/>
            <a:ext cx="3136392" cy="1691640"/>
          </a:xfrm>
          <a:prstGeom prst="rect">
            <a:avLst/>
          </a:prstGeom>
          <a:solidFill>
            <a:srgbClr val="FFFFFF"/>
          </a:solidFill>
          <a:ln w="8255">
            <a:solidFill>
              <a:srgbClr val="B8B8B8"/>
            </a:solidFill>
          </a:ln>
          <a:effectLst/>
        </p:spPr>
        <p:txBody>
          <a:bodyPr rtlCol="0" anchor="ctr"/>
          <a:lstStyle/>
          <a:p>
            <a:pPr algn="ctr"/>
          </a:p>
        </p:txBody>
      </p:sp>
      <p:sp>
        <p:nvSpPr>
          <p:cNvPr id="20" name="TextBox 19"/>
          <p:cNvSpPr txBox="1"/>
          <p:nvPr/>
        </p:nvSpPr>
        <p:spPr>
          <a:xfrm>
            <a:off x="6409944" y="2258568"/>
            <a:ext cx="2843784" cy="3200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미사용 17개 조건 평균 절대차</a:t>
            </a:r>
          </a:p>
        </p:txBody>
      </p:sp>
      <p:sp>
        <p:nvSpPr>
          <p:cNvPr id="21" name="TextBox 20"/>
          <p:cNvSpPr txBox="1"/>
          <p:nvPr/>
        </p:nvSpPr>
        <p:spPr>
          <a:xfrm>
            <a:off x="6409944" y="2670048"/>
            <a:ext cx="2843784" cy="54864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500" b="1">
                <a:solidFill>
                  <a:srgbClr val="C00000"/>
                </a:solidFill>
                <a:latin typeface="Malgun Gothic"/>
                <a:ea typeface="Malgun Gothic"/>
                <a:cs typeface="Malgun Gothic"/>
              </a:rPr>
              <a:t>0.671%p</a:t>
            </a:r>
          </a:p>
        </p:txBody>
      </p:sp>
      <p:sp>
        <p:nvSpPr>
          <p:cNvPr id="22" name="TextBox 21"/>
          <p:cNvSpPr txBox="1"/>
          <p:nvPr/>
        </p:nvSpPr>
        <p:spPr>
          <a:xfrm>
            <a:off x="6409944" y="3209544"/>
            <a:ext cx="2843784" cy="5943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50" b="0">
                <a:solidFill>
                  <a:srgbClr val="555555"/>
                </a:solidFill>
                <a:latin typeface="Malgun Gothic"/>
                <a:ea typeface="Malgun Gothic"/>
                <a:cs typeface="Malgun Gothic"/>
              </a:rPr>
              <a:t>최대 절대차 3.206%p</a:t>
            </a:r>
          </a:p>
          <a:p>
            <a:pPr algn="l">
              <a:lnSpc>
                <a:spcPct val="108000"/>
              </a:lnSpc>
              <a:spcBef>
                <a:spcPts val="0"/>
              </a:spcBef>
              <a:spcAft>
                <a:spcPts val="200"/>
              </a:spcAft>
            </a:pPr>
            <a:r>
              <a:rPr sz="1050" b="0">
                <a:solidFill>
                  <a:srgbClr val="555555"/>
                </a:solidFill>
                <a:latin typeface="Malgun Gothic"/>
                <a:ea typeface="Malgun Gothic"/>
                <a:cs typeface="Malgun Gothic"/>
              </a:rPr>
              <a:t>모든 비교점 및 불일치 보존</a:t>
            </a:r>
          </a:p>
        </p:txBody>
      </p:sp>
      <p:sp>
        <p:nvSpPr>
          <p:cNvPr id="23" name="Rectangle 22"/>
          <p:cNvSpPr/>
          <p:nvPr/>
        </p:nvSpPr>
        <p:spPr>
          <a:xfrm>
            <a:off x="6263640" y="4078224"/>
            <a:ext cx="3136392" cy="1764792"/>
          </a:xfrm>
          <a:prstGeom prst="rect">
            <a:avLst/>
          </a:prstGeom>
          <a:solidFill>
            <a:srgbClr val="FFFFFF"/>
          </a:solidFill>
          <a:ln w="8255">
            <a:solidFill>
              <a:srgbClr val="B8B8B8"/>
            </a:solidFill>
          </a:ln>
          <a:effectLst/>
        </p:spPr>
        <p:txBody>
          <a:bodyPr rtlCol="0" anchor="ctr"/>
          <a:lstStyle/>
          <a:p>
            <a:pPr algn="ctr"/>
          </a:p>
        </p:txBody>
      </p:sp>
      <p:sp>
        <p:nvSpPr>
          <p:cNvPr id="24" name="TextBox 23"/>
          <p:cNvSpPr txBox="1"/>
          <p:nvPr/>
        </p:nvSpPr>
        <p:spPr>
          <a:xfrm>
            <a:off x="6345936" y="4142232"/>
            <a:ext cx="2971800" cy="1636776"/>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40" b="0">
                <a:solidFill>
                  <a:srgbClr val="000000"/>
                </a:solidFill>
                <a:latin typeface="Malgun Gothic"/>
                <a:ea typeface="Malgun Gothic"/>
                <a:cs typeface="Malgun Gothic"/>
              </a:rPr>
              <a:t>모델 유효성 범위</a:t>
            </a:r>
          </a:p>
          <a:p>
            <a:pPr algn="l">
              <a:lnSpc>
                <a:spcPct val="108000"/>
              </a:lnSpc>
              <a:spcBef>
                <a:spcPts val="0"/>
              </a:spcBef>
              <a:spcAft>
                <a:spcPts val="200"/>
              </a:spcAft>
            </a:pPr>
            <a:r>
              <a:rPr sz="1240" b="0">
                <a:solidFill>
                  <a:srgbClr val="000000"/>
                </a:solidFill>
                <a:latin typeface="Malgun Gothic"/>
                <a:ea typeface="Malgun Gothic"/>
                <a:cs typeface="Malgun Gothic"/>
              </a:rPr>
              <a:t>공개 회로의 필터·제어·스위칭 조건은 재현하지 않음. THD 측정 대역 일치도 미확인으로, 실물 정확도 검증과 구분함.</a:t>
            </a:r>
          </a:p>
        </p:txBody>
      </p:sp>
      <p:sp>
        <p:nvSpPr>
          <p:cNvPr id="25" name="TextBox 24"/>
          <p:cNvSpPr txBox="1"/>
          <p:nvPr/>
        </p:nvSpPr>
        <p:spPr>
          <a:xfrm>
            <a:off x="411480" y="6089904"/>
            <a:ext cx="90525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가로축: 원문 출력전력 [W]. 보정에 사용한 기준점 1개를 제외한 17개 운전조건으로 차이를 집계함.</a:t>
            </a:r>
          </a:p>
        </p:txBody>
      </p:sp>
      <p:cxnSp>
        <p:nvCxnSpPr>
          <p:cNvPr id="26" name="Connector 25"/>
          <p:cNvCxnSpPr/>
          <p:nvPr/>
        </p:nvCxnSpPr>
        <p:spPr>
          <a:xfrm>
            <a:off x="365760" y="6428232"/>
            <a:ext cx="9189720" cy="0"/>
          </a:xfrm>
          <a:prstGeom prst="line">
            <a:avLst/>
          </a:prstGeom>
          <a:ln w="5715">
            <a:solidFill>
              <a:srgbClr val="000000"/>
            </a:solidFill>
          </a:ln>
          <a:effectLst/>
        </p:spPr>
      </p:cxnSp>
      <p:sp>
        <p:nvSpPr>
          <p:cNvPr id="27" name="TextBox 26"/>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sources/TIDUE54B_table7.csv; public_benchmark_discrepancy.csv; TI TIDUE54B p.60 Table 7.</a:t>
            </a:r>
          </a:p>
        </p:txBody>
      </p:sp>
      <p:sp>
        <p:nvSpPr>
          <p:cNvPr id="28" name="TextBox 27"/>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45/58</a:t>
            </a:r>
          </a:p>
        </p:txBody>
      </p:sp>
      <p:sp>
        <p:nvSpPr>
          <p:cNvPr id="29" name="TextBox 28">
            <a:hlinkClick action="ppaction://hlinksldjump" r:id="rId4"/>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30" name="TextBox 29">
            <a:hlinkClick action="ppaction://hlinksldjump" r:id="rId5"/>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31" name="TextBox 30">
            <a:hlinkClick action="ppaction://hlinksldjump" r:id="rId6"/>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A03 / 변동 검증조건 상세</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가정 범위 내 검증조건 48개와 경계값 검증조건 12개를 분리함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변동 검증 60개는 동일 분포의 실물 표본이 아님. 두 하위 집합을 분리하면 미달이 어떤 구성에서 발생했는지 확인할 수 있음.</a:t>
            </a:r>
          </a:p>
        </p:txBody>
      </p:sp>
      <p:graphicFrame>
        <p:nvGraphicFramePr>
          <p:cNvPr id="17" name="Table 16"/>
          <p:cNvGraphicFramePr>
            <a:graphicFrameLocks noGrp="1"/>
          </p:cNvGraphicFramePr>
          <p:nvPr/>
        </p:nvGraphicFramePr>
        <p:xfrm>
          <a:off x="411480" y="1984248"/>
          <a:ext cx="9052559" cy="2651756"/>
        </p:xfrm>
        <a:graphic>
          <a:graphicData uri="http://schemas.openxmlformats.org/drawingml/2006/table">
            <a:tbl>
              <a:tblPr firstRow="1" bandRow="1">
                <a:tableStyleId>{5C22544A-7EE6-4342-B048-85BDC9FD1C3A}</a:tableStyleId>
              </a:tblPr>
              <a:tblGrid>
                <a:gridCol w="2806293"/>
                <a:gridCol w="6246266"/>
              </a:tblGrid>
              <a:tr h="389964">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변경 항목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가정한 생성 범위 / 경계값 검증조건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389964">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S* / φ</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900~1,400 VA / −90~90°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9964">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Vac / Vdc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207~253 Vrms / 380~420 V</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389964">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필터·계통 인덕턴스</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Lf=1.35~1.65 mH / Lg=0.05~0.40 mH</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5950">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저항·전압오차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Rf=0.12~0.18 Ω, Rg=0.05~0.20 Ω</a:t>
                      </a:r>
                    </a:p>
                    <a:p>
                      <a:pPr algn="l">
                        <a:lnSpc>
                          <a:spcPct val="105000"/>
                        </a:lnSpc>
                        <a:spcBef>
                          <a:spcPts val="0"/>
                        </a:spcBef>
                        <a:spcAft>
                          <a:spcPts val="100"/>
                        </a:spcAft>
                      </a:pPr>
                      <a:r>
                        <a:rPr sz="1160" b="0">
                          <a:solidFill>
                            <a:srgbClr val="000000"/>
                          </a:solidFill>
                          <a:latin typeface="Malgun Gothic"/>
                          <a:ea typeface="Malgun Gothic"/>
                          <a:cs typeface="Malgun Gothic"/>
                        </a:rPr>
                        <a:t>teq=기준값×0.7~1.3, Iz=0.15~0.45 A</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45950">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계통·측정·지연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3차 0~1%, 5차 0~0.5%; offset±0.03 A</a:t>
                      </a:r>
                    </a:p>
                    <a:p>
                      <a:pPr algn="l">
                        <a:lnSpc>
                          <a:spcPct val="105000"/>
                        </a:lnSpc>
                        <a:spcBef>
                          <a:spcPts val="0"/>
                        </a:spcBef>
                        <a:spcAft>
                          <a:spcPts val="100"/>
                        </a:spcAft>
                      </a:pPr>
                      <a:r>
                        <a:rPr sz="1160" b="0">
                          <a:solidFill>
                            <a:srgbClr val="000000"/>
                          </a:solidFill>
                          <a:latin typeface="Malgun Gothic"/>
                          <a:ea typeface="Malgun Gothic"/>
                          <a:cs typeface="Malgun Gothic"/>
                        </a:rPr>
                        <a:t>양자화 간격 0.0122~0.0488 A; 지연 1~2Ts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graphicFrame>
        <p:nvGraphicFramePr>
          <p:cNvPr id="18" name="Table 17"/>
          <p:cNvGraphicFramePr>
            <a:graphicFrameLocks noGrp="1"/>
          </p:cNvGraphicFramePr>
          <p:nvPr/>
        </p:nvGraphicFramePr>
        <p:xfrm>
          <a:off x="411480" y="4828032"/>
          <a:ext cx="9052560" cy="1197864"/>
        </p:xfrm>
        <a:graphic>
          <a:graphicData uri="http://schemas.openxmlformats.org/drawingml/2006/table">
            <a:tbl>
              <a:tblPr firstRow="1" bandRow="1">
                <a:tableStyleId>{5C22544A-7EE6-4342-B048-85BDC9FD1C3A}</a:tableStyleId>
              </a:tblPr>
              <a:tblGrid>
                <a:gridCol w="4526280"/>
                <a:gridCol w="2263140"/>
                <a:gridCol w="2263140"/>
              </a:tblGrid>
              <a:tr h="299466">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변동 검증의 하위 집합</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초기 종합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60" b="1">
                          <a:solidFill>
                            <a:srgbClr val="000000"/>
                          </a:solidFill>
                          <a:latin typeface="Malgun Gothic"/>
                          <a:ea typeface="Malgun Gothic"/>
                          <a:cs typeface="Malgun Gothic"/>
                        </a:rPr>
                        <a:t>개선 종합 만족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299466">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범위 내 검증조건 48개 (H001~H048)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16/48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47/48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9466">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경계값 검증조건 12개 (H049~H060)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0/12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4/12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99466">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전체 60개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16/60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60" b="0">
                          <a:solidFill>
                            <a:srgbClr val="000000"/>
                          </a:solidFill>
                          <a:latin typeface="Malgun Gothic"/>
                          <a:ea typeface="Malgun Gothic"/>
                          <a:cs typeface="Malgun Gothic"/>
                        </a:rPr>
                        <a:t>51/60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9" name="TextBox 18"/>
          <p:cNvSpPr txBox="1"/>
          <p:nvPr/>
        </p:nvSpPr>
        <p:spPr>
          <a:xfrm>
            <a:off x="411480" y="6062472"/>
            <a:ext cx="9052560" cy="16459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980" b="0">
                <a:solidFill>
                  <a:srgbClr val="000000"/>
                </a:solidFill>
                <a:latin typeface="Malgun Gothic"/>
                <a:ea typeface="Malgun Gothic"/>
                <a:cs typeface="Malgun Gothic"/>
              </a:rPr>
              <a:t>경계값 검증조건: Vac253 V·Vdc380 V, S*2수준×φ3수준×오차함수 2종. 자세한 입력은 조건CSV에 수록.</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results/holdout_cases.csv; holdout_improved.csv; study_config.json.</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46/58</a:t>
            </a:r>
          </a:p>
        </p:txBody>
      </p:sp>
      <p:sp>
        <p:nvSpPr>
          <p:cNvPr id="23" name="TextBox 22">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4" name="TextBox 23">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5" name="TextBox 24">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A04 / 수치 수렴 및 범위 외 검증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해석 시간·시간간격 및 추가 부하점 확인</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범위 외 15개 조건과 대표 수치 조건을 별도로 확인함. 해당 결과는 기준 시험 및 추가 검증의 만족률 계산에 포함하지 않음.</a:t>
            </a:r>
          </a:p>
        </p:txBody>
      </p:sp>
      <p:graphicFrame>
        <p:nvGraphicFramePr>
          <p:cNvPr id="17" name="Table 16"/>
          <p:cNvGraphicFramePr>
            <a:graphicFrameLocks noGrp="1"/>
          </p:cNvGraphicFramePr>
          <p:nvPr/>
        </p:nvGraphicFramePr>
        <p:xfrm>
          <a:off x="438912" y="2039112"/>
          <a:ext cx="5330950" cy="2697480"/>
        </p:xfrm>
        <a:graphic>
          <a:graphicData uri="http://schemas.openxmlformats.org/drawingml/2006/table">
            <a:tbl>
              <a:tblPr firstRow="1" bandRow="1">
                <a:tableStyleId>{5C22544A-7EE6-4342-B048-85BDC9FD1C3A}</a:tableStyleId>
              </a:tblPr>
              <a:tblGrid>
                <a:gridCol w="911273"/>
                <a:gridCol w="1458038"/>
                <a:gridCol w="1458038"/>
                <a:gridCol w="1503601"/>
              </a:tblGrid>
              <a:tr h="449580">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S* [VA]</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초기 평균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개선 평균 THD</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종합 만족(개선)</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49580">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350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13.66%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4.47%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3/3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9580">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700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8.68%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3.20%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3/3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9580">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2100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3.41%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1.52%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3/3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9580">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3500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2.10%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0.97%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3/3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9580">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7000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1.06%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0.50%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0">
                          <a:solidFill>
                            <a:srgbClr val="000000"/>
                          </a:solidFill>
                          <a:latin typeface="Malgun Gothic"/>
                          <a:ea typeface="Malgun Gothic"/>
                          <a:cs typeface="Malgun Gothic"/>
                        </a:rPr>
                        <a:t>3/3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6053328" y="2103120"/>
            <a:ext cx="3364992" cy="1508760"/>
          </a:xfrm>
          <a:prstGeom prst="rect">
            <a:avLst/>
          </a:prstGeom>
          <a:solidFill>
            <a:srgbClr val="FFFFFF"/>
          </a:solidFill>
          <a:ln w="8255">
            <a:solidFill>
              <a:srgbClr val="B8B8B8"/>
            </a:solidFill>
          </a:ln>
          <a:effectLst/>
        </p:spPr>
        <p:txBody>
          <a:bodyPr rtlCol="0" anchor="ctr"/>
          <a:lstStyle/>
          <a:p>
            <a:pPr algn="ctr"/>
          </a:p>
        </p:txBody>
      </p:sp>
      <p:sp>
        <p:nvSpPr>
          <p:cNvPr id="19" name="TextBox 18"/>
          <p:cNvSpPr txBox="1"/>
          <p:nvPr/>
        </p:nvSpPr>
        <p:spPr>
          <a:xfrm>
            <a:off x="6135624" y="2167127"/>
            <a:ext cx="3200400" cy="1380743"/>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70" b="0">
                <a:solidFill>
                  <a:srgbClr val="000000"/>
                </a:solidFill>
                <a:latin typeface="Malgun Gothic"/>
                <a:ea typeface="Malgun Gothic"/>
                <a:cs typeface="Malgun Gothic"/>
              </a:rPr>
              <a:t>적분 시간간격 검토</a:t>
            </a:r>
          </a:p>
          <a:p>
            <a:pPr algn="l">
              <a:lnSpc>
                <a:spcPct val="108000"/>
              </a:lnSpc>
              <a:spcBef>
                <a:spcPts val="0"/>
              </a:spcBef>
              <a:spcAft>
                <a:spcPts val="200"/>
              </a:spcAft>
            </a:pPr>
            <a:r>
              <a:rPr sz="1270" b="0">
                <a:solidFill>
                  <a:srgbClr val="000000"/>
                </a:solidFill>
                <a:latin typeface="Malgun Gothic"/>
                <a:ea typeface="Malgun Gothic"/>
                <a:cs typeface="Malgun Gothic"/>
              </a:rPr>
              <a:t>대표 5개 조건: Ts/8 → Ts/32</a:t>
            </a:r>
          </a:p>
          <a:p>
            <a:pPr algn="l">
              <a:lnSpc>
                <a:spcPct val="108000"/>
              </a:lnSpc>
              <a:spcBef>
                <a:spcPts val="0"/>
              </a:spcBef>
              <a:spcAft>
                <a:spcPts val="200"/>
              </a:spcAft>
            </a:pPr>
            <a:r>
              <a:rPr sz="1270" b="0">
                <a:solidFill>
                  <a:srgbClr val="000000"/>
                </a:solidFill>
                <a:latin typeface="Malgun Gothic"/>
                <a:ea typeface="Malgun Gothic"/>
                <a:cs typeface="Malgun Gothic"/>
              </a:rPr>
              <a:t>최대 THD 차이: 0.00331%p</a:t>
            </a:r>
          </a:p>
          <a:p>
            <a:pPr algn="l">
              <a:lnSpc>
                <a:spcPct val="108000"/>
              </a:lnSpc>
              <a:spcBef>
                <a:spcPts val="0"/>
              </a:spcBef>
              <a:spcAft>
                <a:spcPts val="200"/>
              </a:spcAft>
            </a:pPr>
            <a:r>
              <a:rPr sz="1270" b="0">
                <a:solidFill>
                  <a:srgbClr val="000000"/>
                </a:solidFill>
                <a:latin typeface="Malgun Gothic"/>
                <a:ea typeface="Malgun Gothic"/>
                <a:cs typeface="Malgun Gothic"/>
              </a:rPr>
              <a:t>THD 합부 판정: 5/5 동일</a:t>
            </a:r>
          </a:p>
        </p:txBody>
      </p:sp>
      <p:sp>
        <p:nvSpPr>
          <p:cNvPr id="20" name="Rectangle 19"/>
          <p:cNvSpPr/>
          <p:nvPr/>
        </p:nvSpPr>
        <p:spPr>
          <a:xfrm>
            <a:off x="6053328" y="3886200"/>
            <a:ext cx="3364992" cy="1645920"/>
          </a:xfrm>
          <a:prstGeom prst="rect">
            <a:avLst/>
          </a:prstGeom>
          <a:solidFill>
            <a:srgbClr val="FFFFFF"/>
          </a:solidFill>
          <a:ln w="8255">
            <a:solidFill>
              <a:srgbClr val="B8B8B8"/>
            </a:solidFill>
          </a:ln>
          <a:effectLst/>
        </p:spPr>
        <p:txBody>
          <a:bodyPr rtlCol="0" anchor="ctr"/>
          <a:lstStyle/>
          <a:p>
            <a:pPr algn="ctr"/>
          </a:p>
        </p:txBody>
      </p:sp>
      <p:sp>
        <p:nvSpPr>
          <p:cNvPr id="21" name="TextBox 20"/>
          <p:cNvSpPr txBox="1"/>
          <p:nvPr/>
        </p:nvSpPr>
        <p:spPr>
          <a:xfrm>
            <a:off x="6135624" y="3950208"/>
            <a:ext cx="3200400" cy="151790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70" b="0">
                <a:solidFill>
                  <a:srgbClr val="000000"/>
                </a:solidFill>
                <a:latin typeface="Malgun Gothic"/>
                <a:ea typeface="Malgun Gothic"/>
                <a:cs typeface="Malgun Gothic"/>
              </a:rPr>
              <a:t>해석시간 검토</a:t>
            </a:r>
          </a:p>
          <a:p>
            <a:pPr algn="l">
              <a:lnSpc>
                <a:spcPct val="108000"/>
              </a:lnSpc>
              <a:spcBef>
                <a:spcPts val="0"/>
              </a:spcBef>
              <a:spcAft>
                <a:spcPts val="200"/>
              </a:spcAft>
            </a:pPr>
            <a:r>
              <a:rPr sz="1270" b="0">
                <a:solidFill>
                  <a:srgbClr val="000000"/>
                </a:solidFill>
                <a:latin typeface="Malgun Gothic"/>
                <a:ea typeface="Malgun Gothic"/>
                <a:cs typeface="Malgun Gothic"/>
              </a:rPr>
              <a:t>M001·H051: 50 → 100주기</a:t>
            </a:r>
          </a:p>
          <a:p>
            <a:pPr algn="l">
              <a:lnSpc>
                <a:spcPct val="108000"/>
              </a:lnSpc>
              <a:spcBef>
                <a:spcPts val="0"/>
              </a:spcBef>
              <a:spcAft>
                <a:spcPts val="200"/>
              </a:spcAft>
            </a:pPr>
            <a:r>
              <a:rPr sz="1270" b="0">
                <a:solidFill>
                  <a:srgbClr val="000000"/>
                </a:solidFill>
                <a:latin typeface="Malgun Gothic"/>
                <a:ea typeface="Malgun Gothic"/>
                <a:cs typeface="Malgun Gothic"/>
              </a:rPr>
              <a:t>M001 만족, H051 미달로 판정 유지됨. 전체 비선형계 안정도 증명은 미수행함.</a:t>
            </a:r>
          </a:p>
        </p:txBody>
      </p:sp>
      <p:sp>
        <p:nvSpPr>
          <p:cNvPr id="22" name="TextBox 21"/>
          <p:cNvSpPr txBox="1"/>
          <p:nvPr/>
        </p:nvSpPr>
        <p:spPr>
          <a:xfrm>
            <a:off x="411480" y="5852160"/>
            <a:ext cx="9052560" cy="36576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30" b="0">
                <a:solidFill>
                  <a:srgbClr val="555555"/>
                </a:solidFill>
                <a:latin typeface="Malgun Gothic"/>
                <a:ea typeface="Malgun Gothic"/>
                <a:cs typeface="Malgun Gothic"/>
              </a:rPr>
              <a:t>왼쪽: 230 V, φ=−60/0/60°의 평균. 극저부하 결과를 포함한 범위 외 조건은 별도 보존함.</a:t>
            </a:r>
          </a:p>
        </p:txBody>
      </p:sp>
      <p:cxnSp>
        <p:nvCxnSpPr>
          <p:cNvPr id="23" name="Connector 22"/>
          <p:cNvCxnSpPr/>
          <p:nvPr/>
        </p:nvCxnSpPr>
        <p:spPr>
          <a:xfrm>
            <a:off x="365760" y="6428232"/>
            <a:ext cx="9189720" cy="0"/>
          </a:xfrm>
          <a:prstGeom prst="line">
            <a:avLst/>
          </a:prstGeom>
          <a:ln w="5715">
            <a:solidFill>
              <a:srgbClr val="000000"/>
            </a:solidFill>
          </a:ln>
          <a:effectLst/>
        </p:spPr>
      </p:cxnSp>
      <p:sp>
        <p:nvSpPr>
          <p:cNvPr id="24" name="TextBox 23"/>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outside_baseline.csv; outside_improved.csv; numerical_refinement.csv; long_duration.csv.</a:t>
            </a:r>
          </a:p>
        </p:txBody>
      </p:sp>
      <p:sp>
        <p:nvSpPr>
          <p:cNvPr id="25" name="TextBox 24"/>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47/58</a:t>
            </a:r>
          </a:p>
        </p:txBody>
      </p:sp>
      <p:sp>
        <p:nvSpPr>
          <p:cNvPr id="26" name="TextBox 25">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7" name="TextBox 26">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8" name="TextBox 27">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A05 / 모델 구조 영향 검토</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7"/>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8"/>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9"/>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10"/>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1"/>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저주파 레그 전압 제약 추가 검토</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주분석 이후 전압 부호 제약을 추가하여 모델 구조의 영향을 검토함. 실제 소자 전환·DCM·Coss를 재현한 결과는 아님.</a:t>
            </a:r>
          </a:p>
        </p:txBody>
      </p:sp>
      <p:sp>
        <p:nvSpPr>
          <p:cNvPr id="17" name="TextBox 16"/>
          <p:cNvSpPr txBox="1"/>
          <p:nvPr/>
        </p:nvSpPr>
        <p:spPr>
          <a:xfrm>
            <a:off x="411480" y="1993392"/>
            <a:ext cx="5760720" cy="274320"/>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THD [%] · 구조대안 15조건</a:t>
            </a:r>
          </a:p>
        </p:txBody>
      </p:sp>
      <p:graphicFrame>
        <p:nvGraphicFramePr>
          <p:cNvPr id="18" name="Chart 17"/>
          <p:cNvGraphicFramePr>
            <a:graphicFrameLocks noGrp="1"/>
          </p:cNvGraphicFramePr>
          <p:nvPr/>
        </p:nvGraphicFramePr>
        <p:xfrm>
          <a:off x="365760" y="2286000"/>
          <a:ext cx="5715000" cy="3840480"/>
        </p:xfrm>
        <a:graphic>
          <a:graphicData uri="http://schemas.openxmlformats.org/drawingml/2006/chart">
            <c:chart xmlns:c="http://schemas.openxmlformats.org/drawingml/2006/chart" r:id="rId2"/>
          </a:graphicData>
        </a:graphic>
      </p:graphicFrame>
      <p:sp>
        <p:nvSpPr>
          <p:cNvPr id="19" name="Rectangle 18"/>
          <p:cNvSpPr/>
          <p:nvPr/>
        </p:nvSpPr>
        <p:spPr>
          <a:xfrm>
            <a:off x="6263640" y="2121408"/>
            <a:ext cx="3154680" cy="1755648"/>
          </a:xfrm>
          <a:prstGeom prst="rect">
            <a:avLst/>
          </a:prstGeom>
          <a:solidFill>
            <a:srgbClr val="FFFFFF"/>
          </a:solidFill>
          <a:ln w="8255">
            <a:solidFill>
              <a:srgbClr val="B8B8B8"/>
            </a:solidFill>
          </a:ln>
          <a:effectLst/>
        </p:spPr>
        <p:txBody>
          <a:bodyPr rtlCol="0" anchor="ctr"/>
          <a:lstStyle/>
          <a:p>
            <a:pPr algn="ctr"/>
          </a:p>
        </p:txBody>
      </p:sp>
      <p:sp>
        <p:nvSpPr>
          <p:cNvPr id="20" name="TextBox 19"/>
          <p:cNvSpPr txBox="1"/>
          <p:nvPr/>
        </p:nvSpPr>
        <p:spPr>
          <a:xfrm>
            <a:off x="6345936" y="2185415"/>
            <a:ext cx="2990088" cy="1627631"/>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40" b="0">
                <a:solidFill>
                  <a:srgbClr val="000000"/>
                </a:solidFill>
                <a:latin typeface="Malgun Gothic"/>
                <a:ea typeface="Malgun Gothic"/>
                <a:cs typeface="Malgun Gothic"/>
              </a:rPr>
              <a:t>추가한 가정</a:t>
            </a:r>
          </a:p>
          <a:p>
            <a:pPr algn="l">
              <a:lnSpc>
                <a:spcPct val="108000"/>
              </a:lnSpc>
              <a:spcBef>
                <a:spcPts val="0"/>
              </a:spcBef>
              <a:spcAft>
                <a:spcPts val="200"/>
              </a:spcAft>
            </a:pPr>
            <a:r>
              <a:rPr sz="1240" b="0">
                <a:solidFill>
                  <a:srgbClr val="000000"/>
                </a:solidFill>
                <a:latin typeface="Malgun Gothic"/>
                <a:ea typeface="Malgun Gothic"/>
                <a:cs typeface="Malgun Gothic"/>
              </a:rPr>
              <a:t>계통전압 양 반주기 vb∈[0,Vdc],</a:t>
            </a:r>
          </a:p>
          <a:p>
            <a:pPr algn="l">
              <a:lnSpc>
                <a:spcPct val="108000"/>
              </a:lnSpc>
              <a:spcBef>
                <a:spcPts val="0"/>
              </a:spcBef>
              <a:spcAft>
                <a:spcPts val="200"/>
              </a:spcAft>
            </a:pPr>
            <a:r>
              <a:rPr sz="1240" b="0">
                <a:solidFill>
                  <a:srgbClr val="000000"/>
                </a:solidFill>
                <a:latin typeface="Malgun Gothic"/>
                <a:ea typeface="Malgun Gothic"/>
                <a:cs typeface="Malgun Gothic"/>
              </a:rPr>
              <a:t>음 반주기 vb∈[−Vdc,0].</a:t>
            </a:r>
          </a:p>
          <a:p>
            <a:pPr algn="l">
              <a:lnSpc>
                <a:spcPct val="108000"/>
              </a:lnSpc>
              <a:spcBef>
                <a:spcPts val="0"/>
              </a:spcBef>
              <a:spcAft>
                <a:spcPts val="200"/>
              </a:spcAft>
            </a:pPr>
            <a:r>
              <a:rPr sz="1240" b="0">
                <a:solidFill>
                  <a:srgbClr val="000000"/>
                </a:solidFill>
                <a:latin typeface="Malgun Gothic"/>
                <a:ea typeface="Malgun Gothic"/>
                <a:cs typeface="Malgun Gothic"/>
              </a:rPr>
              <a:t>제어·보정값은 재조정하지 않음.</a:t>
            </a:r>
          </a:p>
        </p:txBody>
      </p:sp>
      <p:graphicFrame>
        <p:nvGraphicFramePr>
          <p:cNvPr id="21" name="Table 20"/>
          <p:cNvGraphicFramePr>
            <a:graphicFrameLocks noGrp="1"/>
          </p:cNvGraphicFramePr>
          <p:nvPr/>
        </p:nvGraphicFramePr>
        <p:xfrm>
          <a:off x="6263640" y="4178808"/>
          <a:ext cx="3154678" cy="1618488"/>
        </p:xfrm>
        <a:graphic>
          <a:graphicData uri="http://schemas.openxmlformats.org/drawingml/2006/table">
            <a:tbl>
              <a:tblPr firstRow="1" bandRow="1">
                <a:tableStyleId>{5C22544A-7EE6-4342-B048-85BDC9FD1C3A}</a:tableStyleId>
              </a:tblPr>
              <a:tblGrid>
                <a:gridCol w="1303934"/>
                <a:gridCol w="925372"/>
                <a:gridCol w="925372"/>
              </a:tblGrid>
              <a:tr h="404622">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구조대안 결과</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초기</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개선</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04622">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평균 THD</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6.04%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2.42%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04622">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THD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5/15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15/15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04622">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종합 만족</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5/15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15/15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22" name="TextBox 21"/>
          <p:cNvSpPr txBox="1"/>
          <p:nvPr/>
        </p:nvSpPr>
        <p:spPr>
          <a:xfrm>
            <a:off x="411480" y="6071616"/>
            <a:ext cx="9052560" cy="28346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가로축: S* [VA] / φ [deg]. 구조 검토 30회는 기준 63개 조건 및 변동 검증조건 60개의 성과에 합산하지 않음.</a:t>
            </a:r>
          </a:p>
        </p:txBody>
      </p:sp>
      <p:cxnSp>
        <p:nvCxnSpPr>
          <p:cNvPr id="23" name="Connector 22"/>
          <p:cNvCxnSpPr/>
          <p:nvPr/>
        </p:nvCxnSpPr>
        <p:spPr>
          <a:xfrm>
            <a:off x="365760" y="6428232"/>
            <a:ext cx="9189720" cy="0"/>
          </a:xfrm>
          <a:prstGeom prst="line">
            <a:avLst/>
          </a:prstGeom>
          <a:ln w="5715">
            <a:solidFill>
              <a:srgbClr val="000000"/>
            </a:solidFill>
          </a:ln>
          <a:effectLst/>
        </p:spPr>
      </p:cxnSp>
      <p:sp>
        <p:nvSpPr>
          <p:cNvPr id="24" name="TextBox 23"/>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structural_challenge.csv/json; src/model_fixed_leg.py; docs/01_model.md.</a:t>
            </a:r>
          </a:p>
        </p:txBody>
      </p:sp>
      <p:sp>
        <p:nvSpPr>
          <p:cNvPr id="25" name="TextBox 24"/>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48/58</a:t>
            </a:r>
          </a:p>
        </p:txBody>
      </p:sp>
      <p:sp>
        <p:nvSpPr>
          <p:cNvPr id="26" name="TextBox 25">
            <a:hlinkClick action="ppaction://hlinksldjump" r:id="rId4"/>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7" name="TextBox 26">
            <a:hlinkClick action="ppaction://hlinksldjump" r:id="rId5"/>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8" name="TextBox 27">
            <a:hlinkClick action="ppaction://hlinksldjump" r:id="rId6"/>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A06-1 / 제어 후보 전체 결과</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27개 후보를 동일한 9개 선정조건에서 비교함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순위는 종합 만족 수→최대 THD→평균 THD 순의 원자료 정밀도로 산정함. 반올림된 표시값으로 순위를 다시 정하지 않음.</a:t>
            </a:r>
          </a:p>
        </p:txBody>
      </p:sp>
      <p:graphicFrame>
        <p:nvGraphicFramePr>
          <p:cNvPr id="17" name="Table 16"/>
          <p:cNvGraphicFramePr>
            <a:graphicFrameLocks noGrp="1"/>
          </p:cNvGraphicFramePr>
          <p:nvPr/>
        </p:nvGraphicFramePr>
        <p:xfrm>
          <a:off x="411480" y="1984248"/>
          <a:ext cx="9052557" cy="3840480"/>
        </p:xfrm>
        <a:graphic>
          <a:graphicData uri="http://schemas.openxmlformats.org/drawingml/2006/table">
            <a:tbl>
              <a:tblPr firstRow="1" bandRow="1">
                <a:tableStyleId>{5C22544A-7EE6-4342-B048-85BDC9FD1C3A}</a:tableStyleId>
              </a:tblPr>
              <a:tblGrid>
                <a:gridCol w="646611"/>
                <a:gridCol w="945047"/>
                <a:gridCol w="945047"/>
                <a:gridCol w="1541919"/>
                <a:gridCol w="1691137"/>
                <a:gridCol w="1641398"/>
                <a:gridCol w="1641398"/>
              </a:tblGrid>
              <a:tr h="256032">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순위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Kr [Ω]</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fc [Hz]</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적용 차수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종합 만족/9</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최대 THD [%]</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평균 THD [%]</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256032">
                <a:tc>
                  <a:txBody>
                    <a:bodyPr/>
                    <a:lstStyle/>
                    <a:p>
                      <a:pPr algn="l">
                        <a:lnSpc>
                          <a:spcPct val="105000"/>
                        </a:lnSpc>
                        <a:spcBef>
                          <a:spcPts val="0"/>
                        </a:spcBef>
                        <a:spcAft>
                          <a:spcPts val="100"/>
                        </a:spcAft>
                      </a:pPr>
                      <a:r>
                        <a:rPr sz="1080" b="0">
                          <a:solidFill>
                            <a:srgbClr val="008000"/>
                          </a:solidFill>
                          <a:latin typeface="Malgun Gothic"/>
                          <a:ea typeface="Malgun Gothic"/>
                          <a:cs typeface="Malgun Gothic"/>
                        </a:rPr>
                        <a:t>1</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8000"/>
                          </a:solidFill>
                          <a:latin typeface="Malgun Gothic"/>
                          <a:ea typeface="Malgun Gothic"/>
                          <a:cs typeface="Malgun Gothic"/>
                        </a:rPr>
                        <a:t>24</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8000"/>
                          </a:solidFill>
                          <a:latin typeface="Malgun Gothic"/>
                          <a:ea typeface="Malgun Gothic"/>
                          <a:cs typeface="Malgun Gothic"/>
                        </a:rPr>
                        <a:t>2</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8000"/>
                          </a:solidFill>
                          <a:latin typeface="Malgun Gothic"/>
                          <a:ea typeface="Malgun Gothic"/>
                          <a:cs typeface="Malgun Gothic"/>
                        </a:rPr>
                        <a:t>{3,5,7}</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8000"/>
                          </a:solidFill>
                          <a:latin typeface="Malgun Gothic"/>
                          <a:ea typeface="Malgun Gothic"/>
                          <a:cs typeface="Malgun Gothic"/>
                        </a:rPr>
                        <a:t>9/9</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8000"/>
                          </a:solidFill>
                          <a:latin typeface="Malgun Gothic"/>
                          <a:ea typeface="Malgun Gothic"/>
                          <a:cs typeface="Malgun Gothic"/>
                        </a:rPr>
                        <a:t>2.773</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8000"/>
                          </a:solidFill>
                          <a:latin typeface="Malgun Gothic"/>
                          <a:ea typeface="Malgun Gothic"/>
                          <a:cs typeface="Malgun Gothic"/>
                        </a:rPr>
                        <a:t>2.421</a:t>
                      </a:r>
                    </a:p>
                  </a:txBody>
                  <a:tcPr marL="64008" marR="64008" marT="41148" marB="41148" anchor="ctr">
                    <a:solidFill>
                      <a:srgbClr val="F3F3F3"/>
                    </a:solidFill>
                    <a:lnL w="6350">
                      <a:solidFill>
                        <a:srgbClr val="B8B8B8"/>
                      </a:solidFill>
                    </a:lnL>
                    <a:lnR w="6350">
                      <a:solidFill>
                        <a:srgbClr val="B8B8B8"/>
                      </a:solidFill>
                    </a:lnR>
                    <a:lnT w="6350">
                      <a:solidFill>
                        <a:srgbClr val="B8B8B8"/>
                      </a:solidFill>
                    </a:lnT>
                    <a:lnB w="6350">
                      <a:solidFill>
                        <a:srgbClr val="B8B8B8"/>
                      </a:solidFill>
                    </a:lnB>
                  </a:tcPr>
                </a:tc>
              </a:tr>
              <a:tr h="256032">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2.839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2.488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56032">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2.853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2.515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56032">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3.121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2.707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56032">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3.167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2.746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56032">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3.198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2.777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56032">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3.376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2.940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56032">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3.432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3.003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56032">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3.436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3.002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56032">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3.632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3.145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56032">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3.682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3.189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56032">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3.699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3.216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56032">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4.029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3.436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56032">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4.034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3.451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411480" y="5925312"/>
            <a:ext cx="9052560" cy="219456"/>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70" b="0">
                <a:solidFill>
                  <a:srgbClr val="000000"/>
                </a:solidFill>
                <a:latin typeface="Malgun Gothic"/>
                <a:ea typeface="Malgun Gothic"/>
                <a:cs typeface="Malgun Gothic"/>
              </a:rPr>
              <a:t>hmax=7은 7차만 적용한 것이 아니라 {3,5,7} 전체를 적용한 조합임. 경계 밖의 전역 최적값은 미확인.</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results/doe_candidates.csv; selected_control.json.</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49/58</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A06-2 / 제어 후보 전체 결과</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27개 후보를 동일한 9개 선정조건에서 비교함</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순위는 종합 만족 수→최대 THD→평균 THD 순의 원자료 정밀도로 산정함. 반올림된 표시값으로 순위를 다시 정하지 않음.</a:t>
            </a:r>
          </a:p>
        </p:txBody>
      </p:sp>
      <p:graphicFrame>
        <p:nvGraphicFramePr>
          <p:cNvPr id="17" name="Table 16"/>
          <p:cNvGraphicFramePr>
            <a:graphicFrameLocks noGrp="1"/>
          </p:cNvGraphicFramePr>
          <p:nvPr/>
        </p:nvGraphicFramePr>
        <p:xfrm>
          <a:off x="411480" y="1984248"/>
          <a:ext cx="9052557" cy="3840480"/>
        </p:xfrm>
        <a:graphic>
          <a:graphicData uri="http://schemas.openxmlformats.org/drawingml/2006/table">
            <a:tbl>
              <a:tblPr firstRow="1" bandRow="1">
                <a:tableStyleId>{5C22544A-7EE6-4342-B048-85BDC9FD1C3A}</a:tableStyleId>
              </a:tblPr>
              <a:tblGrid>
                <a:gridCol w="646611"/>
                <a:gridCol w="945047"/>
                <a:gridCol w="945047"/>
                <a:gridCol w="1541919"/>
                <a:gridCol w="1691137"/>
                <a:gridCol w="1641398"/>
                <a:gridCol w="1641398"/>
              </a:tblGrid>
              <a:tr h="274320">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순위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Kr [Ω]</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fc [Hz]</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적용 차수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종합 만족/9</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최대 THD [%]</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평균 THD [%]</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27432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4.045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3.458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7432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4.346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3.724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7432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4.378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3.747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7432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4.378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3.756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7432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4.505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3.894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7432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4.522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3.894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7432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4.556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3.928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7432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4.669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4.009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7432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4.694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4.037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7432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9/9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4.698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4.038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7432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6/9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5.098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4.362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7432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6/9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5.117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4.378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274320">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27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6/9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5.128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4.382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411480" y="5925312"/>
            <a:ext cx="9052560" cy="219456"/>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070" b="0">
                <a:solidFill>
                  <a:srgbClr val="000000"/>
                </a:solidFill>
                <a:latin typeface="Malgun Gothic"/>
                <a:ea typeface="Malgun Gothic"/>
                <a:cs typeface="Malgun Gothic"/>
              </a:rPr>
              <a:t>hmax=7은 7차만 적용한 것이 아니라 {3,5,7} 전체를 적용한 조합임. 경계 밖의 전역 최적값은 미확인.</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results/doe_candidates.csv; selected_control.json.</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50/58</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A07 / 기존 사례 비교 (1)</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측정·원인 분석·최적화의 전개 방식</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기존 보고서의 단계별 구성과 결과 해석 방식을 참고함. 실측 및 해석의 근거 수준이 다른 부분은 구분하여 적용함.</a:t>
            </a:r>
          </a:p>
        </p:txBody>
      </p:sp>
      <p:graphicFrame>
        <p:nvGraphicFramePr>
          <p:cNvPr id="17" name="Table 16"/>
          <p:cNvGraphicFramePr>
            <a:graphicFrameLocks noGrp="1"/>
          </p:cNvGraphicFramePr>
          <p:nvPr/>
        </p:nvGraphicFramePr>
        <p:xfrm>
          <a:off x="411480" y="2029968"/>
          <a:ext cx="9052559" cy="4078221"/>
        </p:xfrm>
        <a:graphic>
          <a:graphicData uri="http://schemas.openxmlformats.org/drawingml/2006/table">
            <a:tbl>
              <a:tblPr firstRow="1" bandRow="1">
                <a:tableStyleId>{5C22544A-7EE6-4342-B048-85BDC9FD1C3A}</a:tableStyleId>
              </a:tblPr>
              <a:tblGrid>
                <a:gridCol w="2370257"/>
                <a:gridCol w="2944589"/>
                <a:gridCol w="3737713"/>
              </a:tblGrid>
              <a:tr h="582603">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기존 보고서 / 근거 쪽</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참고한 구성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20" b="1">
                          <a:solidFill>
                            <a:srgbClr val="000000"/>
                          </a:solidFill>
                          <a:latin typeface="Malgun Gothic"/>
                          <a:ea typeface="Malgun Gothic"/>
                          <a:cs typeface="Malgun Gothic"/>
                        </a:rPr>
                        <a:t>본 보고서 반영 / 남은 차이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82603">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GNSS RF · p.6~9, 11~20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측정 체계 → 후보 축소 → 최적값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조건·분석·결정 추적 / 실측 자료는 없음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82603">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TIG 용접 · p.8, 12, 22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변경 불가능한 인자와 대안 구분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조정 제어값만 DOE / 실제 SW 변경범위 미확정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82603">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HONDA Laser · p.10~13, 27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품질특성 분리 및 관리문서 반영</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THD와 부작용 구분 / 제품 표준 반영 미완료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82603">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LDC Snubber · p.4, 10, 18~19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전압 개선 + 효율 제약</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다중 판정 / 효율·발열 검증은 미수행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82603">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CLLC Gain · p.5~6, 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실측 파라미터 + PSIM, 후속 DV 계획</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해석/실물 구분 / 우리 파라미터는 참조 가정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82603">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Heatsink · p.5~6, 11~12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시험값 기반 해석보정, 형상 최적화</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20" b="0">
                          <a:solidFill>
                            <a:srgbClr val="000000"/>
                          </a:solidFill>
                          <a:latin typeface="Malgun Gothic"/>
                          <a:ea typeface="Malgun Gothic"/>
                          <a:cs typeface="Malgun Gothic"/>
                        </a:rPr>
                        <a:t>보정/검증 구분 / 타제품 단일 THD 크기만 보정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cxnSp>
        <p:nvCxnSpPr>
          <p:cNvPr id="18" name="Connector 17"/>
          <p:cNvCxnSpPr/>
          <p:nvPr/>
        </p:nvCxnSpPr>
        <p:spPr>
          <a:xfrm>
            <a:off x="365760" y="6428232"/>
            <a:ext cx="9189720" cy="0"/>
          </a:xfrm>
          <a:prstGeom prst="line">
            <a:avLst/>
          </a:prstGeom>
          <a:ln w="5715">
            <a:solidFill>
              <a:srgbClr val="000000"/>
            </a:solidFill>
          </a:ln>
          <a:effectLst/>
        </p:spPr>
      </p:cxnSp>
      <p:sp>
        <p:nvSpPr>
          <p:cNvPr id="19" name="TextBox 18"/>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사용자 제공 6개 원문 PPTX; docs/reference_comparison_v2.md. 원본 이미지·개별 성과수치는 재사용 안 함.</a:t>
            </a:r>
          </a:p>
        </p:txBody>
      </p:sp>
      <p:sp>
        <p:nvSpPr>
          <p:cNvPr id="20" name="TextBox 19"/>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51/58</a:t>
            </a:r>
          </a:p>
        </p:txBody>
      </p:sp>
      <p:sp>
        <p:nvSpPr>
          <p:cNvPr id="21" name="TextBox 20">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2" name="TextBox 21">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3" name="TextBox 22">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A08 / 기존 사례 비교 (2)</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부작용 확인 및 표준화 방식</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THD 개선 효과뿐 아니라 부작용과 적용 범위를 함께 검토함. 제품 SW·시험표준 반영 여부는 수치해석 결과와 별도로 관리함.</a:t>
            </a:r>
          </a:p>
        </p:txBody>
      </p:sp>
      <p:graphicFrame>
        <p:nvGraphicFramePr>
          <p:cNvPr id="17" name="Table 16"/>
          <p:cNvGraphicFramePr>
            <a:graphicFrameLocks noGrp="1"/>
          </p:cNvGraphicFramePr>
          <p:nvPr/>
        </p:nvGraphicFramePr>
        <p:xfrm>
          <a:off x="411480" y="2029968"/>
          <a:ext cx="9052559" cy="3410712"/>
        </p:xfrm>
        <a:graphic>
          <a:graphicData uri="http://schemas.openxmlformats.org/drawingml/2006/table">
            <a:tbl>
              <a:tblPr firstRow="1" bandRow="1">
                <a:tableStyleId>{5C22544A-7EE6-4342-B048-85BDC9FD1C3A}</a:tableStyleId>
              </a:tblPr>
              <a:tblGrid>
                <a:gridCol w="2370257"/>
                <a:gridCol w="2944589"/>
                <a:gridCol w="3737713"/>
              </a:tblGrid>
              <a:tr h="568452">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기존 보고서 / 근거 쪽</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참고한 구성</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40" b="1">
                          <a:solidFill>
                            <a:srgbClr val="000000"/>
                          </a:solidFill>
                          <a:latin typeface="Malgun Gothic"/>
                          <a:ea typeface="Malgun Gothic"/>
                          <a:cs typeface="Malgun Gothic"/>
                        </a:rPr>
                        <a:t>본 보고서 반영 / 남은 차이</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68452">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Tub Outer · p.3, 7~11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CAE DOE → 최적안 제시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설계 연구 범위 / 해당 사례가 일반 승인 규칙은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68452">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DC CAP · p.13~15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최저온도라도 절연 실패 시 제외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THD 만족해도 포화 실패 유지 / 모든 부작용 통과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68452">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NFC 코일 · p.4~5, 14, 16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측정 정의 및 미달 시 조치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상한·단위 일치 / 고객 판정 기준은 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68452">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HMI SW · p.9, 18~19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구현 변경과 업무효과 연결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코드·결과 제공 / 실공수·재무 성과는 미산정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68452">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디스플레이 Gap · p.8, 10, 23~26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측정 위치·절차, 인자 최적화</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40" b="0">
                          <a:solidFill>
                            <a:srgbClr val="000000"/>
                          </a:solidFill>
                          <a:latin typeface="Malgun Gothic"/>
                          <a:ea typeface="Malgun Gothic"/>
                          <a:cs typeface="Malgun Gothic"/>
                        </a:rPr>
                        <a:t>측정 연산·범위 명시 / 전역 최적·안정여유 미입증</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502920" y="5650992"/>
            <a:ext cx="8897112" cy="557784"/>
          </a:xfrm>
          <a:prstGeom prst="rect">
            <a:avLst/>
          </a:prstGeom>
          <a:solidFill>
            <a:srgbClr val="F3F3F3"/>
          </a:solidFill>
          <a:ln w="8255">
            <a:solidFill>
              <a:srgbClr val="B8B8B8"/>
            </a:solidFill>
          </a:ln>
          <a:effectLst/>
        </p:spPr>
        <p:txBody>
          <a:bodyPr rtlCol="0" anchor="ctr"/>
          <a:lstStyle/>
          <a:p>
            <a:pPr algn="ctr"/>
          </a:p>
        </p:txBody>
      </p:sp>
      <p:sp>
        <p:nvSpPr>
          <p:cNvPr id="19" name="TextBox 18"/>
          <p:cNvSpPr txBox="1"/>
          <p:nvPr/>
        </p:nvSpPr>
        <p:spPr>
          <a:xfrm>
            <a:off x="585216" y="5715000"/>
            <a:ext cx="8732520" cy="429768"/>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10" b="0">
                <a:solidFill>
                  <a:srgbClr val="555555"/>
                </a:solidFill>
                <a:latin typeface="Malgun Gothic"/>
                <a:ea typeface="Malgun Gothic"/>
                <a:cs typeface="Malgun Gothic"/>
              </a:rPr>
              <a:t>자체 검토 결과</a:t>
            </a:r>
          </a:p>
          <a:p>
            <a:pPr algn="l">
              <a:lnSpc>
                <a:spcPct val="108000"/>
              </a:lnSpc>
              <a:spcBef>
                <a:spcPts val="0"/>
              </a:spcBef>
              <a:spcAft>
                <a:spcPts val="200"/>
              </a:spcAft>
            </a:pPr>
            <a:r>
              <a:rPr sz="1210" b="0">
                <a:solidFill>
                  <a:srgbClr val="555555"/>
                </a:solidFill>
                <a:latin typeface="Malgun Gothic"/>
                <a:ea typeface="Malgun Gothic"/>
                <a:cs typeface="Malgun Gothic"/>
              </a:rPr>
              <a:t>단계별 전개와 데이터 추적 체계는 확보함. 실측 비교 및 사내 승인에 필요한 근거는 추가 확보가 필요함.</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사용자 제공 5개 원문 PPTX; docs/reference_comparison_v2.md. 자체 검토는 제3자 MBB 심사 아님.</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52/58</a:t>
            </a:r>
          </a:p>
        </p:txBody>
      </p:sp>
      <p:sp>
        <p:nvSpPr>
          <p:cNvPr id="23" name="TextBox 22">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4" name="TextBox 23">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5" name="TextBox 24">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A09 / 데이터 추적 및 재검증</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결과표와 원시 파형의 정합성</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원자료의 조건 ID와 실행 ID를 기준으로 보고서 수치를 추적함. V4의 추가 표는 기존 CSV 재집계이며 신규 성능 시뮬레이션 결과가 아님.</a:t>
            </a:r>
          </a:p>
        </p:txBody>
      </p:sp>
      <p:graphicFrame>
        <p:nvGraphicFramePr>
          <p:cNvPr id="17" name="Table 16"/>
          <p:cNvGraphicFramePr>
            <a:graphicFrameLocks noGrp="1"/>
          </p:cNvGraphicFramePr>
          <p:nvPr/>
        </p:nvGraphicFramePr>
        <p:xfrm>
          <a:off x="411480" y="2029968"/>
          <a:ext cx="9052559" cy="3401568"/>
        </p:xfrm>
        <a:graphic>
          <a:graphicData uri="http://schemas.openxmlformats.org/drawingml/2006/table">
            <a:tbl>
              <a:tblPr firstRow="1" bandRow="1">
                <a:tableStyleId>{5C22544A-7EE6-4342-B048-85BDC9FD1C3A}</a:tableStyleId>
              </a:tblPr>
              <a:tblGrid>
                <a:gridCol w="2397606"/>
                <a:gridCol w="4193532"/>
                <a:gridCol w="2461421"/>
              </a:tblGrid>
              <a:tr h="566928">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표시·주장</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기준 파일</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검증 방법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566928">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기준 운전조건 63개 / 선정 미사용 운전조건 54개 성능</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baseline.csv; improved.csv</a:t>
                      </a:r>
                    </a:p>
                    <a:p>
                      <a:pPr algn="l">
                        <a:lnSpc>
                          <a:spcPct val="105000"/>
                        </a:lnSpc>
                        <a:spcBef>
                          <a:spcPts val="0"/>
                        </a:spcBef>
                        <a:spcAft>
                          <a:spcPts val="100"/>
                        </a:spcAft>
                      </a:pPr>
                      <a:r>
                        <a:rPr sz="1150" b="0">
                          <a:solidFill>
                            <a:srgbClr val="000000"/>
                          </a:solidFill>
                          <a:latin typeface="Malgun Gothic"/>
                          <a:ea typeface="Malgun Gothic"/>
                          <a:cs typeface="Malgun Gothic"/>
                        </a:rPr>
                        <a:t>selected_control.json</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원시파형 THD 및 분모 재계산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66928">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변동 검증조건 60개·9건 실패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holdout_improved.csv</a:t>
                      </a:r>
                    </a:p>
                    <a:p>
                      <a:pPr algn="l">
                        <a:lnSpc>
                          <a:spcPct val="105000"/>
                        </a:lnSpc>
                        <a:spcBef>
                          <a:spcPts val="0"/>
                        </a:spcBef>
                        <a:spcAft>
                          <a:spcPts val="100"/>
                        </a:spcAft>
                      </a:pPr>
                      <a:r>
                        <a:rPr sz="1150" b="0">
                          <a:solidFill>
                            <a:srgbClr val="000000"/>
                          </a:solidFill>
                          <a:latin typeface="Malgun Gothic"/>
                          <a:ea typeface="Malgun Gothic"/>
                          <a:cs typeface="Malgun Gothic"/>
                        </a:rPr>
                        <a:t>holdout_failures.csv</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THD/PQ/포화/수렴 판정 대조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66928">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제어 후보 선정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doe.csv; doe_candidates.csv</a:t>
                      </a:r>
                    </a:p>
                    <a:p>
                      <a:pPr algn="l">
                        <a:lnSpc>
                          <a:spcPct val="105000"/>
                        </a:lnSpc>
                        <a:spcBef>
                          <a:spcPts val="0"/>
                        </a:spcBef>
                        <a:spcAft>
                          <a:spcPts val="100"/>
                        </a:spcAft>
                      </a:pPr>
                      <a:r>
                        <a:rPr sz="1150" b="0">
                          <a:solidFill>
                            <a:srgbClr val="000000"/>
                          </a:solidFill>
                          <a:latin typeface="Malgun Gothic"/>
                          <a:ea typeface="Malgun Gothic"/>
                          <a:cs typeface="Malgun Gothic"/>
                        </a:rPr>
                        <a:t>selected_control.json</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사전 순서로 선정 규칙으로 결과 재확인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66928">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파형·고조파 그림</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원시파형 식별자와 평가구간</a:t>
                      </a:r>
                    </a:p>
                    <a:p>
                      <a:pPr algn="l">
                        <a:lnSpc>
                          <a:spcPct val="105000"/>
                        </a:lnSpc>
                        <a:spcBef>
                          <a:spcPts val="0"/>
                        </a:spcBef>
                        <a:spcAft>
                          <a:spcPts val="100"/>
                        </a:spcAft>
                      </a:pPr>
                      <a:r>
                        <a:rPr sz="1150" b="0">
                          <a:solidFill>
                            <a:srgbClr val="000000"/>
                          </a:solidFill>
                          <a:latin typeface="Malgun Gothic"/>
                          <a:ea typeface="Malgun Gothic"/>
                          <a:cs typeface="Malgun Gothic"/>
                        </a:rPr>
                        <a:t>파일명·열의 정의는 데이터 사전 참조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wave_archive + key + start_s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566928">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서로 다른 V2 버전 분리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본 수행본 SSBB-NUM-20260923-v2</a:t>
                      </a:r>
                    </a:p>
                    <a:p>
                      <a:pPr algn="l">
                        <a:lnSpc>
                          <a:spcPct val="105000"/>
                        </a:lnSpc>
                        <a:spcBef>
                          <a:spcPts val="0"/>
                        </a:spcBef>
                        <a:spcAft>
                          <a:spcPts val="100"/>
                        </a:spcAft>
                      </a:pPr>
                      <a:r>
                        <a:rPr sz="1150" b="0">
                          <a:solidFill>
                            <a:srgbClr val="000000"/>
                          </a:solidFill>
                          <a:latin typeface="Malgun Gothic"/>
                          <a:ea typeface="Malgun Gothic"/>
                          <a:cs typeface="Malgun Gothic"/>
                        </a:rPr>
                        <a:t>63개 조건/60개 조건 원자료 패키지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저장소의 다른 v2 45개 조건/72개 조건과 혼합 안 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512064" y="5641848"/>
            <a:ext cx="8897112" cy="576072"/>
          </a:xfrm>
          <a:prstGeom prst="rect">
            <a:avLst/>
          </a:prstGeom>
          <a:solidFill>
            <a:srgbClr val="F3F3F3"/>
          </a:solidFill>
          <a:ln w="8255">
            <a:solidFill>
              <a:srgbClr val="B8B8B8"/>
            </a:solidFill>
          </a:ln>
          <a:effectLst/>
        </p:spPr>
        <p:txBody>
          <a:bodyPr rtlCol="0" anchor="ctr"/>
          <a:lstStyle/>
          <a:p>
            <a:pPr algn="ctr"/>
          </a:p>
        </p:txBody>
      </p:sp>
      <p:sp>
        <p:nvSpPr>
          <p:cNvPr id="19" name="TextBox 18"/>
          <p:cNvSpPr txBox="1"/>
          <p:nvPr/>
        </p:nvSpPr>
        <p:spPr>
          <a:xfrm>
            <a:off x="594360" y="5705856"/>
            <a:ext cx="8732520" cy="448056"/>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160" b="0">
                <a:solidFill>
                  <a:srgbClr val="555555"/>
                </a:solidFill>
                <a:latin typeface="Malgun Gothic"/>
                <a:ea typeface="Malgun Gothic"/>
                <a:cs typeface="Malgun Gothic"/>
              </a:rPr>
              <a:t>계산 실행 601회 = 주연구 571회 + 구조검토 30회. 제어별 초기·개선 실행과 진단을 포함하며 운전조건 수와는 다름.</a:t>
            </a:r>
          </a:p>
        </p:txBody>
      </p:sp>
      <p:cxnSp>
        <p:nvCxnSpPr>
          <p:cNvPr id="20" name="Connector 19"/>
          <p:cNvCxnSpPr/>
          <p:nvPr/>
        </p:nvCxnSpPr>
        <p:spPr>
          <a:xfrm>
            <a:off x="365760" y="6428232"/>
            <a:ext cx="9189720" cy="0"/>
          </a:xfrm>
          <a:prstGeom prst="line">
            <a:avLst/>
          </a:prstGeom>
          <a:ln w="5715">
            <a:solidFill>
              <a:srgbClr val="000000"/>
            </a:solidFill>
          </a:ln>
          <a:effectLst/>
        </p:spPr>
      </p:cxnSp>
      <p:sp>
        <p:nvSpPr>
          <p:cNvPr id="21" name="TextBox 20"/>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all_runs.csv; structural_challenge.csv; manifest.json; test_study.py; 2026.09.27 재점검 로그.</a:t>
            </a:r>
          </a:p>
        </p:txBody>
      </p:sp>
      <p:sp>
        <p:nvSpPr>
          <p:cNvPr id="22" name="TextBox 21"/>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53/58</a:t>
            </a:r>
          </a:p>
        </p:txBody>
      </p:sp>
      <p:sp>
        <p:nvSpPr>
          <p:cNvPr id="23" name="TextBox 22">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4" name="TextBox 23">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5" name="TextBox 24">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A10 / 출처 및 제출 전 확인</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근거 자료와 확인 필요사항</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수치해석 결과와 문서 작성 범위를 명시함. 공식 등록정보, 고객 기준 및 수치해석 과제의 인정 범위는 제출 전 확인이 필요함.</a:t>
            </a:r>
          </a:p>
        </p:txBody>
      </p:sp>
      <p:graphicFrame>
        <p:nvGraphicFramePr>
          <p:cNvPr id="17" name="Table 16"/>
          <p:cNvGraphicFramePr>
            <a:graphicFrameLocks noGrp="1"/>
          </p:cNvGraphicFramePr>
          <p:nvPr/>
        </p:nvGraphicFramePr>
        <p:xfrm>
          <a:off x="411480" y="2029968"/>
          <a:ext cx="9052560" cy="2651760"/>
        </p:xfrm>
        <a:graphic>
          <a:graphicData uri="http://schemas.openxmlformats.org/drawingml/2006/table">
            <a:tbl>
              <a:tblPr firstRow="1" bandRow="1">
                <a:tableStyleId>{5C22544A-7EE6-4342-B048-85BDC9FD1C3A}</a:tableStyleId>
              </a:tblPr>
              <a:tblGrid>
                <a:gridCol w="2560320"/>
                <a:gridCol w="6492240"/>
              </a:tblGrid>
              <a:tr h="441960">
                <a:tc>
                  <a:txBody>
                    <a:bodyPr/>
                    <a:lstStyle/>
                    <a:p>
                      <a:pPr algn="ctr">
                        <a:lnSpc>
                          <a:spcPct val="105000"/>
                        </a:lnSpc>
                        <a:spcBef>
                          <a:spcPts val="0"/>
                        </a:spcBef>
                        <a:spcAft>
                          <a:spcPts val="100"/>
                        </a:spcAft>
                      </a:pPr>
                      <a:r>
                        <a:rPr sz="1100" b="1">
                          <a:solidFill>
                            <a:srgbClr val="000000"/>
                          </a:solidFill>
                          <a:latin typeface="Malgun Gothic"/>
                          <a:ea typeface="Malgun Gothic"/>
                          <a:cs typeface="Malgun Gothic"/>
                        </a:rPr>
                        <a:t>자료</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00" b="1">
                          <a:solidFill>
                            <a:srgbClr val="000000"/>
                          </a:solidFill>
                          <a:latin typeface="Malgun Gothic"/>
                          <a:ea typeface="Malgun Gothic"/>
                          <a:cs typeface="Malgun Gothic"/>
                        </a:rPr>
                        <a:t>사용 목적 / 위치</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41960">
                <a:tc>
                  <a:txBody>
                    <a:bodyPr/>
                    <a:lstStyle/>
                    <a:p>
                      <a:pPr algn="l">
                        <a:lnSpc>
                          <a:spcPct val="105000"/>
                        </a:lnSpc>
                        <a:spcBef>
                          <a:spcPts val="0"/>
                        </a:spcBef>
                        <a:spcAft>
                          <a:spcPts val="100"/>
                        </a:spcAft>
                      </a:pPr>
                      <a:r>
                        <a:rPr sz="1100" b="0">
                          <a:solidFill>
                            <a:srgbClr val="000000"/>
                          </a:solidFill>
                          <a:latin typeface="Malgun Gothic"/>
                          <a:ea typeface="Malgun Gothic"/>
                          <a:cs typeface="Malgun Gothic"/>
                        </a:rPr>
                        <a:t>S1 · Texas Instruments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00" b="0">
                          <a:solidFill>
                            <a:srgbClr val="000000"/>
                          </a:solidFill>
                          <a:latin typeface="Malgun Gothic"/>
                          <a:ea typeface="Malgun Gothic"/>
                          <a:cs typeface="Malgun Gothic"/>
                        </a:rPr>
                        <a:t>TIDUE54B, Rev.B (2020.04), p.60 Table 7</a:t>
                      </a:r>
                    </a:p>
                    <a:p>
                      <a:pPr algn="l">
                        <a:lnSpc>
                          <a:spcPct val="105000"/>
                        </a:lnSpc>
                        <a:spcBef>
                          <a:spcPts val="0"/>
                        </a:spcBef>
                        <a:spcAft>
                          <a:spcPts val="100"/>
                        </a:spcAft>
                      </a:pPr>
                      <a:r>
                        <a:rPr sz="1100" b="0">
                          <a:solidFill>
                            <a:srgbClr val="000000"/>
                          </a:solidFill>
                          <a:latin typeface="Malgun Gothic"/>
                          <a:ea typeface="Malgun Gothic"/>
                          <a:cs typeface="Malgun Gothic"/>
                        </a:rPr>
                        <a:t>공개 PFC 초기 THD 기준점 및 미보정 17개 조건 대조</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1960">
                <a:tc>
                  <a:txBody>
                    <a:bodyPr/>
                    <a:lstStyle/>
                    <a:p>
                      <a:pPr algn="l">
                        <a:lnSpc>
                          <a:spcPct val="105000"/>
                        </a:lnSpc>
                        <a:spcBef>
                          <a:spcPts val="0"/>
                        </a:spcBef>
                        <a:spcAft>
                          <a:spcPts val="100"/>
                        </a:spcAft>
                      </a:pPr>
                      <a:r>
                        <a:rPr sz="1100" b="0">
                          <a:solidFill>
                            <a:srgbClr val="000000"/>
                          </a:solidFill>
                          <a:latin typeface="Malgun Gothic"/>
                          <a:ea typeface="Malgun Gothic"/>
                          <a:cs typeface="Malgun Gothic"/>
                        </a:rPr>
                        <a:t>S4 · imperix TN110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00" b="0">
                          <a:solidFill>
                            <a:srgbClr val="000000"/>
                          </a:solidFill>
                          <a:latin typeface="Malgun Gothic"/>
                          <a:ea typeface="Malgun Gothic"/>
                          <a:cs typeface="Malgun Gothic"/>
                        </a:rPr>
                        <a:t>Proportional resonant controller</a:t>
                      </a:r>
                    </a:p>
                    <a:p>
                      <a:pPr algn="l">
                        <a:lnSpc>
                          <a:spcPct val="105000"/>
                        </a:lnSpc>
                        <a:spcBef>
                          <a:spcPts val="0"/>
                        </a:spcBef>
                        <a:spcAft>
                          <a:spcPts val="100"/>
                        </a:spcAft>
                      </a:pPr>
                      <a:r>
                        <a:rPr sz="1100" b="0">
                          <a:solidFill>
                            <a:srgbClr val="000000"/>
                          </a:solidFill>
                          <a:latin typeface="Malgun Gothic"/>
                          <a:ea typeface="Malgun Gothic"/>
                          <a:cs typeface="Malgun Gothic"/>
                        </a:rPr>
                        <a:t>선택 고조파 피드백 개념; 구현식은 본 모델 코드 기준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1960">
                <a:tc>
                  <a:txBody>
                    <a:bodyPr/>
                    <a:lstStyle/>
                    <a:p>
                      <a:pPr algn="l">
                        <a:lnSpc>
                          <a:spcPct val="105000"/>
                        </a:lnSpc>
                        <a:spcBef>
                          <a:spcPts val="0"/>
                        </a:spcBef>
                        <a:spcAft>
                          <a:spcPts val="100"/>
                        </a:spcAft>
                      </a:pPr>
                      <a:r>
                        <a:rPr sz="1100" b="0">
                          <a:solidFill>
                            <a:srgbClr val="000000"/>
                          </a:solidFill>
                          <a:latin typeface="Malgun Gothic"/>
                          <a:ea typeface="Malgun Gothic"/>
                          <a:cs typeface="Malgun Gothic"/>
                        </a:rPr>
                        <a:t>V2 원자료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00" b="0">
                          <a:solidFill>
                            <a:srgbClr val="000000"/>
                          </a:solidFill>
                          <a:latin typeface="Malgun Gothic"/>
                          <a:ea typeface="Malgun Gothic"/>
                          <a:cs typeface="Malgun Gothic"/>
                        </a:rPr>
                        <a:t>SSBB_V2_THD_full_package.zip 내 studies/v2</a:t>
                      </a:r>
                    </a:p>
                    <a:p>
                      <a:pPr algn="l">
                        <a:lnSpc>
                          <a:spcPct val="105000"/>
                        </a:lnSpc>
                        <a:spcBef>
                          <a:spcPts val="0"/>
                        </a:spcBef>
                        <a:spcAft>
                          <a:spcPts val="100"/>
                        </a:spcAft>
                      </a:pPr>
                      <a:r>
                        <a:rPr sz="1100" b="0">
                          <a:solidFill>
                            <a:srgbClr val="000000"/>
                          </a:solidFill>
                          <a:latin typeface="Malgun Gothic"/>
                          <a:ea typeface="Malgun Gothic"/>
                          <a:cs typeface="Malgun Gothic"/>
                        </a:rPr>
                        <a:t>study_config·results·data·src·tests·docs</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1960">
                <a:tc>
                  <a:txBody>
                    <a:bodyPr/>
                    <a:lstStyle/>
                    <a:p>
                      <a:pPr algn="l">
                        <a:lnSpc>
                          <a:spcPct val="105000"/>
                        </a:lnSpc>
                        <a:spcBef>
                          <a:spcPts val="0"/>
                        </a:spcBef>
                        <a:spcAft>
                          <a:spcPts val="100"/>
                        </a:spcAft>
                      </a:pPr>
                      <a:r>
                        <a:rPr sz="1100" b="0">
                          <a:solidFill>
                            <a:srgbClr val="000000"/>
                          </a:solidFill>
                          <a:latin typeface="Malgun Gothic"/>
                          <a:ea typeface="Malgun Gothic"/>
                          <a:cs typeface="Malgun Gothic"/>
                        </a:rPr>
                        <a:t>사내 참고 PPTX 11개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00" b="0">
                          <a:solidFill>
                            <a:srgbClr val="000000"/>
                          </a:solidFill>
                          <a:latin typeface="Malgun Gothic"/>
                          <a:ea typeface="Malgun Gothic"/>
                          <a:cs typeface="Malgun Gothic"/>
                        </a:rPr>
                        <a:t>등록서, Y-y 전개, 측정 체계, 인자 선정, 부작용·Control 구성</a:t>
                      </a:r>
                    </a:p>
                    <a:p>
                      <a:pPr algn="l">
                        <a:lnSpc>
                          <a:spcPct val="105000"/>
                        </a:lnSpc>
                        <a:spcBef>
                          <a:spcPts val="0"/>
                        </a:spcBef>
                        <a:spcAft>
                          <a:spcPts val="100"/>
                        </a:spcAft>
                      </a:pPr>
                      <a:r>
                        <a:rPr sz="1100" b="0">
                          <a:solidFill>
                            <a:srgbClr val="000000"/>
                          </a:solidFill>
                          <a:latin typeface="Malgun Gothic"/>
                          <a:ea typeface="Malgun Gothic"/>
                          <a:cs typeface="Malgun Gothic"/>
                        </a:rPr>
                        <a:t>개별 원문/쪽별 대응: 부록 A07~A08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1960">
                <a:tc>
                  <a:txBody>
                    <a:bodyPr/>
                    <a:lstStyle/>
                    <a:p>
                      <a:pPr algn="l">
                        <a:lnSpc>
                          <a:spcPct val="105000"/>
                        </a:lnSpc>
                        <a:spcBef>
                          <a:spcPts val="0"/>
                        </a:spcBef>
                        <a:spcAft>
                          <a:spcPts val="100"/>
                        </a:spcAft>
                      </a:pPr>
                      <a:r>
                        <a:rPr sz="1100" b="0">
                          <a:solidFill>
                            <a:srgbClr val="000000"/>
                          </a:solidFill>
                          <a:latin typeface="Malgun Gothic"/>
                          <a:ea typeface="Malgun Gothic"/>
                          <a:cs typeface="Malgun Gothic"/>
                        </a:rPr>
                        <a:t>통계 해석 참고</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00" b="0">
                          <a:solidFill>
                            <a:srgbClr val="000000"/>
                          </a:solidFill>
                          <a:latin typeface="Malgun Gothic"/>
                          <a:ea typeface="Malgun Gothic"/>
                          <a:cs typeface="Malgun Gothic"/>
                        </a:rPr>
                        <a:t>NIST e-Handbook §5.3.3.9 / §7.3.1.1 / §6.1.6</a:t>
                      </a:r>
                    </a:p>
                    <a:p>
                      <a:pPr algn="l">
                        <a:lnSpc>
                          <a:spcPct val="105000"/>
                        </a:lnSpc>
                        <a:spcBef>
                          <a:spcPts val="0"/>
                        </a:spcBef>
                        <a:spcAft>
                          <a:spcPts val="100"/>
                        </a:spcAft>
                      </a:pPr>
                      <a:r>
                        <a:rPr sz="1100" b="0">
                          <a:solidFill>
                            <a:srgbClr val="000000"/>
                          </a:solidFill>
                          <a:latin typeface="Malgun Gothic"/>
                          <a:ea typeface="Malgun Gothic"/>
                          <a:cs typeface="Malgun Gothic"/>
                        </a:rPr>
                        <a:t>3수준 요인설계, 대응 관측, 공정능력의 적용 전제</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512064" y="4956048"/>
            <a:ext cx="8897112" cy="886968"/>
          </a:xfrm>
          <a:prstGeom prst="rect">
            <a:avLst/>
          </a:prstGeom>
          <a:solidFill>
            <a:srgbClr val="F3F3F3"/>
          </a:solidFill>
          <a:ln w="8255">
            <a:solidFill>
              <a:srgbClr val="B8B8B8"/>
            </a:solidFill>
          </a:ln>
          <a:effectLst/>
        </p:spPr>
        <p:txBody>
          <a:bodyPr rtlCol="0" anchor="ctr"/>
          <a:lstStyle/>
          <a:p>
            <a:pPr algn="ctr"/>
          </a:p>
        </p:txBody>
      </p:sp>
      <p:sp>
        <p:nvSpPr>
          <p:cNvPr id="19" name="TextBox 18"/>
          <p:cNvSpPr txBox="1"/>
          <p:nvPr/>
        </p:nvSpPr>
        <p:spPr>
          <a:xfrm>
            <a:off x="594360" y="5020056"/>
            <a:ext cx="8732520" cy="758952"/>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70" b="0">
                <a:solidFill>
                  <a:srgbClr val="555555"/>
                </a:solidFill>
                <a:latin typeface="Malgun Gothic"/>
                <a:ea typeface="Malgun Gothic"/>
                <a:cs typeface="Malgun Gothic"/>
              </a:rPr>
              <a:t>제출 전 확인</a:t>
            </a:r>
          </a:p>
          <a:p>
            <a:pPr algn="l">
              <a:lnSpc>
                <a:spcPct val="108000"/>
              </a:lnSpc>
              <a:spcBef>
                <a:spcPts val="0"/>
              </a:spcBef>
              <a:spcAft>
                <a:spcPts val="200"/>
              </a:spcAft>
            </a:pPr>
            <a:r>
              <a:rPr sz="1270" b="0">
                <a:solidFill>
                  <a:srgbClr val="555555"/>
                </a:solidFill>
                <a:latin typeface="Malgun Gothic"/>
                <a:ea typeface="Malgun Gothic"/>
                <a:cs typeface="Malgun Gothic"/>
              </a:rPr>
              <a:t>① 지도 MBB·Owner 및 공식 등록기간  ② 수치연구로서의 제출 범위 승인</a:t>
            </a:r>
          </a:p>
          <a:p>
            <a:pPr algn="l">
              <a:lnSpc>
                <a:spcPct val="108000"/>
              </a:lnSpc>
              <a:spcBef>
                <a:spcPts val="0"/>
              </a:spcBef>
              <a:spcAft>
                <a:spcPts val="200"/>
              </a:spcAft>
            </a:pPr>
            <a:r>
              <a:rPr sz="1270" b="0">
                <a:solidFill>
                  <a:srgbClr val="555555"/>
                </a:solidFill>
                <a:latin typeface="Malgun Gothic"/>
                <a:ea typeface="Malgun Gothic"/>
                <a:cs typeface="Malgun Gothic"/>
              </a:rPr>
              <a:t>③ 고객 확정 지표·한계와 잠정 THD(2~40차) 5%의 관계</a:t>
            </a:r>
          </a:p>
        </p:txBody>
      </p:sp>
      <p:sp>
        <p:nvSpPr>
          <p:cNvPr id="20" name="TextBox 19"/>
          <p:cNvSpPr txBox="1"/>
          <p:nvPr/>
        </p:nvSpPr>
        <p:spPr>
          <a:xfrm>
            <a:off x="411480" y="6035040"/>
            <a:ext cx="9052560" cy="21031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통계 설명 참고: NIST §5.3.3.9·§7.3.1.1·§6.1.6 (확인: 2026.09.28). URL은 노트·참고자료 목록에 수록함.</a:t>
            </a:r>
          </a:p>
        </p:txBody>
      </p:sp>
      <p:cxnSp>
        <p:nvCxnSpPr>
          <p:cNvPr id="21" name="Connector 20"/>
          <p:cNvCxnSpPr/>
          <p:nvPr/>
        </p:nvCxnSpPr>
        <p:spPr>
          <a:xfrm>
            <a:off x="365760" y="6428232"/>
            <a:ext cx="9189720" cy="0"/>
          </a:xfrm>
          <a:prstGeom prst="line">
            <a:avLst/>
          </a:prstGeom>
          <a:ln w="5715">
            <a:solidFill>
              <a:srgbClr val="000000"/>
            </a:solidFill>
          </a:ln>
          <a:effectLst/>
        </p:spPr>
      </p:cxnSp>
      <p:sp>
        <p:nvSpPr>
          <p:cNvPr id="22" name="TextBox 21"/>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근거: sources/references.json; 기존11개 PPTX; docs/03_logic_review.md.</a:t>
            </a:r>
          </a:p>
        </p:txBody>
      </p:sp>
      <p:sp>
        <p:nvSpPr>
          <p:cNvPr id="23" name="TextBox 22"/>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54/58</a:t>
            </a:r>
          </a:p>
        </p:txBody>
      </p:sp>
      <p:sp>
        <p:nvSpPr>
          <p:cNvPr id="24" name="TextBox 23">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5" name="TextBox 24">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6" name="TextBox 25">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A11 / 주효과 산출 방법</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DOE 데이터 단위 및 계산 예</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조합당 9개 운전조건을 평균한 반응값을 만든 뒤, 나머지 인자 조합을 동일 가중해 수준별 평균을 산출함. 조건번호는 반복번호가 아님.</a:t>
            </a:r>
          </a:p>
        </p:txBody>
      </p:sp>
      <p:sp>
        <p:nvSpPr>
          <p:cNvPr id="17" name="Rectangle 16"/>
          <p:cNvSpPr/>
          <p:nvPr/>
        </p:nvSpPr>
        <p:spPr>
          <a:xfrm>
            <a:off x="393192" y="1965960"/>
            <a:ext cx="4389120" cy="1170432"/>
          </a:xfrm>
          <a:prstGeom prst="rect">
            <a:avLst/>
          </a:prstGeom>
          <a:solidFill>
            <a:srgbClr val="FFFFFF"/>
          </a:solidFill>
          <a:ln w="8255">
            <a:solidFill>
              <a:srgbClr val="B8B8B8"/>
            </a:solidFill>
          </a:ln>
          <a:effectLst/>
        </p:spPr>
        <p:txBody>
          <a:bodyPr rtlCol="0" anchor="ctr"/>
          <a:lstStyle/>
          <a:p>
            <a:pPr algn="ctr"/>
          </a:p>
        </p:txBody>
      </p:sp>
      <p:sp>
        <p:nvSpPr>
          <p:cNvPr id="18" name="TextBox 17"/>
          <p:cNvSpPr txBox="1"/>
          <p:nvPr/>
        </p:nvSpPr>
        <p:spPr>
          <a:xfrm>
            <a:off x="475488" y="2029967"/>
            <a:ext cx="4224528" cy="1042416"/>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40" b="0">
                <a:solidFill>
                  <a:srgbClr val="000000"/>
                </a:solidFill>
                <a:latin typeface="Malgun Gothic"/>
                <a:ea typeface="Malgun Gothic"/>
                <a:cs typeface="Malgun Gothic"/>
              </a:rPr>
              <a:t>① 조합별 반응값</a:t>
            </a:r>
          </a:p>
          <a:p>
            <a:pPr algn="l">
              <a:lnSpc>
                <a:spcPct val="108000"/>
              </a:lnSpc>
              <a:spcBef>
                <a:spcPts val="0"/>
              </a:spcBef>
              <a:spcAft>
                <a:spcPts val="200"/>
              </a:spcAft>
            </a:pPr>
            <a:r>
              <a:rPr sz="1240" b="0">
                <a:solidFill>
                  <a:srgbClr val="000000"/>
                </a:solidFill>
                <a:latin typeface="Malgun Gothic"/>
                <a:ea typeface="Malgun Gothic"/>
                <a:cs typeface="Malgun Gothic"/>
              </a:rPr>
              <a:t>zabc = (1/9) Σm THD(a,b,c,m)</a:t>
            </a:r>
          </a:p>
          <a:p>
            <a:pPr algn="l">
              <a:lnSpc>
                <a:spcPct val="108000"/>
              </a:lnSpc>
              <a:spcBef>
                <a:spcPts val="0"/>
              </a:spcBef>
              <a:spcAft>
                <a:spcPts val="200"/>
              </a:spcAft>
            </a:pPr>
            <a:r>
              <a:rPr sz="1240" b="0">
                <a:solidFill>
                  <a:srgbClr val="000000"/>
                </a:solidFill>
                <a:latin typeface="Malgun Gothic"/>
                <a:ea typeface="Malgun Gothic"/>
                <a:cs typeface="Malgun Gothic"/>
              </a:rPr>
              <a:t>27개 조합마다 운전조건 9개를 동일 가중 평균함.</a:t>
            </a:r>
          </a:p>
        </p:txBody>
      </p:sp>
      <p:sp>
        <p:nvSpPr>
          <p:cNvPr id="19" name="Rectangle 18"/>
          <p:cNvSpPr/>
          <p:nvPr/>
        </p:nvSpPr>
        <p:spPr>
          <a:xfrm>
            <a:off x="5120640" y="1965960"/>
            <a:ext cx="4389120" cy="1170432"/>
          </a:xfrm>
          <a:prstGeom prst="rect">
            <a:avLst/>
          </a:prstGeom>
          <a:solidFill>
            <a:srgbClr val="FFFFFF"/>
          </a:solidFill>
          <a:ln w="8255">
            <a:solidFill>
              <a:srgbClr val="B8B8B8"/>
            </a:solidFill>
          </a:ln>
          <a:effectLst/>
        </p:spPr>
        <p:txBody>
          <a:bodyPr rtlCol="0" anchor="ctr"/>
          <a:lstStyle/>
          <a:p>
            <a:pPr algn="ctr"/>
          </a:p>
        </p:txBody>
      </p:sp>
      <p:sp>
        <p:nvSpPr>
          <p:cNvPr id="20" name="TextBox 19"/>
          <p:cNvSpPr txBox="1"/>
          <p:nvPr/>
        </p:nvSpPr>
        <p:spPr>
          <a:xfrm>
            <a:off x="5202936" y="2029967"/>
            <a:ext cx="4224528" cy="1042416"/>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240" b="0">
                <a:solidFill>
                  <a:srgbClr val="000000"/>
                </a:solidFill>
                <a:latin typeface="Malgun Gothic"/>
                <a:ea typeface="Malgun Gothic"/>
                <a:cs typeface="Malgun Gothic"/>
              </a:rPr>
              <a:t>② A 수준별 평균</a:t>
            </a:r>
          </a:p>
          <a:p>
            <a:pPr algn="l">
              <a:lnSpc>
                <a:spcPct val="108000"/>
              </a:lnSpc>
              <a:spcBef>
                <a:spcPts val="0"/>
              </a:spcBef>
              <a:spcAft>
                <a:spcPts val="200"/>
              </a:spcAft>
            </a:pPr>
            <a:r>
              <a:rPr sz="1240" b="0">
                <a:solidFill>
                  <a:srgbClr val="000000"/>
                </a:solidFill>
                <a:latin typeface="Malgun Gothic"/>
                <a:ea typeface="Malgun Gothic"/>
                <a:cs typeface="Malgun Gothic"/>
              </a:rPr>
              <a:t>ȳA(a) = (1/9) Σb,c zabc</a:t>
            </a:r>
          </a:p>
          <a:p>
            <a:pPr algn="l">
              <a:lnSpc>
                <a:spcPct val="108000"/>
              </a:lnSpc>
              <a:spcBef>
                <a:spcPts val="0"/>
              </a:spcBef>
              <a:spcAft>
                <a:spcPts val="200"/>
              </a:spcAft>
            </a:pPr>
            <a:r>
              <a:rPr sz="1240" b="0">
                <a:solidFill>
                  <a:srgbClr val="000000"/>
                </a:solidFill>
                <a:latin typeface="Malgun Gothic"/>
                <a:ea typeface="Malgun Gothic"/>
                <a:cs typeface="Malgun Gothic"/>
              </a:rPr>
              <a:t>각 A 수준은 총 81개 계산값의 평균과 같음.</a:t>
            </a:r>
          </a:p>
        </p:txBody>
      </p:sp>
      <p:graphicFrame>
        <p:nvGraphicFramePr>
          <p:cNvPr id="21" name="Table 20"/>
          <p:cNvGraphicFramePr>
            <a:graphicFrameLocks noGrp="1"/>
          </p:cNvGraphicFramePr>
          <p:nvPr/>
        </p:nvGraphicFramePr>
        <p:xfrm>
          <a:off x="393192" y="3401568"/>
          <a:ext cx="9107423" cy="1792224"/>
        </p:xfrm>
        <a:graphic>
          <a:graphicData uri="http://schemas.openxmlformats.org/drawingml/2006/table">
            <a:tbl>
              <a:tblPr firstRow="1" bandRow="1">
                <a:tableStyleId>{5C22544A-7EE6-4342-B048-85BDC9FD1C3A}</a:tableStyleId>
              </a:tblPr>
              <a:tblGrid>
                <a:gridCol w="1912559"/>
                <a:gridCol w="5282305"/>
                <a:gridCol w="1912559"/>
              </a:tblGrid>
              <a:tr h="448056">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인자</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수준별 평균 THD [%]</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50" b="1">
                          <a:solidFill>
                            <a:srgbClr val="000000"/>
                          </a:solidFill>
                          <a:latin typeface="Malgun Gothic"/>
                          <a:ea typeface="Malgun Gothic"/>
                          <a:cs typeface="Malgun Gothic"/>
                        </a:rPr>
                        <a:t>최대 − 최소 [%p]</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48056">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A: Kr [Ω]</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8: 3.855 / 16: 3.318 / 24: 3.121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0.734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8056">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B: fc [Hz]</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2: 3.404 / 5: 3.441 / 10: 3.449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0.045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48056">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C: 차수 조합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3: 4.102 / 3·5: 3.302 / 3·5·7: 2.889</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50" b="0">
                          <a:solidFill>
                            <a:srgbClr val="000000"/>
                          </a:solidFill>
                          <a:latin typeface="Malgun Gothic"/>
                          <a:ea typeface="Malgun Gothic"/>
                          <a:cs typeface="Malgun Gothic"/>
                        </a:rPr>
                        <a:t>1.213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22" name="TextBox 21"/>
          <p:cNvSpPr txBox="1"/>
          <p:nvPr/>
        </p:nvSpPr>
        <p:spPr>
          <a:xfrm>
            <a:off x="393192" y="5522976"/>
            <a:ext cx="9107424" cy="585216"/>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00" b="0">
                <a:solidFill>
                  <a:srgbClr val="008000"/>
                </a:solidFill>
                <a:latin typeface="Malgun Gothic"/>
                <a:ea typeface="Malgun Gothic"/>
                <a:cs typeface="Malgun Gothic"/>
              </a:rPr>
              <a:t>해석: 선택한 수준 범위에서 평균 반응의 차이를 비교하는 지표임. C는 범주형이며, fc는 등간격 연속변수로 가정하지 않음.</a:t>
            </a:r>
          </a:p>
        </p:txBody>
      </p:sp>
      <p:cxnSp>
        <p:nvCxnSpPr>
          <p:cNvPr id="23" name="Connector 22"/>
          <p:cNvCxnSpPr/>
          <p:nvPr/>
        </p:nvCxnSpPr>
        <p:spPr>
          <a:xfrm>
            <a:off x="365760" y="6428232"/>
            <a:ext cx="9189720" cy="0"/>
          </a:xfrm>
          <a:prstGeom prst="line">
            <a:avLst/>
          </a:prstGeom>
          <a:ln w="5715">
            <a:solidFill>
              <a:srgbClr val="000000"/>
            </a:solidFill>
          </a:ln>
          <a:effectLst/>
        </p:spPr>
      </p:cxnSp>
      <p:sp>
        <p:nvSpPr>
          <p:cNvPr id="24" name="TextBox 23"/>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V3 analysis/main_effects.csv·candidate_summary.csv | 데이터: V2 DOE 243개 / NIST §5.3.3.9</a:t>
            </a:r>
          </a:p>
        </p:txBody>
      </p:sp>
      <p:sp>
        <p:nvSpPr>
          <p:cNvPr id="25" name="TextBox 24"/>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55/58</a:t>
            </a:r>
          </a:p>
        </p:txBody>
      </p:sp>
      <p:sp>
        <p:nvSpPr>
          <p:cNvPr id="26" name="TextBox 25">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7" name="TextBox 26">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8" name="TextBox 27">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A12 / 요인별 제곱합 분해</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27개 조합 평균의 변동 기여도</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9개 운전조건을 평균한 27개 조합 반응의 제곱합을 모든 요인항으로 분해함. 결과 차이의 구성을 설명하기 위한 기술통계이며 유의성 검정은 아님.</a:t>
            </a:r>
          </a:p>
        </p:txBody>
      </p:sp>
      <p:graphicFrame>
        <p:nvGraphicFramePr>
          <p:cNvPr id="17" name="Table 16"/>
          <p:cNvGraphicFramePr>
            <a:graphicFrameLocks noGrp="1"/>
          </p:cNvGraphicFramePr>
          <p:nvPr/>
        </p:nvGraphicFramePr>
        <p:xfrm>
          <a:off x="393192" y="1956816"/>
          <a:ext cx="5623559" cy="3767328"/>
        </p:xfrm>
        <a:graphic>
          <a:graphicData uri="http://schemas.openxmlformats.org/drawingml/2006/table">
            <a:tbl>
              <a:tblPr firstRow="1" bandRow="1">
                <a:tableStyleId>{5C22544A-7EE6-4342-B048-85BDC9FD1C3A}</a:tableStyleId>
              </a:tblPr>
              <a:tblGrid>
                <a:gridCol w="1874520"/>
                <a:gridCol w="749808"/>
                <a:gridCol w="1687068"/>
                <a:gridCol w="1312163"/>
              </a:tblGrid>
              <a:tr h="418592">
                <a:tc>
                  <a:txBody>
                    <a:bodyPr/>
                    <a:lstStyle/>
                    <a:p>
                      <a:pPr algn="ctr">
                        <a:lnSpc>
                          <a:spcPct val="105000"/>
                        </a:lnSpc>
                        <a:spcBef>
                          <a:spcPts val="0"/>
                        </a:spcBef>
                        <a:spcAft>
                          <a:spcPts val="100"/>
                        </a:spcAft>
                      </a:pPr>
                      <a:r>
                        <a:rPr sz="1090" b="1">
                          <a:solidFill>
                            <a:srgbClr val="000000"/>
                          </a:solidFill>
                          <a:latin typeface="Malgun Gothic"/>
                          <a:ea typeface="Malgun Gothic"/>
                          <a:cs typeface="Malgun Gothic"/>
                        </a:rPr>
                        <a:t>요인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1">
                          <a:solidFill>
                            <a:srgbClr val="000000"/>
                          </a:solidFill>
                          <a:latin typeface="Malgun Gothic"/>
                          <a:ea typeface="Malgun Gothic"/>
                          <a:cs typeface="Malgun Gothic"/>
                        </a:rPr>
                        <a:t>자유도</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1">
                          <a:solidFill>
                            <a:srgbClr val="000000"/>
                          </a:solidFill>
                          <a:latin typeface="Malgun Gothic"/>
                          <a:ea typeface="Malgun Gothic"/>
                          <a:cs typeface="Malgun Gothic"/>
                        </a:rPr>
                        <a:t>제곱합 [(%p)²]</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1">
                          <a:solidFill>
                            <a:srgbClr val="000000"/>
                          </a:solidFill>
                          <a:latin typeface="Malgun Gothic"/>
                          <a:ea typeface="Malgun Gothic"/>
                          <a:cs typeface="Malgun Gothic"/>
                        </a:rPr>
                        <a:t>기여도 [%]</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418592">
                <a:tc>
                  <a:txBody>
                    <a:bodyPr/>
                    <a:lstStyle/>
                    <a:p>
                      <a:pPr algn="l">
                        <a:lnSpc>
                          <a:spcPct val="105000"/>
                        </a:lnSpc>
                        <a:spcBef>
                          <a:spcPts val="0"/>
                        </a:spcBef>
                        <a:spcAft>
                          <a:spcPts val="100"/>
                        </a:spcAft>
                      </a:pPr>
                      <a:r>
                        <a:rPr sz="1090" b="0">
                          <a:solidFill>
                            <a:srgbClr val="000000"/>
                          </a:solidFill>
                          <a:latin typeface="Malgun Gothic"/>
                          <a:ea typeface="Malgun Gothic"/>
                          <a:cs typeface="Malgun Gothic"/>
                        </a:rPr>
                        <a:t>A: Kr</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2.598450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26.877</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18592">
                <a:tc>
                  <a:txBody>
                    <a:bodyPr/>
                    <a:lstStyle/>
                    <a:p>
                      <a:pPr algn="l">
                        <a:lnSpc>
                          <a:spcPct val="105000"/>
                        </a:lnSpc>
                        <a:spcBef>
                          <a:spcPts val="0"/>
                        </a:spcBef>
                        <a:spcAft>
                          <a:spcPts val="100"/>
                        </a:spcAft>
                      </a:pPr>
                      <a:r>
                        <a:rPr sz="1090" b="0">
                          <a:solidFill>
                            <a:srgbClr val="000000"/>
                          </a:solidFill>
                          <a:latin typeface="Malgun Gothic"/>
                          <a:ea typeface="Malgun Gothic"/>
                          <a:cs typeface="Malgun Gothic"/>
                        </a:rPr>
                        <a:t>B: fc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0.010140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0.105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18592">
                <a:tc>
                  <a:txBody>
                    <a:bodyPr/>
                    <a:lstStyle/>
                    <a:p>
                      <a:pPr algn="l">
                        <a:lnSpc>
                          <a:spcPct val="105000"/>
                        </a:lnSpc>
                        <a:spcBef>
                          <a:spcPts val="0"/>
                        </a:spcBef>
                        <a:spcAft>
                          <a:spcPts val="100"/>
                        </a:spcAft>
                      </a:pPr>
                      <a:r>
                        <a:rPr sz="1090" b="0">
                          <a:solidFill>
                            <a:srgbClr val="000000"/>
                          </a:solidFill>
                          <a:latin typeface="Malgun Gothic"/>
                          <a:ea typeface="Malgun Gothic"/>
                          <a:cs typeface="Malgun Gothic"/>
                        </a:rPr>
                        <a:t>C: 차수 조합</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6.850446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70.858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18592">
                <a:tc>
                  <a:txBody>
                    <a:bodyPr/>
                    <a:lstStyle/>
                    <a:p>
                      <a:pPr algn="l">
                        <a:lnSpc>
                          <a:spcPct val="105000"/>
                        </a:lnSpc>
                        <a:spcBef>
                          <a:spcPts val="0"/>
                        </a:spcBef>
                        <a:spcAft>
                          <a:spcPts val="100"/>
                        </a:spcAft>
                      </a:pPr>
                      <a:r>
                        <a:rPr sz="1090" b="0">
                          <a:solidFill>
                            <a:srgbClr val="000000"/>
                          </a:solidFill>
                          <a:latin typeface="Malgun Gothic"/>
                          <a:ea typeface="Malgun Gothic"/>
                          <a:cs typeface="Malgun Gothic"/>
                        </a:rPr>
                        <a:t>A×B</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0.001451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0.015</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18592">
                <a:tc>
                  <a:txBody>
                    <a:bodyPr/>
                    <a:lstStyle/>
                    <a:p>
                      <a:pPr algn="l">
                        <a:lnSpc>
                          <a:spcPct val="105000"/>
                        </a:lnSpc>
                        <a:spcBef>
                          <a:spcPts val="0"/>
                        </a:spcBef>
                        <a:spcAft>
                          <a:spcPts val="100"/>
                        </a:spcAft>
                      </a:pPr>
                      <a:r>
                        <a:rPr sz="1090" b="0">
                          <a:solidFill>
                            <a:srgbClr val="000000"/>
                          </a:solidFill>
                          <a:latin typeface="Malgun Gothic"/>
                          <a:ea typeface="Malgun Gothic"/>
                          <a:cs typeface="Malgun Gothic"/>
                        </a:rPr>
                        <a:t>A×C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0.204313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2.113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18592">
                <a:tc>
                  <a:txBody>
                    <a:bodyPr/>
                    <a:lstStyle/>
                    <a:p>
                      <a:pPr algn="l">
                        <a:lnSpc>
                          <a:spcPct val="105000"/>
                        </a:lnSpc>
                        <a:spcBef>
                          <a:spcPts val="0"/>
                        </a:spcBef>
                        <a:spcAft>
                          <a:spcPts val="100"/>
                        </a:spcAft>
                      </a:pPr>
                      <a:r>
                        <a:rPr sz="1090" b="0">
                          <a:solidFill>
                            <a:srgbClr val="000000"/>
                          </a:solidFill>
                          <a:latin typeface="Malgun Gothic"/>
                          <a:ea typeface="Malgun Gothic"/>
                          <a:cs typeface="Malgun Gothic"/>
                        </a:rPr>
                        <a:t>B×C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4</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0.001931</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0.020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18592">
                <a:tc>
                  <a:txBody>
                    <a:bodyPr/>
                    <a:lstStyle/>
                    <a:p>
                      <a:pPr algn="l">
                        <a:lnSpc>
                          <a:spcPct val="105000"/>
                        </a:lnSpc>
                        <a:spcBef>
                          <a:spcPts val="0"/>
                        </a:spcBef>
                        <a:spcAft>
                          <a:spcPts val="100"/>
                        </a:spcAft>
                      </a:pPr>
                      <a:r>
                        <a:rPr sz="1090" b="0">
                          <a:solidFill>
                            <a:srgbClr val="000000"/>
                          </a:solidFill>
                          <a:latin typeface="Malgun Gothic"/>
                          <a:ea typeface="Malgun Gothic"/>
                          <a:cs typeface="Malgun Gothic"/>
                        </a:rPr>
                        <a:t>A×B×C</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8</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0.001122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0.012</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418592">
                <a:tc>
                  <a:txBody>
                    <a:bodyPr/>
                    <a:lstStyle/>
                    <a:p>
                      <a:pPr algn="l">
                        <a:lnSpc>
                          <a:spcPct val="105000"/>
                        </a:lnSpc>
                        <a:spcBef>
                          <a:spcPts val="0"/>
                        </a:spcBef>
                        <a:spcAft>
                          <a:spcPts val="100"/>
                        </a:spcAft>
                      </a:pPr>
                      <a:r>
                        <a:rPr sz="1090" b="0">
                          <a:solidFill>
                            <a:srgbClr val="000000"/>
                          </a:solidFill>
                          <a:latin typeface="Malgun Gothic"/>
                          <a:ea typeface="Malgun Gothic"/>
                          <a:cs typeface="Malgun Gothic"/>
                        </a:rPr>
                        <a:t>합계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26</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9.667853</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90" b="0">
                          <a:solidFill>
                            <a:srgbClr val="000000"/>
                          </a:solidFill>
                          <a:latin typeface="Malgun Gothic"/>
                          <a:ea typeface="Malgun Gothic"/>
                          <a:cs typeface="Malgun Gothic"/>
                        </a:rPr>
                        <a:t>100.000</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Rectangle 17"/>
          <p:cNvSpPr/>
          <p:nvPr/>
        </p:nvSpPr>
        <p:spPr>
          <a:xfrm>
            <a:off x="6217920" y="1956816"/>
            <a:ext cx="3282696" cy="1280160"/>
          </a:xfrm>
          <a:prstGeom prst="rect">
            <a:avLst/>
          </a:prstGeom>
          <a:solidFill>
            <a:srgbClr val="FFFFFF"/>
          </a:solidFill>
          <a:ln w="8255">
            <a:solidFill>
              <a:srgbClr val="B8B8B8"/>
            </a:solidFill>
          </a:ln>
          <a:effectLst/>
        </p:spPr>
        <p:txBody>
          <a:bodyPr rtlCol="0" anchor="ctr"/>
          <a:lstStyle/>
          <a:p>
            <a:pPr algn="ctr"/>
          </a:p>
        </p:txBody>
      </p:sp>
      <p:sp>
        <p:nvSpPr>
          <p:cNvPr id="19" name="TextBox 18"/>
          <p:cNvSpPr txBox="1"/>
          <p:nvPr/>
        </p:nvSpPr>
        <p:spPr>
          <a:xfrm>
            <a:off x="6300216" y="2020824"/>
            <a:ext cx="3118103" cy="1152143"/>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170" b="0">
                <a:solidFill>
                  <a:srgbClr val="000000"/>
                </a:solidFill>
                <a:latin typeface="Malgun Gothic"/>
                <a:ea typeface="Malgun Gothic"/>
                <a:cs typeface="Malgun Gothic"/>
              </a:rPr>
              <a:t>계산 기준</a:t>
            </a:r>
          </a:p>
          <a:p>
            <a:pPr algn="l">
              <a:lnSpc>
                <a:spcPct val="108000"/>
              </a:lnSpc>
              <a:spcBef>
                <a:spcPts val="0"/>
              </a:spcBef>
              <a:spcAft>
                <a:spcPts val="200"/>
              </a:spcAft>
            </a:pPr>
            <a:r>
              <a:rPr sz="1170" b="0">
                <a:solidFill>
                  <a:srgbClr val="000000"/>
                </a:solidFill>
                <a:latin typeface="Malgun Gothic"/>
                <a:ea typeface="Malgun Gothic"/>
                <a:cs typeface="Malgun Gothic"/>
              </a:rPr>
              <a:t>SST = Σabc(zabc − z̄)²</a:t>
            </a:r>
          </a:p>
          <a:p>
            <a:pPr algn="l">
              <a:lnSpc>
                <a:spcPct val="108000"/>
              </a:lnSpc>
              <a:spcBef>
                <a:spcPts val="0"/>
              </a:spcBef>
              <a:spcAft>
                <a:spcPts val="200"/>
              </a:spcAft>
            </a:pPr>
            <a:r>
              <a:rPr sz="1170" b="0">
                <a:solidFill>
                  <a:srgbClr val="000000"/>
                </a:solidFill>
                <a:latin typeface="Malgun Gothic"/>
                <a:ea typeface="Malgun Gothic"/>
                <a:cs typeface="Malgun Gothic"/>
              </a:rPr>
              <a:t>요인 기여도 = SS요인 / SST ×100</a:t>
            </a:r>
          </a:p>
          <a:p>
            <a:pPr algn="l">
              <a:lnSpc>
                <a:spcPct val="108000"/>
              </a:lnSpc>
              <a:spcBef>
                <a:spcPts val="0"/>
              </a:spcBef>
              <a:spcAft>
                <a:spcPts val="200"/>
              </a:spcAft>
            </a:pPr>
            <a:r>
              <a:rPr sz="1170" b="0">
                <a:solidFill>
                  <a:srgbClr val="000000"/>
                </a:solidFill>
                <a:latin typeface="Malgun Gothic"/>
                <a:ea typeface="Malgun Gothic"/>
                <a:cs typeface="Malgun Gothic"/>
              </a:rPr>
              <a:t>전체 반응 차이: 9.667853 (%p)²</a:t>
            </a:r>
          </a:p>
        </p:txBody>
      </p:sp>
      <p:sp>
        <p:nvSpPr>
          <p:cNvPr id="20" name="Rectangle 19"/>
          <p:cNvSpPr/>
          <p:nvPr/>
        </p:nvSpPr>
        <p:spPr>
          <a:xfrm>
            <a:off x="6217920" y="3438144"/>
            <a:ext cx="3282696" cy="1234440"/>
          </a:xfrm>
          <a:prstGeom prst="rect">
            <a:avLst/>
          </a:prstGeom>
          <a:solidFill>
            <a:srgbClr val="FFFFFF"/>
          </a:solidFill>
          <a:ln w="8255">
            <a:solidFill>
              <a:srgbClr val="B8B8B8"/>
            </a:solidFill>
          </a:ln>
          <a:effectLst/>
        </p:spPr>
        <p:txBody>
          <a:bodyPr rtlCol="0" anchor="ctr"/>
          <a:lstStyle/>
          <a:p>
            <a:pPr algn="ctr"/>
          </a:p>
        </p:txBody>
      </p:sp>
      <p:sp>
        <p:nvSpPr>
          <p:cNvPr id="21" name="TextBox 20"/>
          <p:cNvSpPr txBox="1"/>
          <p:nvPr/>
        </p:nvSpPr>
        <p:spPr>
          <a:xfrm>
            <a:off x="6300216" y="3502151"/>
            <a:ext cx="3118103" cy="110642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180" b="0">
                <a:solidFill>
                  <a:srgbClr val="008000"/>
                </a:solidFill>
                <a:latin typeface="Malgun Gothic"/>
                <a:ea typeface="Malgun Gothic"/>
                <a:cs typeface="Malgun Gothic"/>
              </a:rPr>
              <a:t>결과 해석</a:t>
            </a:r>
          </a:p>
          <a:p>
            <a:pPr algn="l">
              <a:lnSpc>
                <a:spcPct val="108000"/>
              </a:lnSpc>
              <a:spcBef>
                <a:spcPts val="0"/>
              </a:spcBef>
              <a:spcAft>
                <a:spcPts val="200"/>
              </a:spcAft>
            </a:pPr>
            <a:r>
              <a:rPr sz="1180" b="0">
                <a:solidFill>
                  <a:srgbClr val="008000"/>
                </a:solidFill>
                <a:latin typeface="Malgun Gothic"/>
                <a:ea typeface="Malgun Gothic"/>
                <a:cs typeface="Malgun Gothic"/>
              </a:rPr>
              <a:t>C: 70.858%, A: 26.877%</a:t>
            </a:r>
          </a:p>
          <a:p>
            <a:pPr algn="l">
              <a:lnSpc>
                <a:spcPct val="108000"/>
              </a:lnSpc>
              <a:spcBef>
                <a:spcPts val="0"/>
              </a:spcBef>
              <a:spcAft>
                <a:spcPts val="200"/>
              </a:spcAft>
            </a:pPr>
            <a:r>
              <a:rPr sz="1180" b="0">
                <a:solidFill>
                  <a:srgbClr val="008000"/>
                </a:solidFill>
                <a:latin typeface="Malgun Gothic"/>
                <a:ea typeface="Malgun Gothic"/>
                <a:cs typeface="Malgun Gothic"/>
              </a:rPr>
              <a:t>A×C: 2.113%로 확인됨.</a:t>
            </a:r>
          </a:p>
          <a:p>
            <a:pPr algn="l">
              <a:lnSpc>
                <a:spcPct val="108000"/>
              </a:lnSpc>
              <a:spcBef>
                <a:spcPts val="0"/>
              </a:spcBef>
              <a:spcAft>
                <a:spcPts val="200"/>
              </a:spcAft>
            </a:pPr>
            <a:r>
              <a:rPr sz="1180" b="0">
                <a:solidFill>
                  <a:srgbClr val="008000"/>
                </a:solidFill>
                <a:latin typeface="Malgun Gothic"/>
                <a:ea typeface="Malgun Gothic"/>
                <a:cs typeface="Malgun Gothic"/>
              </a:rPr>
              <a:t>→ 차수와 이득을 함께 검토할 필요가 있음.</a:t>
            </a:r>
          </a:p>
        </p:txBody>
      </p:sp>
      <p:sp>
        <p:nvSpPr>
          <p:cNvPr id="22" name="Rectangle 21"/>
          <p:cNvSpPr/>
          <p:nvPr/>
        </p:nvSpPr>
        <p:spPr>
          <a:xfrm>
            <a:off x="6217920" y="4864608"/>
            <a:ext cx="3282696" cy="868680"/>
          </a:xfrm>
          <a:prstGeom prst="rect">
            <a:avLst/>
          </a:prstGeom>
          <a:solidFill>
            <a:srgbClr val="FFFFFF"/>
          </a:solidFill>
          <a:ln w="8255">
            <a:solidFill>
              <a:srgbClr val="B8B8B8"/>
            </a:solidFill>
          </a:ln>
          <a:effectLst/>
        </p:spPr>
        <p:txBody>
          <a:bodyPr rtlCol="0" anchor="ctr"/>
          <a:lstStyle/>
          <a:p>
            <a:pPr algn="ctr"/>
          </a:p>
        </p:txBody>
      </p:sp>
      <p:sp>
        <p:nvSpPr>
          <p:cNvPr id="23" name="TextBox 22"/>
          <p:cNvSpPr txBox="1"/>
          <p:nvPr/>
        </p:nvSpPr>
        <p:spPr>
          <a:xfrm>
            <a:off x="6300216" y="4928616"/>
            <a:ext cx="3118103" cy="740664"/>
          </a:xfrm>
          <a:prstGeom prst="rect">
            <a:avLst/>
          </a:prstGeom>
          <a:noFill/>
        </p:spPr>
        <p:txBody>
          <a:bodyPr wrap="square" lIns="22860" rIns="22860" tIns="22860" bIns="22860" anchor="ctr">
            <a:spAutoFit/>
          </a:bodyPr>
          <a:lstStyle/>
          <a:p>
            <a:pPr algn="l">
              <a:lnSpc>
                <a:spcPct val="108000"/>
              </a:lnSpc>
              <a:spcBef>
                <a:spcPts val="0"/>
              </a:spcBef>
              <a:spcAft>
                <a:spcPts val="200"/>
              </a:spcAft>
            </a:pPr>
            <a:r>
              <a:rPr sz="1130" b="0">
                <a:solidFill>
                  <a:srgbClr val="000000"/>
                </a:solidFill>
                <a:latin typeface="Malgun Gothic"/>
                <a:ea typeface="Malgun Gothic"/>
                <a:cs typeface="Malgun Gothic"/>
              </a:rPr>
              <a:t>적용 한계</a:t>
            </a:r>
          </a:p>
          <a:p>
            <a:pPr algn="l">
              <a:lnSpc>
                <a:spcPct val="108000"/>
              </a:lnSpc>
              <a:spcBef>
                <a:spcPts val="0"/>
              </a:spcBef>
              <a:spcAft>
                <a:spcPts val="200"/>
              </a:spcAft>
            </a:pPr>
            <a:r>
              <a:rPr sz="1130" b="0">
                <a:solidFill>
                  <a:srgbClr val="000000"/>
                </a:solidFill>
                <a:latin typeface="Malgun Gothic"/>
                <a:ea typeface="Malgun Gothic"/>
                <a:cs typeface="Malgun Gothic"/>
              </a:rPr>
              <a:t>잔차 자유도 0. F/p 미산출.</a:t>
            </a:r>
          </a:p>
          <a:p>
            <a:pPr algn="l">
              <a:lnSpc>
                <a:spcPct val="108000"/>
              </a:lnSpc>
              <a:spcBef>
                <a:spcPts val="0"/>
              </a:spcBef>
              <a:spcAft>
                <a:spcPts val="200"/>
              </a:spcAft>
            </a:pPr>
            <a:r>
              <a:rPr sz="1130" b="0">
                <a:solidFill>
                  <a:srgbClr val="000000"/>
                </a:solidFill>
                <a:latin typeface="Malgun Gothic"/>
                <a:ea typeface="Malgun Gothic"/>
                <a:cs typeface="Malgun Gothic"/>
              </a:rPr>
              <a:t>제품 왜곡 원인의 기여율이나 실제 제조 산포가 아님.</a:t>
            </a:r>
          </a:p>
        </p:txBody>
      </p:sp>
      <p:sp>
        <p:nvSpPr>
          <p:cNvPr id="24" name="TextBox 23"/>
          <p:cNvSpPr txBox="1"/>
          <p:nvPr/>
        </p:nvSpPr>
        <p:spPr>
          <a:xfrm>
            <a:off x="393192" y="6035040"/>
            <a:ext cx="910742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모든 요인항을 유지하면 잔차 자유도가 0임. 임의로 고차 교호항을 오차로 간주하여 F값·p-value를 만들지 않음.</a:t>
            </a:r>
          </a:p>
        </p:txBody>
      </p:sp>
      <p:cxnSp>
        <p:nvCxnSpPr>
          <p:cNvPr id="25" name="Connector 24"/>
          <p:cNvCxnSpPr/>
          <p:nvPr/>
        </p:nvCxnSpPr>
        <p:spPr>
          <a:xfrm>
            <a:off x="365760" y="6428232"/>
            <a:ext cx="9189720" cy="0"/>
          </a:xfrm>
          <a:prstGeom prst="line">
            <a:avLst/>
          </a:prstGeom>
          <a:ln w="5715">
            <a:solidFill>
              <a:srgbClr val="000000"/>
            </a:solidFill>
          </a:ln>
          <a:effectLst/>
        </p:spPr>
      </p:cxnSp>
      <p:sp>
        <p:nvSpPr>
          <p:cNvPr id="26" name="TextBox 25"/>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V3 analysis/factorial_ss.csv / analyze_v3.py | 27개 조합 평균, 모든 교호항 유지</a:t>
            </a:r>
          </a:p>
        </p:txBody>
      </p:sp>
      <p:sp>
        <p:nvSpPr>
          <p:cNvPr id="27" name="TextBox 26"/>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56/58</a:t>
            </a:r>
          </a:p>
        </p:txBody>
      </p:sp>
      <p:sp>
        <p:nvSpPr>
          <p:cNvPr id="28" name="TextBox 27">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9" name="TextBox 28">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30" name="TextBox 29">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A13 / 통계검정 적용 범위</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기존 보고서의 검정 방법과 본 과제의 차이</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기존 자료의 검정 목적은 참고하되, 데이터와 전제가 다른 방법을 그대로 적용하지 않음. 아래 항목은 적용 여부와 판단 근거를 정리한 것임.</a:t>
            </a:r>
          </a:p>
        </p:txBody>
      </p:sp>
      <p:graphicFrame>
        <p:nvGraphicFramePr>
          <p:cNvPr id="17" name="Table 16"/>
          <p:cNvGraphicFramePr>
            <a:graphicFrameLocks noGrp="1"/>
          </p:cNvGraphicFramePr>
          <p:nvPr/>
        </p:nvGraphicFramePr>
        <p:xfrm>
          <a:off x="393192" y="1956816"/>
          <a:ext cx="9107422" cy="4014210"/>
        </p:xfrm>
        <a:graphic>
          <a:graphicData uri="http://schemas.openxmlformats.org/drawingml/2006/table">
            <a:tbl>
              <a:tblPr firstRow="1" bandRow="1">
                <a:tableStyleId>{5C22544A-7EE6-4342-B048-85BDC9FD1C3A}</a:tableStyleId>
              </a:tblPr>
              <a:tblGrid>
                <a:gridCol w="1821484"/>
                <a:gridCol w="2823301"/>
                <a:gridCol w="4462637"/>
              </a:tblGrid>
              <a:tr h="669035">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방법</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일반적인 확인 목적</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080" b="1">
                          <a:solidFill>
                            <a:srgbClr val="000000"/>
                          </a:solidFill>
                          <a:latin typeface="Malgun Gothic"/>
                          <a:ea typeface="Malgun Gothic"/>
                          <a:cs typeface="Malgun Gothic"/>
                        </a:rPr>
                        <a:t>본 과제의 처리 / 이유</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669035">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Gage R&amp;R</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계측 반복성·재현성의 변동 분리</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미적용. 실제 계측 반복자료가 없어 수치 정확도·재계산으로 검증함.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69035">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정규성·등분산 검정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모형 잔차·비교집단의 분포 가정 확인</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추론모형을 적합하지 않아 미적용. 이질적 운전조건 전체의 정규성으로 제어 성능을 판정하지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69035">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ANOVA F / p-value</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오차에 비해 요인효과가 큰지 검정</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주효과·교호작용 및 SS 분해만 수행함. 본 설계에 순수 오차 추정 근거가 없음.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69035">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대응 t-검정 / 신뢰구간</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대응 표본의 모집단 평균 차이 추론</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Case ID별 차이만 집계함. 제품 모집단·표본추출모형이 정의되지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69035">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Cpk / Z.Bench</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안정 공정의 자연 산포와 규격 비교</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080" b="0">
                          <a:solidFill>
                            <a:srgbClr val="000000"/>
                          </a:solidFill>
                          <a:latin typeface="Malgun Gothic"/>
                          <a:ea typeface="Malgun Gothic"/>
                          <a:cs typeface="Malgun Gothic"/>
                        </a:rPr>
                        <a:t>미적용. 운전조건 변화가 주된 차이이며 양산 공정 산포 자료가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393192" y="6071616"/>
            <a:ext cx="9107424" cy="24688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555555"/>
                </a:solidFill>
                <a:latin typeface="Malgun Gothic"/>
                <a:ea typeface="Malgun Gothic"/>
                <a:cs typeface="Malgun Gothic"/>
              </a:rPr>
              <a:t>p-value는 귀무가설이 참일 확률 또는 개선 폭이 아님. 향후 실물 검정을 수행할 때도 효과 크기·규격·부작용을 함께 판단해야 함.</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방법 참고: NIST §5.3.3.9, §7.3.1.1, §6.1.6 | 기존 사례의 검정 목적을 본 과제에 맞게 구분</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57/58</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84048" y="182880"/>
            <a:ext cx="7452360" cy="420624"/>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2000" b="1">
                <a:solidFill>
                  <a:srgbClr val="000000"/>
                </a:solidFill>
                <a:latin typeface="Malgun Gothic"/>
                <a:ea typeface="Malgun Gothic"/>
                <a:cs typeface="Malgun Gothic"/>
              </a:rPr>
              <a:t>부록 A14 / 결과 해석 질의 대응</a:t>
            </a:r>
          </a:p>
        </p:txBody>
      </p:sp>
      <p:sp>
        <p:nvSpPr>
          <p:cNvPr id="3" name="Chevron 2"/>
          <p:cNvSpPr/>
          <p:nvPr/>
        </p:nvSpPr>
        <p:spPr>
          <a:xfrm>
            <a:off x="797356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6"/>
          </p:cNvPr>
          <p:cNvSpPr txBox="1"/>
          <p:nvPr/>
        </p:nvSpPr>
        <p:spPr>
          <a:xfrm>
            <a:off x="800557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D</a:t>
            </a:r>
          </a:p>
        </p:txBody>
      </p:sp>
      <p:sp>
        <p:nvSpPr>
          <p:cNvPr id="5" name="Chevron 4"/>
          <p:cNvSpPr/>
          <p:nvPr/>
        </p:nvSpPr>
        <p:spPr>
          <a:xfrm>
            <a:off x="827074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7"/>
          </p:cNvPr>
          <p:cNvSpPr txBox="1"/>
          <p:nvPr/>
        </p:nvSpPr>
        <p:spPr>
          <a:xfrm>
            <a:off x="830275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M</a:t>
            </a:r>
          </a:p>
        </p:txBody>
      </p:sp>
      <p:sp>
        <p:nvSpPr>
          <p:cNvPr id="7" name="Chevron 6"/>
          <p:cNvSpPr/>
          <p:nvPr/>
        </p:nvSpPr>
        <p:spPr>
          <a:xfrm>
            <a:off x="856792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8"/>
          </p:cNvPr>
          <p:cNvSpPr txBox="1"/>
          <p:nvPr/>
        </p:nvSpPr>
        <p:spPr>
          <a:xfrm>
            <a:off x="859993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A</a:t>
            </a:r>
          </a:p>
        </p:txBody>
      </p:sp>
      <p:sp>
        <p:nvSpPr>
          <p:cNvPr id="9" name="Chevron 8"/>
          <p:cNvSpPr/>
          <p:nvPr/>
        </p:nvSpPr>
        <p:spPr>
          <a:xfrm>
            <a:off x="8865108" y="201168"/>
            <a:ext cx="347472" cy="292608"/>
          </a:xfrm>
          <a:prstGeom prst="chevron">
            <a:avLst>
              <a:gd name="adj" fmla="val 28000"/>
            </a:avLst>
          </a:prstGeom>
          <a:solidFill>
            <a:srgbClr val="F4F4F4"/>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9"/>
          </p:cNvPr>
          <p:cNvSpPr txBox="1"/>
          <p:nvPr/>
        </p:nvSpPr>
        <p:spPr>
          <a:xfrm>
            <a:off x="889711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0">
                <a:solidFill>
                  <a:srgbClr val="555555"/>
                </a:solidFill>
                <a:latin typeface="Malgun Gothic"/>
                <a:ea typeface="Malgun Gothic"/>
                <a:cs typeface="Malgun Gothic"/>
              </a:rPr>
              <a:t>I</a:t>
            </a:r>
          </a:p>
        </p:txBody>
      </p:sp>
      <p:sp>
        <p:nvSpPr>
          <p:cNvPr id="11" name="Chevron 10"/>
          <p:cNvSpPr/>
          <p:nvPr/>
        </p:nvSpPr>
        <p:spPr>
          <a:xfrm>
            <a:off x="9162288" y="201168"/>
            <a:ext cx="347472" cy="292608"/>
          </a:xfrm>
          <a:prstGeom prst="chevron">
            <a:avLst>
              <a:gd name="adj" fmla="val 28000"/>
            </a:avLst>
          </a:prstGeom>
          <a:solidFill>
            <a:srgbClr val="D6D6D6"/>
          </a:solidFill>
          <a:ln w="5715">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10"/>
          </p:cNvPr>
          <p:cNvSpPr txBox="1"/>
          <p:nvPr/>
        </p:nvSpPr>
        <p:spPr>
          <a:xfrm>
            <a:off x="9194292" y="202082"/>
            <a:ext cx="237744" cy="274320"/>
          </a:xfrm>
          <a:prstGeom prst="rect">
            <a:avLst/>
          </a:prstGeom>
          <a:noFill/>
        </p:spPr>
        <p:txBody>
          <a:bodyPr wrap="square" lIns="4572" rIns="4572" tIns="4572" bIns="4572" anchor="ctr">
            <a:spAutoFit/>
          </a:bodyPr>
          <a:lstStyle/>
          <a:p>
            <a:pPr algn="ctr">
              <a:lnSpc>
                <a:spcPct val="108000"/>
              </a:lnSpc>
              <a:spcBef>
                <a:spcPts val="0"/>
              </a:spcBef>
              <a:spcAft>
                <a:spcPts val="200"/>
              </a:spcAft>
            </a:pPr>
            <a:r>
              <a:rPr sz="1050" b="1">
                <a:solidFill>
                  <a:srgbClr val="000000"/>
                </a:solidFill>
                <a:latin typeface="Malgun Gothic"/>
                <a:ea typeface="Malgun Gothic"/>
                <a:cs typeface="Malgun Gothic"/>
              </a:rPr>
              <a:t>C</a:t>
            </a:r>
          </a:p>
        </p:txBody>
      </p:sp>
      <p:cxnSp>
        <p:nvCxnSpPr>
          <p:cNvPr id="13" name="Connector 12"/>
          <p:cNvCxnSpPr/>
          <p:nvPr/>
        </p:nvCxnSpPr>
        <p:spPr>
          <a:xfrm>
            <a:off x="0" y="722376"/>
            <a:ext cx="9905999" cy="0"/>
          </a:xfrm>
          <a:prstGeom prst="line">
            <a:avLst/>
          </a:prstGeom>
          <a:ln w="8255">
            <a:solidFill>
              <a:srgbClr val="000000"/>
            </a:solidFill>
          </a:ln>
          <a:effectLst/>
        </p:spPr>
      </p:cxnSp>
      <p:sp>
        <p:nvSpPr>
          <p:cNvPr id="14" name="Rectangle 13"/>
          <p:cNvSpPr/>
          <p:nvPr/>
        </p:nvSpPr>
        <p:spPr>
          <a:xfrm>
            <a:off x="365760" y="868680"/>
            <a:ext cx="9189720" cy="310896"/>
          </a:xfrm>
          <a:prstGeom prst="rect">
            <a:avLst/>
          </a:prstGeom>
          <a:solidFill>
            <a:srgbClr val="EFEFEF"/>
          </a:solidFill>
          <a:ln w="8255">
            <a:solidFill>
              <a:srgbClr val="B8B8B8"/>
            </a:solidFill>
          </a:ln>
          <a:effectLst/>
        </p:spPr>
        <p:txBody>
          <a:bodyPr rtlCol="0" anchor="ctr"/>
          <a:lstStyle/>
          <a:p>
            <a:pPr algn="ctr"/>
          </a:p>
        </p:txBody>
      </p:sp>
      <p:sp>
        <p:nvSpPr>
          <p:cNvPr id="15" name="TextBox 14"/>
          <p:cNvSpPr txBox="1"/>
          <p:nvPr/>
        </p:nvSpPr>
        <p:spPr>
          <a:xfrm>
            <a:off x="457200" y="896112"/>
            <a:ext cx="9015984"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230" b="1">
                <a:solidFill>
                  <a:srgbClr val="000000"/>
                </a:solidFill>
                <a:latin typeface="Malgun Gothic"/>
                <a:ea typeface="Malgun Gothic"/>
                <a:cs typeface="Malgun Gothic"/>
              </a:rPr>
              <a:t>■ 통계 결과로 확인한 사항과 미확인 사항</a:t>
            </a:r>
          </a:p>
        </p:txBody>
      </p:sp>
      <p:sp>
        <p:nvSpPr>
          <p:cNvPr id="16" name="TextBox 15"/>
          <p:cNvSpPr txBox="1"/>
          <p:nvPr/>
        </p:nvSpPr>
        <p:spPr>
          <a:xfrm>
            <a:off x="438912" y="1307592"/>
            <a:ext cx="9043416" cy="57607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320" b="0">
                <a:solidFill>
                  <a:srgbClr val="000000"/>
                </a:solidFill>
                <a:latin typeface="Malgun Gothic"/>
                <a:ea typeface="Malgun Gothic"/>
                <a:cs typeface="Malgun Gothic"/>
              </a:rPr>
              <a:t>측정·인자 분석·효과 검증의 논리가 연결되는지 검토함. 해석 결과와 실제 제품 성과의 범위는 구분하여 설명함.</a:t>
            </a:r>
          </a:p>
        </p:txBody>
      </p:sp>
      <p:graphicFrame>
        <p:nvGraphicFramePr>
          <p:cNvPr id="17" name="Table 16"/>
          <p:cNvGraphicFramePr>
            <a:graphicFrameLocks noGrp="1"/>
          </p:cNvGraphicFramePr>
          <p:nvPr/>
        </p:nvGraphicFramePr>
        <p:xfrm>
          <a:off x="393192" y="1956816"/>
          <a:ext cx="9107423" cy="3931920"/>
        </p:xfrm>
        <a:graphic>
          <a:graphicData uri="http://schemas.openxmlformats.org/drawingml/2006/table">
            <a:tbl>
              <a:tblPr firstRow="1" bandRow="1">
                <a:tableStyleId>{5C22544A-7EE6-4342-B048-85BDC9FD1C3A}</a:tableStyleId>
              </a:tblPr>
              <a:tblGrid>
                <a:gridCol w="2914375"/>
                <a:gridCol w="6193048"/>
              </a:tblGrid>
              <a:tr h="655320">
                <a:tc>
                  <a:txBody>
                    <a:bodyPr/>
                    <a:lstStyle/>
                    <a:p>
                      <a:pPr algn="ctr">
                        <a:lnSpc>
                          <a:spcPct val="105000"/>
                        </a:lnSpc>
                        <a:spcBef>
                          <a:spcPts val="0"/>
                        </a:spcBef>
                        <a:spcAft>
                          <a:spcPts val="100"/>
                        </a:spcAft>
                      </a:pPr>
                      <a:r>
                        <a:rPr sz="1180" b="1">
                          <a:solidFill>
                            <a:srgbClr val="000000"/>
                          </a:solidFill>
                          <a:latin typeface="Malgun Gothic"/>
                          <a:ea typeface="Malgun Gothic"/>
                          <a:cs typeface="Malgun Gothic"/>
                        </a:rPr>
                        <a:t>예상 질문</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ctr">
                        <a:lnSpc>
                          <a:spcPct val="105000"/>
                        </a:lnSpc>
                        <a:spcBef>
                          <a:spcPts val="0"/>
                        </a:spcBef>
                        <a:spcAft>
                          <a:spcPts val="100"/>
                        </a:spcAft>
                      </a:pPr>
                      <a:r>
                        <a:rPr sz="1180" b="1">
                          <a:solidFill>
                            <a:srgbClr val="000000"/>
                          </a:solidFill>
                          <a:latin typeface="Malgun Gothic"/>
                          <a:ea typeface="Malgun Gothic"/>
                          <a:cs typeface="Malgun Gothic"/>
                        </a:rPr>
                        <a:t>설명</a:t>
                      </a:r>
                    </a:p>
                  </a:txBody>
                  <a:tcPr marL="64008" marR="64008" marT="41148" marB="41148" anchor="ctr">
                    <a:solidFill>
                      <a:srgbClr val="EFEFEF"/>
                    </a:solidFill>
                    <a:lnL w="6350">
                      <a:solidFill>
                        <a:srgbClr val="B8B8B8"/>
                      </a:solidFill>
                    </a:lnL>
                    <a:lnR w="6350">
                      <a:solidFill>
                        <a:srgbClr val="B8B8B8"/>
                      </a:solidFill>
                    </a:lnR>
                    <a:lnT w="6350">
                      <a:solidFill>
                        <a:srgbClr val="B8B8B8"/>
                      </a:solidFill>
                    </a:lnT>
                    <a:lnB w="6350">
                      <a:solidFill>
                        <a:srgbClr val="B8B8B8"/>
                      </a:solidFill>
                    </a:lnB>
                  </a:tcPr>
                </a:tc>
              </a:tr>
              <a:tr h="655320">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63개·54개·60개는 각각 무엇인가?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기준 63개=선정용 9개+선정 미사용 54개. 변동 60개는 별도 조건. 실물 시료수가 아님.</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55320">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243개 결과는 반복실험 아닌가?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27개 제어 조합×서로 다른 9개 운전조건. 반복 오차 자료로 쓰지 않음.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55320">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기여도 70.858%는 실제 원인 비중인가?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선택한 27개 조합 평균의 제곱합 중 차수 요인 비중. 실제 제품의 원인 비율과 구분함.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55320">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기준 63개가 모두 만족하면 완료 아닌가?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지정한 기준조건의 목표만 달성. 변동 60개 중 9개 종합 미달과 실물검증이 남아 있음.</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r h="655320">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V4에서 결과값도 변경했는가?</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c>
                  <a:txBody>
                    <a:bodyPr/>
                    <a:lstStyle/>
                    <a:p>
                      <a:pPr algn="l">
                        <a:lnSpc>
                          <a:spcPct val="105000"/>
                        </a:lnSpc>
                        <a:spcBef>
                          <a:spcPts val="0"/>
                        </a:spcBef>
                        <a:spcAft>
                          <a:spcPts val="100"/>
                        </a:spcAft>
                      </a:pPr>
                      <a:r>
                        <a:rPr sz="1180" b="0">
                          <a:solidFill>
                            <a:srgbClr val="000000"/>
                          </a:solidFill>
                          <a:latin typeface="Malgun Gothic"/>
                          <a:ea typeface="Malgun Gothic"/>
                          <a:cs typeface="Malgun Gothic"/>
                        </a:rPr>
                        <a:t>원자료·제어·임계값 유지. 용어·수식 설명 정정, 하위집합 재집계, 가독성 개선만 수행함.</a:t>
                      </a:r>
                    </a:p>
                  </a:txBody>
                  <a:tcPr marL="64008" marR="64008" marT="41148" marB="41148" anchor="ctr">
                    <a:solidFill>
                      <a:srgbClr val="FFFFFF"/>
                    </a:solidFill>
                    <a:lnL w="6350">
                      <a:solidFill>
                        <a:srgbClr val="B8B8B8"/>
                      </a:solidFill>
                    </a:lnL>
                    <a:lnR w="6350">
                      <a:solidFill>
                        <a:srgbClr val="B8B8B8"/>
                      </a:solidFill>
                    </a:lnR>
                    <a:lnT w="6350">
                      <a:solidFill>
                        <a:srgbClr val="B8B8B8"/>
                      </a:solidFill>
                    </a:lnT>
                    <a:lnB w="6350">
                      <a:solidFill>
                        <a:srgbClr val="B8B8B8"/>
                      </a:solidFill>
                    </a:lnB>
                  </a:tcPr>
                </a:tc>
              </a:tr>
            </a:tbl>
          </a:graphicData>
        </a:graphic>
      </p:graphicFrame>
      <p:sp>
        <p:nvSpPr>
          <p:cNvPr id="18" name="TextBox 17"/>
          <p:cNvSpPr txBox="1"/>
          <p:nvPr/>
        </p:nvSpPr>
        <p:spPr>
          <a:xfrm>
            <a:off x="393192" y="6053328"/>
            <a:ext cx="9107424" cy="246888"/>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1100" b="0">
                <a:solidFill>
                  <a:srgbClr val="008000"/>
                </a:solidFill>
                <a:latin typeface="Malgun Gothic"/>
                <a:ea typeface="Malgun Gothic"/>
                <a:cs typeface="Malgun Gothic"/>
              </a:rPr>
              <a:t>최종 판단: 수치해석 기반 설계 후보의 유효성을 확인함. 실제 제품 적용 및 사내 과제 승인은 별도 검토가 필요함.</a:t>
            </a:r>
          </a:p>
        </p:txBody>
      </p:sp>
      <p:cxnSp>
        <p:nvCxnSpPr>
          <p:cNvPr id="19" name="Connector 18"/>
          <p:cNvCxnSpPr/>
          <p:nvPr/>
        </p:nvCxnSpPr>
        <p:spPr>
          <a:xfrm>
            <a:off x="365760" y="6428232"/>
            <a:ext cx="9189720" cy="0"/>
          </a:xfrm>
          <a:prstGeom prst="line">
            <a:avLst/>
          </a:prstGeom>
          <a:ln w="5715">
            <a:solidFill>
              <a:srgbClr val="000000"/>
            </a:solidFill>
          </a:ln>
          <a:effectLst/>
        </p:spPr>
      </p:cxnSp>
      <p:sp>
        <p:nvSpPr>
          <p:cNvPr id="20" name="TextBox 19"/>
          <p:cNvSpPr txBox="1"/>
          <p:nvPr/>
        </p:nvSpPr>
        <p:spPr>
          <a:xfrm>
            <a:off x="393192" y="6483096"/>
            <a:ext cx="8595360" cy="256032"/>
          </a:xfrm>
          <a:prstGeom prst="rect">
            <a:avLst/>
          </a:prstGeom>
          <a:noFill/>
        </p:spPr>
        <p:txBody>
          <a:bodyPr wrap="square" lIns="22860" rIns="22860" tIns="22860" bIns="22860" anchor="t">
            <a:spAutoFit/>
          </a:bodyPr>
          <a:lstStyle/>
          <a:p>
            <a:pPr algn="l">
              <a:lnSpc>
                <a:spcPct val="108000"/>
              </a:lnSpc>
              <a:spcBef>
                <a:spcPts val="0"/>
              </a:spcBef>
              <a:spcAft>
                <a:spcPts val="200"/>
              </a:spcAft>
            </a:pPr>
            <a:r>
              <a:rPr sz="770" b="0">
                <a:solidFill>
                  <a:srgbClr val="555555"/>
                </a:solidFill>
                <a:latin typeface="Malgun Gothic"/>
                <a:ea typeface="Malgun Gothic"/>
                <a:cs typeface="Malgun Gothic"/>
              </a:rPr>
              <a:t>V2 원자료 및 V3 추가 분석 전체 | Report V3 / Data V2 (63/60)</a:t>
            </a:r>
          </a:p>
        </p:txBody>
      </p:sp>
      <p:sp>
        <p:nvSpPr>
          <p:cNvPr id="21" name="TextBox 20"/>
          <p:cNvSpPr txBox="1"/>
          <p:nvPr/>
        </p:nvSpPr>
        <p:spPr>
          <a:xfrm>
            <a:off x="8997696" y="6483096"/>
            <a:ext cx="521207" cy="210312"/>
          </a:xfrm>
          <a:prstGeom prst="rect">
            <a:avLst/>
          </a:prstGeom>
          <a:noFill/>
        </p:spPr>
        <p:txBody>
          <a:bodyPr wrap="square" lIns="22860" rIns="22860" tIns="22860" bIns="22860" anchor="t">
            <a:spAutoFit/>
          </a:bodyPr>
          <a:lstStyle/>
          <a:p>
            <a:pPr algn="r">
              <a:lnSpc>
                <a:spcPct val="108000"/>
              </a:lnSpc>
              <a:spcBef>
                <a:spcPts val="0"/>
              </a:spcBef>
              <a:spcAft>
                <a:spcPts val="200"/>
              </a:spcAft>
            </a:pPr>
            <a:r>
              <a:rPr sz="850" b="0">
                <a:solidFill>
                  <a:srgbClr val="000000"/>
                </a:solidFill>
                <a:latin typeface="Malgun Gothic"/>
                <a:ea typeface="Malgun Gothic"/>
                <a:cs typeface="Malgun Gothic"/>
              </a:rPr>
              <a:t>58/58</a:t>
            </a:r>
          </a:p>
        </p:txBody>
      </p:sp>
      <p:sp>
        <p:nvSpPr>
          <p:cNvPr id="22" name="TextBox 21">
            <a:hlinkClick action="ppaction://hlinksldjump" r:id="rId3"/>
          </p:cNvPr>
          <p:cNvSpPr txBox="1"/>
          <p:nvPr/>
        </p:nvSpPr>
        <p:spPr>
          <a:xfrm>
            <a:off x="6080760"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시험 구성 3쪽</a:t>
            </a:r>
          </a:p>
        </p:txBody>
      </p:sp>
      <p:sp>
        <p:nvSpPr>
          <p:cNvPr id="23" name="TextBox 22">
            <a:hlinkClick action="ppaction://hlinksldjump" r:id="rId4"/>
          </p:cNvPr>
          <p:cNvSpPr txBox="1"/>
          <p:nvPr/>
        </p:nvSpPr>
        <p:spPr>
          <a:xfrm>
            <a:off x="7232904"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용어집 36쪽</a:t>
            </a:r>
          </a:p>
        </p:txBody>
      </p:sp>
      <p:sp>
        <p:nvSpPr>
          <p:cNvPr id="24" name="TextBox 23">
            <a:hlinkClick action="ppaction://hlinksldjump" r:id="rId5"/>
          </p:cNvPr>
          <p:cNvSpPr txBox="1"/>
          <p:nvPr/>
        </p:nvSpPr>
        <p:spPr>
          <a:xfrm>
            <a:off x="8385048" y="6702552"/>
            <a:ext cx="1133856" cy="128016"/>
          </a:xfrm>
          <a:prstGeom prst="rect">
            <a:avLst/>
          </a:prstGeom>
          <a:noFill/>
        </p:spPr>
        <p:txBody>
          <a:bodyPr wrap="square" lIns="0" rIns="0" tIns="0" bIns="0" anchor="t">
            <a:spAutoFit/>
          </a:bodyPr>
          <a:lstStyle/>
          <a:p>
            <a:pPr algn="r">
              <a:lnSpc>
                <a:spcPct val="108000"/>
              </a:lnSpc>
              <a:spcBef>
                <a:spcPts val="0"/>
              </a:spcBef>
              <a:spcAft>
                <a:spcPts val="200"/>
              </a:spcAft>
            </a:pPr>
            <a:r>
              <a:rPr sz="780" b="0">
                <a:solidFill>
                  <a:srgbClr val="0056A6"/>
                </a:solidFill>
                <a:latin typeface="Malgun Gothic"/>
                <a:ea typeface="Malgun Gothic"/>
                <a:cs typeface="Malgun Gothic"/>
              </a:rPr>
              <a:t>본문 결과 25쪽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OBCM V2G 저부하 운전영역의 계통 전류 THD 설계기준 만족률 향상 / V4</dc:title>
  <dc:subject>Six Sigma BB / Report V4, verified terminology and frozen V2 data</dc:subject>
  <dc:creator>백승우</dc:creator>
  <cp:keywords>DMAIC,THD,V2G,numerical simulation</cp:keywords>
  <dc:description>Source-grounded presentation. Not hardware validation or BB approval.</dc:description>
  <cp:lastModifiedBy>Steve Canny</cp:lastModifiedBy>
  <cp:revision>1</cp:revision>
  <dcterms:created xsi:type="dcterms:W3CDTF">2013-01-27T09:14:16Z</dcterms:created>
  <dcterms:modified xsi:type="dcterms:W3CDTF">2013-01-27T09:15:58Z</dcterms:modified>
  <cp:category/>
</cp:coreProperties>
</file>