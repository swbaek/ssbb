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9905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초기 평균 THD</c:v>
                </c:pt>
              </c:strCache>
            </c:strRef>
          </c:tx>
          <c:spPr>
            <a:solidFill>
              <a:srgbClr val="757575"/>
            </a:solidFill>
            <a:ln w="22860">
              <a:solidFill>
                <a:srgbClr val="757575"/>
              </a:solidFill>
            </a:ln>
          </c:spPr>
          <c:cat>
            <c:strRef>
              <c:f>Sheet1!$A$2:$A$4</c:f>
              <c:strCache>
                <c:ptCount val="3"/>
                <c:pt idx="0">
                  <c:v>≤8 Arms</c:v>
                </c:pt>
                <c:pt idx="1">
                  <c:v>8~24 Arms</c:v>
                </c:pt>
                <c:pt idx="2">
                  <c:v>24~48 Arms</c:v>
                </c:pt>
              </c:strCache>
            </c:strRef>
          </c:cat>
          <c:val>
            <c:numRef>
              <c:f>Sheet1!$B$2:$B$4</c:f>
              <c:numCache>
                <c:formatCode>General</c:formatCode>
                <c:ptCount val="3"/>
                <c:pt idx="0">
                  <c:v>5.81999046092</c:v>
                </c:pt>
                <c:pt idx="1">
                  <c:v>2.52100526903</c:v>
                </c:pt>
                <c:pt idx="2">
                  <c:v>1.0162705334</c:v>
                </c:pt>
              </c:numCache>
            </c:numRef>
          </c:val>
        </c:ser>
        <c:dLbls>
          <c:numFmt formatCode="0.00" sourceLinked="0"/>
          <c:txPr>
            <a:bodyPr/>
            <a:lstStyle/>
            <a:p>
              <a:pPr>
                <a:defRPr sz="1000">
                  <a:latin typeface="Malgun Gothic"/>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13994440"/>
        <c:crosses val="autoZero"/>
        <c:auto val="1"/>
        <c:lblAlgn val="ctr"/>
        <c:lblOffset val="100"/>
        <c:noMultiLvlLbl val="0"/>
      </c:catAx>
      <c:valAx>
        <c:axId val="-2113994440"/>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068027336"/>
        <c:crosses val="autoZero"/>
      </c:valAx>
    </c:plotArea>
    <c:dispBlanksAs val="gap"/>
  </c:chart>
  <c:txPr>
    <a:bodyPr/>
    <a:lstStyle/>
    <a:p>
      <a:pPr>
        <a:defRPr sz="1000">
          <a:latin typeface="Malgun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Kr별 평균 THD</c:v>
                </c:pt>
              </c:strCache>
            </c:strRef>
          </c:tx>
          <c:spPr>
            <a:solidFill>
              <a:srgbClr val="0056A6"/>
            </a:solidFill>
            <a:ln w="22860">
              <a:solidFill>
                <a:srgbClr val="0056A6"/>
              </a:solidFill>
            </a:ln>
          </c:spPr>
          <c:marker>
            <c:symbol val="circle"/>
            <c:size val="4"/>
            <c:spPr>
              <a:solidFill>
                <a:srgbClr val="0056A6"/>
              </a:solidFill>
              <a:ln>
                <a:solidFill>
                  <a:srgbClr val="0056A6"/>
                </a:solidFill>
              </a:ln>
            </c:spPr>
          </c:marker>
          <c:cat>
            <c:strRef>
              <c:f>Sheet1!$A$2:$A$4</c:f>
              <c:strCache>
                <c:ptCount val="3"/>
                <c:pt idx="0">
                  <c:v>6 Ω</c:v>
                </c:pt>
                <c:pt idx="1">
                  <c:v>12 Ω</c:v>
                </c:pt>
                <c:pt idx="2">
                  <c:v>18 Ω</c:v>
                </c:pt>
              </c:strCache>
            </c:strRef>
          </c:cat>
          <c:val>
            <c:numRef>
              <c:f>Sheet1!$B$2:$B$4</c:f>
              <c:numCache>
                <c:formatCode>General</c:formatCode>
                <c:ptCount val="3"/>
                <c:pt idx="0">
                  <c:v>2.42251859106</c:v>
                </c:pt>
                <c:pt idx="1">
                  <c:v>2.09150696649</c:v>
                </c:pt>
                <c:pt idx="2">
                  <c:v>1.96484419866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0"/>
          <c:min val="1.5"/>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fc별 평균 THD</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Sheet1!$A$2:$A$4</c:f>
              <c:strCache>
                <c:ptCount val="3"/>
                <c:pt idx="0">
                  <c:v>4 Hz</c:v>
                </c:pt>
                <c:pt idx="1">
                  <c:v>8 Hz</c:v>
                </c:pt>
                <c:pt idx="2">
                  <c:v>16 Hz</c:v>
                </c:pt>
              </c:strCache>
            </c:strRef>
          </c:cat>
          <c:val>
            <c:numRef>
              <c:f>Sheet1!$B$2:$B$4</c:f>
              <c:numCache>
                <c:formatCode>General</c:formatCode>
                <c:ptCount val="3"/>
                <c:pt idx="0">
                  <c:v>2.15136550214</c:v>
                </c:pt>
                <c:pt idx="1">
                  <c:v>2.17100588876</c:v>
                </c:pt>
                <c:pt idx="2">
                  <c:v>2.15649836532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0"/>
          <c:min val="1.5"/>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차수별 평균 THD</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3</c:v>
                </c:pt>
                <c:pt idx="1">
                  <c:v>3·5</c:v>
                </c:pt>
                <c:pt idx="2">
                  <c:v>3·5·7</c:v>
                </c:pt>
              </c:strCache>
            </c:strRef>
          </c:cat>
          <c:val>
            <c:numRef>
              <c:f>Sheet1!$B$2:$B$4</c:f>
              <c:numCache>
                <c:formatCode>General</c:formatCode>
                <c:ptCount val="3"/>
                <c:pt idx="0">
                  <c:v>2.5878737704</c:v>
                </c:pt>
                <c:pt idx="1">
                  <c:v>2.0731499826</c:v>
                </c:pt>
                <c:pt idx="2">
                  <c:v>1.81784600322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0"/>
          <c:min val="1.5"/>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3차까지</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Sheet1!$A$2:$A$4</c:f>
              <c:strCache>
                <c:ptCount val="3"/>
                <c:pt idx="0">
                  <c:v>6</c:v>
                </c:pt>
                <c:pt idx="1">
                  <c:v>12</c:v>
                </c:pt>
                <c:pt idx="2">
                  <c:v>18</c:v>
                </c:pt>
              </c:strCache>
            </c:strRef>
          </c:cat>
          <c:val>
            <c:numRef>
              <c:f>Sheet1!$B$2:$B$4</c:f>
              <c:numCache>
                <c:formatCode>General</c:formatCode>
                <c:ptCount val="3"/>
                <c:pt idx="0">
                  <c:v>2.759585592621111</c:v>
                </c:pt>
                <c:pt idx="1">
                  <c:v>2.543435586431111</c:v>
                </c:pt>
                <c:pt idx="2">
                  <c:v>2.4606001321392594</c:v>
                </c:pt>
              </c:numCache>
            </c:numRef>
          </c:val>
          <c:smooth val="0"/>
        </c:ser>
        <c:ser>
          <c:idx val="1"/>
          <c:order val="1"/>
          <c:tx>
            <c:strRef>
              <c:f>Sheet1!$C$1</c:f>
              <c:strCache>
                <c:ptCount val="1"/>
                <c:pt idx="0">
                  <c:v>5차까지</c:v>
                </c:pt>
              </c:strCache>
            </c:strRef>
          </c:tx>
          <c:spPr>
            <a:solidFill>
              <a:srgbClr val="0056A6"/>
            </a:solidFill>
            <a:ln w="22860">
              <a:solidFill>
                <a:srgbClr val="0056A6"/>
              </a:solidFill>
            </a:ln>
          </c:spPr>
          <c:marker>
            <c:symbol val="circle"/>
            <c:size val="4"/>
            <c:spPr>
              <a:solidFill>
                <a:srgbClr val="0056A6"/>
              </a:solidFill>
              <a:ln>
                <a:solidFill>
                  <a:srgbClr val="0056A6"/>
                </a:solidFill>
              </a:ln>
            </c:spPr>
          </c:marker>
          <c:cat>
            <c:strRef>
              <c:f>Sheet1!$A$2:$A$4</c:f>
              <c:strCache>
                <c:ptCount val="3"/>
                <c:pt idx="0">
                  <c:v>6</c:v>
                </c:pt>
                <c:pt idx="1">
                  <c:v>12</c:v>
                </c:pt>
                <c:pt idx="2">
                  <c:v>18</c:v>
                </c:pt>
              </c:strCache>
            </c:strRef>
          </c:cat>
          <c:val>
            <c:numRef>
              <c:f>Sheet1!$C$2:$C$4</c:f>
              <c:numCache>
                <c:formatCode>General</c:formatCode>
                <c:ptCount val="3"/>
                <c:pt idx="0">
                  <c:v>2.3464028986696297</c:v>
                </c:pt>
                <c:pt idx="1">
                  <c:v>2.0018979767437406</c:v>
                </c:pt>
                <c:pt idx="2">
                  <c:v>1.8711490723877775</c:v>
                </c:pt>
              </c:numCache>
            </c:numRef>
          </c:val>
          <c:smooth val="0"/>
        </c:ser>
        <c:ser>
          <c:idx val="2"/>
          <c:order val="2"/>
          <c:tx>
            <c:strRef>
              <c:f>Sheet1!$D$1</c:f>
              <c:strCache>
                <c:ptCount val="1"/>
                <c:pt idx="0">
                  <c:v>7차까지</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6</c:v>
                </c:pt>
                <c:pt idx="1">
                  <c:v>12</c:v>
                </c:pt>
                <c:pt idx="2">
                  <c:v>18</c:v>
                </c:pt>
              </c:strCache>
            </c:strRef>
          </c:cat>
          <c:val>
            <c:numRef>
              <c:f>Sheet1!$D$2:$D$4</c:f>
              <c:numCache>
                <c:formatCode>General</c:formatCode>
                <c:ptCount val="3"/>
                <c:pt idx="0">
                  <c:v>2.1615672818986664</c:v>
                </c:pt>
                <c:pt idx="1">
                  <c:v>1.7291873363055923</c:v>
                </c:pt>
                <c:pt idx="2">
                  <c:v>1.5627833914617038</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5"/>
          <c:min val="1.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noFill/>
            </a:ln>
          </c:spPr>
          <c:marker>
            <c:symbol val="circle"/>
            <c:size val="4"/>
            <c:spPr>
              <a:solidFill>
                <a:srgbClr val="757575"/>
              </a:solidFill>
              <a:ln>
                <a:solidFill>
                  <a:srgbClr val="757575"/>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Sheet1!$B$2:$B$48</c:f>
              <c:numCache>
                <c:formatCode>General</c:formatCode>
                <c:ptCount val="47"/>
                <c:pt idx="0">
                  <c:v>0.766333919296</c:v>
                </c:pt>
                <c:pt idx="1">
                  <c:v>1.14791926153</c:v>
                </c:pt>
                <c:pt idx="2">
                  <c:v>2.26405142582</c:v>
                </c:pt>
                <c:pt idx="3">
                  <c:v>4.27355174917</c:v>
                </c:pt>
                <c:pt idx="4">
                  <c:v>7.49882742922</c:v>
                </c:pt>
                <c:pt idx="5">
                  <c:v>7.4467099009</c:v>
                </c:pt>
                <c:pt idx="6">
                  <c:v>4.25628084033</c:v>
                </c:pt>
                <c:pt idx="7">
                  <c:v>2.25562086566</c:v>
                </c:pt>
                <c:pt idx="8">
                  <c:v>1.1470894127</c:v>
                </c:pt>
                <c:pt idx="9">
                  <c:v>0.766559986781</c:v>
                </c:pt>
                <c:pt idx="10">
                  <c:v>1.13985569773</c:v>
                </c:pt>
                <c:pt idx="11">
                  <c:v>2.20215566623</c:v>
                </c:pt>
                <c:pt idx="12">
                  <c:v>3.82537315671</c:v>
                </c:pt>
                <c:pt idx="13">
                  <c:v>5.4334550916</c:v>
                </c:pt>
                <c:pt idx="14">
                  <c:v>7.80995445731</c:v>
                </c:pt>
                <c:pt idx="15">
                  <c:v>5.45145805416</c:v>
                </c:pt>
                <c:pt idx="16">
                  <c:v>3.83690655737</c:v>
                </c:pt>
                <c:pt idx="17">
                  <c:v>2.20356622508</c:v>
                </c:pt>
                <c:pt idx="18">
                  <c:v>1.14261749117</c:v>
                </c:pt>
                <c:pt idx="19">
                  <c:v>1.11517662443</c:v>
                </c:pt>
                <c:pt idx="20">
                  <c:v>2.03484760745</c:v>
                </c:pt>
                <c:pt idx="21">
                  <c:v>3.05103401252</c:v>
                </c:pt>
                <c:pt idx="22">
                  <c:v>3.72105692492</c:v>
                </c:pt>
                <c:pt idx="23">
                  <c:v>4.38968616463</c:v>
                </c:pt>
                <c:pt idx="24">
                  <c:v>3.70923373212</c:v>
                </c:pt>
                <c:pt idx="25">
                  <c:v>3.05727488597</c:v>
                </c:pt>
                <c:pt idx="26">
                  <c:v>2.02965383676</c:v>
                </c:pt>
                <c:pt idx="27">
                  <c:v>1.11983835181</c:v>
                </c:pt>
                <c:pt idx="28">
                  <c:v>1.03011731775</c:v>
                </c:pt>
                <c:pt idx="29">
                  <c:v>1.60415498625</c:v>
                </c:pt>
                <c:pt idx="30">
                  <c:v>1.98541030409</c:v>
                </c:pt>
                <c:pt idx="31">
                  <c:v>2.14899279135</c:v>
                </c:pt>
                <c:pt idx="32">
                  <c:v>2.24426101709</c:v>
                </c:pt>
                <c:pt idx="33">
                  <c:v>2.13358299852</c:v>
                </c:pt>
                <c:pt idx="34">
                  <c:v>1.98472730347</c:v>
                </c:pt>
                <c:pt idx="35">
                  <c:v>1.60719581413</c:v>
                </c:pt>
                <c:pt idx="36">
                  <c:v>1.03106556723</c:v>
                </c:pt>
                <c:pt idx="37">
                  <c:v>0.814618526758</c:v>
                </c:pt>
                <c:pt idx="38">
                  <c:v>1.01733004746</c:v>
                </c:pt>
                <c:pt idx="39">
                  <c:v>1.09256372094</c:v>
                </c:pt>
                <c:pt idx="40">
                  <c:v>1.11190971363</c:v>
                </c:pt>
                <c:pt idx="41">
                  <c:v>1.12256655436</c:v>
                </c:pt>
                <c:pt idx="42">
                  <c:v>1.10596698851</c:v>
                </c:pt>
                <c:pt idx="43">
                  <c:v>1.08163779616</c:v>
                </c:pt>
                <c:pt idx="44">
                  <c:v>1.00994618424</c:v>
                </c:pt>
                <c:pt idx="45">
                  <c:v>0.81472899309</c:v>
                </c:pt>
                <c:pt idx="46">
                  <c:v>0.747568512439</c:v>
                </c:pt>
              </c:numCache>
            </c:numRef>
          </c:val>
          <c:smooth val="0"/>
        </c:ser>
        <c:ser>
          <c:idx val="1"/>
          <c:order val="1"/>
          <c:tx>
            <c:strRef>
              <c:f>Sheet1!$C$1</c:f>
              <c:strCache>
                <c:ptCount val="1"/>
                <c:pt idx="0">
                  <c:v>선정안</c:v>
                </c:pt>
              </c:strCache>
            </c:strRef>
          </c:tx>
          <c:spPr>
            <a:solidFill>
              <a:srgbClr val="008000"/>
            </a:solidFill>
            <a:ln w="22860">
              <a:noFill/>
            </a:ln>
          </c:spPr>
          <c:marker>
            <c:symbol val="circle"/>
            <c:size val="4"/>
            <c:spPr>
              <a:solidFill>
                <a:srgbClr val="008000"/>
              </a:solidFill>
              <a:ln>
                <a:solidFill>
                  <a:srgbClr val="008000"/>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Sheet1!$C$2:$C$48</c:f>
              <c:numCache>
                <c:formatCode>General</c:formatCode>
                <c:ptCount val="47"/>
                <c:pt idx="0">
                  <c:v>0.351934379874</c:v>
                </c:pt>
                <c:pt idx="1">
                  <c:v>0.524775236264</c:v>
                </c:pt>
                <c:pt idx="2">
                  <c:v>1.00438577823</c:v>
                </c:pt>
                <c:pt idx="3">
                  <c:v>1.72466431026</c:v>
                </c:pt>
                <c:pt idx="4">
                  <c:v>2.65690926421</c:v>
                </c:pt>
                <c:pt idx="5">
                  <c:v>2.6113657314</c:v>
                </c:pt>
                <c:pt idx="6">
                  <c:v>1.69205985908</c:v>
                </c:pt>
                <c:pt idx="7">
                  <c:v>0.994070287671</c:v>
                </c:pt>
                <c:pt idx="8">
                  <c:v>0.520224783982</c:v>
                </c:pt>
                <c:pt idx="9">
                  <c:v>0.349351403412</c:v>
                </c:pt>
                <c:pt idx="10">
                  <c:v>0.520908253761</c:v>
                </c:pt>
                <c:pt idx="11">
                  <c:v>0.97759184699</c:v>
                </c:pt>
                <c:pt idx="12">
                  <c:v>1.52956980976</c:v>
                </c:pt>
                <c:pt idx="13">
                  <c:v>1.8992061695</c:v>
                </c:pt>
                <c:pt idx="14">
                  <c:v>3.16701355525</c:v>
                </c:pt>
                <c:pt idx="15">
                  <c:v>1.89961766468</c:v>
                </c:pt>
                <c:pt idx="16">
                  <c:v>1.53383002788</c:v>
                </c:pt>
                <c:pt idx="17">
                  <c:v>0.975493616845</c:v>
                </c:pt>
                <c:pt idx="18">
                  <c:v>0.522901682129</c:v>
                </c:pt>
                <c:pt idx="19">
                  <c:v>0.512198467421</c:v>
                </c:pt>
                <c:pt idx="20">
                  <c:v>0.906876249525</c:v>
                </c:pt>
                <c:pt idx="21">
                  <c:v>1.21982183385</c:v>
                </c:pt>
                <c:pt idx="22">
                  <c:v>1.45003451936</c:v>
                </c:pt>
                <c:pt idx="23">
                  <c:v>1.97640664848</c:v>
                </c:pt>
                <c:pt idx="24">
                  <c:v>1.46147209464</c:v>
                </c:pt>
                <c:pt idx="25">
                  <c:v>1.21707870129</c:v>
                </c:pt>
                <c:pt idx="26">
                  <c:v>0.89839772067</c:v>
                </c:pt>
                <c:pt idx="27">
                  <c:v>0.513789823184</c:v>
                </c:pt>
                <c:pt idx="28">
                  <c:v>0.474181298044</c:v>
                </c:pt>
                <c:pt idx="29">
                  <c:v>0.70914706439</c:v>
                </c:pt>
                <c:pt idx="30">
                  <c:v>0.871868227723</c:v>
                </c:pt>
                <c:pt idx="31">
                  <c:v>0.959638958945</c:v>
                </c:pt>
                <c:pt idx="32">
                  <c:v>1.02266380568</c:v>
                </c:pt>
                <c:pt idx="33">
                  <c:v>0.948189726414</c:v>
                </c:pt>
                <c:pt idx="34">
                  <c:v>0.882057978071</c:v>
                </c:pt>
                <c:pt idx="35">
                  <c:v>0.711459672957</c:v>
                </c:pt>
                <c:pt idx="36">
                  <c:v>0.471892671142</c:v>
                </c:pt>
                <c:pt idx="37">
                  <c:v>0.372104932295</c:v>
                </c:pt>
                <c:pt idx="38">
                  <c:v>0.467921015015</c:v>
                </c:pt>
                <c:pt idx="39">
                  <c:v>0.500610481281</c:v>
                </c:pt>
                <c:pt idx="40">
                  <c:v>0.509679436428</c:v>
                </c:pt>
                <c:pt idx="41">
                  <c:v>0.512081212462</c:v>
                </c:pt>
                <c:pt idx="42">
                  <c:v>0.495444188331</c:v>
                </c:pt>
                <c:pt idx="43">
                  <c:v>0.491420937985</c:v>
                </c:pt>
                <c:pt idx="44">
                  <c:v>0.471077216918</c:v>
                </c:pt>
                <c:pt idx="45">
                  <c:v>0.372623314523</c:v>
                </c:pt>
                <c:pt idx="46">
                  <c:v>0.340695175804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초기 THD</c:v>
                </c:pt>
              </c:strCache>
            </c:strRef>
          </c:tx>
          <c:spPr>
            <a:solidFill>
              <a:srgbClr val="757575"/>
            </a:solidFill>
            <a:ln w="22860">
              <a:solidFill>
                <a:srgbClr val="757575"/>
              </a:solidFill>
            </a:ln>
          </c:spPr>
          <c:cat>
            <c:strRef>
              <c:f>Sheet1!$A$2:$A$9</c:f>
              <c:strCache>
                <c:ptCount val="8"/>
                <c:pt idx="0">
                  <c:v>N004</c:v>
                </c:pt>
                <c:pt idx="1">
                  <c:v>N005</c:v>
                </c:pt>
                <c:pt idx="2">
                  <c:v>N006</c:v>
                </c:pt>
                <c:pt idx="3">
                  <c:v>N007</c:v>
                </c:pt>
                <c:pt idx="4">
                  <c:v>N014</c:v>
                </c:pt>
                <c:pt idx="5">
                  <c:v>N015</c:v>
                </c:pt>
                <c:pt idx="6">
                  <c:v>N016</c:v>
                </c:pt>
                <c:pt idx="7">
                  <c:v>N024</c:v>
                </c:pt>
              </c:strCache>
            </c:strRef>
          </c:cat>
          <c:val>
            <c:numRef>
              <c:f>Sheet1!$B$2:$B$9</c:f>
              <c:numCache>
                <c:formatCode>General</c:formatCode>
                <c:ptCount val="8"/>
                <c:pt idx="0">
                  <c:v>4.27355174917</c:v>
                </c:pt>
                <c:pt idx="1">
                  <c:v>7.49882742922</c:v>
                </c:pt>
                <c:pt idx="2">
                  <c:v>7.4467099009</c:v>
                </c:pt>
                <c:pt idx="3">
                  <c:v>4.25628084033</c:v>
                </c:pt>
                <c:pt idx="4">
                  <c:v>5.4334550916</c:v>
                </c:pt>
                <c:pt idx="5">
                  <c:v>7.80995445731</c:v>
                </c:pt>
                <c:pt idx="6">
                  <c:v>5.45145805416</c:v>
                </c:pt>
                <c:pt idx="7">
                  <c:v>4.38968616463</c:v>
                </c:pt>
              </c:numCache>
            </c:numRef>
          </c:val>
        </c:ser>
        <c:ser>
          <c:idx val="1"/>
          <c:order val="1"/>
          <c:tx>
            <c:strRef>
              <c:f>Sheet1!$C$1</c:f>
              <c:strCache>
                <c:ptCount val="1"/>
                <c:pt idx="0">
                  <c:v>선정 THD</c:v>
                </c:pt>
              </c:strCache>
            </c:strRef>
          </c:tx>
          <c:spPr>
            <a:solidFill>
              <a:srgbClr val="008000"/>
            </a:solidFill>
            <a:ln w="22860">
              <a:solidFill>
                <a:srgbClr val="008000"/>
              </a:solidFill>
            </a:ln>
          </c:spPr>
          <c:cat>
            <c:strRef>
              <c:f>Sheet1!$A$2:$A$9</c:f>
              <c:strCache>
                <c:ptCount val="8"/>
                <c:pt idx="0">
                  <c:v>N004</c:v>
                </c:pt>
                <c:pt idx="1">
                  <c:v>N005</c:v>
                </c:pt>
                <c:pt idx="2">
                  <c:v>N006</c:v>
                </c:pt>
                <c:pt idx="3">
                  <c:v>N007</c:v>
                </c:pt>
                <c:pt idx="4">
                  <c:v>N014</c:v>
                </c:pt>
                <c:pt idx="5">
                  <c:v>N015</c:v>
                </c:pt>
                <c:pt idx="6">
                  <c:v>N016</c:v>
                </c:pt>
                <c:pt idx="7">
                  <c:v>N024</c:v>
                </c:pt>
              </c:strCache>
            </c:strRef>
          </c:cat>
          <c:val>
            <c:numRef>
              <c:f>Sheet1!$C$2:$C$9</c:f>
              <c:numCache>
                <c:formatCode>General</c:formatCode>
                <c:ptCount val="8"/>
                <c:pt idx="0">
                  <c:v>1.72466431026</c:v>
                </c:pt>
                <c:pt idx="1">
                  <c:v>2.65690926421</c:v>
                </c:pt>
                <c:pt idx="2">
                  <c:v>2.6113657314</c:v>
                </c:pt>
                <c:pt idx="3">
                  <c:v>1.69205985908</c:v>
                </c:pt>
                <c:pt idx="4">
                  <c:v>1.8992061695</c:v>
                </c:pt>
                <c:pt idx="5">
                  <c:v>3.16701355525</c:v>
                </c:pt>
                <c:pt idx="6">
                  <c:v>1.89961766468</c:v>
                </c:pt>
                <c:pt idx="7">
                  <c:v>1.97640664848</c:v>
                </c:pt>
              </c:numCache>
            </c:numRef>
          </c:val>
        </c:ser>
        <c:dLbls>
          <c:numFmt formatCode="0.00" sourceLinked="0"/>
          <c:txPr>
            <a:bodyPr/>
            <a:lstStyle/>
            <a:p>
              <a:pPr>
                <a:defRPr sz="1000">
                  <a:latin typeface="Malgun Gothic"/>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13994440"/>
        <c:crosses val="autoZero"/>
        <c:auto val="1"/>
        <c:lblAlgn val="ctr"/>
        <c:lblOffset val="100"/>
        <c:noMultiLvlLbl val="0"/>
      </c:catAx>
      <c:valAx>
        <c:axId val="-2113994440"/>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068027336"/>
        <c:crosses val="autoZero"/>
      </c:valAx>
    </c:plotArea>
    <c:legend>
      <c:legendPos val="b"/>
      <c:overlay val="0"/>
      <c:txPr>
        <a:bodyPr/>
        <a:lstStyle/>
        <a:p>
          <a:pPr>
            <a:defRPr sz="1000">
              <a:latin typeface="Malgun Gothic"/>
            </a:defRPr>
          </a:pPr>
        </a:p>
      </c:txPr>
    </c:legend>
    <c:dispBlanksAs val="gap"/>
  </c:chart>
  <c:txPr>
    <a:bodyPr/>
    <a:lstStyle/>
    <a:p>
      <a:pPr>
        <a:defRPr sz="1000">
          <a:latin typeface="Malgun Gothic"/>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solidFill>
                <a:srgbClr val="757575"/>
              </a:solidFill>
            </a:ln>
          </c:spPr>
          <c:marker>
            <c:symbol val="none"/>
          </c:marker>
          <c:cat>
            <c:strRef>
              <c:f>Sheet1!$A$2:$A$302</c:f>
              <c:strCache>
                <c:ptCount val="301"/>
                <c:pt idx="0">
                  <c:v>0.00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3.33</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6.67</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10.00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13.33</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16.67</c:v>
                </c:pt>
              </c:strCache>
            </c:strRef>
          </c:cat>
          <c:val>
            <c:numRef>
              <c:f>Sheet1!$B$2:$B$302</c:f>
              <c:numCache>
                <c:formatCode>General</c:formatCode>
                <c:ptCount val="301"/>
                <c:pt idx="0">
                  <c:v>5.962892532348633</c:v>
                </c:pt>
                <c:pt idx="1">
                  <c:v>5.8899461428316116</c:v>
                </c:pt>
                <c:pt idx="2">
                  <c:v>6.115429613338904</c:v>
                </c:pt>
                <c:pt idx="3">
                  <c:v>5.823178132375081</c:v>
                </c:pt>
                <c:pt idx="4">
                  <c:v>6.27246681848012</c:v>
                </c:pt>
                <c:pt idx="5">
                  <c:v>5.736858208977588</c:v>
                </c:pt>
                <c:pt idx="6">
                  <c:v>6.239686806991538</c:v>
                </c:pt>
                <c:pt idx="7">
                  <c:v>5.626909626852193</c:v>
                </c:pt>
                <c:pt idx="8">
                  <c:v>6.138900227019503</c:v>
                </c:pt>
                <c:pt idx="9">
                  <c:v>5.502635002144255</c:v>
                </c:pt>
                <c:pt idx="10">
                  <c:v>6.024568928611697</c:v>
                </c:pt>
                <c:pt idx="11">
                  <c:v>5.360166920554115</c:v>
                </c:pt>
                <c:pt idx="12">
                  <c:v>5.89852507909139</c:v>
                </c:pt>
                <c:pt idx="13">
                  <c:v>5.1976210276256944</c:v>
                </c:pt>
                <c:pt idx="14">
                  <c:v>5.753220081332292</c:v>
                </c:pt>
                <c:pt idx="15">
                  <c:v>5.247776190429968</c:v>
                </c:pt>
                <c:pt idx="16">
                  <c:v>5.592642784120712</c:v>
                </c:pt>
                <c:pt idx="17">
                  <c:v>5.383265813212307</c:v>
                </c:pt>
                <c:pt idx="18">
                  <c:v>5.415188789367676</c:v>
                </c:pt>
                <c:pt idx="19">
                  <c:v>5.510035885685984</c:v>
                </c:pt>
                <c:pt idx="20">
                  <c:v>5.219486554461419</c:v>
                </c:pt>
                <c:pt idx="21">
                  <c:v>5.636911710113288</c:v>
                </c:pt>
                <c:pt idx="22">
                  <c:v>5.0023408995698055</c:v>
                </c:pt>
                <c:pt idx="23">
                  <c:v>5.657560719386884</c:v>
                </c:pt>
                <c:pt idx="24">
                  <c:v>4.768427848815918</c:v>
                </c:pt>
                <c:pt idx="25">
                  <c:v>5.4613111284058204</c:v>
                </c:pt>
                <c:pt idx="26">
                  <c:v>4.509257316590713</c:v>
                </c:pt>
                <c:pt idx="27">
                  <c:v>5.287540912628174</c:v>
                </c:pt>
                <c:pt idx="28">
                  <c:v>4.286584589216849</c:v>
                </c:pt>
                <c:pt idx="29">
                  <c:v>5.0506277614214055</c:v>
                </c:pt>
                <c:pt idx="30">
                  <c:v>4.129601796465646</c:v>
                </c:pt>
                <c:pt idx="31">
                  <c:v>4.790099143977221</c:v>
                </c:pt>
                <c:pt idx="32">
                  <c:v>4.043322881077165</c:v>
                </c:pt>
                <c:pt idx="33">
                  <c:v>4.513401826222737</c:v>
                </c:pt>
                <c:pt idx="34">
                  <c:v>4.083496093733384</c:v>
                </c:pt>
                <c:pt idx="35">
                  <c:v>4.216746118335371</c:v>
                </c:pt>
                <c:pt idx="36">
                  <c:v>4.095261096954346</c:v>
                </c:pt>
                <c:pt idx="37">
                  <c:v>3.8909575144431154</c:v>
                </c:pt>
                <c:pt idx="38">
                  <c:v>4.081131378824974</c:v>
                </c:pt>
                <c:pt idx="39">
                  <c:v>3.540384213129679</c:v>
                </c:pt>
                <c:pt idx="40">
                  <c:v>4.043493933135615</c:v>
                </c:pt>
                <c:pt idx="41">
                  <c:v>3.1696274545541443</c:v>
                </c:pt>
                <c:pt idx="42">
                  <c:v>3.9543644587308706</c:v>
                </c:pt>
                <c:pt idx="43">
                  <c:v>2.7898165384868436</c:v>
                </c:pt>
                <c:pt idx="44">
                  <c:v>3.891770760211733</c:v>
                </c:pt>
                <c:pt idx="45">
                  <c:v>2.464190959945096</c:v>
                </c:pt>
                <c:pt idx="46">
                  <c:v>3.6382330788487316</c:v>
                </c:pt>
                <c:pt idx="47">
                  <c:v>2.4217137230706434</c:v>
                </c:pt>
                <c:pt idx="48">
                  <c:v>3.2679872512817383</c:v>
                </c:pt>
                <c:pt idx="49">
                  <c:v>2.354493379598575</c:v>
                </c:pt>
                <c:pt idx="50">
                  <c:v>2.9180246989011955</c:v>
                </c:pt>
                <c:pt idx="51">
                  <c:v>2.2591312726285833</c:v>
                </c:pt>
                <c:pt idx="52">
                  <c:v>2.487844599634597</c:v>
                </c:pt>
                <c:pt idx="53">
                  <c:v>2.143657101534953</c:v>
                </c:pt>
                <c:pt idx="54">
                  <c:v>2.035997152328491</c:v>
                </c:pt>
                <c:pt idx="55">
                  <c:v>2.0014009740528227</c:v>
                </c:pt>
                <c:pt idx="56">
                  <c:v>1.5598223871869763</c:v>
                </c:pt>
                <c:pt idx="57">
                  <c:v>1.8373454411824544</c:v>
                </c:pt>
                <c:pt idx="58">
                  <c:v>1.0567635430133653</c:v>
                </c:pt>
                <c:pt idx="59">
                  <c:v>1.6415588193433455</c:v>
                </c:pt>
                <c:pt idx="60">
                  <c:v>0.821207602818807</c:v>
                </c:pt>
                <c:pt idx="61">
                  <c:v>1.423582567106888</c:v>
                </c:pt>
                <c:pt idx="62">
                  <c:v>0.6863390670852886</c:v>
                </c:pt>
                <c:pt idx="63">
                  <c:v>1.1778346300043399</c:v>
                </c:pt>
                <c:pt idx="64">
                  <c:v>0.5243599447964176</c:v>
                </c:pt>
                <c:pt idx="65">
                  <c:v>0.9070352249652516</c:v>
                </c:pt>
                <c:pt idx="66">
                  <c:v>0.3415464063444441</c:v>
                </c:pt>
                <c:pt idx="67">
                  <c:v>0.613819777967371</c:v>
                </c:pt>
                <c:pt idx="68">
                  <c:v>0.2050271431588989</c:v>
                </c:pt>
                <c:pt idx="69">
                  <c:v>0.37048131724198663</c:v>
                </c:pt>
                <c:pt idx="70">
                  <c:v>0.1570551610632368</c:v>
                </c:pt>
                <c:pt idx="71">
                  <c:v>0.15398640847962286</c:v>
                </c:pt>
                <c:pt idx="72">
                  <c:v>0.08267182111740112</c:v>
                </c:pt>
                <c:pt idx="73">
                  <c:v>0.007447682530299295</c:v>
                </c:pt>
                <c:pt idx="74">
                  <c:v>-0.021518379036152724</c:v>
                </c:pt>
                <c:pt idx="75">
                  <c:v>-0.02448235886792342</c:v>
                </c:pt>
                <c:pt idx="76">
                  <c:v>0.034361925388839434</c:v>
                </c:pt>
                <c:pt idx="77">
                  <c:v>-0.09082535323108742</c:v>
                </c:pt>
                <c:pt idx="78">
                  <c:v>-0.009783804727097351</c:v>
                </c:pt>
                <c:pt idx="79">
                  <c:v>-0.24550557798901237</c:v>
                </c:pt>
                <c:pt idx="80">
                  <c:v>-0.07444148345011398</c:v>
                </c:pt>
                <c:pt idx="81">
                  <c:v>-0.41648018359724565</c:v>
                </c:pt>
                <c:pt idx="82">
                  <c:v>-0.1537260529073106</c:v>
                </c:pt>
                <c:pt idx="83">
                  <c:v>-0.6071843239977887</c:v>
                </c:pt>
                <c:pt idx="84">
                  <c:v>-0.2817818373400627</c:v>
                </c:pt>
                <c:pt idx="85">
                  <c:v>-0.8958728909515328</c:v>
                </c:pt>
                <c:pt idx="86">
                  <c:v>-0.5096076329524162</c:v>
                </c:pt>
                <c:pt idx="87">
                  <c:v>-1.0418270031703925</c:v>
                </c:pt>
                <c:pt idx="88">
                  <c:v>-0.7974069780714627</c:v>
                </c:pt>
                <c:pt idx="89">
                  <c:v>-1.0811789698105232</c:v>
                </c:pt>
                <c:pt idx="90">
                  <c:v>-1.1273112297058105</c:v>
                </c:pt>
                <c:pt idx="91">
                  <c:v>-1.1029873954122336</c:v>
                </c:pt>
                <c:pt idx="92">
                  <c:v>-1.4883930153227716</c:v>
                </c:pt>
                <c:pt idx="93">
                  <c:v>-1.1523874998092651</c:v>
                </c:pt>
                <c:pt idx="94">
                  <c:v>-1.8696970277291494</c:v>
                </c:pt>
                <c:pt idx="95">
                  <c:v>-1.2750510242245514</c:v>
                </c:pt>
                <c:pt idx="96">
                  <c:v>-2.267245054244995</c:v>
                </c:pt>
                <c:pt idx="97">
                  <c:v>-1.534611781438703</c:v>
                </c:pt>
                <c:pt idx="98">
                  <c:v>-2.6807183159671344</c:v>
                </c:pt>
                <c:pt idx="99">
                  <c:v>-1.7341918945372792</c:v>
                </c:pt>
                <c:pt idx="100">
                  <c:v>-2.9945248232933874</c:v>
                </c:pt>
                <c:pt idx="101">
                  <c:v>-2.0786337852421215</c:v>
                </c:pt>
                <c:pt idx="102">
                  <c:v>-3.1486415068413756</c:v>
                </c:pt>
                <c:pt idx="103">
                  <c:v>-2.4429515467810425</c:v>
                </c:pt>
                <c:pt idx="104">
                  <c:v>-3.2358011669654747</c:v>
                </c:pt>
                <c:pt idx="105">
                  <c:v>-2.81627925236375</c:v>
                </c:pt>
                <c:pt idx="106">
                  <c:v>-3.289519654393592</c:v>
                </c:pt>
                <c:pt idx="107">
                  <c:v>-3.198998398248731</c:v>
                </c:pt>
                <c:pt idx="108">
                  <c:v>-3.357457399368286</c:v>
                </c:pt>
                <c:pt idx="109">
                  <c:v>-3.594925324107769</c:v>
                </c:pt>
                <c:pt idx="110">
                  <c:v>-3.433637168686617</c:v>
                </c:pt>
                <c:pt idx="111">
                  <c:v>-3.9962623914082847</c:v>
                </c:pt>
                <c:pt idx="112">
                  <c:v>-3.5160257286591907</c:v>
                </c:pt>
                <c:pt idx="113">
                  <c:v>-4.373825232184675</c:v>
                </c:pt>
                <c:pt idx="114">
                  <c:v>-3.6058006286621094</c:v>
                </c:pt>
                <c:pt idx="115">
                  <c:v>-4.623921235401438</c:v>
                </c:pt>
                <c:pt idx="116">
                  <c:v>-3.7003524833306836</c:v>
                </c:pt>
                <c:pt idx="117">
                  <c:v>-4.818457603452826</c:v>
                </c:pt>
                <c:pt idx="118">
                  <c:v>-3.8779270384052054</c:v>
                </c:pt>
                <c:pt idx="119">
                  <c:v>-4.85599125756629</c:v>
                </c:pt>
                <c:pt idx="120">
                  <c:v>-4.090796629586342</c:v>
                </c:pt>
                <c:pt idx="121">
                  <c:v>-4.896347628708288</c:v>
                </c:pt>
                <c:pt idx="122">
                  <c:v>-4.309951464325984</c:v>
                </c:pt>
                <c:pt idx="123">
                  <c:v>-4.939929485325234</c:v>
                </c:pt>
                <c:pt idx="124">
                  <c:v>-4.6812083456063585</c:v>
                </c:pt>
                <c:pt idx="125">
                  <c:v>-4.990955723657865</c:v>
                </c:pt>
                <c:pt idx="126">
                  <c:v>-5.052462577819824</c:v>
                </c:pt>
                <c:pt idx="127">
                  <c:v>-5.038197782312013</c:v>
                </c:pt>
                <c:pt idx="128">
                  <c:v>-5.4238105879660115</c:v>
                </c:pt>
                <c:pt idx="129">
                  <c:v>-5.085505644480388</c:v>
                </c:pt>
                <c:pt idx="130">
                  <c:v>-5.7650769021618595</c:v>
                </c:pt>
                <c:pt idx="131">
                  <c:v>-5.132834275568011</c:v>
                </c:pt>
                <c:pt idx="132">
                  <c:v>-5.846292972564697</c:v>
                </c:pt>
                <c:pt idx="133">
                  <c:v>-5.172354274328013</c:v>
                </c:pt>
                <c:pt idx="134">
                  <c:v>-5.850550757517192</c:v>
                </c:pt>
                <c:pt idx="135">
                  <c:v>-5.207659721383561</c:v>
                </c:pt>
                <c:pt idx="136">
                  <c:v>-5.851042641532763</c:v>
                </c:pt>
                <c:pt idx="137">
                  <c:v>-5.230710930297347</c:v>
                </c:pt>
                <c:pt idx="138">
                  <c:v>-5.847440083827259</c:v>
                </c:pt>
                <c:pt idx="139">
                  <c:v>-5.252570523161601</c:v>
                </c:pt>
                <c:pt idx="140">
                  <c:v>-5.8393717341980045</c:v>
                </c:pt>
                <c:pt idx="141">
                  <c:v>-5.461347103110259</c:v>
                </c:pt>
                <c:pt idx="142">
                  <c:v>-5.822574562501873</c:v>
                </c:pt>
                <c:pt idx="143">
                  <c:v>-5.716010941396661</c:v>
                </c:pt>
                <c:pt idx="144">
                  <c:v>-5.796624183654785</c:v>
                </c:pt>
                <c:pt idx="145">
                  <c:v>-5.933616108350736</c:v>
                </c:pt>
                <c:pt idx="146">
                  <c:v>-5.764790958834271</c:v>
                </c:pt>
                <c:pt idx="147">
                  <c:v>-6.1123277346293134</c:v>
                </c:pt>
                <c:pt idx="148">
                  <c:v>-5.715249697371498</c:v>
                </c:pt>
                <c:pt idx="149">
                  <c:v>-6.22444089254074</c:v>
                </c:pt>
                <c:pt idx="150">
                  <c:v>-5.6589070955912275</c:v>
                </c:pt>
                <c:pt idx="151">
                  <c:v>-6.162665420110024</c:v>
                </c:pt>
                <c:pt idx="152">
                  <c:v>-5.587762461770746</c:v>
                </c:pt>
                <c:pt idx="153">
                  <c:v>-6.086803436286793</c:v>
                </c:pt>
                <c:pt idx="154">
                  <c:v>-5.497635788386883</c:v>
                </c:pt>
                <c:pt idx="155">
                  <c:v>-6.004076480868016</c:v>
                </c:pt>
                <c:pt idx="156">
                  <c:v>-5.399621009831796</c:v>
                </c:pt>
                <c:pt idx="157">
                  <c:v>-5.902824348878754</c:v>
                </c:pt>
                <c:pt idx="158">
                  <c:v>-5.345967451722729</c:v>
                </c:pt>
                <c:pt idx="159">
                  <c:v>-5.7904262542751335</c:v>
                </c:pt>
                <c:pt idx="160">
                  <c:v>-5.48672358193204</c:v>
                </c:pt>
                <c:pt idx="161">
                  <c:v>-5.662972026402019</c:v>
                </c:pt>
                <c:pt idx="162">
                  <c:v>-5.626241207122803</c:v>
                </c:pt>
                <c:pt idx="163">
                  <c:v>-5.516667154105973</c:v>
                </c:pt>
                <c:pt idx="164">
                  <c:v>-5.743328571300221</c:v>
                </c:pt>
                <c:pt idx="165">
                  <c:v>-5.355433464050293</c:v>
                </c:pt>
                <c:pt idx="166">
                  <c:v>-5.869828595040913</c:v>
                </c:pt>
                <c:pt idx="167">
                  <c:v>-5.171932432390835</c:v>
                </c:pt>
                <c:pt idx="168">
                  <c:v>-5.783203919738339</c:v>
                </c:pt>
                <c:pt idx="169">
                  <c:v>-4.970398161148602</c:v>
                </c:pt>
                <c:pt idx="170">
                  <c:v>-5.612141874104854</c:v>
                </c:pt>
                <c:pt idx="171">
                  <c:v>-4.747582912455653</c:v>
                </c:pt>
                <c:pt idx="172">
                  <c:v>-5.420667118495158</c:v>
                </c:pt>
                <c:pt idx="173">
                  <c:v>-4.555452876622267</c:v>
                </c:pt>
                <c:pt idx="174">
                  <c:v>-5.209549585985863</c:v>
                </c:pt>
                <c:pt idx="175">
                  <c:v>-4.3831666840462695</c:v>
                </c:pt>
                <c:pt idx="176">
                  <c:v>-4.979736540056692</c:v>
                </c:pt>
                <c:pt idx="177">
                  <c:v>-4.404847462962738</c:v>
                </c:pt>
                <c:pt idx="178">
                  <c:v>-4.728638648995444</c:v>
                </c:pt>
                <c:pt idx="179">
                  <c:v>-4.467567443844652</c:v>
                </c:pt>
                <c:pt idx="180">
                  <c:v>-4.453790664672852</c:v>
                </c:pt>
                <c:pt idx="181">
                  <c:v>-4.503613313021652</c:v>
                </c:pt>
                <c:pt idx="182">
                  <c:v>-4.160678757572908</c:v>
                </c:pt>
                <c:pt idx="183">
                  <c:v>-4.528009414672852</c:v>
                </c:pt>
                <c:pt idx="184">
                  <c:v>-3.851083278664592</c:v>
                </c:pt>
                <c:pt idx="185">
                  <c:v>-4.488911628720408</c:v>
                </c:pt>
                <c:pt idx="186">
                  <c:v>-3.508187452968442</c:v>
                </c:pt>
                <c:pt idx="187">
                  <c:v>-4.349919425114635</c:v>
                </c:pt>
                <c:pt idx="188">
                  <c:v>-3.145698573860017</c:v>
                </c:pt>
                <c:pt idx="189">
                  <c:v>-4.253633022296272</c:v>
                </c:pt>
                <c:pt idx="190">
                  <c:v>-2.9015945858444843</c:v>
                </c:pt>
                <c:pt idx="191">
                  <c:v>-3.930264949804867</c:v>
                </c:pt>
                <c:pt idx="192">
                  <c:v>-2.8225324153763016</c:v>
                </c:pt>
                <c:pt idx="193">
                  <c:v>-3.5784445603821355</c:v>
                </c:pt>
                <c:pt idx="194">
                  <c:v>-2.7830120722386438</c:v>
                </c:pt>
                <c:pt idx="195">
                  <c:v>-3.209023714072557</c:v>
                </c:pt>
                <c:pt idx="196">
                  <c:v>-2.7244124942230457</c:v>
                </c:pt>
                <c:pt idx="197">
                  <c:v>-2.814049932694248</c:v>
                </c:pt>
                <c:pt idx="198">
                  <c:v>-2.640197992324829</c:v>
                </c:pt>
                <c:pt idx="199">
                  <c:v>-2.3973311848266077</c:v>
                </c:pt>
                <c:pt idx="200">
                  <c:v>-2.536414490792928</c:v>
                </c:pt>
                <c:pt idx="201">
                  <c:v>-1.9553666909535725</c:v>
                </c:pt>
                <c:pt idx="202">
                  <c:v>-2.40570550493877</c:v>
                </c:pt>
                <c:pt idx="203">
                  <c:v>-1.5387167533242154</c:v>
                </c:pt>
                <c:pt idx="204">
                  <c:v>-2.248994906729344</c:v>
                </c:pt>
                <c:pt idx="205">
                  <c:v>-1.2989926470643827</c:v>
                </c:pt>
                <c:pt idx="206">
                  <c:v>-2.0710572136730496</c:v>
                </c:pt>
                <c:pt idx="207">
                  <c:v>-1.1177763938835703</c:v>
                </c:pt>
                <c:pt idx="208">
                  <c:v>-1.842280719015905</c:v>
                </c:pt>
                <c:pt idx="209">
                  <c:v>-0.9946314162642136</c:v>
                </c:pt>
                <c:pt idx="210">
                  <c:v>-1.624338388436902</c:v>
                </c:pt>
                <c:pt idx="211">
                  <c:v>-0.8501640690634272</c:v>
                </c:pt>
                <c:pt idx="212">
                  <c:v>-1.3139162725963005</c:v>
                </c:pt>
                <c:pt idx="213">
                  <c:v>-0.6808927456510612</c:v>
                </c:pt>
                <c:pt idx="214">
                  <c:v>-0.8014695180941416</c:v>
                </c:pt>
                <c:pt idx="215">
                  <c:v>-0.4890891048567467</c:v>
                </c:pt>
                <c:pt idx="216">
                  <c:v>-0.35332193970680237</c:v>
                </c:pt>
                <c:pt idx="217">
                  <c:v>-0.33859108222489576</c:v>
                </c:pt>
                <c:pt idx="218">
                  <c:v>-0.15101696469099649</c:v>
                </c:pt>
                <c:pt idx="219">
                  <c:v>-0.27602551380793255</c:v>
                </c:pt>
                <c:pt idx="220">
                  <c:v>-0.017537836301168383</c:v>
                </c:pt>
                <c:pt idx="221">
                  <c:v>-0.18344699839628242</c:v>
                </c:pt>
                <c:pt idx="222">
                  <c:v>0.015795362184026843</c:v>
                </c:pt>
                <c:pt idx="223">
                  <c:v>-0.06280520392758238</c:v>
                </c:pt>
                <c:pt idx="224">
                  <c:v>0.0509974902704968</c:v>
                </c:pt>
                <c:pt idx="225">
                  <c:v>0.021030329167830108</c:v>
                </c:pt>
                <c:pt idx="226">
                  <c:v>0.035541382514843886</c:v>
                </c:pt>
                <c:pt idx="227">
                  <c:v>0.02013895050059329</c:v>
                </c:pt>
                <c:pt idx="228">
                  <c:v>0.2213835914915912</c:v>
                </c:pt>
                <c:pt idx="229">
                  <c:v>0.11022142072334778</c:v>
                </c:pt>
                <c:pt idx="230">
                  <c:v>0.38666736252184863</c:v>
                </c:pt>
                <c:pt idx="231">
                  <c:v>0.2148752907898221</c:v>
                </c:pt>
                <c:pt idx="232">
                  <c:v>0.41272174982022974</c:v>
                </c:pt>
                <c:pt idx="233">
                  <c:v>0.35442846681726864</c:v>
                </c:pt>
                <c:pt idx="234">
                  <c:v>0.43496349453926086</c:v>
                </c:pt>
                <c:pt idx="235">
                  <c:v>0.6024792922822133</c:v>
                </c:pt>
                <c:pt idx="236">
                  <c:v>0.491276853631172</c:v>
                </c:pt>
                <c:pt idx="237">
                  <c:v>0.9247941374778748</c:v>
                </c:pt>
                <c:pt idx="238">
                  <c:v>0.5157494810035336</c:v>
                </c:pt>
                <c:pt idx="239">
                  <c:v>1.2883458799743797</c:v>
                </c:pt>
                <c:pt idx="240">
                  <c:v>0.7300665974515458</c:v>
                </c:pt>
                <c:pt idx="241">
                  <c:v>1.6785908672520629</c:v>
                </c:pt>
                <c:pt idx="242">
                  <c:v>1.0556897852133766</c:v>
                </c:pt>
                <c:pt idx="243">
                  <c:v>2.0960280895111825</c:v>
                </c:pt>
                <c:pt idx="244">
                  <c:v>1.369595991242023</c:v>
                </c:pt>
                <c:pt idx="245">
                  <c:v>2.396347575718407</c:v>
                </c:pt>
                <c:pt idx="246">
                  <c:v>1.7184434731707936</c:v>
                </c:pt>
                <c:pt idx="247">
                  <c:v>2.634677436621041</c:v>
                </c:pt>
                <c:pt idx="248">
                  <c:v>2.078867329486429</c:v>
                </c:pt>
                <c:pt idx="249">
                  <c:v>2.718172947573885</c:v>
                </c:pt>
                <c:pt idx="250">
                  <c:v>2.4577912224553895</c:v>
                </c:pt>
                <c:pt idx="251">
                  <c:v>2.781393766429095</c:v>
                </c:pt>
                <c:pt idx="252">
                  <c:v>2.846817970275879</c:v>
                </c:pt>
                <c:pt idx="253">
                  <c:v>2.848329967937408</c:v>
                </c:pt>
                <c:pt idx="254">
                  <c:v>3.2446141772653845</c:v>
                </c:pt>
                <c:pt idx="255">
                  <c:v>2.92901603380839</c:v>
                </c:pt>
                <c:pt idx="256">
                  <c:v>3.653600242391752</c:v>
                </c:pt>
                <c:pt idx="257">
                  <c:v>3.021873023783749</c:v>
                </c:pt>
                <c:pt idx="258">
                  <c:v>4.036127726221942</c:v>
                </c:pt>
                <c:pt idx="259">
                  <c:v>3.117296669222467</c:v>
                </c:pt>
                <c:pt idx="260">
                  <c:v>4.352185249324632</c:v>
                </c:pt>
                <c:pt idx="261">
                  <c:v>3.222766160982794</c:v>
                </c:pt>
                <c:pt idx="262">
                  <c:v>4.51117425496264</c:v>
                </c:pt>
                <c:pt idx="263">
                  <c:v>3.5565577612945503</c:v>
                </c:pt>
                <c:pt idx="264">
                  <c:v>4.552897771210447</c:v>
                </c:pt>
                <c:pt idx="265">
                  <c:v>3.8348180982745785</c:v>
                </c:pt>
                <c:pt idx="266">
                  <c:v>4.5997212198097</c:v>
                </c:pt>
                <c:pt idx="267">
                  <c:v>4.175590674073981</c:v>
                </c:pt>
                <c:pt idx="268">
                  <c:v>4.654415448516379</c:v>
                </c:pt>
                <c:pt idx="269">
                  <c:v>4.5531648529608955</c:v>
                </c:pt>
                <c:pt idx="270">
                  <c:v>4.708371162414551</c:v>
                </c:pt>
                <c:pt idx="271">
                  <c:v>4.9321795569345515</c:v>
                </c:pt>
                <c:pt idx="272">
                  <c:v>4.765790727413495</c:v>
                </c:pt>
                <c:pt idx="273">
                  <c:v>5.313111782073975</c:v>
                </c:pt>
                <c:pt idx="274">
                  <c:v>4.827217155039464</c:v>
                </c:pt>
                <c:pt idx="275">
                  <c:v>5.628400643669819</c:v>
                </c:pt>
                <c:pt idx="276">
                  <c:v>4.887080828360313</c:v>
                </c:pt>
                <c:pt idx="277">
                  <c:v>5.697075684867369</c:v>
                </c:pt>
                <c:pt idx="278">
                  <c:v>4.945533222625966</c:v>
                </c:pt>
                <c:pt idx="279">
                  <c:v>5.726371765147275</c:v>
                </c:pt>
                <c:pt idx="280">
                  <c:v>5.0095220142012336</c:v>
                </c:pt>
                <c:pt idx="281">
                  <c:v>5.737163119849255</c:v>
                </c:pt>
                <c:pt idx="282">
                  <c:v>5.051406224575122</c:v>
                </c:pt>
                <c:pt idx="283">
                  <c:v>5.750596629255053</c:v>
                </c:pt>
                <c:pt idx="284">
                  <c:v>5.169717152903606</c:v>
                </c:pt>
                <c:pt idx="285">
                  <c:v>5.754983107251958</c:v>
                </c:pt>
                <c:pt idx="286">
                  <c:v>5.494271808181677</c:v>
                </c:pt>
                <c:pt idx="287">
                  <c:v>5.757642481071753</c:v>
                </c:pt>
                <c:pt idx="288">
                  <c:v>5.792832851409912</c:v>
                </c:pt>
                <c:pt idx="289">
                  <c:v>5.756279203632383</c:v>
                </c:pt>
                <c:pt idx="290">
                  <c:v>6.0296222368702574</c:v>
                </c:pt>
                <c:pt idx="291">
                  <c:v>5.746668656667073</c:v>
                </c:pt>
                <c:pt idx="292">
                  <c:v>6.243575943828898</c:v>
                </c:pt>
                <c:pt idx="293">
                  <c:v>5.7283608648546736</c:v>
                </c:pt>
                <c:pt idx="294">
                  <c:v>6.264332930254677</c:v>
                </c:pt>
                <c:pt idx="295">
                  <c:v>5.6970509952985955</c:v>
                </c:pt>
                <c:pt idx="296">
                  <c:v>6.225195248924226</c:v>
                </c:pt>
                <c:pt idx="297">
                  <c:v>5.65988349915301</c:v>
                </c:pt>
                <c:pt idx="298">
                  <c:v>6.169454521609686</c:v>
                </c:pt>
                <c:pt idx="299">
                  <c:v>5.601157612273262</c:v>
                </c:pt>
                <c:pt idx="300">
                  <c:v>6.1042431195626525</c:v>
                </c:pt>
              </c:numCache>
            </c:numRef>
          </c:val>
          <c:smooth val="0"/>
        </c:ser>
        <c:ser>
          <c:idx val="1"/>
          <c:order val="1"/>
          <c:tx>
            <c:strRef>
              <c:f>Sheet1!$C$1</c:f>
              <c:strCache>
                <c:ptCount val="1"/>
                <c:pt idx="0">
                  <c:v>선정안</c:v>
                </c:pt>
              </c:strCache>
            </c:strRef>
          </c:tx>
          <c:spPr>
            <a:solidFill>
              <a:srgbClr val="008000"/>
            </a:solidFill>
            <a:ln w="22860">
              <a:solidFill>
                <a:srgbClr val="008000"/>
              </a:solidFill>
            </a:ln>
          </c:spPr>
          <c:marker>
            <c:symbol val="none"/>
          </c:marker>
          <c:cat>
            <c:strRef>
              <c:f>Sheet1!$A$2:$A$302</c:f>
              <c:strCache>
                <c:ptCount val="301"/>
                <c:pt idx="0">
                  <c:v>0.00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3.33</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6.67</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10.00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13.33</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16.67</c:v>
                </c:pt>
              </c:strCache>
            </c:strRef>
          </c:cat>
          <c:val>
            <c:numRef>
              <c:f>Sheet1!$C$2:$C$302</c:f>
              <c:numCache>
                <c:formatCode>General</c:formatCode>
                <c:ptCount val="301"/>
                <c:pt idx="0">
                  <c:v>5.716790676116943</c:v>
                </c:pt>
                <c:pt idx="1">
                  <c:v>5.648286554547648</c:v>
                </c:pt>
                <c:pt idx="2">
                  <c:v>5.87369754580693</c:v>
                </c:pt>
                <c:pt idx="3">
                  <c:v>5.587462107340495</c:v>
                </c:pt>
                <c:pt idx="4">
                  <c:v>6.039216942245854</c:v>
                </c:pt>
                <c:pt idx="5">
                  <c:v>5.521317164106578</c:v>
                </c:pt>
                <c:pt idx="6">
                  <c:v>6.042910099024414</c:v>
                </c:pt>
                <c:pt idx="7">
                  <c:v>5.449941635129237</c:v>
                </c:pt>
                <c:pt idx="8">
                  <c:v>5.9765709771076665</c:v>
                </c:pt>
                <c:pt idx="9">
                  <c:v>5.354588031776826</c:v>
                </c:pt>
                <c:pt idx="10">
                  <c:v>5.886707623798736</c:v>
                </c:pt>
                <c:pt idx="11">
                  <c:v>5.235991477964461</c:v>
                </c:pt>
                <c:pt idx="12">
                  <c:v>5.785220940907796</c:v>
                </c:pt>
                <c:pt idx="13">
                  <c:v>5.102328565382719</c:v>
                </c:pt>
                <c:pt idx="14">
                  <c:v>5.668667581349246</c:v>
                </c:pt>
                <c:pt idx="15">
                  <c:v>5.175816694885576</c:v>
                </c:pt>
                <c:pt idx="16">
                  <c:v>5.528916888768879</c:v>
                </c:pt>
                <c:pt idx="17">
                  <c:v>5.327486197174302</c:v>
                </c:pt>
                <c:pt idx="18">
                  <c:v>5.370988845825195</c:v>
                </c:pt>
                <c:pt idx="19">
                  <c:v>5.474643707256536</c:v>
                </c:pt>
                <c:pt idx="20">
                  <c:v>5.188790003456373</c:v>
                </c:pt>
                <c:pt idx="21">
                  <c:v>5.611307303120693</c:v>
                </c:pt>
                <c:pt idx="22">
                  <c:v>4.984210332231075</c:v>
                </c:pt>
                <c:pt idx="23">
                  <c:v>5.643185032741407</c:v>
                </c:pt>
                <c:pt idx="24">
                  <c:v>4.752571741739909</c:v>
                </c:pt>
                <c:pt idx="25">
                  <c:v>5.447768900130942</c:v>
                </c:pt>
                <c:pt idx="26">
                  <c:v>4.497788906098769</c:v>
                </c:pt>
                <c:pt idx="27">
                  <c:v>5.278661251068115</c:v>
                </c:pt>
                <c:pt idx="28">
                  <c:v>4.2764067649845385</c:v>
                </c:pt>
                <c:pt idx="29">
                  <c:v>5.045575300856898</c:v>
                </c:pt>
                <c:pt idx="30">
                  <c:v>4.130426088966465</c:v>
                </c:pt>
                <c:pt idx="31">
                  <c:v>4.792167080768534</c:v>
                </c:pt>
                <c:pt idx="32">
                  <c:v>4.048129399631852</c:v>
                </c:pt>
                <c:pt idx="33">
                  <c:v>4.517262776692708</c:v>
                </c:pt>
                <c:pt idx="34">
                  <c:v>4.08884429929979</c:v>
                </c:pt>
                <c:pt idx="35">
                  <c:v>4.232482592266578</c:v>
                </c:pt>
                <c:pt idx="36">
                  <c:v>4.117387294769287</c:v>
                </c:pt>
                <c:pt idx="37">
                  <c:v>3.9275500244545767</c:v>
                </c:pt>
                <c:pt idx="38">
                  <c:v>4.133146948299937</c:v>
                </c:pt>
                <c:pt idx="39">
                  <c:v>3.611406167348226</c:v>
                </c:pt>
                <c:pt idx="40">
                  <c:v>4.131649785559388</c:v>
                </c:pt>
                <c:pt idx="41">
                  <c:v>3.2756162484570703</c:v>
                </c:pt>
                <c:pt idx="42">
                  <c:v>4.079726060242382</c:v>
                </c:pt>
                <c:pt idx="43">
                  <c:v>2.9366892973521503</c:v>
                </c:pt>
                <c:pt idx="44">
                  <c:v>4.058572451267096</c:v>
                </c:pt>
                <c:pt idx="45">
                  <c:v>2.649966001525456</c:v>
                </c:pt>
                <c:pt idx="46">
                  <c:v>3.8484159840458516</c:v>
                </c:pt>
                <c:pt idx="47">
                  <c:v>2.653532822920767</c:v>
                </c:pt>
                <c:pt idx="48">
                  <c:v>3.5272584756215415</c:v>
                </c:pt>
                <c:pt idx="49">
                  <c:v>2.637521240451984</c:v>
                </c:pt>
                <c:pt idx="50">
                  <c:v>3.2268485493209798</c:v>
                </c:pt>
                <c:pt idx="51">
                  <c:v>2.595644712442831</c:v>
                </c:pt>
                <c:pt idx="52">
                  <c:v>2.8439828819866166</c:v>
                </c:pt>
                <c:pt idx="53">
                  <c:v>2.519897222528678</c:v>
                </c:pt>
                <c:pt idx="54">
                  <c:v>2.430266857147217</c:v>
                </c:pt>
                <c:pt idx="55">
                  <c:v>2.4125314818398866</c:v>
                </c:pt>
                <c:pt idx="56">
                  <c:v>1.9819587601770488</c:v>
                </c:pt>
                <c:pt idx="57">
                  <c:v>2.2673038641611734</c:v>
                </c:pt>
                <c:pt idx="58">
                  <c:v>1.4941053655316108</c:v>
                </c:pt>
                <c:pt idx="59">
                  <c:v>2.0848522980971746</c:v>
                </c:pt>
                <c:pt idx="60">
                  <c:v>1.2654335101445515</c:v>
                </c:pt>
                <c:pt idx="61">
                  <c:v>1.8624700440279678</c:v>
                </c:pt>
                <c:pt idx="62">
                  <c:v>1.1191204521361655</c:v>
                </c:pt>
                <c:pt idx="63">
                  <c:v>1.601070761672423</c:v>
                </c:pt>
                <c:pt idx="64">
                  <c:v>0.9348311755417357</c:v>
                </c:pt>
                <c:pt idx="65">
                  <c:v>1.29944194687509</c:v>
                </c:pt>
                <c:pt idx="66">
                  <c:v>0.7115151882130564</c:v>
                </c:pt>
                <c:pt idx="67">
                  <c:v>0.9534375601362912</c:v>
                </c:pt>
                <c:pt idx="68">
                  <c:v>0.4494840966314587</c:v>
                </c:pt>
                <c:pt idx="69">
                  <c:v>0.4768005609512329</c:v>
                </c:pt>
                <c:pt idx="70">
                  <c:v>0.1623691121714275</c:v>
                </c:pt>
                <c:pt idx="71">
                  <c:v>0.1595619776192392</c:v>
                </c:pt>
                <c:pt idx="72">
                  <c:v>0.089340440928936</c:v>
                </c:pt>
                <c:pt idx="73">
                  <c:v>0.009336119933783325</c:v>
                </c:pt>
                <c:pt idx="74">
                  <c:v>-0.021928250789871838</c:v>
                </c:pt>
                <c:pt idx="75">
                  <c:v>-0.026937158157428105</c:v>
                </c:pt>
                <c:pt idx="76">
                  <c:v>0.02739690409671251</c:v>
                </c:pt>
                <c:pt idx="77">
                  <c:v>-0.10167410638536514</c:v>
                </c:pt>
                <c:pt idx="78">
                  <c:v>-0.026042142262061436</c:v>
                </c:pt>
                <c:pt idx="79">
                  <c:v>-0.2645471725208135</c:v>
                </c:pt>
                <c:pt idx="80">
                  <c:v>-0.09893670346887154</c:v>
                </c:pt>
                <c:pt idx="81">
                  <c:v>-0.4828932583290712</c:v>
                </c:pt>
                <c:pt idx="82">
                  <c:v>-0.2815320988501472</c:v>
                </c:pt>
                <c:pt idx="83">
                  <c:v>-0.8362247480268197</c:v>
                </c:pt>
                <c:pt idx="84">
                  <c:v>-0.5724190771538638</c:v>
                </c:pt>
                <c:pt idx="85">
                  <c:v>-1.2589916918035688</c:v>
                </c:pt>
                <c:pt idx="86">
                  <c:v>-0.9207538763657032</c:v>
                </c:pt>
                <c:pt idx="87">
                  <c:v>-1.500837604214199</c:v>
                </c:pt>
                <c:pt idx="88">
                  <c:v>-1.2880444129249045</c:v>
                </c:pt>
                <c:pt idx="89">
                  <c:v>-1.592963046501196</c:v>
                </c:pt>
                <c:pt idx="90">
                  <c:v>-1.6591362953186035</c:v>
                </c:pt>
                <c:pt idx="91">
                  <c:v>-1.6445544296037824</c:v>
                </c:pt>
                <c:pt idx="92">
                  <c:v>-2.0293510622359108</c:v>
                </c:pt>
                <c:pt idx="93">
                  <c:v>-1.6868293285369873</c:v>
                </c:pt>
                <c:pt idx="94">
                  <c:v>-2.393874221370807</c:v>
                </c:pt>
                <c:pt idx="95">
                  <c:v>-1.7846779558388486</c:v>
                </c:pt>
                <c:pt idx="96">
                  <c:v>-2.7578492959340415</c:v>
                </c:pt>
                <c:pt idx="97">
                  <c:v>-2.005016419623123</c:v>
                </c:pt>
                <c:pt idx="98">
                  <c:v>-3.1201423539004813</c:v>
                </c:pt>
                <c:pt idx="99">
                  <c:v>-2.141291141515764</c:v>
                </c:pt>
                <c:pt idx="100">
                  <c:v>-3.3664116329603693</c:v>
                </c:pt>
                <c:pt idx="101">
                  <c:v>-2.4171084562880587</c:v>
                </c:pt>
                <c:pt idx="102">
                  <c:v>-3.444831689209107</c:v>
                </c:pt>
                <c:pt idx="103">
                  <c:v>-2.701564523914901</c:v>
                </c:pt>
                <c:pt idx="104">
                  <c:v>-3.456423123684766</c:v>
                </c:pt>
                <c:pt idx="105">
                  <c:v>-3.000770807259786</c:v>
                </c:pt>
                <c:pt idx="106">
                  <c:v>-3.4408549202949437</c:v>
                </c:pt>
                <c:pt idx="107">
                  <c:v>-3.3149150477492597</c:v>
                </c:pt>
                <c:pt idx="108">
                  <c:v>-3.442565441131592</c:v>
                </c:pt>
                <c:pt idx="109">
                  <c:v>-3.652675443211094</c:v>
                </c:pt>
                <c:pt idx="110">
                  <c:v>-3.4666456116713036</c:v>
                </c:pt>
                <c:pt idx="111">
                  <c:v>-4.007871150970459</c:v>
                </c:pt>
                <c:pt idx="112">
                  <c:v>-3.5067227416664606</c:v>
                </c:pt>
                <c:pt idx="113">
                  <c:v>-4.348883257968564</c:v>
                </c:pt>
                <c:pt idx="114">
                  <c:v>-3.5665223598480225</c:v>
                </c:pt>
                <c:pt idx="115">
                  <c:v>-4.568291558158717</c:v>
                </c:pt>
                <c:pt idx="116">
                  <c:v>-3.6373602284376987</c:v>
                </c:pt>
                <c:pt idx="117">
                  <c:v>-4.746529579160746</c:v>
                </c:pt>
                <c:pt idx="118">
                  <c:v>-3.797641409768525</c:v>
                </c:pt>
                <c:pt idx="119">
                  <c:v>-4.774740431048549</c:v>
                </c:pt>
                <c:pt idx="120">
                  <c:v>-4.00696611404267</c:v>
                </c:pt>
                <c:pt idx="121">
                  <c:v>-4.815217653919198</c:v>
                </c:pt>
                <c:pt idx="122">
                  <c:v>-4.233541223728789</c:v>
                </c:pt>
                <c:pt idx="123">
                  <c:v>-4.868672370914834</c:v>
                </c:pt>
                <c:pt idx="124">
                  <c:v>-4.60770686465611</c:v>
                </c:pt>
                <c:pt idx="125">
                  <c:v>-4.915060202281997</c:v>
                </c:pt>
                <c:pt idx="126">
                  <c:v>-4.977468013763428</c:v>
                </c:pt>
                <c:pt idx="127">
                  <c:v>-4.9632964134290924</c:v>
                </c:pt>
                <c:pt idx="128">
                  <c:v>-5.3439842329855445</c:v>
                </c:pt>
                <c:pt idx="129">
                  <c:v>-5.002957820892334</c:v>
                </c:pt>
                <c:pt idx="130">
                  <c:v>-5.678149488221418</c:v>
                </c:pt>
                <c:pt idx="131">
                  <c:v>-5.038520071246045</c:v>
                </c:pt>
                <c:pt idx="132">
                  <c:v>-5.747181574503581</c:v>
                </c:pt>
                <c:pt idx="133">
                  <c:v>-5.063212129806936</c:v>
                </c:pt>
                <c:pt idx="134">
                  <c:v>-5.7352575196191085</c:v>
                </c:pt>
                <c:pt idx="135">
                  <c:v>-5.078762531289569</c:v>
                </c:pt>
                <c:pt idx="136">
                  <c:v>-5.717843691506992</c:v>
                </c:pt>
                <c:pt idx="137">
                  <c:v>-5.08364555571103</c:v>
                </c:pt>
                <c:pt idx="138">
                  <c:v>-5.690292358404084</c:v>
                </c:pt>
                <c:pt idx="139">
                  <c:v>-5.077758365212791</c:v>
                </c:pt>
                <c:pt idx="140">
                  <c:v>-5.660545137196188</c:v>
                </c:pt>
                <c:pt idx="141">
                  <c:v>-5.26640923817086</c:v>
                </c:pt>
                <c:pt idx="142">
                  <c:v>-5.618728213845327</c:v>
                </c:pt>
                <c:pt idx="143">
                  <c:v>-5.505934291412936</c:v>
                </c:pt>
                <c:pt idx="144">
                  <c:v>-5.575117111206055</c:v>
                </c:pt>
                <c:pt idx="145">
                  <c:v>-5.6980889638126175</c:v>
                </c:pt>
                <c:pt idx="146">
                  <c:v>-5.521188100184915</c:v>
                </c:pt>
                <c:pt idx="147">
                  <c:v>-5.867275396982829</c:v>
                </c:pt>
                <c:pt idx="148">
                  <c:v>-5.4686261283068305</c:v>
                </c:pt>
                <c:pt idx="149">
                  <c:v>-5.978042549560464</c:v>
                </c:pt>
                <c:pt idx="150">
                  <c:v>-5.41402800877889</c:v>
                </c:pt>
                <c:pt idx="151">
                  <c:v>-5.921370453306368</c:v>
                </c:pt>
                <c:pt idx="152">
                  <c:v>-5.353587150576222</c:v>
                </c:pt>
                <c:pt idx="153">
                  <c:v>-5.861126899726739</c:v>
                </c:pt>
                <c:pt idx="154">
                  <c:v>-5.28271304236434</c:v>
                </c:pt>
                <c:pt idx="155">
                  <c:v>-5.792302184637277</c:v>
                </c:pt>
                <c:pt idx="156">
                  <c:v>-5.195789972946219</c:v>
                </c:pt>
                <c:pt idx="157">
                  <c:v>-5.712584707477253</c:v>
                </c:pt>
                <c:pt idx="158">
                  <c:v>-5.17280144160789</c:v>
                </c:pt>
                <c:pt idx="159">
                  <c:v>-5.634506384534331</c:v>
                </c:pt>
                <c:pt idx="160">
                  <c:v>-5.341560310769853</c:v>
                </c:pt>
                <c:pt idx="161">
                  <c:v>-5.53093677096989</c:v>
                </c:pt>
                <c:pt idx="162">
                  <c:v>-5.511824607849121</c:v>
                </c:pt>
                <c:pt idx="163">
                  <c:v>-5.411822583946062</c:v>
                </c:pt>
                <c:pt idx="164">
                  <c:v>-5.652414639771566</c:v>
                </c:pt>
                <c:pt idx="165">
                  <c:v>-5.275039831797282</c:v>
                </c:pt>
                <c:pt idx="166">
                  <c:v>-5.799426661582811</c:v>
                </c:pt>
                <c:pt idx="167">
                  <c:v>-5.114358478126513</c:v>
                </c:pt>
                <c:pt idx="168">
                  <c:v>-5.735030968993711</c:v>
                </c:pt>
                <c:pt idx="169">
                  <c:v>-4.931156582304744</c:v>
                </c:pt>
                <c:pt idx="170">
                  <c:v>-5.576799445685529</c:v>
                </c:pt>
                <c:pt idx="171">
                  <c:v>-4.719441890727137</c:v>
                </c:pt>
                <c:pt idx="172">
                  <c:v>-5.397484090591918</c:v>
                </c:pt>
                <c:pt idx="173">
                  <c:v>-4.536809762320366</c:v>
                </c:pt>
                <c:pt idx="174">
                  <c:v>-5.19225899379226</c:v>
                </c:pt>
                <c:pt idx="175">
                  <c:v>-4.370797263252934</c:v>
                </c:pt>
                <c:pt idx="176">
                  <c:v>-4.964837710066728</c:v>
                </c:pt>
                <c:pt idx="177">
                  <c:v>-4.395109812409352</c:v>
                </c:pt>
                <c:pt idx="178">
                  <c:v>-4.716749191292808</c:v>
                </c:pt>
                <c:pt idx="179">
                  <c:v>-4.457806375288609</c:v>
                </c:pt>
                <c:pt idx="180">
                  <c:v>-4.450756549835205</c:v>
                </c:pt>
                <c:pt idx="181">
                  <c:v>-4.506645732438291</c:v>
                </c:pt>
                <c:pt idx="182">
                  <c:v>-4.163746409957348</c:v>
                </c:pt>
                <c:pt idx="183">
                  <c:v>-4.531222979227702</c:v>
                </c:pt>
                <c:pt idx="184">
                  <c:v>-3.8569822311487227</c:v>
                </c:pt>
                <c:pt idx="185">
                  <c:v>-4.504238817424198</c:v>
                </c:pt>
                <c:pt idx="186">
                  <c:v>-3.536923805888973</c:v>
                </c:pt>
                <c:pt idx="187">
                  <c:v>-4.3899638387871995</c:v>
                </c:pt>
                <c:pt idx="188">
                  <c:v>-3.199004385212217</c:v>
                </c:pt>
                <c:pt idx="189">
                  <c:v>-4.318708419787866</c:v>
                </c:pt>
                <c:pt idx="190">
                  <c:v>-2.9811768001999446</c:v>
                </c:pt>
                <c:pt idx="191">
                  <c:v>-4.0243953069113925</c:v>
                </c:pt>
                <c:pt idx="192">
                  <c:v>-2.9399436314764773</c:v>
                </c:pt>
                <c:pt idx="193">
                  <c:v>-3.719914383371704</c:v>
                </c:pt>
                <c:pt idx="194">
                  <c:v>-2.9473864237401073</c:v>
                </c:pt>
                <c:pt idx="195">
                  <c:v>-3.3957594235808157</c:v>
                </c:pt>
                <c:pt idx="196">
                  <c:v>-2.93515891497737</c:v>
                </c:pt>
                <c:pt idx="197">
                  <c:v>-3.0481430424608895</c:v>
                </c:pt>
                <c:pt idx="198">
                  <c:v>-2.898958921432495</c:v>
                </c:pt>
                <c:pt idx="199">
                  <c:v>-2.679688400707952</c:v>
                </c:pt>
                <c:pt idx="200">
                  <c:v>-2.8392029603194264</c:v>
                </c:pt>
                <c:pt idx="201">
                  <c:v>-2.2841567198435464</c:v>
                </c:pt>
                <c:pt idx="202">
                  <c:v>-2.75620479053074</c:v>
                </c:pt>
                <c:pt idx="203">
                  <c:v>-1.9110043578682054</c:v>
                </c:pt>
                <c:pt idx="204">
                  <c:v>-2.6380008061586584</c:v>
                </c:pt>
                <c:pt idx="205">
                  <c:v>-1.701519727706268</c:v>
                </c:pt>
                <c:pt idx="206">
                  <c:v>-2.488148530320047</c:v>
                </c:pt>
                <c:pt idx="207">
                  <c:v>-1.5436170101098232</c:v>
                </c:pt>
                <c:pt idx="208">
                  <c:v>-2.2766944037549064</c:v>
                </c:pt>
                <c:pt idx="209">
                  <c:v>-1.4308656718959756</c:v>
                </c:pt>
                <c:pt idx="210">
                  <c:v>-2.060950716330483</c:v>
                </c:pt>
                <c:pt idx="211">
                  <c:v>-1.2834412521722816</c:v>
                </c:pt>
                <c:pt idx="212">
                  <c:v>-1.7403833733755298</c:v>
                </c:pt>
                <c:pt idx="213">
                  <c:v>-1.0972225268654547</c:v>
                </c:pt>
                <c:pt idx="214">
                  <c:v>-1.2046589851532703</c:v>
                </c:pt>
                <c:pt idx="215">
                  <c:v>-0.872368752948797</c:v>
                </c:pt>
                <c:pt idx="216">
                  <c:v>-0.715025782585144</c:v>
                </c:pt>
                <c:pt idx="217">
                  <c:v>-0.6163612604104614</c:v>
                </c:pt>
                <c:pt idx="218">
                  <c:v>-0.30546042655138944</c:v>
                </c:pt>
                <c:pt idx="219">
                  <c:v>-0.31373841563860577</c:v>
                </c:pt>
                <c:pt idx="220">
                  <c:v>-0.028128789536006497</c:v>
                </c:pt>
                <c:pt idx="221">
                  <c:v>-0.19316822952571672</c:v>
                </c:pt>
                <c:pt idx="222">
                  <c:v>0.00874216916867011</c:v>
                </c:pt>
                <c:pt idx="223">
                  <c:v>-0.06597284807068692</c:v>
                </c:pt>
                <c:pt idx="224">
                  <c:v>0.05098156631015545</c:v>
                </c:pt>
                <c:pt idx="225">
                  <c:v>0.057660553604350975</c:v>
                </c:pt>
                <c:pt idx="226">
                  <c:v>0.04399495240722387</c:v>
                </c:pt>
                <c:pt idx="227">
                  <c:v>0.03221138794343237</c:v>
                </c:pt>
                <c:pt idx="228">
                  <c:v>0.23827871183416352</c:v>
                </c:pt>
                <c:pt idx="229">
                  <c:v>0.13063142531264027</c:v>
                </c:pt>
                <c:pt idx="230">
                  <c:v>0.41834315326906124</c:v>
                </c:pt>
                <c:pt idx="231">
                  <c:v>0.2918700277791608</c:v>
                </c:pt>
                <c:pt idx="232">
                  <c:v>0.5786621537590125</c:v>
                </c:pt>
                <c:pt idx="233">
                  <c:v>0.596445580317435</c:v>
                </c:pt>
                <c:pt idx="234">
                  <c:v>0.7470517158508301</c:v>
                </c:pt>
                <c:pt idx="235">
                  <c:v>0.9704389174733675</c:v>
                </c:pt>
                <c:pt idx="236">
                  <c:v>0.9113991658063815</c:v>
                </c:pt>
                <c:pt idx="237">
                  <c:v>1.3932724396387737</c:v>
                </c:pt>
                <c:pt idx="238">
                  <c:v>1.017122427636897</c:v>
                </c:pt>
                <c:pt idx="239">
                  <c:v>1.8199214670350918</c:v>
                </c:pt>
                <c:pt idx="240">
                  <c:v>1.2750737666982095</c:v>
                </c:pt>
                <c:pt idx="241">
                  <c:v>2.2308839427076204</c:v>
                </c:pt>
                <c:pt idx="242">
                  <c:v>1.6108691692329944</c:v>
                </c:pt>
                <c:pt idx="243">
                  <c:v>2.642605781543033</c:v>
                </c:pt>
                <c:pt idx="244">
                  <c:v>1.9038256009433927</c:v>
                </c:pt>
                <c:pt idx="245">
                  <c:v>2.9148696528549634</c:v>
                </c:pt>
                <c:pt idx="246">
                  <c:v>2.2125374476021435</c:v>
                </c:pt>
                <c:pt idx="247">
                  <c:v>3.104489432445082</c:v>
                </c:pt>
                <c:pt idx="248">
                  <c:v>2.522208743620134</c:v>
                </c:pt>
                <c:pt idx="249">
                  <c:v>3.1270363330922746</c:v>
                </c:pt>
                <c:pt idx="250">
                  <c:v>2.828710291109763</c:v>
                </c:pt>
                <c:pt idx="251">
                  <c:v>3.112354066662717</c:v>
                </c:pt>
                <c:pt idx="252">
                  <c:v>3.142268657684326</c:v>
                </c:pt>
                <c:pt idx="253">
                  <c:v>3.1108204788779568</c:v>
                </c:pt>
                <c:pt idx="254">
                  <c:v>3.464316844925565</c:v>
                </c:pt>
                <c:pt idx="255">
                  <c:v>3.11532195409139</c:v>
                </c:pt>
                <c:pt idx="256">
                  <c:v>3.805776357639689</c:v>
                </c:pt>
                <c:pt idx="257">
                  <c:v>3.1381376849368174</c:v>
                </c:pt>
                <c:pt idx="258">
                  <c:v>4.125446478510542</c:v>
                </c:pt>
                <c:pt idx="259">
                  <c:v>3.179019583600315</c:v>
                </c:pt>
                <c:pt idx="260">
                  <c:v>4.393081929944548</c:v>
                </c:pt>
                <c:pt idx="261">
                  <c:v>3.2369117736994686</c:v>
                </c:pt>
                <c:pt idx="262">
                  <c:v>4.504560099723111</c:v>
                </c:pt>
                <c:pt idx="263">
                  <c:v>3.532109234064337</c:v>
                </c:pt>
                <c:pt idx="264">
                  <c:v>4.5101550420234355</c:v>
                </c:pt>
                <c:pt idx="265">
                  <c:v>3.782071113580783</c:v>
                </c:pt>
                <c:pt idx="266">
                  <c:v>4.536662048768847</c:v>
                </c:pt>
                <c:pt idx="267">
                  <c:v>4.10177834827849</c:v>
                </c:pt>
                <c:pt idx="268">
                  <c:v>4.571843889034229</c:v>
                </c:pt>
                <c:pt idx="269">
                  <c:v>4.469857427779826</c:v>
                </c:pt>
                <c:pt idx="270">
                  <c:v>4.622986793518066</c:v>
                </c:pt>
                <c:pt idx="271">
                  <c:v>4.849109331748735</c:v>
                </c:pt>
                <c:pt idx="272">
                  <c:v>4.687622812069257</c:v>
                </c:pt>
                <c:pt idx="273">
                  <c:v>5.240352312723796</c:v>
                </c:pt>
                <c:pt idx="274">
                  <c:v>4.752530945678706</c:v>
                </c:pt>
                <c:pt idx="275">
                  <c:v>5.551829020185496</c:v>
                </c:pt>
                <c:pt idx="276">
                  <c:v>4.811697006237105</c:v>
                </c:pt>
                <c:pt idx="277">
                  <c:v>5.6192274623467355</c:v>
                </c:pt>
                <c:pt idx="278">
                  <c:v>4.862334039479808</c:v>
                </c:pt>
                <c:pt idx="279">
                  <c:v>5.640840053568907</c:v>
                </c:pt>
                <c:pt idx="280">
                  <c:v>4.919732252763907</c:v>
                </c:pt>
                <c:pt idx="281">
                  <c:v>5.645121415459472</c:v>
                </c:pt>
                <c:pt idx="282">
                  <c:v>4.950075467433968</c:v>
                </c:pt>
                <c:pt idx="283">
                  <c:v>5.641556527885832</c:v>
                </c:pt>
                <c:pt idx="284">
                  <c:v>5.053186681525702</c:v>
                </c:pt>
                <c:pt idx="285">
                  <c:v>5.631649971011317</c:v>
                </c:pt>
                <c:pt idx="286">
                  <c:v>5.363071335667731</c:v>
                </c:pt>
                <c:pt idx="287">
                  <c:v>5.61206097073986</c:v>
                </c:pt>
                <c:pt idx="288">
                  <c:v>5.635797023773193</c:v>
                </c:pt>
                <c:pt idx="289">
                  <c:v>5.584415064923211</c:v>
                </c:pt>
                <c:pt idx="290">
                  <c:v>5.851820521867097</c:v>
                </c:pt>
                <c:pt idx="291">
                  <c:v>5.553603649139404</c:v>
                </c:pt>
                <c:pt idx="292">
                  <c:v>6.042447884865494</c:v>
                </c:pt>
                <c:pt idx="293">
                  <c:v>5.515980826487298</c:v>
                </c:pt>
                <c:pt idx="294">
                  <c:v>6.05257844925696</c:v>
                </c:pt>
                <c:pt idx="295">
                  <c:v>5.471062554255166</c:v>
                </c:pt>
                <c:pt idx="296">
                  <c:v>5.987083382079203</c:v>
                </c:pt>
                <c:pt idx="297">
                  <c:v>5.414377212531921</c:v>
                </c:pt>
                <c:pt idx="298">
                  <c:v>5.923715379509673</c:v>
                </c:pt>
                <c:pt idx="299">
                  <c:v>5.355714215175146</c:v>
                </c:pt>
                <c:pt idx="300">
                  <c:v>5.861041069035719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7.0"/>
          <c:min val="-7.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 11.52 kVA급 북미 V2G OBCM</a:t>
            </a:r>
          </a:p>
          <a:p>
            <a:r>
              <a:t>AC단 dq 전류제어의 THD 개선 검토</a:t>
            </a:r>
          </a:p>
          <a:p>
            <a:r>
              <a:t>V5는 최신 사양을 반영하지 못해 폐기 대상으로 구분하였다. V6는 새로운 조건과 모델로 502회 해석을 수행한다. 11.52 kVA는 사용자가 지정한 제품급 명칭이며 230 V와 48 A를 곱한 값으로 오기하지 않는다. 240 V 또는 50.087 A로 임의 변경하지 않았다.</a:t>
            </a:r>
          </a:p>
          <a:p/>
          <a:p>
            <a:r>
              <a:t>근거: 사용자 최종 사양;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[2/51] 1. Define / 최우선 사양 고정</a:t>
            </a:r>
          </a:p>
          <a:p>
            <a:r>
              <a:t>[적용 목적]</a:t>
            </a:r>
          </a:p>
          <a:p>
            <a:r>
              <a:t>V5의 잘못된 사양을 V6 입력에서 차단함</a:t>
            </a:r>
          </a:p>
          <a:p>
            <a:r>
              <a:t>[결과 해석]</a:t>
            </a:r>
          </a:p>
          <a:p>
            <a:r>
              <a:t>계산 전에 사양 자동검사를 수행하고, 모든 실행에 동일한 사양 해시를 저장함.</a:t>
            </a:r>
          </a:p>
          <a:p>
            <a:r>
              <a:t>V5와 달리 외부 dq 입력에 √2를 추가로 곱하지 않는다. 입력 검사는 Peak A 기준 67.882 A의 벡터 한계를 사용한다. 32 A는 일부 시험조건으로는 등장할 수 있으나 정격전류가 아니다.</a:t>
            </a:r>
          </a:p>
          <a:p>
            <a:r>
              <a:t>[판단 범위]</a:t>
            </a:r>
          </a:p>
          <a:p>
            <a:r>
              <a:t>확정 입력: 230 Vac, 48 Arms, Peak dq, PWM·제어 62.5 kHz / 16 μs. 그 밖의 회로 및 판정 조건은 명시한 모델 가정임. 결과는 해당 수치모델과 유한 조건 집합에 한함.</a:t>
            </a:r>
          </a:p>
          <a:p/>
          <a:p>
            <a:r>
              <a:t>근거: specification.json; src/model.py assert_spec(); qa/unit_tests.json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[3/51] 1. Define / 용량 표기의 정합성</a:t>
            </a:r>
          </a:p>
          <a:p>
            <a:r>
              <a:t>[적용 목적]</a:t>
            </a:r>
          </a:p>
          <a:p>
            <a:r>
              <a:t>제품급 명칭과 기준 운전점의 계산값을 구분함</a:t>
            </a:r>
          </a:p>
          <a:p>
            <a:r>
              <a:t>[결과 해석]</a:t>
            </a:r>
          </a:p>
          <a:p>
            <a:r>
              <a:t>11.52 kVA급 명칭은 유지하되, 모든 기준 해석에는 230 Vac와 48 Arms를 적용함.</a:t>
            </a:r>
          </a:p>
          <a:p>
            <a:r>
              <a:t>단상 정현파 전압 조건에서 전압 실효값×전류 실효값은 피상전력이다. 유효전력은 역률에 따라 달라진다. 11.52 kVA와 230×48의 산술 불일치를 묵시적으로 수정하지 않고 명시한다.</a:t>
            </a:r>
          </a:p>
          <a:p>
            <a:r>
              <a:t>[판단 범위]</a:t>
            </a:r>
          </a:p>
          <a:p>
            <a:r>
              <a:t>확정 입력: 230 Vac, 48 Arms, Peak dq, PWM·제어 62.5 kHz / 16 μs. 그 밖의 회로 및 판정 조건은 명시한 모델 가정임. 결과는 해당 수치모델과 유한 조건 집합에 한함.</a:t>
            </a:r>
          </a:p>
          <a:p/>
          <a:p>
            <a:r>
              <a:t>근거: specification.json / derived_not_substituted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[4/51] 1. Define / 과제 등록 및 목표</a:t>
            </a:r>
          </a:p>
          <a:p>
            <a:r>
              <a:t>[적용 목적]</a:t>
            </a:r>
          </a:p>
          <a:p>
            <a:r>
              <a:t>Project Y를 수치해석 설계기준 만족률로 정의함</a:t>
            </a:r>
          </a:p>
          <a:p>
            <a:r>
              <a:t>[결과 해석]</a:t>
            </a:r>
          </a:p>
          <a:p>
            <a:r>
              <a:t>저전류 운전의 THD를 개선하되, 전류 용량과 추종성 등 다른 조건의 미달을 함께 확인함.</a:t>
            </a:r>
          </a:p>
          <a:p>
            <a:r>
              <a:t>표지의 완료는 수치 연구의 수행 완료를 뜻한다. 실제 제품 적용·인증·사내 승인이 완료됐다는 의미가 아니다. 목표 만족률과 개별 조건의 THD 한계는 서로 다른 지표이다.</a:t>
            </a:r>
          </a:p>
          <a:p>
            <a:r>
              <a:t>[판단 범위]</a:t>
            </a:r>
          </a:p>
          <a:p>
            <a:r>
              <a:t>확정 입력: 230 Vac, 48 Arms, Peak dq, PWM·제어 62.5 kHz / 16 μs. 그 밖의 회로 및 판정 조건은 명시한 모델 가정임. 결과는 해당 수치모델과 유한 조건 집합에 한함.</a:t>
            </a:r>
          </a:p>
          <a:p/>
          <a:p>
            <a:r>
              <a:t>근거: specification.json; results/summary.json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[5/51] 1. Define / Big Y–Little y 전개</a:t>
            </a:r>
          </a:p>
          <a:p>
            <a:r>
              <a:t>[적용 목적]</a:t>
            </a:r>
          </a:p>
          <a:p>
            <a:r>
              <a:t>실제 업무 목표와 본 과제에서 측정하는 지표를 연결함</a:t>
            </a:r>
          </a:p>
          <a:p>
            <a:r>
              <a:t>[결과 해석]</a:t>
            </a:r>
          </a:p>
          <a:p>
            <a:r>
              <a:t>하드웨어 실험 대신 수치모델을 사용하므로, 제품 품질 성과와 모델 내 개선 성과를 분리함.</a:t>
            </a:r>
          </a:p>
          <a:p/>
          <a:p>
            <a:r>
              <a:t>[판단 범위]</a:t>
            </a:r>
          </a:p>
          <a:p>
            <a:r>
              <a:t>확정 입력: 230 Vac, 48 Arms, Peak dq, PWM·제어 62.5 kHz / 16 μs. 그 밖의 회로 및 판정 조건은 명시한 모델 가정임. 결과는 해당 수치모델과 유한 조건 집합에 한함.</a:t>
            </a:r>
          </a:p>
          <a:p/>
          <a:p>
            <a:r>
              <a:t>근거: 구성 참고: Snubber p.4·10; CLLC p.3; docs/Model_and_Conventions.md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[6/51] 1. Define / dq 전류 지령의 정의</a:t>
            </a:r>
          </a:p>
          <a:p>
            <a:r>
              <a:t>[적용 목적]</a:t>
            </a:r>
          </a:p>
          <a:p>
            <a:r>
              <a:t>외부 입력은 d축·q축의 피크값 DC 전류 지령임</a:t>
            </a:r>
          </a:p>
          <a:p>
            <a:r>
              <a:t>[결과 해석]</a:t>
            </a:r>
          </a:p>
          <a:p>
            <a:r>
              <a:t>Theta는 SOGI-PLL 내부 동기각으로만 사용하며 외부 전력 명령으로 사용하지 않음.</a:t>
            </a:r>
          </a:p>
          <a:p>
            <a:r>
              <a:t>d축과 q축은 amplitude-preserving Park 변환의 peak 좌표이다. 정상 지령은 DC이며 초기 50 ms 기동 구간에만 공통 ramp를 적용한다. 위상은 변환의 기준이므로 DC 명령을 사용하더라도 필요하다.</a:t>
            </a:r>
          </a:p>
          <a:p>
            <a:r>
              <a:t>[판단 범위]</a:t>
            </a:r>
          </a:p>
          <a:p>
            <a:r>
              <a:t>확정 입력: 230 Vac, 48 Arms, Peak dq, PWM·제어 62.5 kHz / 16 μs. 그 밖의 회로 및 판정 조건은 명시한 모델 가정임. 결과는 해당 수치모델과 유한 조건 집합에 한함.</a:t>
            </a:r>
          </a:p>
          <a:p/>
          <a:p>
            <a:r>
              <a:t>근거: src/model.py validate(), run_core(); qa/unit_tests.log</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[7/51] 1. Define / 시험 구성과 수량의 의미</a:t>
            </a:r>
          </a:p>
          <a:p>
            <a:r>
              <a:t>[적용 목적]</a:t>
            </a:r>
          </a:p>
          <a:p>
            <a:r>
              <a:t>운전조건·제어 후보·해석 실행 수를 구분함</a:t>
            </a:r>
          </a:p>
          <a:p>
            <a:r>
              <a:t>[결과 해석]</a:t>
            </a:r>
          </a:p>
          <a:p>
            <a:r>
              <a:t>기준 조건을 먼저 고정한 후, 선정용 조건에서 후보를 비교하고 나머지 조건을 평가함.</a:t>
            </a:r>
          </a:p>
          <a:p>
            <a:r>
              <a:t>전체 캠페인 502회에는 기준/DOE/추가검증/구조진단/수치세분화/과도 등 용도가 다른 실행이 포함된다. 502회를 독립실물표본수로 해석하지 않는다. 47,24,24의 만족률은 분모를 섞어 하나의 신뢰도로 합치지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results/*_conditions.csv; candidate_plan.csv; qa/frozen_protocol.json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[8/51] 1. Define / 직접 dq 운전조건 선정</a:t>
            </a:r>
          </a:p>
          <a:p>
            <a:r>
              <a:t>[적용 목적]</a:t>
            </a:r>
          </a:p>
          <a:p>
            <a:r>
              <a:t>전류 원 내부의 d·q 조합을 평가함</a:t>
            </a:r>
          </a:p>
          <a:p>
            <a:r>
              <a:t>[결과 해석]</a:t>
            </a:r>
          </a:p>
          <a:p>
            <a:r>
              <a:t>d축 유효전류와 양·음 q축 무효전류를 직접 조합하고, 전류 벡터 한계를 넘는 조합은 생성하지 않음.</a:t>
            </a:r>
          </a:p>
          <a:p>
            <a:r>
              <a:t>격자 구성 설명에 쓰는 RMS 환산값과 모델의 Peak 지령을 구분한다. 표시 간소화를 위해 √2×집합으로 적었지만 각 CSV에는 변환된 피크값이 저장되어 있다. 분류 경계의 CSV 반올림 오차는 8자리 반올림으로 제거하며 실제 판정 데이터는 변경하지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results/main_conditions.csv; src/study.py plans()</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[9/51] 1. Define / 측정 지표와 판정 기준</a:t>
            </a:r>
          </a:p>
          <a:p>
            <a:r>
              <a:t>[적용 목적]</a:t>
            </a:r>
          </a:p>
          <a:p>
            <a:r>
              <a:t>THD와 실제 전류 용량을 별도로 판정함</a:t>
            </a:r>
          </a:p>
          <a:p>
            <a:r>
              <a:t>[결과 해석]</a:t>
            </a:r>
          </a:p>
          <a:p>
            <a:r>
              <a:t>고조파를 줄여도 전류 크기·추종·포화 조건을 만족하지 않으면 종합 만족으로 처리하지 않음.</a:t>
            </a:r>
          </a:p>
          <a:p>
            <a:r>
              <a:t>전류 48 Arms는 사용자 정격이며 피크75 A, 오차허용치, THD5%, 포화1% 등은 설계 검토의 추가 가정이다. 고객 표준 규격으로 혼동하지 않는다. IEEE TRD와 제한 대역 THD를 같은 지표로 취급하지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specification.json / criteria; src/model.py measure()</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 2. Measure / 수치해석 시스템 구성</a:t>
            </a:r>
          </a:p>
          <a:p>
            <a:r>
              <a:t>[적용 목적]</a:t>
            </a:r>
          </a:p>
          <a:p>
            <a:r>
              <a:t>회로·제어·측정 경로를 분리하여 구성함</a:t>
            </a:r>
          </a:p>
          <a:p>
            <a:r>
              <a:t>[결과 해석]</a:t>
            </a:r>
          </a:p>
          <a:p>
            <a:r>
              <a:t>기본 dq PI와 PLL을 고정하고, 개선 시 준공진 전류 피드백만 추가함.</a:t>
            </a:r>
          </a:p>
          <a:p>
            <a:r>
              <a:t>단상 직교축은 SOGI로 구성한다. 회로는 이상적 강성 DC 전원과 HF/LF bridge를 포함한다. 실제 OBCM 전체 구성도 또는 양산 SW 구현의 확인 도면은 아니다.</a:t>
            </a:r>
          </a:p>
          <a:p>
            <a:r>
              <a:t>[판단 범위]</a:t>
            </a:r>
          </a:p>
          <a:p>
            <a:r>
              <a:t>확정 입력: 230 Vac, 48 Arms, Peak dq, PWM·제어 62.5 kHz / 16 μs. 그 밖의 회로 및 판정 조건은 명시한 모델 가정임. 결과는 해당 수치모델과 유한 조건 집합에 한함.</a:t>
            </a:r>
          </a:p>
          <a:p/>
          <a:p>
            <a:r>
              <a:t>근거: src/model.py; 외부 방법 참고: Imperix SOGI-PLL / PR</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 2. Measure / PWM·제어 시간축 검증</a:t>
            </a:r>
          </a:p>
          <a:p>
            <a:r>
              <a:t>[적용 목적]</a:t>
            </a:r>
          </a:p>
          <a:p>
            <a:r>
              <a:t>매 PWM 16 μs마다 제어 연산 1회 수행함</a:t>
            </a:r>
          </a:p>
          <a:p>
            <a:r>
              <a:t>[결과 해석]</a:t>
            </a:r>
          </a:p>
          <a:p>
            <a:r>
              <a:t>ADC 중앙 샘플링과 다음 PWM 경계 반영을 가정하여 기본 지연 8 μs를 별도 정의함.</a:t>
            </a:r>
          </a:p>
          <a:p>
            <a:r>
              <a:t>모든 실행에서 PWM 수와 제어 수가 동일한지 검사한다. FIFO source_sample_index 차이는 기본 1, 추가 1주기 지연 시 2이며 주기 자체가 32 μs로 변경된 것이 아니다. 하드웨어 지연이 8 μs라고 확인된 것은 아니다.</a:t>
            </a:r>
          </a:p>
          <a:p>
            <a:r>
              <a:t>[판단 범위]</a:t>
            </a:r>
          </a:p>
          <a:p>
            <a:r>
              <a:t>확정 입력: 230 Vac, 48 Arms, Peak dq, PWM·제어 62.5 kHz / 16 μs. 그 밖의 회로 및 판정 조건은 명시한 모델 가정임. 결과는 해당 수치모델과 유한 조건 집합에 한함.</a:t>
            </a:r>
          </a:p>
          <a:p/>
          <a:p>
            <a:r>
              <a:t>근거: qa/raw_audit.json; src/model.py run_core(); TI ePWM module</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 2. Measure / 회로 모델과 수치 적분</a:t>
            </a:r>
          </a:p>
          <a:p>
            <a:r>
              <a:t>[적용 목적]</a:t>
            </a:r>
          </a:p>
          <a:p>
            <a:r>
              <a:t>스위칭 상태와 dead-time을 직접 계산함</a:t>
            </a:r>
          </a:p>
          <a:p>
            <a:r>
              <a:t>[결과 해석]</a:t>
            </a:r>
          </a:p>
          <a:p>
            <a:r>
              <a:t>평균전압 오차항으로 THD를 맞추지 않고, gate 상태에 따른 전압으로 전류를 적분함.</a:t>
            </a:r>
          </a:p>
          <a:p>
            <a:r>
              <a:t>HF gate는 0/1/blank 중 하나이며 두 gate의 동시 on 상태는 정의하지 않는다. LF도 실제제품동작이 확정된 것은 아니다. 지령부호형 LF가 실제 firmware에서 구현 가능한지 별도 확인해야 한다.</a:t>
            </a:r>
          </a:p>
          <a:p>
            <a:r>
              <a:t>[판단 범위]</a:t>
            </a:r>
          </a:p>
          <a:p>
            <a:r>
              <a:t>확정 입력: 230 Vac, 48 Arms, Peak dq, PWM·제어 62.5 kHz / 16 μs. 그 밖의 회로 및 판정 조건은 명시한 모델 가정임. 결과는 해당 수치모델과 유한 조건 집합에 한함.</a:t>
            </a:r>
          </a:p>
          <a:p/>
          <a:p>
            <a:r>
              <a:t>근거: src/model.py grid(), rl_sensor(), run_core(); docs/Model_and_Conventions.md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[13/51] 2. Measure / 확정값과 추가 가정</a:t>
            </a:r>
          </a:p>
          <a:p>
            <a:r>
              <a:t>[적용 목적]</a:t>
            </a:r>
          </a:p>
          <a:p>
            <a:r>
              <a:t>제공되지 않은 회로 사양을 확정값으로 표현하지 않음</a:t>
            </a:r>
          </a:p>
          <a:p>
            <a:r>
              <a:t>[결과 해석]</a:t>
            </a:r>
          </a:p>
          <a:p>
            <a:r>
              <a:t>THD 절대값의 신뢰도는 회로·검출·전환 로직에 대한 실제 근거가 확보되어야 높아짐.</a:t>
            </a:r>
          </a:p>
          <a:p>
            <a:r>
              <a:t>계통 60 Hz는 북미 해석 맥락에 따라 추가한 가정이다. 사용자가 확정한 주파수 62.5 kHz는 계통 주파수가 아니라 PWM 및 제어 주파수이다.</a:t>
            </a:r>
          </a:p>
          <a:p>
            <a:r>
              <a:t>[판단 범위]</a:t>
            </a:r>
          </a:p>
          <a:p>
            <a:r>
              <a:t>확정 입력: 230 Vac, 48 Arms, Peak dq, PWM·제어 62.5 kHz / 16 μs. 그 밖의 회로 및 판정 조건은 명시한 모델 가정임. 결과는 해당 수치모델과 유한 조건 집합에 한함.</a:t>
            </a:r>
          </a:p>
          <a:p/>
          <a:p>
            <a:r>
              <a:t>근거: specification.json; sources/references.md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[14/51] 2. Measure / 데이터 취득 신뢰성 검토</a:t>
            </a:r>
          </a:p>
          <a:p>
            <a:r>
              <a:t>[적용 목적]</a:t>
            </a:r>
          </a:p>
          <a:p>
            <a:r>
              <a:t>구현 검사와 실물 모델 검증을 구분함</a:t>
            </a:r>
          </a:p>
          <a:p>
            <a:r>
              <a:t>[결과 해석]</a:t>
            </a:r>
          </a:p>
          <a:p>
            <a:r>
              <a:t>사양·축 변환·클록·적분·고조파 계산을 검사하고, 실물 일치성은 미검증으로 남김.</a:t>
            </a:r>
          </a:p>
          <a:p/>
          <a:p>
            <a:r>
              <a:t>[판단 범위]</a:t>
            </a:r>
          </a:p>
          <a:p>
            <a:r>
              <a:t>확정 입력: 230 Vac, 48 Arms, Peak dq, PWM·제어 62.5 kHz / 16 μs. 그 밖의 회로 및 판정 조건은 명시한 모델 가정임. 결과는 해당 수치모델과 유한 조건 집합에 한함.</a:t>
            </a:r>
          </a:p>
          <a:p/>
          <a:p>
            <a:r>
              <a:t>근거: qa/unit_tests.json; raw_audit.json; fft_crosscheck.csv; replay.json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[15/51] 2. Measure / 현 수준 파악</a:t>
            </a:r>
          </a:p>
          <a:p>
            <a:r>
              <a:t>[적용 목적]</a:t>
            </a:r>
          </a:p>
          <a:p>
            <a:r>
              <a:t>저전류 조건에서 상대 고조파가 증가함</a:t>
            </a:r>
          </a:p>
          <a:p>
            <a:r>
              <a:t>[결과 해석]</a:t>
            </a:r>
          </a:p>
          <a:p>
            <a:r>
              <a:t>전체 시험집합 평균과 저전류 집합 평균을 구분하여 현 수준을 확인함.</a:t>
            </a:r>
          </a:p>
          <a:p>
            <a:r>
              <a:t>전류 크기 분류는 지령 벡터의 RMS 환산값이다. 전체 평균은 정한 격자 평균이며 업계 평균이 아니다. 저전류가 주요 문제라는 분석과 전체 제품 성능의 수준은 구분한다.</a:t>
            </a:r>
          </a:p>
          <a:p>
            <a:r>
              <a:t>[판단 범위]</a:t>
            </a:r>
          </a:p>
          <a:p>
            <a:r>
              <a:t>확정 입력: 230 Vac, 48 Arms, Peak dq, PWM·제어 62.5 kHz / 16 μs. 그 밖의 회로 및 판정 조건은 명시한 모델 가정임. 결과는 해당 수치모델과 유한 조건 집합에 한함.</a:t>
            </a:r>
          </a:p>
          <a:p/>
          <a:p>
            <a:r>
              <a:t>근거: results/baseline.csv; current_strata.csv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[16/51] 2. Measure / 저전류 조건별 현 수준</a:t>
            </a:r>
          </a:p>
          <a:p>
            <a:r>
              <a:t>[적용 목적]</a:t>
            </a:r>
          </a:p>
          <a:p>
            <a:r>
              <a:t>지령과 실제 고조파 크기를 함께 확인함</a:t>
            </a:r>
          </a:p>
          <a:p>
            <a:r>
              <a:t>[결과 해석]</a:t>
            </a:r>
          </a:p>
          <a:p>
            <a:r>
              <a:t>THD 수치만 보지 않고 d·q 지령과 기본파·고조파 RMS를 연결하여 해석함.</a:t>
            </a:r>
          </a:p>
          <a:p>
            <a:r>
              <a:t>큰 Q에서 P가 작더라도 합성 전류가 크면 저전류 집합에 들어가지 않는다. 이 표의 모든 입력은 Peak A이다. 모델이 계산한 현 수준이며 실제 제품 측정값이 아니다.</a:t>
            </a:r>
          </a:p>
          <a:p>
            <a:r>
              <a:t>[판단 범위]</a:t>
            </a:r>
          </a:p>
          <a:p>
            <a:r>
              <a:t>확정 입력: 230 Vac, 48 Arms, Peak dq, PWM·제어 62.5 kHz / 16 μs. 그 밖의 회로 및 판정 조건은 명시한 모델 가정임. 결과는 해당 수치모델과 유한 조건 집합에 한함.</a:t>
            </a:r>
          </a:p>
          <a:p/>
          <a:p>
            <a:r>
              <a:t>근거: results/baseline.csv; low-current group ≤8 Arms-equivalent</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[17/51] 3. Analyze / 모델 내 왜곡 경로 확인</a:t>
            </a:r>
          </a:p>
          <a:p>
            <a:r>
              <a:t>[적용 목적]</a:t>
            </a:r>
          </a:p>
          <a:p>
            <a:r>
              <a:t>가정한 회로·검출 항을 제거하여 반응을 비교함</a:t>
            </a:r>
          </a:p>
          <a:p>
            <a:r>
              <a:t>[결과 해석]</a:t>
            </a:r>
          </a:p>
          <a:p>
            <a:r>
              <a:t>dead-time과 검출계가 THD에 미치는 영향을 수치 진단하되 실제 제품 원인으로 단정하지 않음.</a:t>
            </a:r>
          </a:p>
          <a:p>
            <a:r>
              <a:t>고속 검출 조건은 sensor_hz=200000, adc_bits=0을 함께 변경했다. 두 효과를 각각 분리해 정량화한 실험은 아니다. 표 제목에도 통합 검출 변경이라고 표현한다.</a:t>
            </a:r>
          </a:p>
          <a:p>
            <a:r>
              <a:t>[판단 범위]</a:t>
            </a:r>
          </a:p>
          <a:p>
            <a:r>
              <a:t>확정 입력: 230 Vac, 48 Arms, Peak dq, PWM·제어 62.5 kHz / 16 μs. 그 밖의 회로 및 판정 조건은 명시한 모델 가정임. 결과는 해당 수치모델과 유한 조건 집합에 한함.</a:t>
            </a:r>
          </a:p>
          <a:p/>
          <a:p>
            <a:r>
              <a:t>근거: results/ablation.csv; src/model.py</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[18/51] 3. Analyze / 가인자 선정 및 제외 사유</a:t>
            </a:r>
          </a:p>
          <a:p>
            <a:r>
              <a:t>[적용 목적]</a:t>
            </a:r>
          </a:p>
          <a:p>
            <a:r>
              <a:t>현재 사양을 바꾸지 않는 제어 인자를 선정함</a:t>
            </a:r>
          </a:p>
          <a:p>
            <a:r>
              <a:t>[결과 해석]</a:t>
            </a:r>
          </a:p>
          <a:p>
            <a:r>
              <a:t>정격·dq 스케일·PWM/제어 주기를 고정하고, 보상 인자 범위 내에서 후보를 비교함.</a:t>
            </a:r>
          </a:p>
          <a:p/>
          <a:p>
            <a:r>
              <a:t>[판단 범위]</a:t>
            </a:r>
          </a:p>
          <a:p>
            <a:r>
              <a:t>확정 입력: 230 Vac, 48 Arms, Peak dq, PWM·제어 62.5 kHz / 16 μs. 그 밖의 회로 및 판정 조건은 명시한 모델 가정임. 결과는 해당 수치모델과 유한 조건 집합에 한함.</a:t>
            </a:r>
          </a:p>
          <a:p/>
          <a:p>
            <a:r>
              <a:t>근거: results/candidate_plan.csv; 구성 참고: Snubber p.10, CLLC p.10</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[19/51] 4. Improve / DOE 계획</a:t>
            </a:r>
          </a:p>
          <a:p>
            <a:r>
              <a:t>[적용 목적]</a:t>
            </a:r>
          </a:p>
          <a:p>
            <a:r>
              <a:t>3인자·3수준의 모든 27개 조합을 비교함</a:t>
            </a:r>
          </a:p>
          <a:p>
            <a:r>
              <a:t>[결과 해석]</a:t>
            </a:r>
          </a:p>
          <a:p>
            <a:r>
              <a:t>동일한 선정용 9개 운전조건에 모든 후보를 적용하여 243개 반응값을 취득함.</a:t>
            </a:r>
          </a:p>
          <a:p>
            <a:r>
              <a:t>순수 결정론 모델에서 같은 조건 반복을 독립표본처럼 늘리지 않는다. 후보 선정에는 230 V의 9개 조건만 사용한다. 추가 전압·편차·구조 검증 결과는 선정 이후 계산하며 재튜닝에 쓰지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candidate_plan.csv; qa/frozen_protocol.json; NIST §5.3.3.9</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[20/51] 4. Improve / 주효과 분석</a:t>
            </a:r>
          </a:p>
          <a:p>
            <a:r>
              <a:t>[적용 목적]</a:t>
            </a:r>
          </a:p>
          <a:p>
            <a:r>
              <a:t>인자별 수준 평균으로 영향 크기를 비교함</a:t>
            </a:r>
          </a:p>
          <a:p>
            <a:r>
              <a:t>[결과 해석]</a:t>
            </a:r>
          </a:p>
          <a:p>
            <a:r>
              <a:t>다른 인자와 9개 운전조건을 동일 가중으로 평균하여 수준별 반응 차이를 산출함.</a:t>
            </a:r>
          </a:p>
          <a:p>
            <a:r>
              <a:t>주효과는 이 설계 격자에서의 기술통계다. 그림에는 p-value 또는 유의성 임계선을 추가하지 않았다. 세 그래프는 같은 y축 범위를 사용하여 작은 fc 차이를 과장하지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results/main_effects.csv; results/doe.csv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[21/51] 4. Improve / 교호작용 분석</a:t>
            </a:r>
          </a:p>
          <a:p>
            <a:r>
              <a:t>[적용 목적]</a:t>
            </a:r>
          </a:p>
          <a:p>
            <a:r>
              <a:t>한 인자의 효과가 다른 인자 수준에 따라 달라지는지 확인함</a:t>
            </a:r>
          </a:p>
          <a:p>
            <a:r>
              <a:t>[결과 해석]</a:t>
            </a:r>
          </a:p>
          <a:p>
            <a:r>
              <a:t>Kr 변경 효과를 각 보상 차수에서 비교하여 단순한 인자별 선택을 보완함.</a:t>
            </a:r>
          </a:p>
          <a:p>
            <a:r>
              <a:t>교호작용도는 나머지 인자와 운전조건을 평균한 반응이다. 회로의 실제 물리상호작용을 유일하게 식별했다는 뜻은 아니다.</a:t>
            </a:r>
          </a:p>
          <a:p>
            <a:r>
              <a:t>[판단 범위]</a:t>
            </a:r>
          </a:p>
          <a:p>
            <a:r>
              <a:t>확정 입력: 230 Vac, 48 Arms, Peak dq, PWM·제어 62.5 kHz / 16 μs. 그 밖의 회로 및 판정 조건은 명시한 모델 가정임. 결과는 해당 수치모델과 유한 조건 집합에 한함.</a:t>
            </a:r>
          </a:p>
          <a:p/>
          <a:p>
            <a:r>
              <a:t>근거: results/interactions.csv; results/candidates.csv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[22/51] 4. Improve / 제어 조건 선정</a:t>
            </a:r>
          </a:p>
          <a:p>
            <a:r>
              <a:t>[적용 목적]</a:t>
            </a:r>
          </a:p>
          <a:p>
            <a:r>
              <a:t>선정용 조건의 종합 만족 수를 최우선으로 비교함</a:t>
            </a:r>
          </a:p>
          <a:p>
            <a:r>
              <a:t>[결과 해석]</a:t>
            </a:r>
          </a:p>
          <a:p>
            <a:r>
              <a:t>C21를 검토 범위 내 우선안으로 선정함. 전역 최적값 또는 제품 적용 승인값은 아님.</a:t>
            </a:r>
          </a:p>
          <a:p>
            <a:r>
              <a:t>선정에 사용한 값은 새 V6 DOE에서 나온 값이다. 기존 V5 후보 또는 V4의 이득24 Ω 등을 가져오지 않았다. 선정 이후 검증 결과로 이 후보를 바꾸지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results/candidates.csv; selected_control.json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[23/51] 4. Improve / 기준조건 개선 효과</a:t>
            </a:r>
          </a:p>
          <a:p>
            <a:r>
              <a:t>[적용 목적]</a:t>
            </a:r>
          </a:p>
          <a:p>
            <a:r>
              <a:t>동일한 47개 운전조건에서 초기·선정안을 대응 비교함</a:t>
            </a:r>
          </a:p>
          <a:p>
            <a:r>
              <a:t>[결과 해석]</a:t>
            </a:r>
          </a:p>
          <a:p>
            <a:r>
              <a:t>평균 THD 2.442% → 1.004%. THD 만족률과 종합 만족률을 구분하여 확인함.</a:t>
            </a:r>
          </a:p>
          <a:p>
            <a:r>
              <a:t>x축은 시간이나 생산순서가 아니라 Case ID이다. 선으로 이어 시계열처럼 표현하지 않았다. 같은 ID의 전후 차이를 계산했으며 표본모집단에 대한 t-검정은 수행하지 않았다.</a:t>
            </a:r>
          </a:p>
          <a:p>
            <a:r>
              <a:t>[판단 범위]</a:t>
            </a:r>
          </a:p>
          <a:p>
            <a:r>
              <a:t>확정 입력: 230 Vac, 48 Arms, Peak dq, PWM·제어 62.5 kHz / 16 μs. 그 밖의 회로 및 판정 조건은 명시한 모델 가정임. 결과는 해당 수치모델과 유한 조건 집합에 한함.</a:t>
            </a:r>
          </a:p>
          <a:p/>
          <a:p>
            <a:r>
              <a:t>근거: results/baseline.csv; improved.csv; main_paired.csv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[24/51] 4. Improve / 저전류 영역 확인</a:t>
            </a:r>
          </a:p>
          <a:p>
            <a:r>
              <a:t>[적용 목적]</a:t>
            </a:r>
          </a:p>
          <a:p>
            <a:r>
              <a:t>규격 마진이 부족했던 조건의 개선 폭을 확인함</a:t>
            </a:r>
          </a:p>
          <a:p>
            <a:r>
              <a:t>[결과 해석]</a:t>
            </a:r>
          </a:p>
          <a:p>
            <a:r>
              <a:t>전체 평균에 묻히지 않도록 합성 전류 지령 8 Arms 이하인 조건을 별도로 표시함.</a:t>
            </a:r>
          </a:p>
          <a:p>
            <a:r>
              <a:t>층별 구분은 사전 전류 경계≤8,8~24,24~48 Arms 환산값을 사용한다. 표시/CSV 반올림 때문에 정확히8 A인 조건이 이웃 구간으로 넘어가지 않도록 분류만8자리 반올림한다.</a:t>
            </a:r>
          </a:p>
          <a:p>
            <a:r>
              <a:t>[판단 범위]</a:t>
            </a:r>
          </a:p>
          <a:p>
            <a:r>
              <a:t>확정 입력: 230 Vac, 48 Arms, Peak dq, PWM·제어 62.5 kHz / 16 μs. 그 밖의 회로 및 판정 조건은 명시한 모델 가정임. 결과는 해당 수치모델과 유한 조건 집합에 한함.</a:t>
            </a:r>
          </a:p>
          <a:p/>
          <a:p>
            <a:r>
              <a:t>근거: results/current_strata.csv; baseline.csv; improved.csv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[25/51] 4. Improve / 선정 미사용 조건 검증</a:t>
            </a:r>
          </a:p>
          <a:p>
            <a:r>
              <a:t>[적용 목적]</a:t>
            </a:r>
          </a:p>
          <a:p>
            <a:r>
              <a:t>선정에 사용하지 않은 38개 조건을 분리하여 확인함</a:t>
            </a:r>
          </a:p>
          <a:p>
            <a:r>
              <a:t>[결과 해석]</a:t>
            </a:r>
          </a:p>
          <a:p>
            <a:r>
              <a:t>선정용 9개에서만 좋은 결과가 나온 것은 아닌지 동일 모델의 나머지 운전조건으로 확인함.</a:t>
            </a:r>
          </a:p>
          <a:p>
            <a:r>
              <a:t>별도 검증이라는 말의 강도를 조절했다. 미사용 운전점은 설계변수 일반화의 제한된 확인이며 실물일치성이나 독립적인 검증모델을 뜻하지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qa/frozen_protocol.json; selected_control.json; main_conditions.csv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[26/51] 4. Improve / 전압 변화 검증</a:t>
            </a:r>
          </a:p>
          <a:p>
            <a:r>
              <a:t>[적용 목적]</a:t>
            </a:r>
          </a:p>
          <a:p>
            <a:r>
              <a:t>207 V·253 V에서도 동일 dq 전류 명령을 적용함</a:t>
            </a:r>
          </a:p>
          <a:p>
            <a:r>
              <a:t>[결과 해석]</a:t>
            </a:r>
          </a:p>
          <a:p>
            <a:r>
              <a:t>전류 명령을 고정했으므로 전압 변화에 따라 P₁·Q₁ 전력도 달라짐. 일정 전력 시험과 구분함.</a:t>
            </a:r>
          </a:p>
          <a:p>
            <a:r>
              <a:t>명판 용량과 전압별 전류 허용범위가 확정되지 않아 추가 전압조건을 제품 정격 영역이라고 부르지 않는다. 11.52 kVA 명칭을 근거로 전류를 숨겨 제한하지 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results/voltage_conditions.csv; voltage.csv; voltage_paired.csv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[27/51] 4. Improve / 회로·검출 편차 검증</a:t>
            </a:r>
          </a:p>
          <a:p>
            <a:r>
              <a:t>[적용 목적]</a:t>
            </a:r>
          </a:p>
          <a:p>
            <a:r>
              <a:t>선정 설정을 고정한 채 24개의 가정 변경 조건을 평가함</a:t>
            </a:r>
          </a:p>
          <a:p>
            <a:r>
              <a:t>[결과 해석]</a:t>
            </a:r>
          </a:p>
          <a:p>
            <a:r>
              <a:t>라틴 초방격으로 범위를 분산 배치했으며 제조 공차의 확률분포로 해석하지 않음.</a:t>
            </a:r>
          </a:p>
          <a:p>
            <a:r>
              <a:t>동일 seed와 조건 파일을 저장한다. 공진 계수는60 Hz용 선정값으로 유지하며 주파수마다 모델 지식을 이용해 재튜닝하지 않는다. 추가 지연은 연산 주기와 구분한다.</a:t>
            </a:r>
          </a:p>
          <a:p>
            <a:r>
              <a:t>[판단 범위]</a:t>
            </a:r>
          </a:p>
          <a:p>
            <a:r>
              <a:t>확정 입력: 230 Vac, 48 Arms, Peak dq, PWM·제어 62.5 kHz / 16 μs. 그 밖의 회로 및 판정 조건은 명시한 모델 가정임. 결과는 해당 수치모델과 유한 조건 집합에 한함.</a:t>
            </a:r>
          </a:p>
          <a:p/>
          <a:p>
            <a:r>
              <a:t>근거: results/variation_conditions.csv; variation.csv; variation_paired.csv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[28/51] 4. Improve / LF 전환 가정의 영향</a:t>
            </a:r>
          </a:p>
          <a:p>
            <a:r>
              <a:t>[적용 목적]</a:t>
            </a:r>
          </a:p>
          <a:p>
            <a:r>
              <a:t>실제 제품 적용성에 민감한 구조 가정을 별도로 평가함</a:t>
            </a:r>
          </a:p>
          <a:p>
            <a:r>
              <a:t>[결과 해석]</a:t>
            </a:r>
          </a:p>
          <a:p>
            <a:r>
              <a:t>LF 레그를 계통전압 부호로 고정하면, THD가 낮아져도 변조 제한이 발생할 수 있음.</a:t>
            </a:r>
          </a:p>
          <a:p>
            <a:r>
              <a:t>이 페이지가 주요 모델 리스크이다. 명령부호형LF가 실제제어설계의허용사항인지 불명확하므로 이모델에서의THD개선만으로 실제Q문제해결을 주장할수없다. 구조조건6개의만족률을47조건만족률과합산하지않는다.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results/structure.csv; src/model.py lf_grid_polarity</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[29/51] 4. Improve / 잔여 미달과 전류 한계</a:t>
            </a:r>
          </a:p>
          <a:p>
            <a:r>
              <a:t>[적용 목적]</a:t>
            </a:r>
          </a:p>
          <a:p>
            <a:r>
              <a:t>기본파 지령 한계와 실제 RMS 한계를 구분함</a:t>
            </a:r>
          </a:p>
          <a:p>
            <a:r>
              <a:t>[결과 해석]</a:t>
            </a:r>
          </a:p>
          <a:p>
            <a:r>
              <a:t>Peak dq 벡터를 67.882 A로 제한해도 고조파·리플·검출오차 때문에 실제 RMS가 48 A를 넘을 수 있음.</a:t>
            </a:r>
          </a:p>
          <a:p>
            <a:r>
              <a:t>보고된 경계 초과는 모델의 엄격한≤48 A 판정이다. 하드웨어오차 허용치를 모르므로 실제제품의불합격이라고확정하지않는다. 지령전류를자동낮추는개선로직은이번DOE에포함하지않았다.</a:t>
            </a:r>
          </a:p>
          <a:p>
            <a:r>
              <a:t>[판단 범위]</a:t>
            </a:r>
          </a:p>
          <a:p>
            <a:r>
              <a:t>확정 입력: 230 Vac, 48 Arms, Peak dq, PWM·제어 62.5 kHz / 16 μs. 그 밖의 회로 및 판정 조건은 명시한 모델 가정임. 결과는 해당 수치모델과 유한 조건 집합에 한함.</a:t>
            </a:r>
          </a:p>
          <a:p/>
          <a:p>
            <a:r>
              <a:t>근거: results/main_failures.csv; variation.csv; refinement_comparison.csv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[30/51] 4. Improve / d·q축 과도응답 검토</a:t>
            </a:r>
          </a:p>
          <a:p>
            <a:r>
              <a:t>[적용 목적]</a:t>
            </a:r>
          </a:p>
          <a:p>
            <a:r>
              <a:t>축별 명령 변화와 q축 반전의 응답을 확인함</a:t>
            </a:r>
          </a:p>
          <a:p>
            <a:r>
              <a:t>[결과 해석]</a:t>
            </a:r>
          </a:p>
          <a:p>
            <a:r>
              <a:t>정상상태 THD 개선과 과도응답 개선을 동일하게 취급하지 않음.</a:t>
            </a:r>
          </a:p>
          <a:p>
            <a:r>
              <a:t>표에서 RMS환산을사용한것은해석용이다.모든step입력은Peak A로저장된다. 1주기필터는후처리이며 제어에들어가지않는다. 지표에 필터지연과평균화영향이 있으므로일반적인2%정착시간과직접비교하지않는다.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results/transient.csv; transient_envelope.csv; raw transient control logs</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[31/51] 4. Improve / 수치 결과의 민감도 확인</a:t>
            </a:r>
          </a:p>
          <a:p>
            <a:r>
              <a:t>[적용 목적]</a:t>
            </a:r>
          </a:p>
          <a:p>
            <a:r>
              <a:t>시간간격과 계산기간을 변경하여 결과의 일관성을 확인함</a:t>
            </a:r>
          </a:p>
          <a:p>
            <a:r>
              <a:t>[결과 해석]</a:t>
            </a:r>
          </a:p>
          <a:p>
            <a:r>
              <a:t>대표조건에서만 수행한 수치 검증이며, 모든 회로 가정의 정확도를 입증한 것은 아님.</a:t>
            </a:r>
          </a:p>
          <a:p>
            <a:r>
              <a:t>전류ADC양자화와스위칭사건으로세분화반응이엄밀한단조수렴은아닐수있다. 최대차는정해진대표조건의관측값이지전영역오차상한이아니다.</a:t>
            </a:r>
          </a:p>
          <a:p>
            <a:r>
              <a:t>[판단 범위]</a:t>
            </a:r>
          </a:p>
          <a:p>
            <a:r>
              <a:t>확정 입력: 230 Vac, 48 Arms, Peak dq, PWM·제어 62.5 kHz / 16 μs. 그 밖의 회로 및 판정 조건은 명시한 모델 가정임. 결과는 해당 수치모델과 유한 조건 집합에 한함.</a:t>
            </a:r>
          </a:p>
          <a:p/>
          <a:p>
            <a:r>
              <a:t>근거: qa/raw_audit.json; fft_crosscheck.csv; replay.json; results/refinement_comparison.csv; duration_comparison.csv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[32/51] 5. Control / 성과 확인 및 최종 판단</a:t>
            </a:r>
          </a:p>
          <a:p>
            <a:r>
              <a:t>[적용 목적]</a:t>
            </a:r>
          </a:p>
          <a:p>
            <a:r>
              <a:t>THD 성과와 잔여 적용 리스크를 함께 정리함</a:t>
            </a:r>
          </a:p>
          <a:p>
            <a:r>
              <a:t>[결과 해석]</a:t>
            </a:r>
          </a:p>
          <a:p>
            <a:r>
              <a:t>기준조건의 THD 목표는 달성했으나, 모든 전류·구조조건을 만족한 제품 적용안으로 확정하지 않음.</a:t>
            </a:r>
          </a:p>
          <a:p>
            <a:r>
              <a:t>48 Arms와LF전환가정의잔여문제를주요결론으로둔다. 기준조건47개중THD47개만족을종합100%또는실물100%로요약하지않는다. 11.52 kVA급명칭과11.04기준점계산값은끝까지구분한다.</a:t>
            </a:r>
          </a:p>
          <a:p>
            <a:r>
              <a:t>[판단 범위]</a:t>
            </a:r>
          </a:p>
          <a:p>
            <a:r>
              <a:t>확정 입력: 230 Vac, 48 Arms, Peak dq, PWM·제어 62.5 kHz / 16 μs. 그 밖의 회로 및 판정 조건은 명시한 모델 가정임. 결과는 해당 수치모델과 유한 조건 집합에 한함.</a:t>
            </a:r>
          </a:p>
          <a:p/>
          <a:p>
            <a:r>
              <a:t>근거: results/summary.json; paired comparison files</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[33/51] 5. Control / 표준화 및 후속 검증</a:t>
            </a:r>
          </a:p>
          <a:p>
            <a:r>
              <a:t>[적용 목적]</a:t>
            </a:r>
          </a:p>
          <a:p>
            <a:r>
              <a:t>사양·조건·코드·원자료를 연결하여 관리함</a:t>
            </a:r>
          </a:p>
          <a:p>
            <a:r>
              <a:t>[결과 해석]</a:t>
            </a:r>
          </a:p>
          <a:p>
            <a:r>
              <a:t>다음 변경은 보고서 숫자 수정이 아니라 사양 변경 → 모델 변경 → 동일시험 재계산의 순서로 수행함.</a:t>
            </a:r>
          </a:p>
          <a:p/>
          <a:p>
            <a:r>
              <a:t>[판단 범위]</a:t>
            </a:r>
          </a:p>
          <a:p>
            <a:r>
              <a:t>확정 입력: 230 Vac, 48 Arms, Peak dq, PWM·제어 62.5 kHz / 16 μs. 그 밖의 회로 및 판정 조건은 명시한 모델 가정임. 결과는 해당 수치모델과 유한 조건 집합에 한함.</a:t>
            </a:r>
          </a:p>
          <a:p/>
          <a:p>
            <a:r>
              <a:t>근거: qa/frozen_protocol.json; docs/Model_and_Conventions.md; delivery manifests</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[34/51] 5. Control / 정량·정성 성과의 범위</a:t>
            </a:r>
          </a:p>
          <a:p>
            <a:r>
              <a:t>[적용 목적]</a:t>
            </a:r>
          </a:p>
          <a:p>
            <a:r>
              <a:t>근거가 없는 재무 성과를 산정하지 않음</a:t>
            </a:r>
          </a:p>
          <a:p>
            <a:r>
              <a:t>[결과 해석]</a:t>
            </a:r>
          </a:p>
          <a:p>
            <a:r>
              <a:t>실측 시험공수·재시험 비용·양산 물동 정보가 없어 비용 절감액은 계산하지 않았음.</a:t>
            </a:r>
          </a:p>
          <a:p>
            <a:r>
              <a:t>기존사례처럼성과와관리산출물로종결하되 없는재무근거를추정하지않는다. 본문은34쪽까지이며 이후는용어·계산근거·상세표이다.</a:t>
            </a:r>
          </a:p>
          <a:p>
            <a:r>
              <a:t>[판단 범위]</a:t>
            </a:r>
          </a:p>
          <a:p>
            <a:r>
              <a:t>확정 입력: 230 Vac, 48 Arms, Peak dq, PWM·제어 62.5 kHz / 16 μs. 그 밖의 회로 및 판정 조건은 명시한 모델 가정임. 결과는 해당 수치모델과 유한 조건 집합에 한함.</a:t>
            </a:r>
          </a:p>
          <a:p/>
          <a:p>
            <a:r>
              <a:t>근거: results/summary.json; docs/V6_Review.md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[35/51] 용어집 01 / 사양·단위</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[36/51] 용어집 02 / 신호·전력</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[37/51] 용어집 03 / 모델·시간축</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[38/51] 용어집 04 / 제어·판정</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[39/51] 용어집 05 / 시험·데이터</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[40/51] 용어집 06 / 통계·신뢰성</a:t>
            </a:r>
          </a:p>
          <a:p>
            <a:r>
              <a:t>[적용 목적]</a:t>
            </a:r>
          </a:p>
          <a:p>
            <a:r>
              <a:t>보고서에서 사용하는 의미와 해석 한계를 명확히 함</a:t>
            </a:r>
          </a:p>
          <a:p>
            <a:r>
              <a:t>[결과 해석]</a:t>
            </a:r>
          </a:p>
          <a:p>
            <a:r>
              <a:t>일반 용어의 뜻뿐 아니라 이번 과제에서 사용한 범위까지 함께 설명함.</a:t>
            </a:r>
          </a:p>
          <a:p>
            <a:r>
              <a:t>용어에붙은수치는V6사양과코드에해당한다. 과거버전의정격·단위·주기를이어받지않는다.</a:t>
            </a:r>
          </a:p>
          <a:p>
            <a:r>
              <a:t>[판단 범위]</a:t>
            </a:r>
          </a:p>
          <a:p>
            <a:r>
              <a:t>확정 입력: 230 Vac, 48 Arms, Peak dq, PWM·제어 62.5 kHz / 16 μs. 그 밖의 회로 및 판정 조건은 명시한 모델 가정임. 결과는 해당 수치모델과 유한 조건 집합에 한함.</a:t>
            </a:r>
          </a:p>
          <a:p/>
          <a:p>
            <a:r>
              <a:t>근거: docs/Model_and_Conventions.md; src/model.py; specification.json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[41/51] 부록 A01 / 제어·전력 계산식</a:t>
            </a:r>
          </a:p>
          <a:p>
            <a:r>
              <a:t>[적용 목적]</a:t>
            </a:r>
          </a:p>
          <a:p>
            <a:r>
              <a:t>피크 dq와 전력의 환산관계를 고정함</a:t>
            </a:r>
          </a:p>
          <a:p>
            <a:r>
              <a:t>[결과 해석]</a:t>
            </a:r>
          </a:p>
          <a:p>
            <a:r>
              <a:t>48 Arms에 대한 피크값 환산은 한 번만 수행하며, API 입력에 다시 √2를 곱하지 않음.</a:t>
            </a:r>
          </a:p>
          <a:p>
            <a:r>
              <a:t>좌표계는alpha cos기준이며beta는sin위상이다. 초기및선정안모두동일부호를유지한다. 검증테스트는축변환왕복·P/Q부호·정격전류를각각확인한다.</a:t>
            </a:r>
          </a:p>
          <a:p>
            <a:r>
              <a:t>[판단 범위]</a:t>
            </a:r>
          </a:p>
          <a:p>
            <a:r>
              <a:t>확정 입력: 230 Vac, 48 Arms, Peak dq, PWM·제어 62.5 kHz / 16 μs. 그 밖의 회로 및 판정 조건은 명시한 모델 가정임. 결과는 해당 수치모델과 유한 조건 집합에 한함.</a:t>
            </a:r>
          </a:p>
          <a:p/>
          <a:p>
            <a:r>
              <a:t>근거: src/model.py measure(); qa/unit_tests.log</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[42/51] 부록 A02 / 준공진기 디지털 구현</a:t>
            </a:r>
          </a:p>
          <a:p>
            <a:r>
              <a:t>[적용 목적]</a:t>
            </a:r>
          </a:p>
          <a:p>
            <a:r>
              <a:t>모든 계수를 16 μs 제어시간축으로 다시 산출함</a:t>
            </a:r>
          </a:p>
          <a:p>
            <a:r>
              <a:t>[결과 해석]</a:t>
            </a:r>
          </a:p>
          <a:p>
            <a:r>
              <a:t>V4/V5의 계수나 50 Hz 중심주파수를 재사용하지 않음.</a:t>
            </a:r>
          </a:p>
          <a:p>
            <a:r>
              <a:t>공진기의각극점이단위원내인지검사한다. 이것은공진필터단독의안정성을확인할뿐전체비선형폐루프의안정증명은아니다.</a:t>
            </a:r>
          </a:p>
          <a:p>
            <a:r>
              <a:t>[판단 범위]</a:t>
            </a:r>
          </a:p>
          <a:p>
            <a:r>
              <a:t>확정 입력: 230 Vac, 48 Arms, Peak dq, PWM·제어 62.5 kHz / 16 μs. 그 밖의 회로 및 판정 조건은 명시한 모델 가정임. 결과는 해당 수치모델과 유한 조건 집합에 한함.</a:t>
            </a:r>
          </a:p>
          <a:p/>
          <a:p>
            <a:r>
              <a:t>근거: src/model.py coefficients(), run_core(); Imperix PR controller</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[43/51] 부록 A03 / 제곱합 분해와 미적용 검정</a:t>
            </a:r>
          </a:p>
          <a:p>
            <a:r>
              <a:t>[적용 목적]</a:t>
            </a:r>
          </a:p>
          <a:p>
            <a:r>
              <a:t>27개 후보 평균의 변동을 요인별로 분해함</a:t>
            </a:r>
          </a:p>
          <a:p>
            <a:r>
              <a:t>[결과 해석]</a:t>
            </a:r>
          </a:p>
          <a:p>
            <a:r>
              <a:t>오차자유도를 확보하지 못한 분해이므로 F검정·p-value를 계산하지 않음.</a:t>
            </a:r>
          </a:p>
          <a:p>
            <a:r>
              <a:t>모든교호항을포함한포화모형에는잔차자유도가없다. 교호항을0으로간주하여강제로오차항을만들지않았다. 실물표본또는정당한확률모형없이다른모집단의신뢰구간을붙이지않는다.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results/factorial_decomposition.csv; src/analyze.py; NIST §5.3.3.9</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[44/51] 부록 A04 / 대응 비교와 만족률 해석</a:t>
            </a:r>
          </a:p>
          <a:p>
            <a:r>
              <a:t>[적용 목적]</a:t>
            </a:r>
          </a:p>
          <a:p>
            <a:r>
              <a:t>같은 Case끼리 비교하여 변화량을 계산함</a:t>
            </a:r>
          </a:p>
          <a:p>
            <a:r>
              <a:t>[결과 해석]</a:t>
            </a:r>
          </a:p>
          <a:p>
            <a:r>
              <a:t>개선 효과의 집계 대상과 분모를 명시하고, 추론통계와 유한 조건의 비교를 구분함.</a:t>
            </a:r>
          </a:p>
          <a:p>
            <a:r>
              <a:t>기준47개는전체47개설계조건을모두계산했으므로그유한집합만족률자체의표본오차는논점이아니다. 다른조건또는실물제품에대한불확도는모델오차·범위선정문제이며샘플수만늘려해결되지않는다.</a:t>
            </a:r>
          </a:p>
          <a:p>
            <a:r>
              <a:t>[판단 범위]</a:t>
            </a:r>
          </a:p>
          <a:p>
            <a:r>
              <a:t>확정 입력: 230 Vac, 48 Arms, Peak dq, PWM·제어 62.5 kHz / 16 μs. 그 밖의 회로 및 판정 조건은 명시한 모델 가정임. 결과는 해당 수치모델과 유한 조건 집합에 한함.</a:t>
            </a:r>
          </a:p>
          <a:p/>
          <a:p>
            <a:r>
              <a:t>근거: results/*_paired.csv; NIST §7.3.1.1</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[45/51] 부록 A05 / DOE 전체 후보 1~14</a:t>
            </a:r>
          </a:p>
          <a:p>
            <a:r>
              <a:t>[적용 목적]</a:t>
            </a:r>
          </a:p>
          <a:p>
            <a:r>
              <a:t>최종 선정 외의 후보도 모두 보존함</a:t>
            </a:r>
          </a:p>
          <a:p>
            <a:r>
              <a:t>[결과 해석]</a:t>
            </a:r>
          </a:p>
          <a:p>
            <a:r>
              <a:t>일부 후보만 제시하지 않고, 27개 조합의 최대·평균 THD와 종합 만족 수를 모두 기록함.</a:t>
            </a:r>
          </a:p>
          <a:p>
            <a:r>
              <a:t>Kr단위Ω, fc단위Hz, THD단위%. 이표의각반응은9개다른운전조건을요약한것이며9회반복표본의평균과표준오차가아니다.</a:t>
            </a:r>
          </a:p>
          <a:p>
            <a:r>
              <a:t>[판단 범위]</a:t>
            </a:r>
          </a:p>
          <a:p>
            <a:r>
              <a:t>확정 입력: 230 Vac, 48 Arms, Peak dq, PWM·제어 62.5 kHz / 16 μs. 그 밖의 회로 및 판정 조건은 명시한 모델 가정임. 결과는 해당 수치모델과 유한 조건 집합에 한함.</a:t>
            </a:r>
          </a:p>
          <a:p/>
          <a:p>
            <a:r>
              <a:t>근거: results/candidates.csv; results/doe.csv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[46/51] 부록 A05 / DOE 전체 후보 15~27</a:t>
            </a:r>
          </a:p>
          <a:p>
            <a:r>
              <a:t>[적용 목적]</a:t>
            </a:r>
          </a:p>
          <a:p>
            <a:r>
              <a:t>최종 선정 외의 후보도 모두 보존함</a:t>
            </a:r>
          </a:p>
          <a:p>
            <a:r>
              <a:t>[결과 해석]</a:t>
            </a:r>
          </a:p>
          <a:p>
            <a:r>
              <a:t>일부 후보만 제시하지 않고, 27개 조합의 최대·평균 THD와 종합 만족 수를 모두 기록함.</a:t>
            </a:r>
          </a:p>
          <a:p>
            <a:r>
              <a:t>Kr단위Ω, fc단위Hz, THD단위%. 이표의각반응은9개다른운전조건을요약한것이며9회반복표본의평균과표준오차가아니다.</a:t>
            </a:r>
          </a:p>
          <a:p>
            <a:r>
              <a:t>[판단 범위]</a:t>
            </a:r>
          </a:p>
          <a:p>
            <a:r>
              <a:t>확정 입력: 230 Vac, 48 Arms, Peak dq, PWM·제어 62.5 kHz / 16 μs. 그 밖의 회로 및 판정 조건은 명시한 모델 가정임. 결과는 해당 수치모델과 유한 조건 집합에 한함.</a:t>
            </a:r>
          </a:p>
          <a:p/>
          <a:p>
            <a:r>
              <a:t>근거: results/candidates.csv; results/doe.csv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[47/51] 부록 A06 / 기준 운전조건 ID 1~24</a:t>
            </a:r>
          </a:p>
          <a:p>
            <a:r>
              <a:t>[적용 목적]</a:t>
            </a:r>
          </a:p>
          <a:p>
            <a:r>
              <a:t>모든 입력은 Peak A이며 230 Vac에서 동일하게 적용함</a:t>
            </a:r>
          </a:p>
          <a:p>
            <a:r>
              <a:t>[결과 해석]</a:t>
            </a:r>
          </a:p>
          <a:p>
            <a:r>
              <a:t>선정용 9개 조건의 ID를 표시하여, 선정 대상과 검증 대상의 관계를 확인할 수 있도록 함.</a:t>
            </a:r>
          </a:p>
          <a:p/>
          <a:p>
            <a:r>
              <a:t>[판단 범위]</a:t>
            </a:r>
          </a:p>
          <a:p>
            <a:r>
              <a:t>확정 입력: 230 Vac, 48 Arms, Peak dq, PWM·제어 62.5 kHz / 16 μs. 그 밖의 회로 및 판정 조건은 명시한 모델 가정임. 결과는 해당 수치모델과 유한 조건 집합에 한함.</a:t>
            </a:r>
          </a:p>
          <a:p/>
          <a:p>
            <a:r>
              <a:t>근거: results/main_conditions.csv; qa/frozen_protocol.json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[48/51] 부록 A06 / 기준 운전조건 ID 25~47</a:t>
            </a:r>
          </a:p>
          <a:p>
            <a:r>
              <a:t>[적용 목적]</a:t>
            </a:r>
          </a:p>
          <a:p>
            <a:r>
              <a:t>모든 입력은 Peak A이며 230 Vac에서 동일하게 적용함</a:t>
            </a:r>
          </a:p>
          <a:p>
            <a:r>
              <a:t>[결과 해석]</a:t>
            </a:r>
          </a:p>
          <a:p>
            <a:r>
              <a:t>선정용 9개 조건의 ID를 표시하여, 선정 대상과 검증 대상의 관계를 확인할 수 있도록 함.</a:t>
            </a:r>
          </a:p>
          <a:p/>
          <a:p>
            <a:r>
              <a:t>[판단 범위]</a:t>
            </a:r>
          </a:p>
          <a:p>
            <a:r>
              <a:t>확정 입력: 230 Vac, 48 Arms, Peak dq, PWM·제어 62.5 kHz / 16 μs. 그 밖의 회로 및 판정 조건은 명시한 모델 가정임. 결과는 해당 수치모델과 유한 조건 집합에 한함.</a:t>
            </a:r>
          </a:p>
          <a:p/>
          <a:p>
            <a:r>
              <a:t>근거: results/main_conditions.csv; qa/frozen_protocol.json</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[49/51] 부록 A07 / 기존 11개 보고서와 비교</a:t>
            </a:r>
          </a:p>
          <a:p>
            <a:r>
              <a:t>[적용 목적]</a:t>
            </a:r>
          </a:p>
          <a:p>
            <a:r>
              <a:t>문장·구성과 증거 연결을 참고하되 데이터의 성격은 구분함</a:t>
            </a:r>
          </a:p>
          <a:p>
            <a:r>
              <a:t>[결과 해석]</a:t>
            </a:r>
          </a:p>
          <a:p>
            <a:r>
              <a:t>기존 사례의 통계 출력 형식을 그대로 복제하지 않고, V6의 자료 구조에 맞추어 설명함.</a:t>
            </a:r>
          </a:p>
          <a:p>
            <a:r>
              <a:t>원본슬라이드이미지나회사로고·서명을복사하지않는다. V6는흰배경·회색제목띠·표·DMAIC표시·결과해석박스의공통구성요소만반영한다. 합격사례의승인상태를V6에승계하지않는다.</a:t>
            </a:r>
          </a:p>
          <a:p>
            <a:r>
              <a:t>[판단 범위]</a:t>
            </a:r>
          </a:p>
          <a:p>
            <a:r>
              <a:t>확정 입력: 230 Vac, 48 Arms, Peak dq, PWM·제어 62.5 kHz / 16 μs. 그 밖의 회로 및 판정 조건은 명시한 모델 가정임. 결과는 해당 수치모델과 유한 조건 집합에 한함.</a:t>
            </a:r>
          </a:p>
          <a:p/>
          <a:p>
            <a:r>
              <a:t>근거: 첨부된 기존 11개 PPTX; docs/V6_Review.md</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[50/51] 부록 A08 / 근거 문서와 재현 방법</a:t>
            </a:r>
          </a:p>
          <a:p>
            <a:r>
              <a:t>[적용 목적]</a:t>
            </a:r>
          </a:p>
          <a:p>
            <a:r>
              <a:t>모델·판정·결과·검토 기록을 함께 제공함</a:t>
            </a:r>
          </a:p>
          <a:p>
            <a:r>
              <a:t>[결과 해석]</a:t>
            </a:r>
          </a:p>
          <a:p>
            <a:r>
              <a:t>핵심 수치를 V6 원시 파형 또는 사용자 확정 사양으로 추적할 수 있도록 파일명을 연결함.</a:t>
            </a:r>
          </a:p>
          <a:p>
            <a:r>
              <a:t>study.py는원시파형경로가이미있으면덮어쓰지않고중단한다. 원본결과폴더를보존한채새복사본에서waveforms/results를비워재실행한다. 보고서만다시만드는경우make_report.py만실행하며시뮬레이션을반복하지않는다.</a:t>
            </a:r>
          </a:p>
          <a:p>
            <a:r>
              <a:t>[판단 범위]</a:t>
            </a:r>
          </a:p>
          <a:p>
            <a:r>
              <a:t>확정 입력: 230 Vac, 48 Arms, Peak dq, PWM·제어 62.5 kHz / 16 μs. 그 밖의 회로 및 판정 조건은 명시한 모델 가정임. 결과는 해당 수치모델과 유한 조건 집합에 한함.</a:t>
            </a:r>
          </a:p>
          <a:p/>
          <a:p>
            <a:r>
              <a:t>근거: README.md; sources/references.md; delivery manifests</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[51/51] 부록 A09 / 대표 전류 파형과 차수별 변화</a:t>
            </a:r>
          </a:p>
          <a:p>
            <a:r>
              <a:t>[적용 목적]</a:t>
            </a:r>
          </a:p>
          <a:p>
            <a:r>
              <a:t>저전류 조건 N015의 파형과 고조파를 함께 확인함</a:t>
            </a:r>
          </a:p>
          <a:p>
            <a:r>
              <a:t>[결과 해석]</a:t>
            </a:r>
          </a:p>
          <a:p>
            <a:r>
              <a:t>id*=5.656854 Apeak, iq*=0, 230 V / THD 7.810% → 3.167%.</a:t>
            </a:r>
          </a:p>
          <a:p>
            <a:r>
              <a:t>파형 표시만 시간 간격을 줄였다. THD·RMS·피크 계산은 저장한 원시 파형을 사용한다. DC 성분도 별도로 기록하며 이 표의 THD 계산에서는 제외한다. 개별 고조파 제한과 DC 주입의 실제 규격 검증은 이번 연구의 합부 판정에 포함하지 않았다.</a:t>
            </a:r>
          </a:p>
          <a:p>
            <a:r>
              <a:t>[판단 범위]</a:t>
            </a:r>
          </a:p>
          <a:p>
            <a:r>
              <a:t>확정 입력: 230 Vac, 48 Arms, Peak dq, PWM·제어 62.5 kHz / 16 μs. 그 밖의 회로 및 판정 조건은 명시한 모델 가정임. 결과는 해당 수치모델과 유한 조건 집합에 한함.</a:t>
            </a:r>
          </a:p>
          <a:p/>
          <a:p>
            <a:r>
              <a:t>근거: waveforms/baseline_N015_initial.npz; improved_N015_selected.npz; results/baseline.csv; improved.csv</a:t>
            </a:r>
          </a:p>
          <a:p>
            <a:r>
              <a:t>데이터 출처: SSBB-V6-20260928 / 502 new switching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20.xml"/><Relationship Id="rId6" Type="http://schemas.openxmlformats.org/officeDocument/2006/relationships/slide" Target="slide7.xml"/><Relationship Id="rId7" Type="http://schemas.openxmlformats.org/officeDocument/2006/relationships/slide" Target="slide35.xml"/><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17.xml"/><Relationship Id="rId11" Type="http://schemas.openxmlformats.org/officeDocument/2006/relationships/slide" Target="slide19.xml"/><Relationship Id="rId12" Type="http://schemas.openxmlformats.org/officeDocument/2006/relationships/slide" Target="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21.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23.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4.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19.xml"/><Relationship Id="rId9"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51.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3.xml"/><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7.xml"/><Relationship Id="rId10" Type="http://schemas.openxmlformats.org/officeDocument/2006/relationships/slide" Target="slide19.xml"/><Relationship Id="rId11" Type="http://schemas.openxmlformats.org/officeDocument/2006/relationships/slide" Target="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4632" y="365760"/>
            <a:ext cx="8686800" cy="4114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Six Sigma BB 과제 보고서</a:t>
            </a:r>
          </a:p>
        </p:txBody>
      </p:sp>
      <p:cxnSp>
        <p:nvCxnSpPr>
          <p:cNvPr id="3" name="Connector 2"/>
          <p:cNvCxnSpPr/>
          <p:nvPr/>
        </p:nvCxnSpPr>
        <p:spPr>
          <a:xfrm>
            <a:off x="0" y="941832"/>
            <a:ext cx="9905999" cy="0"/>
          </a:xfrm>
          <a:prstGeom prst="line">
            <a:avLst/>
          </a:prstGeom>
          <a:ln w="8890">
            <a:solidFill>
              <a:srgbClr val="000000"/>
            </a:solidFill>
          </a:ln>
          <a:effectLst/>
        </p:spPr>
      </p:cxnSp>
      <p:sp>
        <p:nvSpPr>
          <p:cNvPr id="4" name="TextBox 3"/>
          <p:cNvSpPr txBox="1"/>
          <p:nvPr/>
        </p:nvSpPr>
        <p:spPr>
          <a:xfrm>
            <a:off x="566928" y="1481328"/>
            <a:ext cx="8759952" cy="12984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700" b="1">
                <a:solidFill>
                  <a:srgbClr val="000000"/>
                </a:solidFill>
                <a:latin typeface="Malgun Gothic"/>
                <a:ea typeface="Malgun Gothic"/>
                <a:cs typeface="Malgun Gothic"/>
              </a:rPr>
              <a:t>11.52 kVA급 북미 V2G OBCM</a:t>
            </a:r>
          </a:p>
          <a:p>
            <a:pPr algn="l">
              <a:lnSpc>
                <a:spcPct val="108000"/>
              </a:lnSpc>
              <a:spcBef>
                <a:spcPts val="0"/>
              </a:spcBef>
              <a:spcAft>
                <a:spcPts val="200"/>
              </a:spcAft>
            </a:pPr>
            <a:r>
              <a:rPr sz="2700" b="1">
                <a:solidFill>
                  <a:srgbClr val="000000"/>
                </a:solidFill>
                <a:latin typeface="Malgun Gothic"/>
                <a:ea typeface="Malgun Gothic"/>
                <a:cs typeface="Malgun Gothic"/>
              </a:rPr>
              <a:t>AC단 dq 전류제어의 THD 개선 검토</a:t>
            </a:r>
          </a:p>
        </p:txBody>
      </p:sp>
      <p:sp>
        <p:nvSpPr>
          <p:cNvPr id="5" name="TextBox 4"/>
          <p:cNvSpPr txBox="1"/>
          <p:nvPr/>
        </p:nvSpPr>
        <p:spPr>
          <a:xfrm>
            <a:off x="594360" y="3063240"/>
            <a:ext cx="8595360" cy="6400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00" b="1">
                <a:solidFill>
                  <a:srgbClr val="000000"/>
                </a:solidFill>
                <a:latin typeface="Malgun Gothic"/>
                <a:ea typeface="Malgun Gothic"/>
                <a:cs typeface="Malgun Gothic"/>
              </a:rPr>
              <a:t>230 Vac · 48 Arms · Peak dq</a:t>
            </a:r>
          </a:p>
          <a:p>
            <a:pPr algn="l">
              <a:lnSpc>
                <a:spcPct val="108000"/>
              </a:lnSpc>
              <a:spcBef>
                <a:spcPts val="0"/>
              </a:spcBef>
              <a:spcAft>
                <a:spcPts val="200"/>
              </a:spcAft>
            </a:pPr>
            <a:r>
              <a:rPr sz="1600" b="1">
                <a:solidFill>
                  <a:srgbClr val="000000"/>
                </a:solidFill>
                <a:latin typeface="Malgun Gothic"/>
                <a:ea typeface="Malgun Gothic"/>
                <a:cs typeface="Malgun Gothic"/>
              </a:rPr>
              <a:t>PWM 및 제어 연산 모두 62.5 kHz / 16 μs</a:t>
            </a:r>
          </a:p>
        </p:txBody>
      </p:sp>
      <p:sp>
        <p:nvSpPr>
          <p:cNvPr id="6" name="Rectangle 5"/>
          <p:cNvSpPr/>
          <p:nvPr/>
        </p:nvSpPr>
        <p:spPr>
          <a:xfrm>
            <a:off x="594360" y="3730752"/>
            <a:ext cx="8732520" cy="438912"/>
          </a:xfrm>
          <a:prstGeom prst="rect">
            <a:avLst/>
          </a:prstGeom>
          <a:solidFill>
            <a:srgbClr val="EFEFEF"/>
          </a:solidFill>
          <a:ln w="8255">
            <a:solidFill>
              <a:srgbClr val="B8B8B8"/>
            </a:solidFill>
          </a:ln>
          <a:effectLst/>
        </p:spPr>
        <p:txBody>
          <a:bodyPr rtlCol="0" anchor="ctr"/>
          <a:lstStyle/>
          <a:p>
            <a:pPr algn="ctr"/>
          </a:p>
        </p:txBody>
      </p:sp>
      <p:sp>
        <p:nvSpPr>
          <p:cNvPr id="7" name="TextBox 6"/>
          <p:cNvSpPr txBox="1"/>
          <p:nvPr/>
        </p:nvSpPr>
        <p:spPr>
          <a:xfrm>
            <a:off x="731520" y="3813048"/>
            <a:ext cx="8412480" cy="292608"/>
          </a:xfrm>
          <a:prstGeom prst="rect">
            <a:avLst/>
          </a:prstGeom>
          <a:noFill/>
        </p:spPr>
        <p:txBody>
          <a:bodyPr wrap="square" lIns="22860" rIns="22860" tIns="22860" bIns="22860" anchor="t">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Define  →  Measure  →  Analyze  →  Improve  →  Control</a:t>
            </a:r>
          </a:p>
        </p:txBody>
      </p:sp>
      <p:sp>
        <p:nvSpPr>
          <p:cNvPr id="8" name="TextBox 7"/>
          <p:cNvSpPr txBox="1"/>
          <p:nvPr/>
        </p:nvSpPr>
        <p:spPr>
          <a:xfrm>
            <a:off x="621792" y="4800600"/>
            <a:ext cx="8412480" cy="47548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500" b="0">
                <a:solidFill>
                  <a:srgbClr val="000000"/>
                </a:solidFill>
                <a:latin typeface="Malgun Gothic"/>
                <a:ea typeface="Malgun Gothic"/>
                <a:cs typeface="Malgun Gothic"/>
              </a:rPr>
              <a:t>백승우  |  Six Sigma Black Belt 과제</a:t>
            </a:r>
          </a:p>
        </p:txBody>
      </p:sp>
      <p:sp>
        <p:nvSpPr>
          <p:cNvPr id="9" name="TextBox 8"/>
          <p:cNvSpPr txBox="1"/>
          <p:nvPr/>
        </p:nvSpPr>
        <p:spPr>
          <a:xfrm>
            <a:off x="621792" y="5504688"/>
            <a:ext cx="84124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V6 · 2026.09.28</a:t>
            </a:r>
          </a:p>
          <a:p>
            <a:pPr algn="l">
              <a:lnSpc>
                <a:spcPct val="108000"/>
              </a:lnSpc>
              <a:spcBef>
                <a:spcPts val="0"/>
              </a:spcBef>
              <a:spcAft>
                <a:spcPts val="200"/>
              </a:spcAft>
            </a:pPr>
            <a:r>
              <a:rPr sz="1100" b="0">
                <a:solidFill>
                  <a:srgbClr val="555555"/>
                </a:solidFill>
                <a:latin typeface="Malgun Gothic"/>
                <a:ea typeface="Malgun Gothic"/>
                <a:cs typeface="Malgun Gothic"/>
              </a:rPr>
              <a:t>230×48=11.04 kVA. 제품급 명칭과 기준점 계산값을 구분함.</a:t>
            </a:r>
          </a:p>
        </p:txBody>
      </p:sp>
      <p:cxnSp>
        <p:nvCxnSpPr>
          <p:cNvPr id="10" name="Connector 9"/>
          <p:cNvCxnSpPr/>
          <p:nvPr/>
        </p:nvCxnSpPr>
        <p:spPr>
          <a:xfrm>
            <a:off x="365760" y="6419088"/>
            <a:ext cx="9180576" cy="0"/>
          </a:xfrm>
          <a:prstGeom prst="line">
            <a:avLst/>
          </a:prstGeom>
          <a:ln w="5715">
            <a:solidFill>
              <a:srgbClr val="000000"/>
            </a:solidFill>
          </a:ln>
          <a:effectLst/>
        </p:spPr>
      </p:cxnSp>
      <p:sp>
        <p:nvSpPr>
          <p:cNvPr id="11" name="TextBox 10"/>
          <p:cNvSpPr txBox="1"/>
          <p:nvPr/>
        </p:nvSpPr>
        <p:spPr>
          <a:xfrm>
            <a:off x="393192" y="6510528"/>
            <a:ext cx="8961120" cy="20116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819" b="0">
                <a:solidFill>
                  <a:srgbClr val="555555"/>
                </a:solidFill>
                <a:latin typeface="Malgun Gothic"/>
                <a:ea typeface="Malgun Gothic"/>
                <a:cs typeface="Malgun Gothic"/>
              </a:rPr>
              <a:t>문서·수치 데이터 V6  |  230 Vac · 48 Arms | PWM·제어 62.5 kHz / 16 μs | Peak dq  |  실제 제품 검증과 구분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최우선 사양 고정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V5의 잘못된 사양을 V6 입력에서 차단함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계산 전에 사양 자동검사를 수행하고, 모든 실행에 동일한 사양 해시를 저장함.</a:t>
            </a:r>
          </a:p>
        </p:txBody>
      </p:sp>
      <p:graphicFrame>
        <p:nvGraphicFramePr>
          <p:cNvPr id="17" name="Table 16"/>
          <p:cNvGraphicFramePr>
            <a:graphicFrameLocks noGrp="1"/>
          </p:cNvGraphicFramePr>
          <p:nvPr/>
        </p:nvGraphicFramePr>
        <p:xfrm>
          <a:off x="502920" y="2011680"/>
          <a:ext cx="8869679" cy="3337558"/>
        </p:xfrm>
        <a:graphic>
          <a:graphicData uri="http://schemas.openxmlformats.org/drawingml/2006/table">
            <a:tbl>
              <a:tblPr firstRow="1" bandRow="1">
                <a:tableStyleId>{5C22544A-7EE6-4342-B048-85BDC9FD1C3A}</a:tableStyleId>
              </a:tblPr>
              <a:tblGrid>
                <a:gridCol w="2086983"/>
                <a:gridCol w="4173967"/>
                <a:gridCol w="2608729"/>
              </a:tblGrid>
              <a:tr h="47679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V6 적용값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적용 근거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AC 전압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230 Vrms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정격 AC 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외부 dq 지령</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d축·q축 모두 Peak A의 DC 지령</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주파수 / 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62.5 kHz / 16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연산 주파수 / 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62.5 kHz / 16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 제어 실행 횟수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 : 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매 PWM 주기 1회 연산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정격 32 Arms, 제어 32 μs, RMS dq 입력을 현재 사양으로 사용하지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src/model.py assert_spec(); qa/unit_tests.json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용량 표기의 정합성</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제품급 명칭과 기준 운전점의 계산값을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11.52 kVA급 명칭은 유지하되, 모든 기준 해석에는 230 Vac와 48 Arms를 적용함.</a:t>
            </a:r>
          </a:p>
        </p:txBody>
      </p:sp>
      <p:graphicFrame>
        <p:nvGraphicFramePr>
          <p:cNvPr id="17" name="Table 16"/>
          <p:cNvGraphicFramePr>
            <a:graphicFrameLocks noGrp="1"/>
          </p:cNvGraphicFramePr>
          <p:nvPr/>
        </p:nvGraphicFramePr>
        <p:xfrm>
          <a:off x="502920" y="2011680"/>
          <a:ext cx="8869679" cy="3200400"/>
        </p:xfrm>
        <a:graphic>
          <a:graphicData uri="http://schemas.openxmlformats.org/drawingml/2006/table">
            <a:tbl>
              <a:tblPr firstRow="1" bandRow="1">
                <a:tableStyleId>{5C22544A-7EE6-4342-B048-85BDC9FD1C3A}</a:tableStyleId>
              </a:tblPr>
              <a:tblGrid>
                <a:gridCol w="1991152"/>
                <a:gridCol w="2896222"/>
                <a:gridCol w="3982305"/>
              </a:tblGrid>
              <a:tr h="53340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34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제품급 명칭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11.52 kVA급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사용자가 지정한 명칭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34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기준점 피상전력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230×48 = 11,040 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입력으로 산출한 11.04 kVA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34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참고 산술관계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240×48 = 11,520 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V로 해석했다는 뜻이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34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dq 벡터 최대값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√2×48 = 67.882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각 축 개별 한계가 아니라 합성 벡터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34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사양 확인 필요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명판 기준 전압과 용량의 관계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제품급 명칭만으로 계산 입력을 바꾸지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51383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C00000"/>
                </a:solidFill>
                <a:latin typeface="Malgun Gothic"/>
                <a:ea typeface="Malgun Gothic"/>
                <a:cs typeface="Malgun Gothic"/>
              </a:rPr>
              <a:t>주의: 230 V에서 11.52 kVA를 유지하도록 전류를 50.087 Arms로 높이지 않았음.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 derived_not_substituted</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과제 등록 및 목표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Project Y를 수치해석 설계기준 만족률로 정의함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저전류 운전의 THD를 개선하되, 전류 용량과 추종성 등 다른 조건의 미달을 함께 확인함.</a:t>
            </a:r>
          </a:p>
        </p:txBody>
      </p:sp>
      <p:graphicFrame>
        <p:nvGraphicFramePr>
          <p:cNvPr id="17" name="Table 16"/>
          <p:cNvGraphicFramePr>
            <a:graphicFrameLocks noGrp="1"/>
          </p:cNvGraphicFramePr>
          <p:nvPr/>
        </p:nvGraphicFramePr>
        <p:xfrm>
          <a:off x="502920" y="2011680"/>
          <a:ext cx="8869679" cy="3337558"/>
        </p:xfrm>
        <a:graphic>
          <a:graphicData uri="http://schemas.openxmlformats.org/drawingml/2006/table">
            <a:tbl>
              <a:tblPr firstRow="1" bandRow="1">
                <a:tableStyleId>{5C22544A-7EE6-4342-B048-85BDC9FD1C3A}</a:tableStyleId>
              </a:tblPr>
              <a:tblGrid>
                <a:gridCol w="2075882"/>
                <a:gridCol w="6793797"/>
              </a:tblGrid>
              <a:tr h="47679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과제명</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북미 V2G AC단의 dq 전류제어 THD 설계기준 만족률 개선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Project Y</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230 V 운전조건 47개 중 THD₂–₄₀ ≤ 5%인 조건의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목표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 만족률 95% 이상 (47개 중 최소 45개)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보조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dq 추종 / 실제 RMS≤48 A / 피크·포화 / 정상상태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적용 수준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참조 수치모델의 제어 후보 선정 및 한계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미확정 사항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지도 MBB·Owner·등록기간, 모델 가정 및 고객 판정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THD 5%는 잠정 설계기준이며 북미 인증 적합성을 판정하지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results/summary.json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Big Y–Little y 전개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실제 업무 목표와 본 과제에서 측정하는 지표를 연결함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하드웨어 실험 대신 수치모델을 사용하므로, 제품 품질 성과와 모델 내 개선 성과를 분리함.</a:t>
            </a:r>
          </a:p>
        </p:txBody>
      </p:sp>
      <p:sp>
        <p:nvSpPr>
          <p:cNvPr id="17" name="Rectangle 16"/>
          <p:cNvSpPr/>
          <p:nvPr/>
        </p:nvSpPr>
        <p:spPr>
          <a:xfrm>
            <a:off x="640080" y="2194560"/>
            <a:ext cx="2514600" cy="96012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722375" y="2258568"/>
            <a:ext cx="2350008" cy="8321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Big Y</a:t>
            </a:r>
          </a:p>
          <a:p>
            <a:pPr algn="ctr">
              <a:lnSpc>
                <a:spcPct val="108000"/>
              </a:lnSpc>
              <a:spcBef>
                <a:spcPts val="0"/>
              </a:spcBef>
              <a:spcAft>
                <a:spcPts val="200"/>
              </a:spcAft>
            </a:pPr>
            <a:r>
              <a:rPr sz="1300" b="0">
                <a:solidFill>
                  <a:srgbClr val="000000"/>
                </a:solidFill>
                <a:latin typeface="Malgun Gothic"/>
                <a:ea typeface="Malgun Gothic"/>
                <a:cs typeface="Malgun Gothic"/>
              </a:rPr>
              <a:t>V2G 계통연계 품질 확보</a:t>
            </a:r>
          </a:p>
        </p:txBody>
      </p:sp>
      <p:sp>
        <p:nvSpPr>
          <p:cNvPr id="19" name="Rectangle 18"/>
          <p:cNvSpPr/>
          <p:nvPr/>
        </p:nvSpPr>
        <p:spPr>
          <a:xfrm>
            <a:off x="3657600" y="2194560"/>
            <a:ext cx="2423160" cy="96012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3739896" y="2258568"/>
            <a:ext cx="2258568" cy="8321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Little y</a:t>
            </a:r>
          </a:p>
          <a:p>
            <a:pPr algn="ctr">
              <a:lnSpc>
                <a:spcPct val="108000"/>
              </a:lnSpc>
              <a:spcBef>
                <a:spcPts val="0"/>
              </a:spcBef>
              <a:spcAft>
                <a:spcPts val="200"/>
              </a:spcAft>
            </a:pPr>
            <a:r>
              <a:rPr sz="1300" b="0">
                <a:solidFill>
                  <a:srgbClr val="000000"/>
                </a:solidFill>
                <a:latin typeface="Malgun Gothic"/>
                <a:ea typeface="Malgun Gothic"/>
                <a:cs typeface="Malgun Gothic"/>
              </a:rPr>
              <a:t>AC 전류 품질 개선</a:t>
            </a:r>
          </a:p>
        </p:txBody>
      </p:sp>
      <p:sp>
        <p:nvSpPr>
          <p:cNvPr id="21" name="Rectangle 20"/>
          <p:cNvSpPr/>
          <p:nvPr/>
        </p:nvSpPr>
        <p:spPr>
          <a:xfrm>
            <a:off x="6583680" y="2194560"/>
            <a:ext cx="2560320" cy="96012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6665976" y="2258568"/>
            <a:ext cx="2395727" cy="8321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Project Y</a:t>
            </a:r>
          </a:p>
          <a:p>
            <a:pPr algn="ctr">
              <a:lnSpc>
                <a:spcPct val="108000"/>
              </a:lnSpc>
              <a:spcBef>
                <a:spcPts val="0"/>
              </a:spcBef>
              <a:spcAft>
                <a:spcPts val="200"/>
              </a:spcAft>
            </a:pPr>
            <a:r>
              <a:rPr sz="1300" b="0">
                <a:solidFill>
                  <a:srgbClr val="000000"/>
                </a:solidFill>
                <a:latin typeface="Malgun Gothic"/>
                <a:ea typeface="Malgun Gothic"/>
                <a:cs typeface="Malgun Gothic"/>
              </a:rPr>
              <a:t>THD 설계기준 만족률</a:t>
            </a:r>
          </a:p>
        </p:txBody>
      </p:sp>
      <p:cxnSp>
        <p:nvCxnSpPr>
          <p:cNvPr id="23" name="Connector 22"/>
          <p:cNvCxnSpPr/>
          <p:nvPr/>
        </p:nvCxnSpPr>
        <p:spPr>
          <a:xfrm>
            <a:off x="3200400" y="2679192"/>
            <a:ext cx="420624" cy="0"/>
          </a:xfrm>
          <a:prstGeom prst="line">
            <a:avLst/>
          </a:prstGeom>
          <a:ln w="12700">
            <a:solidFill>
              <a:srgbClr val="000000"/>
            </a:solidFill>
            <a:tailEnd type="triangle" w="sm" len="sm"/>
          </a:ln>
          <a:effectLst/>
        </p:spPr>
      </p:cxnSp>
      <p:cxnSp>
        <p:nvCxnSpPr>
          <p:cNvPr id="24" name="Connector 23"/>
          <p:cNvCxnSpPr/>
          <p:nvPr/>
        </p:nvCxnSpPr>
        <p:spPr>
          <a:xfrm>
            <a:off x="6126480" y="2679192"/>
            <a:ext cx="411480" cy="0"/>
          </a:xfrm>
          <a:prstGeom prst="line">
            <a:avLst/>
          </a:prstGeom>
          <a:ln w="12700">
            <a:solidFill>
              <a:srgbClr val="000000"/>
            </a:solidFill>
            <a:tailEnd type="triangle" w="sm" len="sm"/>
          </a:ln>
          <a:effectLst/>
        </p:spPr>
      </p:cxnSp>
      <p:graphicFrame>
        <p:nvGraphicFramePr>
          <p:cNvPr id="25" name="Table 24"/>
          <p:cNvGraphicFramePr>
            <a:graphicFrameLocks noGrp="1"/>
          </p:cNvGraphicFramePr>
          <p:nvPr/>
        </p:nvGraphicFramePr>
        <p:xfrm>
          <a:off x="502920" y="3749039"/>
          <a:ext cx="8869680" cy="1737360"/>
        </p:xfrm>
        <a:graphic>
          <a:graphicData uri="http://schemas.openxmlformats.org/drawingml/2006/table">
            <a:tbl>
              <a:tblPr firstRow="1" bandRow="1">
                <a:tableStyleId>{5C22544A-7EE6-4342-B048-85BDC9FD1C3A}</a:tableStyleId>
              </a:tblPr>
              <a:tblGrid>
                <a:gridCol w="4434840"/>
                <a:gridCol w="4434840"/>
              </a:tblGrid>
              <a:tr h="43434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이번 과제에서 확인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별도 검증이 필요한 제품 요구</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Peak dq 전류지령 추종, 저차 고조파 저감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HW·소자·EMI 필터·DC-link 및 CLLC 상호작용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고정 조건 전후 비교와 후보 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고객 규격, 시험소 인증, 실차 통합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모델·파라미터 편차 영향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양산 공차분포와 실제 고장률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6" name="TextBox 25"/>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수치모델의 만족률을 양산 수율 또는 고객 인증 통과율로 환산하지 않음.</a:t>
            </a:r>
          </a:p>
        </p:txBody>
      </p:sp>
      <p:cxnSp>
        <p:nvCxnSpPr>
          <p:cNvPr id="27" name="Connector 26"/>
          <p:cNvCxnSpPr/>
          <p:nvPr/>
        </p:nvCxnSpPr>
        <p:spPr>
          <a:xfrm>
            <a:off x="365760" y="6428232"/>
            <a:ext cx="9189720" cy="0"/>
          </a:xfrm>
          <a:prstGeom prst="line">
            <a:avLst/>
          </a:prstGeom>
          <a:ln w="5715">
            <a:solidFill>
              <a:srgbClr val="000000"/>
            </a:solidFill>
          </a:ln>
          <a:effectLst/>
        </p:spPr>
      </p:cxnSp>
      <p:sp>
        <p:nvSpPr>
          <p:cNvPr id="28" name="TextBox 27"/>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구성 참고: Snubber p.4·10; CLLC p.3; docs/Model_and_Conventions.md</a:t>
            </a:r>
          </a:p>
        </p:txBody>
      </p:sp>
      <p:sp>
        <p:nvSpPr>
          <p:cNvPr id="29" name="TextBox 28"/>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5/51</a:t>
            </a:r>
          </a:p>
        </p:txBody>
      </p:sp>
      <p:sp>
        <p:nvSpPr>
          <p:cNvPr id="30" name="TextBox 29">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31" name="TextBox 30">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dq 전류 지령의 정의</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외부 입력은 d축·q축의 피크값 DC 전류 지령임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Theta는 SOGI-PLL 내부 동기각으로만 사용하며 외부 전력 명령으로 사용하지 않음.</a:t>
            </a:r>
          </a:p>
        </p:txBody>
      </p:sp>
      <p:sp>
        <p:nvSpPr>
          <p:cNvPr id="17" name="TextBox 16"/>
          <p:cNvSpPr txBox="1"/>
          <p:nvPr/>
        </p:nvSpPr>
        <p:spPr>
          <a:xfrm>
            <a:off x="502920" y="1965960"/>
            <a:ext cx="886968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800" b="1">
                <a:solidFill>
                  <a:srgbClr val="000000"/>
                </a:solidFill>
                <a:latin typeface="Malgun Gothic"/>
                <a:ea typeface="Malgun Gothic"/>
                <a:cs typeface="Malgun Gothic"/>
              </a:rPr>
              <a:t>iα* = id* cosθ − iq* sinθ</a:t>
            </a:r>
          </a:p>
          <a:p>
            <a:pPr algn="l">
              <a:lnSpc>
                <a:spcPct val="108000"/>
              </a:lnSpc>
              <a:spcBef>
                <a:spcPts val="0"/>
              </a:spcBef>
              <a:spcAft>
                <a:spcPts val="200"/>
              </a:spcAft>
            </a:pPr>
            <a:r>
              <a:rPr sz="1800" b="1">
                <a:solidFill>
                  <a:srgbClr val="000000"/>
                </a:solidFill>
                <a:latin typeface="Malgun Gothic"/>
                <a:ea typeface="Malgun Gothic"/>
                <a:cs typeface="Malgun Gothic"/>
              </a:rPr>
              <a:t>P₁* = V₁·id*/√2,   Q₁* = −V₁·iq*/√2</a:t>
            </a:r>
          </a:p>
        </p:txBody>
      </p:sp>
      <p:graphicFrame>
        <p:nvGraphicFramePr>
          <p:cNvPr id="18" name="Table 17"/>
          <p:cNvGraphicFramePr>
            <a:graphicFrameLocks noGrp="1"/>
          </p:cNvGraphicFramePr>
          <p:nvPr/>
        </p:nvGraphicFramePr>
        <p:xfrm>
          <a:off x="502920" y="2971800"/>
          <a:ext cx="8869679" cy="2240280"/>
        </p:xfrm>
        <a:graphic>
          <a:graphicData uri="http://schemas.openxmlformats.org/drawingml/2006/table">
            <a:tbl>
              <a:tblPr firstRow="1" bandRow="1">
                <a:tableStyleId>{5C22544A-7EE6-4342-B048-85BDC9FD1C3A}</a:tableStyleId>
              </a:tblPr>
              <a:tblGrid>
                <a:gridCol w="2687781"/>
                <a:gridCol w="2239818"/>
                <a:gridCol w="3942080"/>
              </a:tblGrid>
              <a:tr h="448056">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지령 예시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기본파 전류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230 V에서의 전력</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id*=67.882, iq*=0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P₁*=11.040 kW, Q₁*=0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id*=0, iq*=+67.882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P₁*=0, Q₁*=−11.040 kvar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id*=48.000, iq*=0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33.941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 Arms 운전과 다른 지령임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id*=67.882, iq*=67.882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전류 벡터 초과로 입력 거부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669280"/>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C00000"/>
                </a:solidFill>
                <a:latin typeface="Malgun Gothic"/>
                <a:ea typeface="Malgun Gothic"/>
                <a:cs typeface="Malgun Gothic"/>
              </a:rPr>
              <a:t>Q 부호: +Iq는 진상전류로 정의한 모델 규약임. 실제 CAN 부호는 별도 확인 필요.</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validate(), run_core(); qa/unit_tests.log</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6/51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시험 구성과 수량의 의미</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운전조건·제어 후보·해석 실행 수를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조건을 먼저 고정한 후, 선정용 조건에서 후보를 비교하고 나머지 조건을 평가함.</a:t>
            </a:r>
          </a:p>
        </p:txBody>
      </p:sp>
      <p:graphicFrame>
        <p:nvGraphicFramePr>
          <p:cNvPr id="17" name="Table 16"/>
          <p:cNvGraphicFramePr>
            <a:graphicFrameLocks noGrp="1"/>
          </p:cNvGraphicFramePr>
          <p:nvPr/>
        </p:nvGraphicFramePr>
        <p:xfrm>
          <a:off x="502920" y="2011680"/>
          <a:ext cx="8869679" cy="2880360"/>
        </p:xfrm>
        <a:graphic>
          <a:graphicData uri="http://schemas.openxmlformats.org/drawingml/2006/table">
            <a:tbl>
              <a:tblPr firstRow="1" bandRow="1">
                <a:tableStyleId>{5C22544A-7EE6-4342-B048-85BDC9FD1C3A}</a:tableStyleId>
              </a:tblPr>
              <a:tblGrid>
                <a:gridCol w="2251187"/>
                <a:gridCol w="2926544"/>
                <a:gridCol w="3691948"/>
              </a:tblGrid>
              <a:tr h="48006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대상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용도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운전조건 47개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230 V에서 직접 dq 지령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전체 전후 성능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선정용 9개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47개에 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후보 27개 비교에만 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미사용 38개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47−9=38개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이후 확인 / 별도 47개가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검증조건 24개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207·253 V × dq 12조합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변화 시 동일 전류 명령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편차 검증조건 24개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회로·검출·주파수·지연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가정 범위에서 성능 변화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157216"/>
            <a:ext cx="8869680" cy="7772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DOE 실행 = 27후보×9운전조건 = 243회</a:t>
            </a:r>
          </a:p>
          <a:p>
            <a:pPr algn="l">
              <a:lnSpc>
                <a:spcPct val="108000"/>
              </a:lnSpc>
              <a:spcBef>
                <a:spcPts val="0"/>
              </a:spcBef>
              <a:spcAft>
                <a:spcPts val="200"/>
              </a:spcAft>
            </a:pPr>
            <a:r>
              <a:rPr sz="1300" b="1">
                <a:solidFill>
                  <a:srgbClr val="000000"/>
                </a:solidFill>
                <a:latin typeface="Malgun Gothic"/>
                <a:ea typeface="Malgun Gothic"/>
                <a:cs typeface="Malgun Gothic"/>
              </a:rPr>
              <a:t>동일 운전조건을 초기·선정 제어로 각각 실행하면 조건 1개, 실행 2회임.</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results/*_conditions.csv; candidate_plan.csv;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7/51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직접 dq 운전조건 선정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전류 원 내부의 d·q 조합을 평가함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d축 유효전류와 양·음 q축 무효전류를 직접 조합하고, 전류 벡터 한계를 넘는 조합은 생성하지 않음.</a:t>
            </a:r>
          </a:p>
        </p:txBody>
      </p:sp>
      <p:graphicFrame>
        <p:nvGraphicFramePr>
          <p:cNvPr id="17" name="Table 16"/>
          <p:cNvGraphicFramePr>
            <a:graphicFrameLocks noGrp="1"/>
          </p:cNvGraphicFramePr>
          <p:nvPr/>
        </p:nvGraphicFramePr>
        <p:xfrm>
          <a:off x="502920" y="2011680"/>
          <a:ext cx="8869679" cy="3337558"/>
        </p:xfrm>
        <a:graphic>
          <a:graphicData uri="http://schemas.openxmlformats.org/drawingml/2006/table">
            <a:tbl>
              <a:tblPr firstRow="1" bandRow="1">
                <a:tableStyleId>{5C22544A-7EE6-4342-B048-85BDC9FD1C3A}</a:tableStyleId>
              </a:tblPr>
              <a:tblGrid>
                <a:gridCol w="2147396"/>
                <a:gridCol w="6722283"/>
              </a:tblGrid>
              <a:tr h="47679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시험 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d축 후보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 × {0, 4, 8, 16, 32, 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q축 후보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 × {0, ±4, ±8, ±16, ±32, ±48}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허용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 &lt; sqrt(id*²+iq*²) ≤ 67.882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선정용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RMS 환산 표기 (4,0/±4), (8,0/±8), (16,0/±16)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입력 파일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id_peak_a, iq_peak_a로 저장 / RMS 값 필드는 외부 입력에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경계 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id*=67.882, iq*=0 및 id*=0, iq*=±67.882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P*=0인 순수 Q 운전도 무전류 또는 저부하 운전으로 취급하지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src/study.py plans()</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8/51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측정 지표와 판정 기준</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THD와 실제 전류 용량을 별도로 판정함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고조파를 줄여도 전류 크기·추종·포화 조건을 만족하지 않으면 종합 만족으로 처리하지 않음.</a:t>
            </a:r>
          </a:p>
        </p:txBody>
      </p:sp>
      <p:graphicFrame>
        <p:nvGraphicFramePr>
          <p:cNvPr id="17" name="Table 16"/>
          <p:cNvGraphicFramePr>
            <a:graphicFrameLocks noGrp="1"/>
          </p:cNvGraphicFramePr>
          <p:nvPr/>
        </p:nvGraphicFramePr>
        <p:xfrm>
          <a:off x="502920" y="2011680"/>
          <a:ext cx="8869679" cy="3108959"/>
        </p:xfrm>
        <a:graphic>
          <a:graphicData uri="http://schemas.openxmlformats.org/drawingml/2006/table">
            <a:tbl>
              <a:tblPr firstRow="1" bandRow="1">
                <a:tableStyleId>{5C22544A-7EE6-4342-B048-85BDC9FD1C3A}</a:tableStyleId>
              </a:tblPr>
              <a:tblGrid>
                <a:gridCol w="1737359"/>
                <a:gridCol w="3931920"/>
                <a:gridCol w="3200400"/>
              </a:tblGrid>
              <a:tr h="444137">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잠정 설계 판정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평가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THD₂–₄₀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 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기본파 대비 2~40차 RMS 합성값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dq 추종오차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각 축 ≤ max(0.3 Apeak, 지령크기×2%)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Peak 지령 대비 기본파 Peak 측정값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실제 전류 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 48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스위칭 리플·고조파 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전류 피크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 75 A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정상 평가구간의 순간 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전압·보상 제한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전압 제한 시간비≤1%, 공진·적분 제한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제한의 발생 비율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정상성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1~7차 주기간 차이 RMS≤max(0.03 A, Iref,rms×0.2%)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PWM 리플의 위상차와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559552"/>
            <a:ext cx="8869680" cy="4572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종합 만족 = THD ∧ dq 추종 ∧ 실제 RMS ∧ 피크 ∧ 제한 조건 ∧ 정상성</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 criteria; src/model.py measure()</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9/51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수치해석 시스템 구성</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회로·제어·측정 경로를 분리하여 구성함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기본 dq PI와 PLL을 고정하고, 개선 시 준공진 전류 피드백만 추가함.</a:t>
            </a:r>
          </a:p>
        </p:txBody>
      </p:sp>
      <p:sp>
        <p:nvSpPr>
          <p:cNvPr id="17" name="Rectangle 16"/>
          <p:cNvSpPr/>
          <p:nvPr/>
        </p:nvSpPr>
        <p:spPr>
          <a:xfrm>
            <a:off x="502920" y="2286000"/>
            <a:ext cx="1463040" cy="73152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350008"/>
            <a:ext cx="129844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id* · iq*</a:t>
            </a:r>
          </a:p>
          <a:p>
            <a:pPr algn="ctr">
              <a:lnSpc>
                <a:spcPct val="108000"/>
              </a:lnSpc>
              <a:spcBef>
                <a:spcPts val="0"/>
              </a:spcBef>
              <a:spcAft>
                <a:spcPts val="200"/>
              </a:spcAft>
            </a:pPr>
            <a:r>
              <a:rPr sz="1300" b="0">
                <a:solidFill>
                  <a:srgbClr val="000000"/>
                </a:solidFill>
                <a:latin typeface="Malgun Gothic"/>
                <a:ea typeface="Malgun Gothic"/>
                <a:cs typeface="Malgun Gothic"/>
              </a:rPr>
              <a:t>[Peak A, DC]</a:t>
            </a:r>
          </a:p>
        </p:txBody>
      </p:sp>
      <p:sp>
        <p:nvSpPr>
          <p:cNvPr id="19" name="Rectangle 18"/>
          <p:cNvSpPr/>
          <p:nvPr/>
        </p:nvSpPr>
        <p:spPr>
          <a:xfrm>
            <a:off x="2423160" y="2286000"/>
            <a:ext cx="1874519" cy="73152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2505456" y="2350008"/>
            <a:ext cx="170992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dq PI +</a:t>
            </a:r>
          </a:p>
          <a:p>
            <a:pPr algn="ctr">
              <a:lnSpc>
                <a:spcPct val="108000"/>
              </a:lnSpc>
              <a:spcBef>
                <a:spcPts val="0"/>
              </a:spcBef>
              <a:spcAft>
                <a:spcPts val="200"/>
              </a:spcAft>
            </a:pPr>
            <a:r>
              <a:rPr sz="1300" b="0">
                <a:solidFill>
                  <a:srgbClr val="000000"/>
                </a:solidFill>
                <a:latin typeface="Malgun Gothic"/>
                <a:ea typeface="Malgun Gothic"/>
                <a:cs typeface="Malgun Gothic"/>
              </a:rPr>
              <a:t>전향·교차결합 보상</a:t>
            </a:r>
          </a:p>
        </p:txBody>
      </p:sp>
      <p:sp>
        <p:nvSpPr>
          <p:cNvPr id="21" name="Rectangle 20"/>
          <p:cNvSpPr/>
          <p:nvPr/>
        </p:nvSpPr>
        <p:spPr>
          <a:xfrm>
            <a:off x="4754880" y="2286000"/>
            <a:ext cx="1645920" cy="73152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4837176" y="2350008"/>
            <a:ext cx="148132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16 μs 제어</a:t>
            </a:r>
          </a:p>
          <a:p>
            <a:pPr algn="ctr">
              <a:lnSpc>
                <a:spcPct val="108000"/>
              </a:lnSpc>
              <a:spcBef>
                <a:spcPts val="0"/>
              </a:spcBef>
              <a:spcAft>
                <a:spcPts val="200"/>
              </a:spcAft>
            </a:pPr>
            <a:r>
              <a:rPr sz="1300" b="0">
                <a:solidFill>
                  <a:srgbClr val="000000"/>
                </a:solidFill>
                <a:latin typeface="Malgun Gothic"/>
                <a:ea typeface="Malgun Gothic"/>
                <a:cs typeface="Malgun Gothic"/>
              </a:rPr>
              <a:t>PWM 갱신 FIFO</a:t>
            </a:r>
          </a:p>
        </p:txBody>
      </p:sp>
      <p:sp>
        <p:nvSpPr>
          <p:cNvPr id="23" name="Rectangle 22"/>
          <p:cNvSpPr/>
          <p:nvPr/>
        </p:nvSpPr>
        <p:spPr>
          <a:xfrm>
            <a:off x="6858000" y="2286000"/>
            <a:ext cx="2240280" cy="731520"/>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6940296" y="2350008"/>
            <a:ext cx="207568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62.5 kHz PWM</a:t>
            </a:r>
          </a:p>
          <a:p>
            <a:pPr algn="ctr">
              <a:lnSpc>
                <a:spcPct val="108000"/>
              </a:lnSpc>
              <a:spcBef>
                <a:spcPts val="0"/>
              </a:spcBef>
              <a:spcAft>
                <a:spcPts val="200"/>
              </a:spcAft>
            </a:pPr>
            <a:r>
              <a:rPr sz="1300" b="0">
                <a:solidFill>
                  <a:srgbClr val="000000"/>
                </a:solidFill>
                <a:latin typeface="Malgun Gothic"/>
                <a:ea typeface="Malgun Gothic"/>
                <a:cs typeface="Malgun Gothic"/>
              </a:rPr>
              <a:t>AC단 RL·계통</a:t>
            </a:r>
          </a:p>
        </p:txBody>
      </p:sp>
      <p:cxnSp>
        <p:nvCxnSpPr>
          <p:cNvPr id="25" name="Connector 24"/>
          <p:cNvCxnSpPr/>
          <p:nvPr/>
        </p:nvCxnSpPr>
        <p:spPr>
          <a:xfrm>
            <a:off x="1965960" y="2651760"/>
            <a:ext cx="411480" cy="0"/>
          </a:xfrm>
          <a:prstGeom prst="line">
            <a:avLst/>
          </a:prstGeom>
          <a:ln w="12700">
            <a:solidFill>
              <a:srgbClr val="000000"/>
            </a:solidFill>
            <a:tailEnd type="triangle" w="sm" len="sm"/>
          </a:ln>
          <a:effectLst/>
        </p:spPr>
      </p:cxnSp>
      <p:cxnSp>
        <p:nvCxnSpPr>
          <p:cNvPr id="26" name="Connector 25"/>
          <p:cNvCxnSpPr/>
          <p:nvPr/>
        </p:nvCxnSpPr>
        <p:spPr>
          <a:xfrm>
            <a:off x="4297680" y="2651760"/>
            <a:ext cx="411480" cy="0"/>
          </a:xfrm>
          <a:prstGeom prst="line">
            <a:avLst/>
          </a:prstGeom>
          <a:ln w="12700">
            <a:solidFill>
              <a:srgbClr val="000000"/>
            </a:solidFill>
            <a:tailEnd type="triangle" w="sm" len="sm"/>
          </a:ln>
          <a:effectLst/>
        </p:spPr>
      </p:cxnSp>
      <p:cxnSp>
        <p:nvCxnSpPr>
          <p:cNvPr id="27" name="Connector 26"/>
          <p:cNvCxnSpPr/>
          <p:nvPr/>
        </p:nvCxnSpPr>
        <p:spPr>
          <a:xfrm>
            <a:off x="6400800" y="2651760"/>
            <a:ext cx="411480" cy="0"/>
          </a:xfrm>
          <a:prstGeom prst="line">
            <a:avLst/>
          </a:prstGeom>
          <a:ln w="12700">
            <a:solidFill>
              <a:srgbClr val="000000"/>
            </a:solidFill>
            <a:tailEnd type="triangle" w="sm" len="sm"/>
          </a:ln>
          <a:effectLst/>
        </p:spPr>
      </p:cxnSp>
      <p:sp>
        <p:nvSpPr>
          <p:cNvPr id="28" name="Rectangle 27"/>
          <p:cNvSpPr/>
          <p:nvPr/>
        </p:nvSpPr>
        <p:spPr>
          <a:xfrm>
            <a:off x="5257800" y="3840480"/>
            <a:ext cx="2103120" cy="777240"/>
          </a:xfrm>
          <a:prstGeom prst="rect">
            <a:avLst/>
          </a:prstGeom>
          <a:solidFill>
            <a:srgbClr val="FFFFFF"/>
          </a:solidFill>
          <a:ln w="8255">
            <a:solidFill>
              <a:srgbClr val="B8B8B8"/>
            </a:solidFill>
          </a:ln>
          <a:effectLst/>
        </p:spPr>
        <p:txBody>
          <a:bodyPr rtlCol="0" anchor="ctr"/>
          <a:lstStyle/>
          <a:p>
            <a:pPr algn="ctr"/>
          </a:p>
        </p:txBody>
      </p:sp>
      <p:sp>
        <p:nvSpPr>
          <p:cNvPr id="29" name="TextBox 28"/>
          <p:cNvSpPr txBox="1"/>
          <p:nvPr/>
        </p:nvSpPr>
        <p:spPr>
          <a:xfrm>
            <a:off x="5340096" y="3904488"/>
            <a:ext cx="1938527" cy="64922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전류 측정</a:t>
            </a:r>
          </a:p>
          <a:p>
            <a:pPr algn="ctr">
              <a:lnSpc>
                <a:spcPct val="108000"/>
              </a:lnSpc>
              <a:spcBef>
                <a:spcPts val="0"/>
              </a:spcBef>
              <a:spcAft>
                <a:spcPts val="200"/>
              </a:spcAft>
            </a:pPr>
            <a:r>
              <a:rPr sz="1300" b="0">
                <a:solidFill>
                  <a:srgbClr val="000000"/>
                </a:solidFill>
                <a:latin typeface="Malgun Gothic"/>
                <a:ea typeface="Malgun Gothic"/>
                <a:cs typeface="Malgun Gothic"/>
              </a:rPr>
              <a:t>아날로그 LPF + ADC</a:t>
            </a:r>
          </a:p>
        </p:txBody>
      </p:sp>
      <p:sp>
        <p:nvSpPr>
          <p:cNvPr id="30" name="Rectangle 29"/>
          <p:cNvSpPr/>
          <p:nvPr/>
        </p:nvSpPr>
        <p:spPr>
          <a:xfrm>
            <a:off x="2468880" y="3840480"/>
            <a:ext cx="2057400" cy="777240"/>
          </a:xfrm>
          <a:prstGeom prst="rect">
            <a:avLst/>
          </a:prstGeom>
          <a:solidFill>
            <a:srgbClr val="FFFFFF"/>
          </a:solidFill>
          <a:ln w="8255">
            <a:solidFill>
              <a:srgbClr val="B8B8B8"/>
            </a:solidFill>
          </a:ln>
          <a:effectLst/>
        </p:spPr>
        <p:txBody>
          <a:bodyPr rtlCol="0" anchor="ctr"/>
          <a:lstStyle/>
          <a:p>
            <a:pPr algn="ctr"/>
          </a:p>
        </p:txBody>
      </p:sp>
      <p:sp>
        <p:nvSpPr>
          <p:cNvPr id="31" name="TextBox 30"/>
          <p:cNvSpPr txBox="1"/>
          <p:nvPr/>
        </p:nvSpPr>
        <p:spPr>
          <a:xfrm>
            <a:off x="2551176" y="3904488"/>
            <a:ext cx="1892807" cy="64922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SOGI 직교축</a:t>
            </a:r>
          </a:p>
          <a:p>
            <a:pPr algn="ctr">
              <a:lnSpc>
                <a:spcPct val="108000"/>
              </a:lnSpc>
              <a:spcBef>
                <a:spcPts val="0"/>
              </a:spcBef>
              <a:spcAft>
                <a:spcPts val="200"/>
              </a:spcAft>
            </a:pPr>
            <a:r>
              <a:rPr sz="1300" b="0">
                <a:solidFill>
                  <a:srgbClr val="000000"/>
                </a:solidFill>
                <a:latin typeface="Malgun Gothic"/>
                <a:ea typeface="Malgun Gothic"/>
                <a:cs typeface="Malgun Gothic"/>
              </a:rPr>
              <a:t>전류 dq 변환</a:t>
            </a:r>
          </a:p>
        </p:txBody>
      </p:sp>
      <p:cxnSp>
        <p:nvCxnSpPr>
          <p:cNvPr id="32" name="Connector 31"/>
          <p:cNvCxnSpPr/>
          <p:nvPr/>
        </p:nvCxnSpPr>
        <p:spPr>
          <a:xfrm>
            <a:off x="8046720" y="3063240"/>
            <a:ext cx="0" cy="1161288"/>
          </a:xfrm>
          <a:prstGeom prst="line">
            <a:avLst/>
          </a:prstGeom>
          <a:ln w="12700">
            <a:solidFill>
              <a:srgbClr val="000000"/>
            </a:solidFill>
            <a:tailEnd type="triangle" w="sm" len="sm"/>
          </a:ln>
          <a:effectLst/>
        </p:spPr>
      </p:cxnSp>
      <p:cxnSp>
        <p:nvCxnSpPr>
          <p:cNvPr id="33" name="Connector 32"/>
          <p:cNvCxnSpPr/>
          <p:nvPr/>
        </p:nvCxnSpPr>
        <p:spPr>
          <a:xfrm flipH="1">
            <a:off x="7406640" y="4224528"/>
            <a:ext cx="594360" cy="0"/>
          </a:xfrm>
          <a:prstGeom prst="line">
            <a:avLst/>
          </a:prstGeom>
          <a:ln w="12700">
            <a:solidFill>
              <a:srgbClr val="000000"/>
            </a:solidFill>
            <a:tailEnd type="triangle" w="sm" len="sm"/>
          </a:ln>
          <a:effectLst/>
        </p:spPr>
      </p:cxnSp>
      <p:cxnSp>
        <p:nvCxnSpPr>
          <p:cNvPr id="34" name="Connector 33"/>
          <p:cNvCxnSpPr/>
          <p:nvPr/>
        </p:nvCxnSpPr>
        <p:spPr>
          <a:xfrm flipH="1">
            <a:off x="4572000" y="4224528"/>
            <a:ext cx="640080" cy="0"/>
          </a:xfrm>
          <a:prstGeom prst="line">
            <a:avLst/>
          </a:prstGeom>
          <a:ln w="12700">
            <a:solidFill>
              <a:srgbClr val="000000"/>
            </a:solidFill>
            <a:tailEnd type="triangle" w="sm" len="sm"/>
          </a:ln>
          <a:effectLst/>
        </p:spPr>
      </p:cxnSp>
      <p:cxnSp>
        <p:nvCxnSpPr>
          <p:cNvPr id="35" name="Connector 34"/>
          <p:cNvCxnSpPr/>
          <p:nvPr/>
        </p:nvCxnSpPr>
        <p:spPr>
          <a:xfrm flipV="1">
            <a:off x="3520440" y="3063240"/>
            <a:ext cx="0" cy="731520"/>
          </a:xfrm>
          <a:prstGeom prst="line">
            <a:avLst/>
          </a:prstGeom>
          <a:ln w="12700">
            <a:solidFill>
              <a:srgbClr val="000000"/>
            </a:solidFill>
            <a:tailEnd type="triangle" w="sm" len="sm"/>
          </a:ln>
          <a:effectLst/>
        </p:spPr>
      </p:cxnSp>
      <p:sp>
        <p:nvSpPr>
          <p:cNvPr id="36" name="Rectangle 35"/>
          <p:cNvSpPr/>
          <p:nvPr/>
        </p:nvSpPr>
        <p:spPr>
          <a:xfrm>
            <a:off x="594360" y="5074920"/>
            <a:ext cx="3886200" cy="594360"/>
          </a:xfrm>
          <a:prstGeom prst="rect">
            <a:avLst/>
          </a:prstGeom>
          <a:solidFill>
            <a:srgbClr val="FFFFFF"/>
          </a:solidFill>
          <a:ln w="8255">
            <a:solidFill>
              <a:srgbClr val="B8B8B8"/>
            </a:solidFill>
          </a:ln>
          <a:effectLst/>
        </p:spPr>
        <p:txBody>
          <a:bodyPr rtlCol="0" anchor="ctr"/>
          <a:lstStyle/>
          <a:p>
            <a:pPr algn="ctr"/>
          </a:p>
        </p:txBody>
      </p:sp>
      <p:sp>
        <p:nvSpPr>
          <p:cNvPr id="37" name="TextBox 36"/>
          <p:cNvSpPr txBox="1"/>
          <p:nvPr/>
        </p:nvSpPr>
        <p:spPr>
          <a:xfrm>
            <a:off x="676656" y="5138928"/>
            <a:ext cx="3721608" cy="46634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00" b="0">
                <a:solidFill>
                  <a:srgbClr val="000000"/>
                </a:solidFill>
                <a:latin typeface="Malgun Gothic"/>
                <a:ea typeface="Malgun Gothic"/>
                <a:cs typeface="Malgun Gothic"/>
              </a:rPr>
              <a:t>SOGI-PLL → θ</a:t>
            </a:r>
          </a:p>
          <a:p>
            <a:pPr algn="ctr">
              <a:lnSpc>
                <a:spcPct val="108000"/>
              </a:lnSpc>
              <a:spcBef>
                <a:spcPts val="0"/>
              </a:spcBef>
              <a:spcAft>
                <a:spcPts val="200"/>
              </a:spcAft>
            </a:pPr>
            <a:r>
              <a:rPr sz="1200" b="0">
                <a:solidFill>
                  <a:srgbClr val="000000"/>
                </a:solidFill>
                <a:latin typeface="Malgun Gothic"/>
                <a:ea typeface="Malgun Gothic"/>
                <a:cs typeface="Malgun Gothic"/>
              </a:rPr>
              <a:t>계통전압으로 내부 위상 추정</a:t>
            </a:r>
          </a:p>
        </p:txBody>
      </p:sp>
      <p:sp>
        <p:nvSpPr>
          <p:cNvPr id="38" name="Rectangle 37"/>
          <p:cNvSpPr/>
          <p:nvPr/>
        </p:nvSpPr>
        <p:spPr>
          <a:xfrm>
            <a:off x="4983480" y="5074920"/>
            <a:ext cx="4160520" cy="594360"/>
          </a:xfrm>
          <a:prstGeom prst="rect">
            <a:avLst/>
          </a:prstGeom>
          <a:solidFill>
            <a:srgbClr val="FFFFFF"/>
          </a:solidFill>
          <a:ln w="8255">
            <a:solidFill>
              <a:srgbClr val="B8B8B8"/>
            </a:solidFill>
          </a:ln>
          <a:effectLst/>
        </p:spPr>
        <p:txBody>
          <a:bodyPr rtlCol="0" anchor="ctr"/>
          <a:lstStyle/>
          <a:p>
            <a:pPr algn="ctr"/>
          </a:p>
        </p:txBody>
      </p:sp>
      <p:sp>
        <p:nvSpPr>
          <p:cNvPr id="39" name="TextBox 38"/>
          <p:cNvSpPr txBox="1"/>
          <p:nvPr/>
        </p:nvSpPr>
        <p:spPr>
          <a:xfrm>
            <a:off x="5065776" y="5138928"/>
            <a:ext cx="3995928" cy="46634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00" b="0">
                <a:solidFill>
                  <a:srgbClr val="000000"/>
                </a:solidFill>
                <a:latin typeface="Malgun Gothic"/>
                <a:ea typeface="Malgun Gothic"/>
                <a:cs typeface="Malgun Gothic"/>
              </a:rPr>
              <a:t>추가 보상: 3·5·7차 준공진 피드백</a:t>
            </a:r>
          </a:p>
          <a:p>
            <a:pPr algn="ctr">
              <a:lnSpc>
                <a:spcPct val="108000"/>
              </a:lnSpc>
              <a:spcBef>
                <a:spcPts val="0"/>
              </a:spcBef>
              <a:spcAft>
                <a:spcPts val="200"/>
              </a:spcAft>
            </a:pPr>
            <a:r>
              <a:rPr sz="1200" b="0">
                <a:solidFill>
                  <a:srgbClr val="000000"/>
                </a:solidFill>
                <a:latin typeface="Malgun Gothic"/>
                <a:ea typeface="Malgun Gothic"/>
                <a:cs typeface="Malgun Gothic"/>
              </a:rPr>
              <a:t>기본파 dq 명령은 유지함</a:t>
            </a:r>
          </a:p>
        </p:txBody>
      </p:sp>
      <p:cxnSp>
        <p:nvCxnSpPr>
          <p:cNvPr id="40" name="Connector 39"/>
          <p:cNvCxnSpPr/>
          <p:nvPr/>
        </p:nvCxnSpPr>
        <p:spPr>
          <a:xfrm>
            <a:off x="365760" y="6428232"/>
            <a:ext cx="9189720" cy="0"/>
          </a:xfrm>
          <a:prstGeom prst="line">
            <a:avLst/>
          </a:prstGeom>
          <a:ln w="5715">
            <a:solidFill>
              <a:srgbClr val="000000"/>
            </a:solidFill>
          </a:ln>
          <a:effectLst/>
        </p:spPr>
      </p:cxnSp>
      <p:sp>
        <p:nvSpPr>
          <p:cNvPr id="41" name="TextBox 4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외부 방법 참고: Imperix SOGI-PLL / PR</a:t>
            </a:r>
          </a:p>
        </p:txBody>
      </p:sp>
      <p:sp>
        <p:nvSpPr>
          <p:cNvPr id="42" name="TextBox 4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10/51</a:t>
            </a:r>
          </a:p>
        </p:txBody>
      </p:sp>
      <p:sp>
        <p:nvSpPr>
          <p:cNvPr id="43" name="TextBox 4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44" name="TextBox 4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PWM·제어 시간축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매 PWM 16 μs마다 제어 연산 1회 수행함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ADC 중앙 샘플링과 다음 PWM 경계 반영을 가정하여 기본 지연 8 μs를 별도 정의함.</a:t>
            </a:r>
          </a:p>
        </p:txBody>
      </p:sp>
      <p:graphicFrame>
        <p:nvGraphicFramePr>
          <p:cNvPr id="17" name="Table 16"/>
          <p:cNvGraphicFramePr>
            <a:graphicFrameLocks noGrp="1"/>
          </p:cNvGraphicFramePr>
          <p:nvPr/>
        </p:nvGraphicFramePr>
        <p:xfrm>
          <a:off x="502920" y="2011680"/>
          <a:ext cx="8869678" cy="2286000"/>
        </p:xfrm>
        <a:graphic>
          <a:graphicData uri="http://schemas.openxmlformats.org/drawingml/2006/table">
            <a:tbl>
              <a:tblPr firstRow="1" bandRow="1">
                <a:tableStyleId>{5C22544A-7EE6-4342-B048-85BDC9FD1C3A}</a:tableStyleId>
              </a:tblPr>
              <a:tblGrid>
                <a:gridCol w="2132134"/>
                <a:gridCol w="2387990"/>
                <a:gridCol w="2132134"/>
                <a:gridCol w="2217420"/>
              </a:tblGrid>
              <a:tr h="45720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PWM 구간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ADC·제어 시각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결과 반영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명령 유지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16~32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32~48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48~64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실행 0.75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46,875회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46,875주기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 : 1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645152"/>
            <a:ext cx="8869680" cy="7589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추가 지연 시험에서도 제어 연산은 계속 16 μs마다 수행함.</a:t>
            </a:r>
          </a:p>
          <a:p>
            <a:pPr algn="l">
              <a:lnSpc>
                <a:spcPct val="108000"/>
              </a:lnSpc>
              <a:spcBef>
                <a:spcPts val="0"/>
              </a:spcBef>
              <a:spcAft>
                <a:spcPts val="200"/>
              </a:spcAft>
            </a:pPr>
            <a:r>
              <a:rPr sz="1300" b="0">
                <a:solidFill>
                  <a:srgbClr val="000000"/>
                </a:solidFill>
                <a:latin typeface="Malgun Gothic"/>
                <a:ea typeface="Malgun Gothic"/>
                <a:cs typeface="Malgun Gothic"/>
              </a:rPr>
              <a:t>FIFO의 적용 시각만 늦추며 미적용 명령을 다음 명령이 덮어쓰지 않도록 검사함.</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제어주기 16 μs는 확정값, ADC 위치·샘플→PWM 지연은 모델 가정임.</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qa/raw_audit.json; src/model.py run_core(); TI ePWM module</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11/51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회로 모델과 수치 적분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스위칭 상태와 dead-time을 직접 계산함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평균전압 오차항으로 THD를 맞추지 않고, gate 상태에 따른 전압으로 전류를 적분함.</a:t>
            </a:r>
          </a:p>
        </p:txBody>
      </p:sp>
      <p:sp>
        <p:nvSpPr>
          <p:cNvPr id="17" name="TextBox 16"/>
          <p:cNvSpPr txBox="1"/>
          <p:nvPr/>
        </p:nvSpPr>
        <p:spPr>
          <a:xfrm>
            <a:off x="502920" y="1965960"/>
            <a:ext cx="8869680" cy="7132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800" b="1">
                <a:solidFill>
                  <a:srgbClr val="000000"/>
                </a:solidFill>
                <a:latin typeface="Malgun Gothic"/>
                <a:ea typeface="Malgun Gothic"/>
                <a:cs typeface="Malgun Gothic"/>
              </a:rPr>
              <a:t>L·di/dt = ubridge − vg − R·i</a:t>
            </a:r>
          </a:p>
          <a:p>
            <a:pPr algn="l">
              <a:lnSpc>
                <a:spcPct val="108000"/>
              </a:lnSpc>
              <a:spcBef>
                <a:spcPts val="0"/>
              </a:spcBef>
              <a:spcAft>
                <a:spcPts val="200"/>
              </a:spcAft>
            </a:pPr>
            <a:r>
              <a:rPr sz="1800" b="1">
                <a:solidFill>
                  <a:srgbClr val="000000"/>
                </a:solidFill>
                <a:latin typeface="Malgun Gothic"/>
                <a:ea typeface="Malgun Gothic"/>
                <a:cs typeface="Malgun Gothic"/>
              </a:rPr>
              <a:t>ubridge = (HF pole − LF pole)·Vdc</a:t>
            </a:r>
          </a:p>
        </p:txBody>
      </p:sp>
      <p:graphicFrame>
        <p:nvGraphicFramePr>
          <p:cNvPr id="18" name="Table 17"/>
          <p:cNvGraphicFramePr>
            <a:graphicFrameLocks noGrp="1"/>
          </p:cNvGraphicFramePr>
          <p:nvPr/>
        </p:nvGraphicFramePr>
        <p:xfrm>
          <a:off x="502920" y="2862072"/>
          <a:ext cx="8869679" cy="2514600"/>
        </p:xfrm>
        <a:graphic>
          <a:graphicData uri="http://schemas.openxmlformats.org/drawingml/2006/table">
            <a:tbl>
              <a:tblPr firstRow="1" bandRow="1">
                <a:tableStyleId>{5C22544A-7EE6-4342-B048-85BDC9FD1C3A}</a:tableStyleId>
              </a:tblPr>
              <a:tblGrid>
                <a:gridCol w="1867301"/>
                <a:gridCol w="7002378"/>
              </a:tblGrid>
              <a:tr h="41910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구현 및 한계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HF PWM</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중앙정렬 PWM, turn-on dead-time, 이벤트 경계별 적분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dead-time 상태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경계를 넘는 대기 이벤트 보존 / 전류 방향에 따른 다이오드 도통</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 레그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브리지 전압 명령 부호 / 대안: 계통 부호 고정의 별도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수치 근사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구간 중앙 계통전압 + 해석적 RL/센서 갱신 / 시간간격 세분화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미포함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 전환 blanking, Coss·열·EMI 필터·DC-link/CLLC 에너지 동역학</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저주파 레그 구현 가정의 민감도를 별도 결과로 제시함.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grid(), rl_sensor(), run_core(); docs/Model_and_Conventions.md</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12/51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확정값과 추가 가정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제공되지 않은 회로 사양을 확정값으로 표현하지 않음</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THD 절대값의 신뢰도는 회로·검출·전환 로직에 대한 실제 근거가 확보되어야 높아짐.</a:t>
            </a:r>
          </a:p>
        </p:txBody>
      </p:sp>
      <p:graphicFrame>
        <p:nvGraphicFramePr>
          <p:cNvPr id="17" name="Table 16"/>
          <p:cNvGraphicFramePr>
            <a:graphicFrameLocks noGrp="1"/>
          </p:cNvGraphicFramePr>
          <p:nvPr/>
        </p:nvGraphicFramePr>
        <p:xfrm>
          <a:off x="502920" y="2011680"/>
          <a:ext cx="8869679" cy="3566160"/>
        </p:xfrm>
        <a:graphic>
          <a:graphicData uri="http://schemas.openxmlformats.org/drawingml/2006/table">
            <a:tbl>
              <a:tblPr firstRow="1" bandRow="1">
                <a:tableStyleId>{5C22544A-7EE6-4342-B048-85BDC9FD1C3A}</a:tableStyleId>
              </a:tblPr>
              <a:tblGrid>
                <a:gridCol w="1867301"/>
                <a:gridCol w="3081046"/>
                <a:gridCol w="3921332"/>
              </a:tblGrid>
              <a:tr h="445770">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기준 가정값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확인 필요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계통 기본파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60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북미용 해석 가정 / 요구 주파수 범위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DC-link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400 V 강성 전원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제어·에너지 교환 동역학 미포함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Lf / Lg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1.0 / 0.1 mH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실물 인덕턴스·주파수 의존성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Rf / Rg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0.08 / 0.10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전력 손실·계통 임피던스</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dead-time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200 ns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실제 PWM gate timing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전류 검출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10 kHz LPF, 12 bit / ±100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실제 ADC·offset·gain·노이즈</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기본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전류 설계 800 Hz / PLL 설계 15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실제 이득 및 안정여유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70448"/>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C00000"/>
                </a:solidFill>
                <a:latin typeface="Malgun Gothic"/>
                <a:ea typeface="Malgun Gothic"/>
                <a:cs typeface="Malgun Gothic"/>
              </a:rPr>
              <a:t>초기 THD가 기존 결과 또는 5~8% 목표에 맞도록 가정값을 보정하지 않았음.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sources/references.md</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13/51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데이터 취득 신뢰성 검토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구현 검사와 실물 모델 검증을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사양·축 변환·클록·적분·고조파 계산을 검사하고, 실물 일치성은 미검증으로 남김.</a:t>
            </a:r>
          </a:p>
        </p:txBody>
      </p:sp>
      <p:graphicFrame>
        <p:nvGraphicFramePr>
          <p:cNvPr id="17" name="Table 16"/>
          <p:cNvGraphicFramePr>
            <a:graphicFrameLocks noGrp="1"/>
          </p:cNvGraphicFramePr>
          <p:nvPr/>
        </p:nvGraphicFramePr>
        <p:xfrm>
          <a:off x="502920" y="2011680"/>
          <a:ext cx="8869678" cy="3337558"/>
        </p:xfrm>
        <a:graphic>
          <a:graphicData uri="http://schemas.openxmlformats.org/drawingml/2006/table">
            <a:tbl>
              <a:tblPr firstRow="1" bandRow="1">
                <a:tableStyleId>{5C22544A-7EE6-4342-B048-85BDC9FD1C3A}</a:tableStyleId>
              </a:tblPr>
              <a:tblGrid>
                <a:gridCol w="1900645"/>
                <a:gridCol w="3891798"/>
                <a:gridCol w="3077235"/>
              </a:tblGrid>
              <a:tr h="476794">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검증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수행 결과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판단 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사양·수식·입력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단위검사 28개 통과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잘못된 정격·단위·주기 입력 차단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실행 로그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모든 502회에서 PWM:제어=1:1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16 μs 제어를 실제 실행했는지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원시 파형 재계산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502회 전 지표와 40차 고조파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보고서 집계와 원자료 정합성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FFT 교차계산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60 Hz 조건 452회 / 최대차 2.26e-07%p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두 계산 경로의 일관성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실행 재현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대표 4개 전류 배열 동일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동일 환경 재현성 / 실물 표본수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HW correlation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수행하지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실제 제품과 같은 절대 THD임을 보장하지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Gage R&amp;R 수치를 가상으로 만들지 않고 수치 구현 검증 결과를 제시함.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qa/unit_tests.json; raw_audit.json; fft_crosscheck.csv; replay.json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14/51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현 수준 파악</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저전류 조건에서 상대 고조파가 증가함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전체 시험집합 평균과 저전류 집합 평균을 구분하여 현 수준을 확인함.</a:t>
            </a:r>
          </a:p>
        </p:txBody>
      </p:sp>
      <p:graphicFrame>
        <p:nvGraphicFramePr>
          <p:cNvPr id="17" name="Chart 16"/>
          <p:cNvGraphicFramePr>
            <a:graphicFrameLocks noGrp="1"/>
          </p:cNvGraphicFramePr>
          <p:nvPr/>
        </p:nvGraphicFramePr>
        <p:xfrm>
          <a:off x="502920" y="2103120"/>
          <a:ext cx="5303520" cy="333756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126480" y="2194560"/>
          <a:ext cx="3200400" cy="2560315"/>
        </p:xfrm>
        <a:graphic>
          <a:graphicData uri="http://schemas.openxmlformats.org/drawingml/2006/table">
            <a:tbl>
              <a:tblPr firstRow="1" bandRow="1">
                <a:tableStyleId>{5C22544A-7EE6-4342-B048-85BDC9FD1C3A}</a:tableStyleId>
              </a:tblPr>
              <a:tblGrid>
                <a:gridCol w="1173480"/>
                <a:gridCol w="853440"/>
                <a:gridCol w="1173480"/>
              </a:tblGrid>
              <a:tr h="512063">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조건 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기준 전체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2.442%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저전류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5.820%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8~24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2.521%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24~48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기준 47개 중 THD 만족 42개. 초기값은 보정 없이 V6 모델에서 계산함.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results/baseline.csv; current_strata.csv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15/51</a:t>
            </a:r>
          </a:p>
        </p:txBody>
      </p:sp>
      <p:sp>
        <p:nvSpPr>
          <p:cNvPr id="23" name="TextBox 22">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저전류 조건별 현 수준</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지령과 실제 고조파 크기를 함께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THD 수치만 보지 않고 d·q 지령과 기본파·고조파 RMS를 연결하여 해석함.</a:t>
            </a:r>
          </a:p>
        </p:txBody>
      </p:sp>
      <p:graphicFrame>
        <p:nvGraphicFramePr>
          <p:cNvPr id="17" name="Table 16"/>
          <p:cNvGraphicFramePr>
            <a:graphicFrameLocks noGrp="1"/>
          </p:cNvGraphicFramePr>
          <p:nvPr/>
        </p:nvGraphicFramePr>
        <p:xfrm>
          <a:off x="502920" y="2011680"/>
          <a:ext cx="8869677" cy="3429000"/>
        </p:xfrm>
        <a:graphic>
          <a:graphicData uri="http://schemas.openxmlformats.org/drawingml/2006/table">
            <a:tbl>
              <a:tblPr firstRow="1" bandRow="1">
                <a:tableStyleId>{5C22544A-7EE6-4342-B048-85BDC9FD1C3A}</a:tableStyleId>
              </a:tblPr>
              <a:tblGrid>
                <a:gridCol w="1055914"/>
                <a:gridCol w="1583871"/>
                <a:gridCol w="1583871"/>
                <a:gridCol w="1372688"/>
                <a:gridCol w="1900645"/>
                <a:gridCol w="1372688"/>
              </a:tblGrid>
              <a:tr h="381000">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id*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iq*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I₁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Ih₂–₄₀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4.274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7.499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0.298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7.447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4.256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5.433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3.994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7.810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5.653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5.451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10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N024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7.994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0.351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4.390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작은 기본파 전류로 나누는 상대 지표이므로 절대 고조파 값도 함께 관리함.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results/baseline.csv; low-current group ≤8 Arms-equivalent</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16/51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모델 내 왜곡 경로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가정한 회로·검출 항을 제거하여 반응을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dead-time과 검출계가 THD에 미치는 영향을 수치 진단하되 실제 제품 원인으로 단정하지 않음.</a:t>
            </a:r>
          </a:p>
        </p:txBody>
      </p:sp>
      <p:graphicFrame>
        <p:nvGraphicFramePr>
          <p:cNvPr id="17" name="Table 16"/>
          <p:cNvGraphicFramePr>
            <a:graphicFrameLocks noGrp="1"/>
          </p:cNvGraphicFramePr>
          <p:nvPr/>
        </p:nvGraphicFramePr>
        <p:xfrm>
          <a:off x="502920" y="2011680"/>
          <a:ext cx="8869680" cy="1920240"/>
        </p:xfrm>
        <a:graphic>
          <a:graphicData uri="http://schemas.openxmlformats.org/drawingml/2006/table">
            <a:tbl>
              <a:tblPr firstRow="1" bandRow="1">
                <a:tableStyleId>{5C22544A-7EE6-4342-B048-85BDC9FD1C3A}</a:tableStyleId>
              </a:tblPr>
              <a:tblGrid>
                <a:gridCol w="2743200"/>
                <a:gridCol w="1828800"/>
                <a:gridCol w="1828800"/>
                <a:gridCol w="2468880"/>
              </a:tblGrid>
              <a:tr h="48006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조건 [RMS 환산 설명]</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기준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dead-time=0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고속·무양자화 검출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d=4, q=0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7.810%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0.521%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7.100%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d=8, q=8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3.057%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0.182%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d=0, q=48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0.767%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0.758%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343400"/>
            <a:ext cx="8869680" cy="10515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적용 목적: 모델 안에서 어떤 항이 반응을 바꾸는지 확인함.</a:t>
            </a:r>
          </a:p>
          <a:p>
            <a:pPr algn="l">
              <a:lnSpc>
                <a:spcPct val="108000"/>
              </a:lnSpc>
              <a:spcBef>
                <a:spcPts val="0"/>
              </a:spcBef>
              <a:spcAft>
                <a:spcPts val="200"/>
              </a:spcAft>
            </a:pPr>
            <a:r>
              <a:rPr sz="1300" b="0">
                <a:solidFill>
                  <a:srgbClr val="000000"/>
                </a:solidFill>
                <a:latin typeface="Malgun Gothic"/>
                <a:ea typeface="Malgun Gothic"/>
                <a:cs typeface="Malgun Gothic"/>
              </a:rPr>
              <a:t>해석 한계: 연구자가 구성한 모델의 항 제거는 실제 HW의 독립적인 원인 규명이 아님.</a:t>
            </a:r>
          </a:p>
          <a:p>
            <a:pPr algn="l">
              <a:lnSpc>
                <a:spcPct val="108000"/>
              </a:lnSpc>
              <a:spcBef>
                <a:spcPts val="0"/>
              </a:spcBef>
              <a:spcAft>
                <a:spcPts val="200"/>
              </a:spcAft>
            </a:pPr>
            <a:r>
              <a:rPr sz="1300" b="0">
                <a:solidFill>
                  <a:srgbClr val="000000"/>
                </a:solidFill>
                <a:latin typeface="Malgun Gothic"/>
                <a:ea typeface="Malgun Gothic"/>
                <a:cs typeface="Malgun Gothic"/>
              </a:rPr>
              <a:t>다음 판단: 기본 회로·PI·PLL을 유지한 상태에서 고조파 피드백 후보를 비교함.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results/ablation.csv; src/model.py</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17/51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가인자 선정 및 제외 사유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현재 사양을 바꾸지 않는 제어 인자를 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정격·dq 스케일·PWM/제어 주기를 고정하고, 보상 인자 범위 내에서 후보를 비교함.</a:t>
            </a:r>
          </a:p>
        </p:txBody>
      </p:sp>
      <p:graphicFrame>
        <p:nvGraphicFramePr>
          <p:cNvPr id="17" name="Table 16"/>
          <p:cNvGraphicFramePr>
            <a:graphicFrameLocks noGrp="1"/>
          </p:cNvGraphicFramePr>
          <p:nvPr/>
        </p:nvGraphicFramePr>
        <p:xfrm>
          <a:off x="502920" y="2011680"/>
          <a:ext cx="8869680" cy="3337558"/>
        </p:xfrm>
        <a:graphic>
          <a:graphicData uri="http://schemas.openxmlformats.org/drawingml/2006/table">
            <a:tbl>
              <a:tblPr firstRow="1" bandRow="1">
                <a:tableStyleId>{5C22544A-7EE6-4342-B048-85BDC9FD1C3A}</a:tableStyleId>
              </a:tblPr>
              <a:tblGrid>
                <a:gridCol w="2286000"/>
                <a:gridCol w="1554480"/>
                <a:gridCol w="5029200"/>
              </a:tblGrid>
              <a:tr h="47679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인자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변경 여부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선정·제외 사유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정격전류 / 지령 단위 / 주파수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확정 사양이므로 최적화 변수로 사용하지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Lf/Rf, sensor, dead-time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확인값 미제공. 편차 영향은 선정 후 별도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기본 dq PI / PLL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개선 효과의 출처를 추가 피드백으로 한정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공진 이득 Kr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특정 고조파 전류오차에 대한 피드백 크기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대역 파라미터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중심 주파수 주변의 제어 범위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679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차수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3차 / 3·5차 / 3·5·7차를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모델의 실제성 개선과 제어기 성능 최적화를 같은 단계에서 섞지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results/candidate_plan.csv; 구성 참고: Snubber p.10, CLLC p.10</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18/51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DOE 계획</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3인자·3수준의 모든 27개 조합을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동일한 선정용 9개 운전조건에 모든 후보를 적용하여 243개 반응값을 취득함.</a:t>
            </a:r>
          </a:p>
        </p:txBody>
      </p:sp>
      <p:graphicFrame>
        <p:nvGraphicFramePr>
          <p:cNvPr id="17" name="Table 16"/>
          <p:cNvGraphicFramePr>
            <a:graphicFrameLocks noGrp="1"/>
          </p:cNvGraphicFramePr>
          <p:nvPr/>
        </p:nvGraphicFramePr>
        <p:xfrm>
          <a:off x="502920" y="2011680"/>
          <a:ext cx="8869679" cy="1737360"/>
        </p:xfrm>
        <a:graphic>
          <a:graphicData uri="http://schemas.openxmlformats.org/drawingml/2006/table">
            <a:tbl>
              <a:tblPr firstRow="1" bandRow="1">
                <a:tableStyleId>{5C22544A-7EE6-4342-B048-85BDC9FD1C3A}</a:tableStyleId>
              </a:tblPr>
              <a:tblGrid>
                <a:gridCol w="3058510"/>
                <a:gridCol w="1529255"/>
                <a:gridCol w="1529255"/>
                <a:gridCol w="1529255"/>
                <a:gridCol w="1223404"/>
              </a:tblGrid>
              <a:tr h="43434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인자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수준 1</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수준 2</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수준 3</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단위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 공진 이득 Kr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B: 대역 파라미터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 보상 차수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142232"/>
            <a:ext cx="8869680" cy="9601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완전요인배치: 3³=27후보</a:t>
            </a:r>
          </a:p>
          <a:p>
            <a:pPr algn="l">
              <a:lnSpc>
                <a:spcPct val="108000"/>
              </a:lnSpc>
              <a:spcBef>
                <a:spcPts val="0"/>
              </a:spcBef>
              <a:spcAft>
                <a:spcPts val="200"/>
              </a:spcAft>
            </a:pPr>
            <a:r>
              <a:rPr sz="1300" b="0">
                <a:solidFill>
                  <a:srgbClr val="000000"/>
                </a:solidFill>
                <a:latin typeface="Malgun Gothic"/>
                <a:ea typeface="Malgun Gothic"/>
                <a:cs typeface="Malgun Gothic"/>
              </a:rPr>
              <a:t>후보당 9개 반응은 서로 다른 운전조건이며 반복오차 추정용 9회가 아님.</a:t>
            </a:r>
          </a:p>
          <a:p>
            <a:pPr algn="l">
              <a:lnSpc>
                <a:spcPct val="108000"/>
              </a:lnSpc>
              <a:spcBef>
                <a:spcPts val="0"/>
              </a:spcBef>
              <a:spcAft>
                <a:spcPts val="200"/>
              </a:spcAft>
            </a:pPr>
            <a:r>
              <a:rPr sz="1300" b="0">
                <a:solidFill>
                  <a:srgbClr val="000000"/>
                </a:solidFill>
                <a:latin typeface="Malgun Gothic"/>
                <a:ea typeface="Malgun Gothic"/>
                <a:cs typeface="Malgun Gothic"/>
              </a:rPr>
              <a:t>반응: THD 평균·최대값과 모든 보조 조건의 동시 만족 수</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선정규칙과 검증조건을 사전에 저장한 후 계산함.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candidate_plan.csv; qa/frozen_protocol.json; NIST §5.3.3.9</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19/51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주효과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8"/>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9"/>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10"/>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1"/>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2"/>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인자별 수준 평균으로 영향 크기를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다른 인자와 9개 운전조건을 동일 가중으로 평균하여 수준별 반응 차이를 산출함.</a:t>
            </a:r>
          </a:p>
        </p:txBody>
      </p:sp>
      <p:graphicFrame>
        <p:nvGraphicFramePr>
          <p:cNvPr id="17" name="Chart 16"/>
          <p:cNvGraphicFramePr>
            <a:graphicFrameLocks noGrp="1"/>
          </p:cNvGraphicFramePr>
          <p:nvPr/>
        </p:nvGraphicFramePr>
        <p:xfrm>
          <a:off x="502920" y="2103120"/>
          <a:ext cx="2788920" cy="2606040"/>
        </p:xfrm>
        <a:graphic>
          <a:graphicData uri="http://schemas.openxmlformats.org/drawingml/2006/chart">
            <c:chart xmlns:c="http://schemas.openxmlformats.org/drawingml/2006/chart" r:id="rId2"/>
          </a:graphicData>
        </a:graphic>
      </p:graphicFrame>
      <p:graphicFrame>
        <p:nvGraphicFramePr>
          <p:cNvPr id="18" name="Chart 17"/>
          <p:cNvGraphicFramePr>
            <a:graphicFrameLocks noGrp="1"/>
          </p:cNvGraphicFramePr>
          <p:nvPr/>
        </p:nvGraphicFramePr>
        <p:xfrm>
          <a:off x="3456432" y="2103120"/>
          <a:ext cx="2788920" cy="2606040"/>
        </p:xfrm>
        <a:graphic>
          <a:graphicData uri="http://schemas.openxmlformats.org/drawingml/2006/chart">
            <c:chart xmlns:c="http://schemas.openxmlformats.org/drawingml/2006/chart" r:id="rId3"/>
          </a:graphicData>
        </a:graphic>
      </p:graphicFrame>
      <p:graphicFrame>
        <p:nvGraphicFramePr>
          <p:cNvPr id="19" name="Chart 18"/>
          <p:cNvGraphicFramePr>
            <a:graphicFrameLocks noGrp="1"/>
          </p:cNvGraphicFramePr>
          <p:nvPr/>
        </p:nvGraphicFramePr>
        <p:xfrm>
          <a:off x="6409944" y="2103120"/>
          <a:ext cx="2788920" cy="2606040"/>
        </p:xfrm>
        <a:graphic>
          <a:graphicData uri="http://schemas.openxmlformats.org/drawingml/2006/chart">
            <c:chart xmlns:c="http://schemas.openxmlformats.org/drawingml/2006/chart" r:id="rId4"/>
          </a:graphicData>
        </a:graphic>
      </p:graphicFrame>
      <p:sp>
        <p:nvSpPr>
          <p:cNvPr id="20" name="TextBox 19"/>
          <p:cNvSpPr txBox="1"/>
          <p:nvPr/>
        </p:nvSpPr>
        <p:spPr>
          <a:xfrm>
            <a:off x="502920" y="4937760"/>
            <a:ext cx="8869680" cy="7315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수준 평균 1개 = 다른 두 인자 9조합 × 운전조건 9개 = 81개 반응의 평균</a:t>
            </a:r>
          </a:p>
          <a:p>
            <a:pPr algn="l">
              <a:lnSpc>
                <a:spcPct val="108000"/>
              </a:lnSpc>
              <a:spcBef>
                <a:spcPts val="0"/>
              </a:spcBef>
              <a:spcAft>
                <a:spcPts val="200"/>
              </a:spcAft>
            </a:pPr>
            <a:r>
              <a:rPr sz="1250" b="0">
                <a:solidFill>
                  <a:srgbClr val="000000"/>
                </a:solidFill>
                <a:latin typeface="Malgun Gothic"/>
                <a:ea typeface="Malgun Gothic"/>
                <a:cs typeface="Malgun Gothic"/>
              </a:rPr>
              <a:t>수준간 최대−최소: Kr 0.458%p, fc 0.020%p, 차수 0.770%p</a:t>
            </a:r>
          </a:p>
        </p:txBody>
      </p:sp>
      <p:sp>
        <p:nvSpPr>
          <p:cNvPr id="21" name="TextBox 20"/>
          <p:cNvSpPr txBox="1"/>
          <p:nvPr/>
        </p:nvSpPr>
        <p:spPr>
          <a:xfrm>
            <a:off x="502920" y="5779008"/>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차수 조합과 Kr의 영향을 우선 검토하되, 교호작용과 제약조건을 함께 확인함.</a:t>
            </a:r>
          </a:p>
        </p:txBody>
      </p:sp>
      <p:cxnSp>
        <p:nvCxnSpPr>
          <p:cNvPr id="22" name="Connector 21"/>
          <p:cNvCxnSpPr/>
          <p:nvPr/>
        </p:nvCxnSpPr>
        <p:spPr>
          <a:xfrm>
            <a:off x="365760" y="6428232"/>
            <a:ext cx="9189720" cy="0"/>
          </a:xfrm>
          <a:prstGeom prst="line">
            <a:avLst/>
          </a:prstGeom>
          <a:ln w="5715">
            <a:solidFill>
              <a:srgbClr val="000000"/>
            </a:solidFill>
          </a:ln>
          <a:effectLst/>
        </p:spPr>
      </p:cxnSp>
      <p:sp>
        <p:nvSpPr>
          <p:cNvPr id="23" name="TextBox 22"/>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results/main_effects.csv; results/doe.csv</a:t>
            </a:r>
          </a:p>
        </p:txBody>
      </p:sp>
      <p:sp>
        <p:nvSpPr>
          <p:cNvPr id="24" name="TextBox 23"/>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20/51</a:t>
            </a:r>
          </a:p>
        </p:txBody>
      </p:sp>
      <p:sp>
        <p:nvSpPr>
          <p:cNvPr id="25" name="TextBox 24">
            <a:hlinkClick action="ppaction://hlinksldjump" r:id="rId6"/>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6" name="TextBox 25">
            <a:hlinkClick action="ppaction://hlinksldjump" r:id="rId7"/>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교호작용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한 인자의 효과가 다른 인자 수준에 따라 달라지는지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Kr 변경 효과를 각 보상 차수에서 비교하여 단순한 인자별 선택을 보완함.</a:t>
            </a:r>
          </a:p>
        </p:txBody>
      </p:sp>
      <p:graphicFrame>
        <p:nvGraphicFramePr>
          <p:cNvPr id="17" name="Chart 16"/>
          <p:cNvGraphicFramePr>
            <a:graphicFrameLocks noGrp="1"/>
          </p:cNvGraphicFramePr>
          <p:nvPr/>
        </p:nvGraphicFramePr>
        <p:xfrm>
          <a:off x="502920" y="2103120"/>
          <a:ext cx="5394960" cy="301752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172200" y="2240280"/>
          <a:ext cx="3154679" cy="2194560"/>
        </p:xfrm>
        <a:graphic>
          <a:graphicData uri="http://schemas.openxmlformats.org/drawingml/2006/table">
            <a:tbl>
              <a:tblPr firstRow="1" bandRow="1">
                <a:tableStyleId>{5C22544A-7EE6-4342-B048-85BDC9FD1C3A}</a:tableStyleId>
              </a:tblPr>
              <a:tblGrid>
                <a:gridCol w="1168400"/>
                <a:gridCol w="1986279"/>
              </a:tblGrid>
              <a:tr h="548640">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차수 조합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Kr 6→18 Ω의 THD 감소</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0.299%p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0.475%p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0.599%p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6199632" y="4681728"/>
            <a:ext cx="310896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두 인자의 효과가 달라지는지 확인하는 분석임. 선의 교차 유무만으로 판단하지 않음.</a:t>
            </a:r>
          </a:p>
        </p:txBody>
      </p:sp>
      <p:sp>
        <p:nvSpPr>
          <p:cNvPr id="20" name="TextBox 19"/>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최종 선정은 조합별 실제 반응값과 종합 만족 수로 결정함.</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results/interactions.csv; results/candidates.csv</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21/51</a:t>
            </a:r>
          </a:p>
        </p:txBody>
      </p:sp>
      <p:sp>
        <p:nvSpPr>
          <p:cNvPr id="24" name="TextBox 23">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5" name="TextBox 24">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제어 조건 선정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선정용 조건의 종합 만족 수를 최우선으로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C21를 검토 범위 내 우선안으로 선정함. 전역 최적값 또는 제품 적용 승인값은 아님.</a:t>
            </a:r>
          </a:p>
        </p:txBody>
      </p:sp>
      <p:graphicFrame>
        <p:nvGraphicFramePr>
          <p:cNvPr id="17" name="Table 16"/>
          <p:cNvGraphicFramePr>
            <a:graphicFrameLocks noGrp="1"/>
          </p:cNvGraphicFramePr>
          <p:nvPr/>
        </p:nvGraphicFramePr>
        <p:xfrm>
          <a:off x="502920" y="2011680"/>
          <a:ext cx="8869680" cy="2560314"/>
        </p:xfrm>
        <a:graphic>
          <a:graphicData uri="http://schemas.openxmlformats.org/drawingml/2006/table">
            <a:tbl>
              <a:tblPr firstRow="1" bandRow="1">
                <a:tableStyleId>{5C22544A-7EE6-4342-B048-85BDC9FD1C3A}</a:tableStyleId>
              </a:tblPr>
              <a:tblGrid>
                <a:gridCol w="1108710"/>
                <a:gridCol w="1108710"/>
                <a:gridCol w="1108710"/>
                <a:gridCol w="1995678"/>
                <a:gridCol w="1773936"/>
                <a:gridCol w="1773936"/>
              </a:tblGrid>
              <a:tr h="426719">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Kr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fc [Hz]</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C21</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18</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4</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3·5·7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9/9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3.167%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3.489%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3.530%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882896"/>
            <a:ext cx="886968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선정: Kr=18 Ω, fc=4 Hz, 3·5·7차 (180/300/420 Hz)</a:t>
            </a:r>
          </a:p>
          <a:p>
            <a:pPr algn="l">
              <a:lnSpc>
                <a:spcPct val="108000"/>
              </a:lnSpc>
              <a:spcBef>
                <a:spcPts val="0"/>
              </a:spcBef>
              <a:spcAft>
                <a:spcPts val="200"/>
              </a:spcAft>
            </a:pPr>
            <a:r>
              <a:rPr sz="1300" b="1">
                <a:solidFill>
                  <a:srgbClr val="000000"/>
                </a:solidFill>
                <a:latin typeface="Malgun Gothic"/>
                <a:ea typeface="Malgun Gothic"/>
                <a:cs typeface="Malgun Gothic"/>
              </a:rPr>
              <a:t>순서: 종합 만족 수 → 최대 THD → 평균 THD → 작은 이득·대역·차수</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범위 끝의 선정값이므로 더 넓은 범위의 최적성을 주장하지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results/candidates.csv; selected_control.json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22/51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기준조건 개선 효과</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동일한 47개 운전조건에서 초기·선정안을 대응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평균 THD 2.442% → 1.004%. THD 만족률과 종합 만족률을 구분하여 확인함.</a:t>
            </a:r>
          </a:p>
        </p:txBody>
      </p:sp>
      <p:graphicFrame>
        <p:nvGraphicFramePr>
          <p:cNvPr id="17" name="Chart 16"/>
          <p:cNvGraphicFramePr>
            <a:graphicFrameLocks noGrp="1"/>
          </p:cNvGraphicFramePr>
          <p:nvPr/>
        </p:nvGraphicFramePr>
        <p:xfrm>
          <a:off x="502920" y="2103120"/>
          <a:ext cx="5623560" cy="320040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355080" y="2176272"/>
          <a:ext cx="2953510" cy="2743200"/>
        </p:xfrm>
        <a:graphic>
          <a:graphicData uri="http://schemas.openxmlformats.org/drawingml/2006/table">
            <a:tbl>
              <a:tblPr firstRow="1" bandRow="1">
                <a:tableStyleId>{5C22544A-7EE6-4342-B048-85BDC9FD1C3A}</a:tableStyleId>
              </a:tblPr>
              <a:tblGrid>
                <a:gridCol w="1163504"/>
                <a:gridCol w="895003"/>
                <a:gridCol w="895003"/>
              </a:tblGrid>
              <a:tr h="548640">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선정안</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2.442%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1.004%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최대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7.810%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3.167%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42/47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86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40/47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47개 중 2개의 실제 RMS 미달은 THD 개선 후에도 남아 있음.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results/baseline.csv; improved.csv; main_paired.csv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23/51</a:t>
            </a:r>
          </a:p>
        </p:txBody>
      </p:sp>
      <p:sp>
        <p:nvSpPr>
          <p:cNvPr id="23" name="TextBox 22">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저전류 영역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규격 마진이 부족했던 조건의 개선 폭을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전체 평균에 묻히지 않도록 합성 전류 지령 8 Arms 이하인 조건을 별도로 표시함.</a:t>
            </a:r>
          </a:p>
        </p:txBody>
      </p:sp>
      <p:graphicFrame>
        <p:nvGraphicFramePr>
          <p:cNvPr id="17" name="Chart 16"/>
          <p:cNvGraphicFramePr>
            <a:graphicFrameLocks noGrp="1"/>
          </p:cNvGraphicFramePr>
          <p:nvPr/>
        </p:nvGraphicFramePr>
        <p:xfrm>
          <a:off x="502920" y="2103120"/>
          <a:ext cx="5623560" cy="333756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355080" y="2286000"/>
          <a:ext cx="2953512" cy="2148840"/>
        </p:xfrm>
        <a:graphic>
          <a:graphicData uri="http://schemas.openxmlformats.org/drawingml/2006/table">
            <a:tbl>
              <a:tblPr firstRow="1" bandRow="1">
                <a:tableStyleId>{5C22544A-7EE6-4342-B048-85BDC9FD1C3A}</a:tableStyleId>
              </a:tblPr>
              <a:tblGrid>
                <a:gridCol w="984504"/>
                <a:gridCol w="984504"/>
                <a:gridCol w="984504"/>
              </a:tblGrid>
              <a:tr h="537210">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선정안</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721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대상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21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5.820%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2.203%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21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6373368" y="4681728"/>
            <a:ext cx="2926080" cy="9144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초기값을 목표 수치에 맞춘 결과가 아님. 이 모델에서 낮은 전류 대비 고조파의 상대 비중이 큰 조건임.</a:t>
            </a:r>
          </a:p>
        </p:txBody>
      </p:sp>
      <p:sp>
        <p:nvSpPr>
          <p:cNvPr id="20" name="TextBox 19"/>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이 집합을 전체 제품의 평균 성능 또는 산업 평균으로 표현하지 않음.</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results/current_strata.csv; baseline.csv; improved.csv</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24/51</a:t>
            </a:r>
          </a:p>
        </p:txBody>
      </p:sp>
      <p:sp>
        <p:nvSpPr>
          <p:cNvPr id="24" name="TextBox 23">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5" name="TextBox 24">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선정 미사용 조건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선정에 사용하지 않은 38개 조건을 분리하여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선정용 9개에서만 좋은 결과가 나온 것은 아닌지 동일 모델의 나머지 운전조건으로 확인함.</a:t>
            </a:r>
          </a:p>
        </p:txBody>
      </p:sp>
      <p:graphicFrame>
        <p:nvGraphicFramePr>
          <p:cNvPr id="17" name="Table 16"/>
          <p:cNvGraphicFramePr>
            <a:graphicFrameLocks noGrp="1"/>
          </p:cNvGraphicFramePr>
          <p:nvPr/>
        </p:nvGraphicFramePr>
        <p:xfrm>
          <a:off x="502920" y="2011680"/>
          <a:ext cx="8869679" cy="1920240"/>
        </p:xfrm>
        <a:graphic>
          <a:graphicData uri="http://schemas.openxmlformats.org/drawingml/2006/table">
            <a:tbl>
              <a:tblPr firstRow="1" bandRow="1">
                <a:tableStyleId>{5C22544A-7EE6-4342-B048-85BDC9FD1C3A}</a:tableStyleId>
              </a:tblPr>
              <a:tblGrid>
                <a:gridCol w="2334126"/>
                <a:gridCol w="933650"/>
                <a:gridCol w="1867301"/>
                <a:gridCol w="1867301"/>
                <a:gridCol w="1867301"/>
              </a:tblGrid>
              <a:tr h="48006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평가 집합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조건 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초기 THD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선정 THD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선정 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36/38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38/38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36/38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06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전체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42/47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389120"/>
            <a:ext cx="8869680" cy="10058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47 = 9 + 38</a:t>
            </a:r>
          </a:p>
          <a:p>
            <a:pPr algn="l">
              <a:lnSpc>
                <a:spcPct val="108000"/>
              </a:lnSpc>
              <a:spcBef>
                <a:spcPts val="0"/>
              </a:spcBef>
              <a:spcAft>
                <a:spcPts val="200"/>
              </a:spcAft>
            </a:pPr>
            <a:r>
              <a:rPr sz="1300" b="0">
                <a:solidFill>
                  <a:srgbClr val="000000"/>
                </a:solidFill>
                <a:latin typeface="Malgun Gothic"/>
                <a:ea typeface="Malgun Gothic"/>
                <a:cs typeface="Malgun Gothic"/>
              </a:rPr>
              <a:t>38개는 47개에 포함되므로 별도 실험집합처럼 다시 합산하지 않음.</a:t>
            </a:r>
          </a:p>
          <a:p>
            <a:pPr algn="l">
              <a:lnSpc>
                <a:spcPct val="108000"/>
              </a:lnSpc>
              <a:spcBef>
                <a:spcPts val="0"/>
              </a:spcBef>
              <a:spcAft>
                <a:spcPts val="200"/>
              </a:spcAft>
            </a:pPr>
            <a:r>
              <a:rPr sz="1300" b="0">
                <a:solidFill>
                  <a:srgbClr val="000000"/>
                </a:solidFill>
                <a:latin typeface="Malgun Gothic"/>
                <a:ea typeface="Malgun Gothic"/>
                <a:cs typeface="Malgun Gothic"/>
              </a:rPr>
              <a:t>같은 기본 수치모델의 검증이며 독립된 하드웨어 모델 검증은 아님.</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선정용 조건 ID와 해시를 사전 저장하여 검증 후 재튜닝을 차단함.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qa/frozen_protocol.json; selected_control.json; main_conditions.csv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25/51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전압 변화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207 V·253 V에서도 동일 dq 전류 명령을 적용함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전류 명령을 고정했으므로 전압 변화에 따라 P₁·Q₁ 전력도 달라짐. 일정 전력 시험과 구분함.</a:t>
            </a:r>
          </a:p>
        </p:txBody>
      </p:sp>
      <p:graphicFrame>
        <p:nvGraphicFramePr>
          <p:cNvPr id="17" name="Table 16"/>
          <p:cNvGraphicFramePr>
            <a:graphicFrameLocks noGrp="1"/>
          </p:cNvGraphicFramePr>
          <p:nvPr/>
        </p:nvGraphicFramePr>
        <p:xfrm>
          <a:off x="502920" y="2011680"/>
          <a:ext cx="8869677" cy="2834640"/>
        </p:xfrm>
        <a:graphic>
          <a:graphicData uri="http://schemas.openxmlformats.org/drawingml/2006/table">
            <a:tbl>
              <a:tblPr firstRow="1" bandRow="1">
                <a:tableStyleId>{5C22544A-7EE6-4342-B048-85BDC9FD1C3A}</a:tableStyleId>
              </a:tblPr>
              <a:tblGrid>
                <a:gridCol w="2956559"/>
                <a:gridCol w="2956559"/>
                <a:gridCol w="2956559"/>
              </a:tblGrid>
              <a:tr h="47244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선정안</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24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대상 조건 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24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3.064%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1.212%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24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24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244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잔여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RMS 전류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166360"/>
            <a:ext cx="8869680" cy="7315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0">
                <a:solidFill>
                  <a:srgbClr val="000000"/>
                </a:solidFill>
                <a:latin typeface="Malgun Gothic"/>
                <a:ea typeface="Malgun Gothic"/>
                <a:cs typeface="Malgun Gothic"/>
              </a:rPr>
              <a:t>207×48=9.936 kVA / 253×48=12.144 kVA.</a:t>
            </a:r>
          </a:p>
          <a:p>
            <a:pPr algn="l">
              <a:lnSpc>
                <a:spcPct val="108000"/>
              </a:lnSpc>
              <a:spcBef>
                <a:spcPts val="0"/>
              </a:spcBef>
              <a:spcAft>
                <a:spcPts val="200"/>
              </a:spcAft>
            </a:pPr>
            <a:r>
              <a:rPr sz="1230" b="0">
                <a:solidFill>
                  <a:srgbClr val="000000"/>
                </a:solidFill>
                <a:latin typeface="Malgun Gothic"/>
                <a:ea typeface="Malgun Gothic"/>
                <a:cs typeface="Malgun Gothic"/>
              </a:rPr>
              <a:t>전압 추가조건은 전류 한계의 수치 민감도 시험이며, 해당 용량의 제품 운전 승인을 뜻하지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results/voltage_conditions.csv; voltage.csv; voltage_paired.csv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26/51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회로·검출 편차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 설정을 고정한 채 24개의 가정 변경 조건을 평가함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라틴 초방격으로 범위를 분산 배치했으며 제조 공차의 확률분포로 해석하지 않음.</a:t>
            </a:r>
          </a:p>
        </p:txBody>
      </p:sp>
      <p:graphicFrame>
        <p:nvGraphicFramePr>
          <p:cNvPr id="17" name="Table 16"/>
          <p:cNvGraphicFramePr>
            <a:graphicFrameLocks noGrp="1"/>
          </p:cNvGraphicFramePr>
          <p:nvPr/>
        </p:nvGraphicFramePr>
        <p:xfrm>
          <a:off x="502920" y="2011680"/>
          <a:ext cx="5212079" cy="3200400"/>
        </p:xfrm>
        <a:graphic>
          <a:graphicData uri="http://schemas.openxmlformats.org/drawingml/2006/table">
            <a:tbl>
              <a:tblPr firstRow="1" bandRow="1">
                <a:tableStyleId>{5C22544A-7EE6-4342-B048-85BDC9FD1C3A}</a:tableStyleId>
              </a:tblPr>
              <a:tblGrid>
                <a:gridCol w="2011680"/>
                <a:gridCol w="3200399"/>
              </a:tblGrid>
              <a:tr h="457200">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변경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검증 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DC-link / 계통 주파수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380~420 V / 59.5~60.5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Lf / Lg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0.9~1.1 mH / 0.05~0.25 mH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dead-time / 검출 LPF</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100~300 ns / 8~12 kHz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검출 offset / gain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±0.05 A / 0.995~1.005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기본8 μs 또는24 μs / 제어 연산은16 μs 유지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계통 고조파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3차0~1.5%, 5차0~0.75%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graphicFrame>
        <p:nvGraphicFramePr>
          <p:cNvPr id="18" name="Table 17"/>
          <p:cNvGraphicFramePr>
            <a:graphicFrameLocks noGrp="1"/>
          </p:cNvGraphicFramePr>
          <p:nvPr/>
        </p:nvGraphicFramePr>
        <p:xfrm>
          <a:off x="6007608" y="2331720"/>
          <a:ext cx="3337559" cy="2331720"/>
        </p:xfrm>
        <a:graphic>
          <a:graphicData uri="http://schemas.openxmlformats.org/drawingml/2006/table">
            <a:tbl>
              <a:tblPr firstRow="1" bandRow="1">
                <a:tableStyleId>{5C22544A-7EE6-4342-B048-85BDC9FD1C3A}</a:tableStyleId>
              </a:tblPr>
              <a:tblGrid>
                <a:gridCol w="1374289"/>
                <a:gridCol w="981635"/>
                <a:gridCol w="981635"/>
              </a:tblGrid>
              <a:tr h="582930">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선정안</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8293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1.179%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93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93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17/24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21/24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R010·R012·R023의 실제 RMS 미달 3건을 보존함.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results/variation_conditions.csv; variation.csv; variation_paired.csv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27/51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LF 전환 가정의 영향</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실제 제품 적용성에 민감한 구조 가정을 별도로 평가함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LF 레그를 계통전압 부호로 고정하면, THD가 낮아져도 변조 제한이 발생할 수 있음.</a:t>
            </a:r>
          </a:p>
        </p:txBody>
      </p:sp>
      <p:graphicFrame>
        <p:nvGraphicFramePr>
          <p:cNvPr id="17" name="Table 16"/>
          <p:cNvGraphicFramePr>
            <a:graphicFrameLocks noGrp="1"/>
          </p:cNvGraphicFramePr>
          <p:nvPr/>
        </p:nvGraphicFramePr>
        <p:xfrm>
          <a:off x="502920" y="2011680"/>
          <a:ext cx="8869677" cy="3108959"/>
        </p:xfrm>
        <a:graphic>
          <a:graphicData uri="http://schemas.openxmlformats.org/drawingml/2006/table">
            <a:tbl>
              <a:tblPr firstRow="1" bandRow="1">
                <a:tableStyleId>{5C22544A-7EE6-4342-B048-85BDC9FD1C3A}</a:tableStyleId>
              </a:tblPr>
              <a:tblGrid>
                <a:gridCol w="996593"/>
                <a:gridCol w="1594549"/>
                <a:gridCol w="1594549"/>
                <a:gridCol w="1494889"/>
                <a:gridCol w="1793867"/>
                <a:gridCol w="1395230"/>
              </a:tblGrid>
              <a:tr h="444137">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id*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iq*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선정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제한 시간비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3.164%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1.246%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1.226%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0.530%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0.554%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4137">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0.380%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1.79%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330952"/>
            <a:ext cx="8869680" cy="76809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70" b="0">
                <a:solidFill>
                  <a:srgbClr val="C00000"/>
                </a:solidFill>
                <a:latin typeface="Malgun Gothic"/>
                <a:ea typeface="Malgun Gothic"/>
                <a:cs typeface="Malgun Gothic"/>
              </a:rPr>
              <a:t>기준 모델과의 차이: 기준 LF는 브리지 전압 명령 부호를 따름.</a:t>
            </a:r>
          </a:p>
          <a:p>
            <a:pPr algn="l">
              <a:lnSpc>
                <a:spcPct val="108000"/>
              </a:lnSpc>
              <a:spcBef>
                <a:spcPts val="0"/>
              </a:spcBef>
              <a:spcAft>
                <a:spcPts val="200"/>
              </a:spcAft>
            </a:pPr>
            <a:r>
              <a:rPr sz="1270" b="0">
                <a:solidFill>
                  <a:srgbClr val="C00000"/>
                </a:solidFill>
                <a:latin typeface="Malgun Gothic"/>
                <a:ea typeface="Malgun Gothic"/>
                <a:cs typeface="Malgun Gothic"/>
              </a:rPr>
              <a:t>실제 LF 전환 로직이 확인되기 전에는 기준 모델의 Q 운전 성능을 제품 성능으로 확정하지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results/structure.csv; src/model.py lf_grid_polarity</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28/51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잔여 미달과 전류 한계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기본파 지령 한계와 실제 RMS 한계를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Peak dq 벡터를 67.882 A로 제한해도 고조파·리플·검출오차 때문에 실제 RMS가 48 A를 넘을 수 있음.</a:t>
            </a:r>
          </a:p>
        </p:txBody>
      </p:sp>
      <p:graphicFrame>
        <p:nvGraphicFramePr>
          <p:cNvPr id="17" name="Table 16"/>
          <p:cNvGraphicFramePr>
            <a:graphicFrameLocks noGrp="1"/>
          </p:cNvGraphicFramePr>
          <p:nvPr/>
        </p:nvGraphicFramePr>
        <p:xfrm>
          <a:off x="502920" y="2011680"/>
          <a:ext cx="8869678" cy="2971794"/>
        </p:xfrm>
        <a:graphic>
          <a:graphicData uri="http://schemas.openxmlformats.org/drawingml/2006/table">
            <a:tbl>
              <a:tblPr firstRow="1" bandRow="1">
                <a:tableStyleId>{5C22544A-7EE6-4342-B048-85BDC9FD1C3A}</a:tableStyleId>
              </a:tblPr>
              <a:tblGrid>
                <a:gridCol w="943582"/>
                <a:gridCol w="2075882"/>
                <a:gridCol w="2264599"/>
                <a:gridCol w="1981524"/>
                <a:gridCol w="1604091"/>
              </a:tblGrid>
              <a:tr h="495299">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주요 상태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선정 실제 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48 A 대비 초과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처리</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95299">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N001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정격 순수 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48.002346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2.346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미달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5299">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N010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정격 순수 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48.002549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2.549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미달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5299">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R010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회로·검출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48.317154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317.154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미달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5299">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회로·검출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48.023541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23.541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미달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5299">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R023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회로·검출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48.102242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102.242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미달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276088"/>
            <a:ext cx="8869680" cy="7772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수 mA의 기준모델 경계 초과는 수치 해상도·계측 허용차를 함께 확인해야 함.</a:t>
            </a:r>
          </a:p>
          <a:p>
            <a:pPr algn="l">
              <a:lnSpc>
                <a:spcPct val="108000"/>
              </a:lnSpc>
              <a:spcBef>
                <a:spcPts val="0"/>
              </a:spcBef>
              <a:spcAft>
                <a:spcPts val="200"/>
              </a:spcAft>
            </a:pPr>
            <a:r>
              <a:rPr sz="1240" b="0">
                <a:solidFill>
                  <a:srgbClr val="000000"/>
                </a:solidFill>
                <a:latin typeface="Malgun Gothic"/>
                <a:ea typeface="Malgun Gothic"/>
                <a:cs typeface="Malgun Gothic"/>
              </a:rPr>
              <a:t>편차조건의 큰 초과와 같은 위험 수준으로 단정하지 않으며, 지령 여유 또는 실제 RMS 제한 설계가 필요함.</a:t>
            </a:r>
          </a:p>
        </p:txBody>
      </p:sp>
      <p:sp>
        <p:nvSpPr>
          <p:cNvPr id="19" name="TextBox 18"/>
          <p:cNvSpPr txBox="1"/>
          <p:nvPr/>
        </p:nvSpPr>
        <p:spPr>
          <a:xfrm>
            <a:off x="502920" y="5934456"/>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판정 기준을 완화하거나 미달조건을 제외하여 100% 종합 만족으로 만들지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results/main_failures.csv; variation.csv; refinement_comparison.csv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29/51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d·q축 과도응답 검토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축별 명령 변화와 q축 반전의 응답을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정상상태 THD 개선과 과도응답 개선을 동일하게 취급하지 않음.</a:t>
            </a:r>
          </a:p>
        </p:txBody>
      </p:sp>
      <p:graphicFrame>
        <p:nvGraphicFramePr>
          <p:cNvPr id="17" name="Table 16"/>
          <p:cNvGraphicFramePr>
            <a:graphicFrameLocks noGrp="1"/>
          </p:cNvGraphicFramePr>
          <p:nvPr/>
        </p:nvGraphicFramePr>
        <p:xfrm>
          <a:off x="502920" y="2011680"/>
          <a:ext cx="8869678" cy="2194560"/>
        </p:xfrm>
        <a:graphic>
          <a:graphicData uri="http://schemas.openxmlformats.org/drawingml/2006/table">
            <a:tbl>
              <a:tblPr firstRow="1" bandRow="1">
                <a:tableStyleId>{5C22544A-7EE6-4342-B048-85BDC9FD1C3A}</a:tableStyleId>
              </a:tblPr>
              <a:tblGrid>
                <a:gridCol w="964095"/>
                <a:gridCol w="4049201"/>
                <a:gridCol w="1928191"/>
                <a:gridCol w="1928191"/>
              </a:tblGrid>
              <a:tr h="438912">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시험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명령 변화 [RMS 환산 설명]</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초기 관측 정착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선정 관측 정착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8912">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T01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d:8→16, q:0 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21.86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21.45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8912">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T02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d:16 고정, q:0→16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21.16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20.76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8912">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T03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d:16 고정, q:+16→−16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28.74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29.85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8912">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T04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d:40→48, q:0 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8.34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8.34 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663440"/>
            <a:ext cx="8869680" cy="9418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관측 정의: 저장한 dq 피드백을 중심 정렬 1주기 이동평균한 뒤 허용오차에 진입하여 유지되는 시각임.</a:t>
            </a:r>
          </a:p>
          <a:p>
            <a:pPr algn="l">
              <a:lnSpc>
                <a:spcPct val="108000"/>
              </a:lnSpc>
              <a:spcBef>
                <a:spcPts val="0"/>
              </a:spcBef>
              <a:spcAft>
                <a:spcPts val="200"/>
              </a:spcAft>
            </a:pPr>
            <a:r>
              <a:rPr sz="1250" b="0">
                <a:solidFill>
                  <a:srgbClr val="000000"/>
                </a:solidFill>
                <a:latin typeface="Malgun Gothic"/>
                <a:ea typeface="Malgun Gothic"/>
                <a:cs typeface="Malgun Gothic"/>
              </a:rPr>
              <a:t>T03에서는 선정안의 관측 정착이 늦어짐. T04의 8.34 ms는 1/2주기 관측 하한임.</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변경하지 않은 축의 일시적 편차도 결과표에 함께 저장함.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results/transient.csv; transient_envelope.csv; raw transient control logs</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30/51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수치 결과의 민감도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시간간격과 계산기간을 변경하여 결과의 일관성을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대표조건에서만 수행한 수치 검증이며, 모든 회로 가정의 정확도를 입증한 것은 아님.</a:t>
            </a:r>
          </a:p>
        </p:txBody>
      </p:sp>
      <p:graphicFrame>
        <p:nvGraphicFramePr>
          <p:cNvPr id="17" name="Table 16"/>
          <p:cNvGraphicFramePr>
            <a:graphicFrameLocks noGrp="1"/>
          </p:cNvGraphicFramePr>
          <p:nvPr/>
        </p:nvGraphicFramePr>
        <p:xfrm>
          <a:off x="502920" y="2011680"/>
          <a:ext cx="8869678" cy="2240280"/>
        </p:xfrm>
        <a:graphic>
          <a:graphicData uri="http://schemas.openxmlformats.org/drawingml/2006/table">
            <a:tbl>
              <a:tblPr firstRow="1" bandRow="1">
                <a:tableStyleId>{5C22544A-7EE6-4342-B048-85BDC9FD1C3A}</a:tableStyleId>
              </a:tblPr>
              <a:tblGrid>
                <a:gridCol w="1991152"/>
                <a:gridCol w="2534194"/>
                <a:gridCol w="2262673"/>
                <a:gridCol w="2081659"/>
              </a:tblGrid>
              <a:tr h="448056">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검증</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계산 변경</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최대 THD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최대 RMS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시간간격 세분화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 → 1 → 0.5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0.009294%p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0.6118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계산기간 연장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0.75 → 1.5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0.001614%p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0.0879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고조파 교차계산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직접 투영 vs coherent FFT</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2.26e-07%p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 계산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동일조건 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대표 4회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 배열 동일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독립표본 추가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782312"/>
            <a:ext cx="886968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대표 세분화·기간 연장 검토에서 종합 판정 변화 없음.</a:t>
            </a:r>
          </a:p>
          <a:p>
            <a:pPr algn="l">
              <a:lnSpc>
                <a:spcPct val="108000"/>
              </a:lnSpc>
              <a:spcBef>
                <a:spcPts val="0"/>
              </a:spcBef>
              <a:spcAft>
                <a:spcPts val="200"/>
              </a:spcAft>
            </a:pPr>
            <a:r>
              <a:rPr sz="1270" b="0">
                <a:solidFill>
                  <a:srgbClr val="000000"/>
                </a:solidFill>
                <a:latin typeface="Malgun Gothic"/>
                <a:ea typeface="Malgun Gothic"/>
                <a:cs typeface="Malgun Gothic"/>
              </a:rPr>
              <a:t>조건에 따른 수치 민감도가 존재하므로 미검증 조건의 미세한 차이까지 유의하다고 주장하지 않음.</a:t>
            </a:r>
          </a:p>
        </p:txBody>
      </p:sp>
      <p:sp>
        <p:nvSpPr>
          <p:cNvPr id="19" name="TextBox 18"/>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검증된 코드 재현성과 검증되지 않은 실제 HW 일치성을 분리함.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qa/raw_audit.json; fft_crosscheck.csv; replay.json; results/refinement_comparison.csv; duration_comparison.csv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31/51</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성과 확인 및 최종 판단</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THD 성과와 잔여 적용 리스크를 함께 정리함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기준조건의 THD 목표는 달성했으나, 모든 전류·구조조건을 만족한 제품 적용안으로 확정하지 않음.</a:t>
            </a:r>
          </a:p>
        </p:txBody>
      </p:sp>
      <p:graphicFrame>
        <p:nvGraphicFramePr>
          <p:cNvPr id="17" name="Table 16"/>
          <p:cNvGraphicFramePr>
            <a:graphicFrameLocks noGrp="1"/>
          </p:cNvGraphicFramePr>
          <p:nvPr/>
        </p:nvGraphicFramePr>
        <p:xfrm>
          <a:off x="502920" y="2011680"/>
          <a:ext cx="8869678" cy="2560315"/>
        </p:xfrm>
        <a:graphic>
          <a:graphicData uri="http://schemas.openxmlformats.org/drawingml/2006/table">
            <a:tbl>
              <a:tblPr firstRow="1" bandRow="1">
                <a:tableStyleId>{5C22544A-7EE6-4342-B048-85BDC9FD1C3A}</a:tableStyleId>
              </a:tblPr>
              <a:tblGrid>
                <a:gridCol w="1942882"/>
                <a:gridCol w="2027355"/>
                <a:gridCol w="2111828"/>
                <a:gridCol w="2787613"/>
              </a:tblGrid>
              <a:tr h="512063">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대상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THD 만족: 초기→선정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종합 만족: 초기→선정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최종 해석</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기준 230 V 47조건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42/47 → 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40/47 → 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목표 달성 / 실제 RMS 2조건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전압 추가 24조건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18/24 → 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14/24 → 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실제 RMS 4조건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편차 24조건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20/24 → 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17/24 → 21/24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실제 RMS 3조건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LF 구조 변경 6조건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5/6 → 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1/6 → 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LF 전환 가정 민감 / 제품 확인 필요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800600"/>
            <a:ext cx="8869680" cy="9144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400" b="1">
                <a:solidFill>
                  <a:srgbClr val="C00000"/>
                </a:solidFill>
                <a:latin typeface="Malgun Gothic"/>
                <a:ea typeface="Malgun Gothic"/>
                <a:cs typeface="Malgun Gothic"/>
              </a:rPr>
              <a:t>수치모델 내 제어 후보 선정 완료</a:t>
            </a:r>
          </a:p>
          <a:p>
            <a:pPr algn="l">
              <a:lnSpc>
                <a:spcPct val="108000"/>
              </a:lnSpc>
              <a:spcBef>
                <a:spcPts val="0"/>
              </a:spcBef>
              <a:spcAft>
                <a:spcPts val="200"/>
              </a:spcAft>
            </a:pPr>
            <a:r>
              <a:rPr sz="1400" b="1">
                <a:solidFill>
                  <a:srgbClr val="C00000"/>
                </a:solidFill>
                <a:latin typeface="Malgun Gothic"/>
                <a:ea typeface="Malgun Gothic"/>
                <a:cs typeface="Malgun Gothic"/>
              </a:rPr>
              <a:t>≠ 실제 OBCM의 THD 규격 만족 입증</a:t>
            </a:r>
          </a:p>
          <a:p>
            <a:pPr algn="l">
              <a:lnSpc>
                <a:spcPct val="108000"/>
              </a:lnSpc>
              <a:spcBef>
                <a:spcPts val="0"/>
              </a:spcBef>
              <a:spcAft>
                <a:spcPts val="200"/>
              </a:spcAft>
            </a:pPr>
            <a:r>
              <a:rPr sz="1400" b="1">
                <a:solidFill>
                  <a:srgbClr val="C00000"/>
                </a:solidFill>
                <a:latin typeface="Malgun Gothic"/>
                <a:ea typeface="Malgun Gothic"/>
                <a:cs typeface="Malgun Gothic"/>
              </a:rPr>
              <a:t>≠ 북미 계통연계 인증 또는 사내 BB 승인 완료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results/summary.json; paired comparison files</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32/51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표준화 및 후속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사양·조건·코드·원자료를 연결하여 관리함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다음 변경은 보고서 숫자 수정이 아니라 사양 변경 → 모델 변경 → 동일시험 재계산의 순서로 수행함.</a:t>
            </a:r>
          </a:p>
        </p:txBody>
      </p:sp>
      <p:graphicFrame>
        <p:nvGraphicFramePr>
          <p:cNvPr id="17" name="Table 16"/>
          <p:cNvGraphicFramePr>
            <a:graphicFrameLocks noGrp="1"/>
          </p:cNvGraphicFramePr>
          <p:nvPr/>
        </p:nvGraphicFramePr>
        <p:xfrm>
          <a:off x="502920" y="2011680"/>
          <a:ext cx="8869680" cy="3291834"/>
        </p:xfrm>
        <a:graphic>
          <a:graphicData uri="http://schemas.openxmlformats.org/drawingml/2006/table">
            <a:tbl>
              <a:tblPr firstRow="1" bandRow="1">
                <a:tableStyleId>{5C22544A-7EE6-4342-B048-85BDC9FD1C3A}</a:tableStyleId>
              </a:tblPr>
              <a:tblGrid>
                <a:gridCol w="1828800"/>
                <a:gridCol w="3657600"/>
                <a:gridCol w="3383280"/>
              </a:tblGrid>
              <a:tr h="470262">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관리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관리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재검증 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최우선 사양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specification.json + 실행 전 assertion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전압·전류·Peak/RMS·클록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시험조건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사전 고정 CSV·seed·선정조건 ID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조건 추가 또는 판정 기준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제어 설정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selected_control.json와 선정규칙</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PI/PLL/공진기·delay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원시 데이터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실행 ID·SHA-256·명령/파형 로그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코드/가정과 해시 불일치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실물 후속검증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LF 동작·검출·회로값·RMS 제한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확보한 HW로 모델 correlation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문서 개정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V6 별도 보존 / V5 성과 근거 배제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사내 MBB 검토 및 요구사항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코드·데이터 검증에 합격해도 실제 제어 SW 적용은 별도 승인해야 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qa/frozen_protocol.json; docs/Model_and_Conventions.md; delivery manifests</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33/51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정량·정성 성과의 범위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근거가 없는 재무 성과를 산정하지 않음</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실측 시험공수·재시험 비용·양산 물동 정보가 없어 비용 절감액은 계산하지 않았음.</a:t>
            </a:r>
          </a:p>
        </p:txBody>
      </p:sp>
      <p:graphicFrame>
        <p:nvGraphicFramePr>
          <p:cNvPr id="17" name="Table 16"/>
          <p:cNvGraphicFramePr>
            <a:graphicFrameLocks noGrp="1"/>
          </p:cNvGraphicFramePr>
          <p:nvPr/>
        </p:nvGraphicFramePr>
        <p:xfrm>
          <a:off x="502920" y="2011680"/>
          <a:ext cx="8869679" cy="3154680"/>
        </p:xfrm>
        <a:graphic>
          <a:graphicData uri="http://schemas.openxmlformats.org/drawingml/2006/table">
            <a:tbl>
              <a:tblPr firstRow="1" bandRow="1">
                <a:tableStyleId>{5C22544A-7EE6-4342-B048-85BDC9FD1C3A}</a:tableStyleId>
              </a:tblPr>
              <a:tblGrid>
                <a:gridCol w="1554480"/>
                <a:gridCol w="3840480"/>
                <a:gridCol w="3474719"/>
              </a:tblGrid>
              <a:tr h="52578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확보한 결과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주장하지 않는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257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정량 성과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동일 조건 THD 감소·설계기준 만족 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양산 불량률·고객 인증 합격률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257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개발 산출물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Peak dq·1:1 클록 수치모델, 후보 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양산 코드와 완전 동등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257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재현성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원시 파형·조건·코드·해시·검증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실측 근거 없이 모델 정확도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257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잔여 리스크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RMS 경계, LF 전환, 미제공 회로·규격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미달조건을 제외한 전영역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257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다음 의사결정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명판 전압·LF 로직·계측사양 우선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V5 수치를 재활용하거나 정격비로 환산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60720"/>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8000"/>
                </a:solidFill>
                <a:latin typeface="Malgun Gothic"/>
                <a:ea typeface="Malgun Gothic"/>
                <a:cs typeface="Malgun Gothic"/>
              </a:rPr>
              <a:t>→ V6는 최신 사양을 반영한 새로운 참조 수치연구로 관리함.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results/summary.json; docs/V6_Review.md</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34/51</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01 / 사양·단위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제품급 명칭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11.52 kVA급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사용자가 지정한 명칭. 230×48의 계산값이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기준점 용량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230 V×48 A=11.04 kVA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해석에 사용한 입력의 피상전력.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Peak dq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피크값 보존 d·q 좌표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DC 값이라는 사실과 RMS 크기 정의는 별개.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전류 벡터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sqrt(id²+iq²)≤67.882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두 축에 각각 67.882 A를 동시에 지령할 수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RMS 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파형 제곱 평균의 제곱근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스위칭 리플·고조파를 포함한 실제 파형 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제어주기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16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PWM 주기와 같은 16 μs. 매 주기 한 번 연산함.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35/51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02 / 신호·전력</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id* / iq*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외부 DC 전류 지령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d축 유효성분, q축 무효성분.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Theta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SOGI-PLL 내부 계통 동기각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외부 유·무효전력 명령이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P₁ / Q₁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기본파 유효·무효전력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모델의 +Iq는 진상, Q₁=−V₁ Iq/√2.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Ptotal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실제 v(t)i(t)의 구간 평균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고조파가 있으면 P₁과 다를 수 있음.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I₁ / Iₕ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기본파 / h차 고조파 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 분모와 절대 고조파 전류를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THD₂–₄₀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100×sqrt(Σ₂⁴⁰Ih²)/I₁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DC·40차 초과·스위칭 리플 제외. 인증 TRD와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36/51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03 / 모델·시간축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HF / LF</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고주파 / 저주파 bridge 레그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실제 LF 전환 로직은 미확인 상태임.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dead-time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양쪽 스위치 turn-on의 공백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V6의 200 ns는 추가 가정값임.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ADC 중앙 샘플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PWM 시작 후 8 μs에서 전류 취득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사용자가 확정한 사양이 아닌 모델 가정임.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FIFO</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지연된 명령을 순서대로 적용하는 저장구조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이전의 미적용 명령을 덮어쓰지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샘플→적용 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기본 8 μs / 추가 지연 민감도 별도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추가 지연에도 제어 주기는 16 μs를 유지함.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수치 시간간격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출력2 μs / 비교1·0.5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제어 주기와 별도로 정하는 파형 저장 간격임.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37/51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04 / 제어·판정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SOGI</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직교 성분을 생성하는 필터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가상 β축을 구성함. 별도의 실제 AC 전류가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dq PI</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축별 전류오차의 비례·적분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800 Hz는 설계 파라미터이며 측정 대역폭이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준공진 피드백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특정 고조파 부근의 오차제어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3·5·7차는60 Hz에서180·300·420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Kr /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공진 이득 [Ω] / 대역 파라미터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fc는 PWM 주파수나 계통 기본파가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포화 시간비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전압 제한이 발생한 평가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전압 오차의 크기나 THD 자체와 다른 지표임.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 및 모든 보조 조건의 동시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 만족 수와 종합 만족 수를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38/51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05 / 시험·데이터</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Id/Iq·전압·회로 가정의 조합 1개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실물 시료 1대라는 의미가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해석 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조건 1개에 제어 설정 1개를 적용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초기·선정 비교 시 같은 조건을 2회 실행함.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선정용 / 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47개 중 9개 / 나머지 38개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9+38=47. 38개를 기준 47개에 다시 더하지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전압 / 편차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서로 다른 목적의 별도 조건 집합, 각 24개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대상 집합이 다른 만족률을 혼합하지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시간 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파형 저장 시각마다 취득한 전류값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15주기의 시간 표본 약 125,000개. 반복시험 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회귀시험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변경 후 같은 기능·성능 시험을 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회귀분석(regression analysis)과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39/51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06 / 통계·신뢰성</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보고서에서 사용하는 의미와 해석 한계를 명확히 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 용어의 뜻뿐 아니라 이번 과제에서 사용한 범위까지 함께 설명함.</a:t>
            </a:r>
          </a:p>
        </p:txBody>
      </p:sp>
      <p:graphicFrame>
        <p:nvGraphicFramePr>
          <p:cNvPr id="17" name="Table 16"/>
          <p:cNvGraphicFramePr>
            <a:graphicFrameLocks noGrp="1"/>
          </p:cNvGraphicFramePr>
          <p:nvPr/>
        </p:nvGraphicFramePr>
        <p:xfrm>
          <a:off x="502920" y="2011680"/>
          <a:ext cx="8869679" cy="3767323"/>
        </p:xfrm>
        <a:graphic>
          <a:graphicData uri="http://schemas.openxmlformats.org/drawingml/2006/table">
            <a:tbl>
              <a:tblPr firstRow="1" bandRow="1">
                <a:tableStyleId>{5C22544A-7EE6-4342-B048-85BDC9FD1C3A}</a:tableStyleId>
              </a:tblPr>
              <a:tblGrid>
                <a:gridCol w="1691640"/>
                <a:gridCol w="3474719"/>
                <a:gridCol w="3703320"/>
              </a:tblGrid>
              <a:tr h="538189">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이번 과제의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DOE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인자·수준 조합을 계획한 실험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3인자 각 3수준: 후보 27개, 반응 243개.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주효과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다른 조건을 평균한 수준별 반응의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선정한 범위 내 기술통계이며 p-value가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교호작용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한 인자의 효과가 다른 인자의 수준에 의존함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그래프 선의 교차 여부만으로 판정하지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제곱합 기여도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총 반응변동의 요인별 분해 비중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실제 제품의 원인 기여율이나 불량 원인 비율이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모델 보정 /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입력값 조정 / 별도의 근거와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V6는 기존 THD 값에 맞추어 보정하지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8189">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%p /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비율의차이 / 상대비율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2.44%−1.00%=1.44%p. 상대 감소율과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docs/Model_and_Conventions.md;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40/51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A01 / 제어·전력 계산식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피크 dq와 전력의 환산관계를 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48 Arms에 대한 피크값 환산은 한 번만 수행하며, API 입력에 다시 √2를 곱하지 않음.</a:t>
            </a:r>
          </a:p>
        </p:txBody>
      </p:sp>
      <p:sp>
        <p:nvSpPr>
          <p:cNvPr id="17" name="TextBox 16"/>
          <p:cNvSpPr txBox="1"/>
          <p:nvPr/>
        </p:nvSpPr>
        <p:spPr>
          <a:xfrm>
            <a:off x="502920" y="1993392"/>
            <a:ext cx="8869680" cy="12801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800" b="1">
                <a:solidFill>
                  <a:srgbClr val="000000"/>
                </a:solidFill>
                <a:latin typeface="Malgun Gothic"/>
                <a:ea typeface="Malgun Gothic"/>
                <a:cs typeface="Malgun Gothic"/>
              </a:rPr>
              <a:t>id = iα cosθ + iβ sinθ</a:t>
            </a:r>
          </a:p>
          <a:p>
            <a:pPr algn="l">
              <a:lnSpc>
                <a:spcPct val="108000"/>
              </a:lnSpc>
              <a:spcBef>
                <a:spcPts val="0"/>
              </a:spcBef>
              <a:spcAft>
                <a:spcPts val="200"/>
              </a:spcAft>
            </a:pPr>
            <a:r>
              <a:rPr sz="1800" b="1">
                <a:solidFill>
                  <a:srgbClr val="000000"/>
                </a:solidFill>
                <a:latin typeface="Malgun Gothic"/>
                <a:ea typeface="Malgun Gothic"/>
                <a:cs typeface="Malgun Gothic"/>
              </a:rPr>
              <a:t>iq = −iα sinθ + iβ cosθ</a:t>
            </a:r>
          </a:p>
          <a:p>
            <a:pPr algn="l">
              <a:lnSpc>
                <a:spcPct val="108000"/>
              </a:lnSpc>
              <a:spcBef>
                <a:spcPts val="0"/>
              </a:spcBef>
              <a:spcAft>
                <a:spcPts val="200"/>
              </a:spcAft>
            </a:pPr>
            <a:r>
              <a:rPr sz="1800" b="1">
                <a:solidFill>
                  <a:srgbClr val="000000"/>
                </a:solidFill>
                <a:latin typeface="Malgun Gothic"/>
                <a:ea typeface="Malgun Gothic"/>
                <a:cs typeface="Malgun Gothic"/>
              </a:rPr>
              <a:t>iα = id cosθ − iq sinθ</a:t>
            </a:r>
          </a:p>
        </p:txBody>
      </p:sp>
      <p:sp>
        <p:nvSpPr>
          <p:cNvPr id="18" name="TextBox 17"/>
          <p:cNvSpPr txBox="1"/>
          <p:nvPr/>
        </p:nvSpPr>
        <p:spPr>
          <a:xfrm>
            <a:off x="502920" y="3529584"/>
            <a:ext cx="8869680" cy="11704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800" b="1">
                <a:solidFill>
                  <a:srgbClr val="000000"/>
                </a:solidFill>
                <a:latin typeface="Malgun Gothic"/>
                <a:ea typeface="Malgun Gothic"/>
                <a:cs typeface="Malgun Gothic"/>
              </a:rPr>
              <a:t>P₁ = V₁ id/√2,   Q₁ = −V₁ iq/√2</a:t>
            </a:r>
          </a:p>
          <a:p>
            <a:pPr algn="l">
              <a:lnSpc>
                <a:spcPct val="108000"/>
              </a:lnSpc>
              <a:spcBef>
                <a:spcPts val="0"/>
              </a:spcBef>
              <a:spcAft>
                <a:spcPts val="200"/>
              </a:spcAft>
            </a:pPr>
            <a:r>
              <a:rPr sz="1800" b="1">
                <a:solidFill>
                  <a:srgbClr val="000000"/>
                </a:solidFill>
                <a:latin typeface="Malgun Gothic"/>
                <a:ea typeface="Malgun Gothic"/>
                <a:cs typeface="Malgun Gothic"/>
              </a:rPr>
              <a:t>I₁,rms = sqrt(id²+iq²)/√2</a:t>
            </a:r>
          </a:p>
          <a:p>
            <a:pPr algn="l">
              <a:lnSpc>
                <a:spcPct val="108000"/>
              </a:lnSpc>
              <a:spcBef>
                <a:spcPts val="0"/>
              </a:spcBef>
              <a:spcAft>
                <a:spcPts val="200"/>
              </a:spcAft>
            </a:pPr>
            <a:r>
              <a:rPr sz="1800" b="1">
                <a:solidFill>
                  <a:srgbClr val="000000"/>
                </a:solidFill>
                <a:latin typeface="Malgun Gothic"/>
                <a:ea typeface="Malgun Gothic"/>
                <a:cs typeface="Malgun Gothic"/>
              </a:rPr>
              <a:t>S₁ = V₁ I₁,rms</a:t>
            </a:r>
          </a:p>
        </p:txBody>
      </p:sp>
      <p:sp>
        <p:nvSpPr>
          <p:cNvPr id="19" name="TextBox 18"/>
          <p:cNvSpPr txBox="1"/>
          <p:nvPr/>
        </p:nvSpPr>
        <p:spPr>
          <a:xfrm>
            <a:off x="502920" y="5166360"/>
            <a:ext cx="886968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80" b="0">
                <a:solidFill>
                  <a:srgbClr val="000000"/>
                </a:solidFill>
                <a:latin typeface="Malgun Gothic"/>
                <a:ea typeface="Malgun Gothic"/>
                <a:cs typeface="Malgun Gothic"/>
              </a:rPr>
              <a:t>실제 고조파·DC·스위칭 리플이 있으면 Vrms×Irms와 S₁은 다를 수 있음.</a:t>
            </a:r>
          </a:p>
          <a:p>
            <a:pPr algn="l">
              <a:lnSpc>
                <a:spcPct val="108000"/>
              </a:lnSpc>
              <a:spcBef>
                <a:spcPts val="0"/>
              </a:spcBef>
              <a:spcAft>
                <a:spcPts val="200"/>
              </a:spcAft>
            </a:pPr>
            <a:r>
              <a:rPr sz="1280" b="0">
                <a:solidFill>
                  <a:srgbClr val="000000"/>
                </a:solidFill>
                <a:latin typeface="Malgun Gothic"/>
                <a:ea typeface="Malgun Gothic"/>
                <a:cs typeface="Malgun Gothic"/>
              </a:rPr>
              <a:t>전압의 고조파가 있는 경우 전체 유효전력은 mean(v·i)로 별도 계산함.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measure(); qa/unit_tests.log</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41/51</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A02 / 준공진기 디지털 구현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모든 계수를 16 μs 제어시간축으로 다시 산출함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V4/V5의 계수나 50 Hz 중심주파수를 재사용하지 않음.</a:t>
            </a:r>
          </a:p>
        </p:txBody>
      </p:sp>
      <p:sp>
        <p:nvSpPr>
          <p:cNvPr id="17" name="TextBox 16"/>
          <p:cNvSpPr txBox="1"/>
          <p:nvPr/>
        </p:nvSpPr>
        <p:spPr>
          <a:xfrm>
            <a:off x="502920" y="1993392"/>
            <a:ext cx="8869680" cy="11430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80" b="1">
                <a:solidFill>
                  <a:srgbClr val="000000"/>
                </a:solidFill>
                <a:latin typeface="Malgun Gothic"/>
                <a:ea typeface="Malgun Gothic"/>
                <a:cs typeface="Malgun Gothic"/>
              </a:rPr>
              <a:t>Gₕ(s) = 2Krωc·s / (s² + 2ωc·s + ωh²)</a:t>
            </a:r>
          </a:p>
          <a:p>
            <a:pPr algn="l">
              <a:lnSpc>
                <a:spcPct val="108000"/>
              </a:lnSpc>
              <a:spcBef>
                <a:spcPts val="0"/>
              </a:spcBef>
              <a:spcAft>
                <a:spcPts val="200"/>
              </a:spcAft>
            </a:pPr>
            <a:r>
              <a:rPr sz="1680" b="1">
                <a:solidFill>
                  <a:srgbClr val="000000"/>
                </a:solidFill>
                <a:latin typeface="Malgun Gothic"/>
                <a:ea typeface="Malgun Gothic"/>
                <a:cs typeface="Malgun Gothic"/>
              </a:rPr>
              <a:t>ωh = 2π·60·h,  h∈{3,5,7};   ωc = 2πfc</a:t>
            </a:r>
          </a:p>
          <a:p>
            <a:pPr algn="l">
              <a:lnSpc>
                <a:spcPct val="108000"/>
              </a:lnSpc>
              <a:spcBef>
                <a:spcPts val="0"/>
              </a:spcBef>
              <a:spcAft>
                <a:spcPts val="200"/>
              </a:spcAft>
            </a:pPr>
            <a:r>
              <a:rPr sz="1680" b="1">
                <a:solidFill>
                  <a:srgbClr val="000000"/>
                </a:solidFill>
                <a:latin typeface="Malgun Gothic"/>
                <a:ea typeface="Malgun Gothic"/>
                <a:cs typeface="Malgun Gothic"/>
              </a:rPr>
              <a:t>K = ωh / tan(ωhTs/2),   Ts = 16 μs</a:t>
            </a:r>
          </a:p>
        </p:txBody>
      </p:sp>
      <p:sp>
        <p:nvSpPr>
          <p:cNvPr id="18" name="TextBox 17"/>
          <p:cNvSpPr txBox="1"/>
          <p:nvPr/>
        </p:nvSpPr>
        <p:spPr>
          <a:xfrm>
            <a:off x="502920" y="3511296"/>
            <a:ext cx="8869680" cy="11430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400" b="0">
                <a:solidFill>
                  <a:srgbClr val="000000"/>
                </a:solidFill>
                <a:latin typeface="Malgun Gothic"/>
                <a:ea typeface="Malgun Gothic"/>
                <a:cs typeface="Malgun Gothic"/>
              </a:rPr>
              <a:t>D = K² + 2ωcK + ωh²</a:t>
            </a:r>
          </a:p>
          <a:p>
            <a:pPr algn="l">
              <a:lnSpc>
                <a:spcPct val="108000"/>
              </a:lnSpc>
              <a:spcBef>
                <a:spcPts val="0"/>
              </a:spcBef>
              <a:spcAft>
                <a:spcPts val="200"/>
              </a:spcAft>
            </a:pPr>
            <a:r>
              <a:rPr sz="1400" b="0">
                <a:solidFill>
                  <a:srgbClr val="000000"/>
                </a:solidFill>
                <a:latin typeface="Malgun Gothic"/>
                <a:ea typeface="Malgun Gothic"/>
                <a:cs typeface="Malgun Gothic"/>
              </a:rPr>
              <a:t>b₀ = 2KrωcK/D,  a₁ = 2(ωh²−K²)/D,  a₂ = (K²−2ωcK+ωh²)/D</a:t>
            </a:r>
          </a:p>
          <a:p>
            <a:pPr algn="l">
              <a:lnSpc>
                <a:spcPct val="108000"/>
              </a:lnSpc>
              <a:spcBef>
                <a:spcPts val="0"/>
              </a:spcBef>
              <a:spcAft>
                <a:spcPts val="200"/>
              </a:spcAft>
            </a:pPr>
            <a:r>
              <a:rPr sz="1400" b="0">
                <a:solidFill>
                  <a:srgbClr val="000000"/>
                </a:solidFill>
                <a:latin typeface="Malgun Gothic"/>
                <a:ea typeface="Malgun Gothic"/>
                <a:cs typeface="Malgun Gothic"/>
              </a:rPr>
              <a:t>y[n] = b₀(e[n]−e[n−2]) − a₁y[n−1] − a₂y[n−2]</a:t>
            </a:r>
          </a:p>
        </p:txBody>
      </p:sp>
      <p:sp>
        <p:nvSpPr>
          <p:cNvPr id="19" name="TextBox 18"/>
          <p:cNvSpPr txBox="1"/>
          <p:nvPr/>
        </p:nvSpPr>
        <p:spPr>
          <a:xfrm>
            <a:off x="502920" y="5166360"/>
            <a:ext cx="8869680" cy="7315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각 공진 출력 ±30 V, 적분 상태 ±150 V의 가정 제한을 적용하고 발생 여부를 저장함.</a:t>
            </a:r>
          </a:p>
          <a:p>
            <a:pPr algn="l">
              <a:lnSpc>
                <a:spcPct val="108000"/>
              </a:lnSpc>
              <a:spcBef>
                <a:spcPts val="0"/>
              </a:spcBef>
              <a:spcAft>
                <a:spcPts val="200"/>
              </a:spcAft>
            </a:pPr>
            <a:r>
              <a:rPr sz="1270" b="0">
                <a:solidFill>
                  <a:srgbClr val="000000"/>
                </a:solidFill>
                <a:latin typeface="Malgun Gothic"/>
                <a:ea typeface="Malgun Gothic"/>
                <a:cs typeface="Malgun Gothic"/>
              </a:rPr>
              <a:t>주파수 민감도 시험에서도 60 Hz용 공진 계수를 고정함.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coefficients(), run_core(); Imperix PR controller</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42/51</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A03 / 제곱합 분해와 미적용 검정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27개 후보 평균의 변동을 요인별로 분해함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오차자유도를 확보하지 못한 분해이므로 F검정·p-value를 계산하지 않음.</a:t>
            </a:r>
          </a:p>
        </p:txBody>
      </p:sp>
      <p:graphicFrame>
        <p:nvGraphicFramePr>
          <p:cNvPr id="17" name="Table 16"/>
          <p:cNvGraphicFramePr>
            <a:graphicFrameLocks noGrp="1"/>
          </p:cNvGraphicFramePr>
          <p:nvPr/>
        </p:nvGraphicFramePr>
        <p:xfrm>
          <a:off x="502920" y="2011680"/>
          <a:ext cx="8869678" cy="3273552"/>
        </p:xfrm>
        <a:graphic>
          <a:graphicData uri="http://schemas.openxmlformats.org/drawingml/2006/table">
            <a:tbl>
              <a:tblPr firstRow="1" bandRow="1">
                <a:tableStyleId>{5C22544A-7EE6-4342-B048-85BDC9FD1C3A}</a:tableStyleId>
              </a:tblPr>
              <a:tblGrid>
                <a:gridCol w="2800951"/>
                <a:gridCol w="1307110"/>
                <a:gridCol w="2334126"/>
                <a:gridCol w="2427491"/>
              </a:tblGrid>
              <a:tr h="363728">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자유도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제곱합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기여도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1.005234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26.081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0.001868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2.769190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71.847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A*B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0.002040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A*C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0.072571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1.883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0.002210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A*B*C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0.001174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0.030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6372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합계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3.854287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100.000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522976"/>
            <a:ext cx="8869680"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000000"/>
                </a:solidFill>
                <a:latin typeface="Malgun Gothic"/>
                <a:ea typeface="Malgun Gothic"/>
                <a:cs typeface="Malgun Gothic"/>
              </a:rPr>
              <a:t>A=Kr, B=fc, C=차수조합. 자유도 합계: 2+2+2+4+4+4+8=26.</a:t>
            </a:r>
          </a:p>
          <a:p>
            <a:pPr algn="l">
              <a:lnSpc>
                <a:spcPct val="108000"/>
              </a:lnSpc>
              <a:spcBef>
                <a:spcPts val="0"/>
              </a:spcBef>
              <a:spcAft>
                <a:spcPts val="200"/>
              </a:spcAft>
            </a:pPr>
            <a:r>
              <a:rPr sz="1180" b="0">
                <a:solidFill>
                  <a:srgbClr val="000000"/>
                </a:solidFill>
                <a:latin typeface="Malgun Gothic"/>
                <a:ea typeface="Malgun Gothic"/>
                <a:cs typeface="Malgun Gothic"/>
              </a:rPr>
              <a:t>C의 기여도는 해당 격자의 반응 변동을 설명하며, 실제 고장 원인의 비율이 아님.</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results/factorial_decomposition.csv; src/analyze.py; NIST §5.3.3.9</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43/51</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A04 / 대응 비교와 만족률 해석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같은 Case끼리 비교하여 변화량을 계산함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개선 효과의 집계 대상과 분모를 명시하고, 추론통계와 유한 조건의 비교를 구분함.</a:t>
            </a:r>
          </a:p>
        </p:txBody>
      </p:sp>
      <p:sp>
        <p:nvSpPr>
          <p:cNvPr id="17" name="TextBox 16"/>
          <p:cNvSpPr txBox="1"/>
          <p:nvPr/>
        </p:nvSpPr>
        <p:spPr>
          <a:xfrm>
            <a:off x="502920" y="2011680"/>
            <a:ext cx="8869680" cy="11887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700" b="1">
                <a:solidFill>
                  <a:srgbClr val="000000"/>
                </a:solidFill>
                <a:latin typeface="Malgun Gothic"/>
                <a:ea typeface="Malgun Gothic"/>
                <a:cs typeface="Malgun Gothic"/>
              </a:rPr>
              <a:t>ΔTHDᵢ = THD초기,ᵢ − THD선정,ᵢ</a:t>
            </a:r>
          </a:p>
          <a:p>
            <a:pPr algn="l">
              <a:lnSpc>
                <a:spcPct val="108000"/>
              </a:lnSpc>
              <a:spcBef>
                <a:spcPts val="0"/>
              </a:spcBef>
              <a:spcAft>
                <a:spcPts val="200"/>
              </a:spcAft>
            </a:pPr>
            <a:r>
              <a:rPr sz="1700" b="1">
                <a:solidFill>
                  <a:srgbClr val="000000"/>
                </a:solidFill>
                <a:latin typeface="Malgun Gothic"/>
                <a:ea typeface="Malgun Gothic"/>
                <a:cs typeface="Malgun Gothic"/>
              </a:rPr>
              <a:t>평균 감소량 = ΣΔTHDᵢ / N</a:t>
            </a:r>
          </a:p>
          <a:p>
            <a:pPr algn="l">
              <a:lnSpc>
                <a:spcPct val="108000"/>
              </a:lnSpc>
              <a:spcBef>
                <a:spcPts val="0"/>
              </a:spcBef>
              <a:spcAft>
                <a:spcPts val="200"/>
              </a:spcAft>
            </a:pPr>
            <a:r>
              <a:rPr sz="1700" b="1">
                <a:solidFill>
                  <a:srgbClr val="000000"/>
                </a:solidFill>
                <a:latin typeface="Malgun Gothic"/>
                <a:ea typeface="Malgun Gothic"/>
                <a:cs typeface="Malgun Gothic"/>
              </a:rPr>
              <a:t>THD 만족률 = 만족 조건 수 / 대상 조건 수 × 100</a:t>
            </a:r>
          </a:p>
        </p:txBody>
      </p:sp>
      <p:graphicFrame>
        <p:nvGraphicFramePr>
          <p:cNvPr id="18" name="Table 17"/>
          <p:cNvGraphicFramePr>
            <a:graphicFrameLocks noGrp="1"/>
          </p:cNvGraphicFramePr>
          <p:nvPr/>
        </p:nvGraphicFramePr>
        <p:xfrm>
          <a:off x="502920" y="3456432"/>
          <a:ext cx="8869678" cy="2331720"/>
        </p:xfrm>
        <a:graphic>
          <a:graphicData uri="http://schemas.openxmlformats.org/drawingml/2006/table">
            <a:tbl>
              <a:tblPr firstRow="1" bandRow="1">
                <a:tableStyleId>{5C22544A-7EE6-4342-B048-85BDC9FD1C3A}</a:tableStyleId>
              </a:tblPr>
              <a:tblGrid>
                <a:gridCol w="2443687"/>
                <a:gridCol w="2986728"/>
                <a:gridCol w="3439263"/>
              </a:tblGrid>
              <a:tr h="46634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질문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이번에 적용한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적용하지 않은 주장</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같은 조건에서 개선됐는가?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동일 Case의 전후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제조 모집단에 대한 t 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어느 범위에 미달이 남는가?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 크기·집합별 층별표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조건의 가중치를 임의로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새 부작용이 생겼는가?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항목별 판정 전이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종합 만족률만으로 부작용이 없다고 판단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신뢰구간은?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확률 모형이 없어 산출하지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조건 수만으로 제품 신뢰도 환산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results/*_paired.csv; NIST §7.3.1.1</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44/51</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A05 / DOE 전체 후보 1~14</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최종 선정 외의 후보도 모두 보존함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일부 후보만 제시하지 않고, 27개 조합의 최대·평균 THD와 종합 만족 수를 모두 기록함.</a:t>
            </a:r>
          </a:p>
        </p:txBody>
      </p:sp>
      <p:graphicFrame>
        <p:nvGraphicFramePr>
          <p:cNvPr id="17" name="Table 16"/>
          <p:cNvGraphicFramePr>
            <a:graphicFrameLocks noGrp="1"/>
          </p:cNvGraphicFramePr>
          <p:nvPr/>
        </p:nvGraphicFramePr>
        <p:xfrm>
          <a:off x="502920" y="2011680"/>
          <a:ext cx="8869673" cy="3995925"/>
        </p:xfrm>
        <a:graphic>
          <a:graphicData uri="http://schemas.openxmlformats.org/drawingml/2006/table">
            <a:tbl>
              <a:tblPr firstRow="1" bandRow="1">
                <a:tableStyleId>{5C22544A-7EE6-4342-B048-85BDC9FD1C3A}</a:tableStyleId>
              </a:tblPr>
              <a:tblGrid>
                <a:gridCol w="1097279"/>
                <a:gridCol w="914399"/>
                <a:gridCol w="914399"/>
                <a:gridCol w="1645919"/>
                <a:gridCol w="1371599"/>
                <a:gridCol w="1463039"/>
                <a:gridCol w="1463039"/>
              </a:tblGrid>
              <a:tr h="266395">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Kr</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fc</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2.337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4.379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4.386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2.162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2.355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4.383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2.168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5.118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1.987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3.489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5.134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6395">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4.065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2.011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results/candidates.csv; results/doe.csv</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45/51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A05 / DOE 전체 후보 15~27</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최종 선정 외의 후보도 모두 보존함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일부 후보만 제시하지 않고, 27개 조합의 최대·평균 THD와 종합 만족 수를 모두 기록함.</a:t>
            </a:r>
          </a:p>
        </p:txBody>
      </p:sp>
      <p:graphicFrame>
        <p:nvGraphicFramePr>
          <p:cNvPr id="17" name="Table 16"/>
          <p:cNvGraphicFramePr>
            <a:graphicFrameLocks noGrp="1"/>
          </p:cNvGraphicFramePr>
          <p:nvPr/>
        </p:nvGraphicFramePr>
        <p:xfrm>
          <a:off x="502920" y="2011680"/>
          <a:ext cx="8869673" cy="3995922"/>
        </p:xfrm>
        <a:graphic>
          <a:graphicData uri="http://schemas.openxmlformats.org/drawingml/2006/table">
            <a:tbl>
              <a:tblPr firstRow="1" bandRow="1">
                <a:tableStyleId>{5C22544A-7EE6-4342-B048-85BDC9FD1C3A}</a:tableStyleId>
              </a:tblPr>
              <a:tblGrid>
                <a:gridCol w="1097279"/>
                <a:gridCol w="914399"/>
                <a:gridCol w="914399"/>
                <a:gridCol w="1645919"/>
                <a:gridCol w="1371599"/>
                <a:gridCol w="1463039"/>
                <a:gridCol w="1463039"/>
              </a:tblGrid>
              <a:tr h="285423">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Kr</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fc</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5.070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2.008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5.001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2.479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3.807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3.167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5.008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3.856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1.896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3.241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4.850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3.761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5423">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3.209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results/candidates.csv; results/doe.csv</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46/51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A06 / 기준 운전조건 ID 1~24</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모든 입력은 Peak A이며 230 Vac에서 동일하게 적용함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선정용 9개 조건의 ID를 표시하여, 선정 대상과 검증 대상의 관계를 확인할 수 있도록 함.</a:t>
            </a:r>
          </a:p>
        </p:txBody>
      </p:sp>
      <p:graphicFrame>
        <p:nvGraphicFramePr>
          <p:cNvPr id="17" name="Table 16"/>
          <p:cNvGraphicFramePr>
            <a:graphicFrameLocks noGrp="1"/>
          </p:cNvGraphicFramePr>
          <p:nvPr/>
        </p:nvGraphicFramePr>
        <p:xfrm>
          <a:off x="502920" y="2011680"/>
          <a:ext cx="8869680" cy="3749031"/>
        </p:xfrm>
        <a:graphic>
          <a:graphicData uri="http://schemas.openxmlformats.org/drawingml/2006/table">
            <a:tbl>
              <a:tblPr firstRow="1" bandRow="1">
                <a:tableStyleId>{5C22544A-7EE6-4342-B048-85BDC9FD1C3A}</a:tableStyleId>
              </a:tblPr>
              <a:tblGrid>
                <a:gridCol w="1108710"/>
                <a:gridCol w="1108710"/>
                <a:gridCol w="1108710"/>
                <a:gridCol w="1108710"/>
                <a:gridCol w="1108710"/>
                <a:gridCol w="1108710"/>
                <a:gridCol w="1108710"/>
                <a:gridCol w="1108710"/>
              </a:tblGrid>
              <a:tr h="288387">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역할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역할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989320"/>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20" b="0">
                <a:solidFill>
                  <a:srgbClr val="000000"/>
                </a:solidFill>
                <a:latin typeface="Malgun Gothic"/>
                <a:ea typeface="Malgun Gothic"/>
                <a:cs typeface="Malgun Gothic"/>
              </a:rPr>
              <a:t>단위 Apeak / 동일 d·q조합을 초기·선정 제어로 각각 계산함.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47/51</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A06 / 기준 운전조건 ID 25~47</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모든 입력은 Peak A이며 230 Vac에서 동일하게 적용함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선정용 9개 조건의 ID를 표시하여, 선정 대상과 검증 대상의 관계를 확인할 수 있도록 함.</a:t>
            </a:r>
          </a:p>
        </p:txBody>
      </p:sp>
      <p:graphicFrame>
        <p:nvGraphicFramePr>
          <p:cNvPr id="17" name="Table 16"/>
          <p:cNvGraphicFramePr>
            <a:graphicFrameLocks noGrp="1"/>
          </p:cNvGraphicFramePr>
          <p:nvPr/>
        </p:nvGraphicFramePr>
        <p:xfrm>
          <a:off x="502920" y="2011680"/>
          <a:ext cx="8869680" cy="3749031"/>
        </p:xfrm>
        <a:graphic>
          <a:graphicData uri="http://schemas.openxmlformats.org/drawingml/2006/table">
            <a:tbl>
              <a:tblPr firstRow="1" bandRow="1">
                <a:tableStyleId>{5C22544A-7EE6-4342-B048-85BDC9FD1C3A}</a:tableStyleId>
              </a:tblPr>
              <a:tblGrid>
                <a:gridCol w="1108710"/>
                <a:gridCol w="1108710"/>
                <a:gridCol w="1108710"/>
                <a:gridCol w="1108710"/>
                <a:gridCol w="1108710"/>
                <a:gridCol w="1108710"/>
                <a:gridCol w="1108710"/>
                <a:gridCol w="1108710"/>
              </a:tblGrid>
              <a:tr h="288387">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역할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50" b="1">
                          <a:solidFill>
                            <a:srgbClr val="000000"/>
                          </a:solidFill>
                          <a:latin typeface="Malgun Gothic"/>
                          <a:ea typeface="Malgun Gothic"/>
                          <a:cs typeface="Malgun Gothic"/>
                        </a:rPr>
                        <a:t>역할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8387">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N047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50"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989320"/>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20" b="0">
                <a:solidFill>
                  <a:srgbClr val="000000"/>
                </a:solidFill>
                <a:latin typeface="Malgun Gothic"/>
                <a:ea typeface="Malgun Gothic"/>
                <a:cs typeface="Malgun Gothic"/>
              </a:rPr>
              <a:t>단위 Apeak / 동일 d·q조합을 초기·선정 제어로 각각 계산함.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48/51</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A07 / 기존 11개 보고서와 비교</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문장·구성과 증거 연결을 참고하되 데이터의 성격은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기존 사례의 통계 출력 형식을 그대로 복제하지 않고, V6의 자료 구조에 맞추어 설명함.</a:t>
            </a:r>
          </a:p>
        </p:txBody>
      </p:sp>
      <p:graphicFrame>
        <p:nvGraphicFramePr>
          <p:cNvPr id="17" name="Table 16"/>
          <p:cNvGraphicFramePr>
            <a:graphicFrameLocks noGrp="1"/>
          </p:cNvGraphicFramePr>
          <p:nvPr/>
        </p:nvGraphicFramePr>
        <p:xfrm>
          <a:off x="502920" y="2011680"/>
          <a:ext cx="8869679" cy="3474716"/>
        </p:xfrm>
        <a:graphic>
          <a:graphicData uri="http://schemas.openxmlformats.org/drawingml/2006/table">
            <a:tbl>
              <a:tblPr firstRow="1" bandRow="1">
                <a:tableStyleId>{5C22544A-7EE6-4342-B048-85BDC9FD1C3A}</a:tableStyleId>
              </a:tblPr>
              <a:tblGrid>
                <a:gridCol w="2286000"/>
                <a:gridCol w="3108960"/>
                <a:gridCol w="3474719"/>
              </a:tblGrid>
              <a:tr h="496388">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사례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반영한 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V6에서 구분한 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LDC Snubber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변경 가능 인자·효율 등 부작용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설계 지표와 다른 제약을 동시에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OBC CLLC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해석 경로·DOE·선정 근거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실측 파라미터가 없음을 명시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DC CAP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최저 온도안을 부작용으로 기각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만족과 전류 미달을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Heatsink / Tub Outer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CAE 설계 제안·후속 실물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모델 보정·실물 검증 근거를 승계하지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GNSS / TIG / HONDA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현 수준·조건·적용 계획</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실험조건과 측정 단위의 일관성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NFC / HMI / 디스플레이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요구 전개·SW 변경·관리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수행하지 않은 통계검정 수치를 사용하지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첨부된 기존 11개 PPTX; docs/V6_Review.md</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49/51</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A08 / 근거 문서와 재현 방법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모델·판정·결과·검토 기록을 함께 제공함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핵심 수치를 V6 원시 파형 또는 사용자 확정 사양으로 추적할 수 있도록 파일명을 연결함.</a:t>
            </a:r>
          </a:p>
        </p:txBody>
      </p:sp>
      <p:graphicFrame>
        <p:nvGraphicFramePr>
          <p:cNvPr id="17" name="Table 16"/>
          <p:cNvGraphicFramePr>
            <a:graphicFrameLocks noGrp="1"/>
          </p:cNvGraphicFramePr>
          <p:nvPr/>
        </p:nvGraphicFramePr>
        <p:xfrm>
          <a:off x="502920" y="2011680"/>
          <a:ext cx="8869679" cy="3520440"/>
        </p:xfrm>
        <a:graphic>
          <a:graphicData uri="http://schemas.openxmlformats.org/drawingml/2006/table">
            <a:tbl>
              <a:tblPr firstRow="1" bandRow="1">
                <a:tableStyleId>{5C22544A-7EE6-4342-B048-85BDC9FD1C3A}</a:tableStyleId>
              </a:tblPr>
              <a:tblGrid>
                <a:gridCol w="3474719"/>
                <a:gridCol w="5394960"/>
              </a:tblGrid>
              <a:tr h="440055">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파일 / 자료</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확인할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specification.json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사용자 확정값 / 계산값 / 추가가정 / 잠정판정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src/model.py · study.py</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Peak dq 입력·1:1 클록·스위칭·후보 선정 경로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results/*.csv · selected_control.json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모든 조건의 반응값·미달조건·고조파·최종 설정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waveforms/*.npz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전류 원시 파형·제어 로그·PWM 명령 출처·metadata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qa/*.json · *.csv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사양 해시·단위검사·원자료 재계산·FFT·재현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sources/references.md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TI ePWM, Imperix dq/SOGI/PR, NIST 실험계획</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0055">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docs/*.md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모델 규약·통계 해설·용어집·V6 검토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92531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90" b="0">
                <a:solidFill>
                  <a:srgbClr val="000000"/>
                </a:solidFill>
                <a:latin typeface="Malgun Gothic"/>
                <a:ea typeface="Malgun Gothic"/>
                <a:cs typeface="Malgun Gothic"/>
              </a:rPr>
              <a:t>재실행: 새 폴더에서 src/test_model.py → src/study.py → src/analyze.py → src/make_report.py</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README.md; sources/references.md; delivery manifests</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50/51</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A09 / 대표 전류 파형과 차수별 변화</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7"/>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8"/>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9"/>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0"/>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1"/>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저전류 조건 N015의 파형과 고조파를 함께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id*=5.656854 Apeak, iq*=0, 230 V / THD 7.810% → 3.167%.</a:t>
            </a:r>
          </a:p>
        </p:txBody>
      </p:sp>
      <p:graphicFrame>
        <p:nvGraphicFramePr>
          <p:cNvPr id="17" name="Chart 16"/>
          <p:cNvGraphicFramePr>
            <a:graphicFrameLocks noGrp="1"/>
          </p:cNvGraphicFramePr>
          <p:nvPr/>
        </p:nvGraphicFramePr>
        <p:xfrm>
          <a:off x="502920" y="2011680"/>
          <a:ext cx="5212080" cy="310896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5943600" y="2148840"/>
          <a:ext cx="3383280" cy="2514600"/>
        </p:xfrm>
        <a:graphic>
          <a:graphicData uri="http://schemas.openxmlformats.org/drawingml/2006/table">
            <a:tbl>
              <a:tblPr firstRow="1" bandRow="1">
                <a:tableStyleId>{5C22544A-7EE6-4342-B048-85BDC9FD1C3A}</a:tableStyleId>
              </a:tblPr>
              <a:tblGrid>
                <a:gridCol w="845820"/>
                <a:gridCol w="1268730"/>
                <a:gridCol w="1268730"/>
              </a:tblGrid>
              <a:tr h="419100">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초기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선정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0.2589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0.0556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0.1381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0.0336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0.0820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0.0227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0.0509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0.0754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9100">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0.0306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0.0511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230368"/>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000000"/>
                </a:solidFill>
                <a:latin typeface="Malgun Gothic"/>
                <a:ea typeface="Malgun Gothic"/>
                <a:cs typeface="Malgun Gothic"/>
              </a:rPr>
              <a:t>가로축: 시간 [ms] / 세로축: 전류 [A]</a:t>
            </a:r>
          </a:p>
          <a:p>
            <a:pPr algn="l">
              <a:lnSpc>
                <a:spcPct val="108000"/>
              </a:lnSpc>
              <a:spcBef>
                <a:spcPts val="0"/>
              </a:spcBef>
              <a:spcAft>
                <a:spcPts val="200"/>
              </a:spcAft>
            </a:pPr>
            <a:r>
              <a:rPr sz="1180" b="0">
                <a:solidFill>
                  <a:srgbClr val="000000"/>
                </a:solidFill>
                <a:latin typeface="Malgun Gothic"/>
                <a:ea typeface="Malgun Gothic"/>
                <a:cs typeface="Malgun Gothic"/>
              </a:rPr>
              <a:t>표시는 301개로 줄였으나 지표는 원시 전체 파형에서 계산함.</a:t>
            </a:r>
          </a:p>
        </p:txBody>
      </p:sp>
      <p:sp>
        <p:nvSpPr>
          <p:cNvPr id="20" name="TextBox 19"/>
          <p:cNvSpPr txBox="1"/>
          <p:nvPr/>
        </p:nvSpPr>
        <p:spPr>
          <a:xfrm>
            <a:off x="502920" y="5852160"/>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40" b="0">
                <a:solidFill>
                  <a:srgbClr val="C00000"/>
                </a:solidFill>
                <a:latin typeface="Malgun Gothic"/>
                <a:ea typeface="Malgun Gothic"/>
                <a:cs typeface="Malgun Gothic"/>
              </a:rPr>
              <a:t>3·5·7차는 감소했으나 9·11차는 증가함. THD 감소가 모든 차수의 개선을 뜻하지 않음.</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waveforms/baseline_N015_initial.npz; improved_N015_selected.npz; results/baseline.csv; improved.csv</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51/51</a:t>
            </a:r>
          </a:p>
        </p:txBody>
      </p:sp>
      <p:sp>
        <p:nvSpPr>
          <p:cNvPr id="24" name="TextBox 23">
            <a:hlinkClick action="ppaction://hlinksldjump" r:id="rId4"/>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5" name="TextBox 24">
            <a:hlinkClick action="ppaction://hlinksldjump" r:id="rId5"/>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6" name="TextBox 25">
            <a:hlinkClick action="ppaction://hlinksldjump" r:id="rId6"/>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11.52 kVA급 북미 V2G / 230 Vac 48 Arms / V6</dc:title>
  <dc:subject>Six Sigma BB / Report V6, verified terminology and fresh V6 switching data</dc:subject>
  <dc:creator>Baek Seungwoo</dc:creator>
  <cp:keywords>DMAIC,THD,V2G,numerical simulation</cp:keywords>
  <dc:description>Source-grounded presentation. Not hardware validation or BB approval.</dc:description>
  <cp:lastModifiedBy>Steve Canny</cp:lastModifiedBy>
  <cp:revision>1</cp:revision>
  <dcterms:created xsi:type="dcterms:W3CDTF">2013-01-27T09:14:16Z</dcterms:created>
  <dcterms:modified xsi:type="dcterms:W3CDTF">2013-01-27T09:15:58Z</dcterms:modified>
  <cp:category/>
</cp:coreProperties>
</file>