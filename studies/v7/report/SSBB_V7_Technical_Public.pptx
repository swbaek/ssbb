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9905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초기 THD [%]</c:v>
                </c:pt>
              </c:strCache>
            </c:strRef>
          </c:tx>
          <c:spPr>
            <a:solidFill>
              <a:srgbClr val="757575"/>
            </a:solidFill>
            <a:ln w="22860">
              <a:noFill/>
            </a:ln>
          </c:spPr>
          <c:marker>
            <c:symbol val="circle"/>
            <c:size val="4"/>
            <c:spPr>
              <a:solidFill>
                <a:srgbClr val="757575"/>
              </a:solidFill>
              <a:ln>
                <a:solidFill>
                  <a:srgbClr val="757575"/>
                </a:solidFill>
              </a:ln>
            </c:spPr>
          </c:marker>
          <c:cat>
            <c:strRef>
              <c:f>Sheet1!$A$2:$A$48</c:f>
              <c:strCache>
                <c:ptCount val="47"/>
                <c:pt idx="0">
                  <c:v>N001</c:v>
                </c:pt>
                <c:pt idx="1">
                  <c:v/>
                </c:pt>
                <c:pt idx="2">
                  <c:v/>
                </c:pt>
                <c:pt idx="3">
                  <c:v/>
                </c:pt>
                <c:pt idx="4">
                  <c:v/>
                </c:pt>
                <c:pt idx="5">
                  <c:v/>
                </c:pt>
                <c:pt idx="6">
                  <c:v>N007</c:v>
                </c:pt>
                <c:pt idx="7">
                  <c:v/>
                </c:pt>
                <c:pt idx="8">
                  <c:v/>
                </c:pt>
                <c:pt idx="9">
                  <c:v/>
                </c:pt>
                <c:pt idx="10">
                  <c:v/>
                </c:pt>
                <c:pt idx="11">
                  <c:v/>
                </c:pt>
                <c:pt idx="12">
                  <c:v>N013</c:v>
                </c:pt>
                <c:pt idx="13">
                  <c:v/>
                </c:pt>
                <c:pt idx="14">
                  <c:v/>
                </c:pt>
                <c:pt idx="15">
                  <c:v/>
                </c:pt>
                <c:pt idx="16">
                  <c:v/>
                </c:pt>
                <c:pt idx="17">
                  <c:v/>
                </c:pt>
                <c:pt idx="18">
                  <c:v>N019</c:v>
                </c:pt>
                <c:pt idx="19">
                  <c:v/>
                </c:pt>
                <c:pt idx="20">
                  <c:v/>
                </c:pt>
                <c:pt idx="21">
                  <c:v/>
                </c:pt>
                <c:pt idx="22">
                  <c:v/>
                </c:pt>
                <c:pt idx="23">
                  <c:v/>
                </c:pt>
                <c:pt idx="24">
                  <c:v>N025</c:v>
                </c:pt>
                <c:pt idx="25">
                  <c:v/>
                </c:pt>
                <c:pt idx="26">
                  <c:v/>
                </c:pt>
                <c:pt idx="27">
                  <c:v/>
                </c:pt>
                <c:pt idx="28">
                  <c:v/>
                </c:pt>
                <c:pt idx="29">
                  <c:v/>
                </c:pt>
                <c:pt idx="30">
                  <c:v>N031</c:v>
                </c:pt>
                <c:pt idx="31">
                  <c:v/>
                </c:pt>
                <c:pt idx="32">
                  <c:v/>
                </c:pt>
                <c:pt idx="33">
                  <c:v/>
                </c:pt>
                <c:pt idx="34">
                  <c:v/>
                </c:pt>
                <c:pt idx="35">
                  <c:v/>
                </c:pt>
                <c:pt idx="36">
                  <c:v>N037</c:v>
                </c:pt>
                <c:pt idx="37">
                  <c:v/>
                </c:pt>
                <c:pt idx="38">
                  <c:v/>
                </c:pt>
                <c:pt idx="39">
                  <c:v/>
                </c:pt>
                <c:pt idx="40">
                  <c:v/>
                </c:pt>
                <c:pt idx="41">
                  <c:v/>
                </c:pt>
                <c:pt idx="42">
                  <c:v>N043</c:v>
                </c:pt>
                <c:pt idx="43">
                  <c:v/>
                </c:pt>
                <c:pt idx="44">
                  <c:v/>
                </c:pt>
                <c:pt idx="45">
                  <c:v/>
                </c:pt>
                <c:pt idx="46">
                  <c:v>N047</c:v>
                </c:pt>
              </c:strCache>
            </c:strRef>
          </c:cat>
          <c:val>
            <c:numRef>
              <c:f>Sheet1!$B$2:$B$48</c:f>
              <c:numCache>
                <c:formatCode>General</c:formatCode>
                <c:ptCount val="47"/>
                <c:pt idx="0">
                  <c:v>0.766021576659</c:v>
                </c:pt>
                <c:pt idx="1">
                  <c:v>1.14806328765</c:v>
                </c:pt>
                <c:pt idx="2">
                  <c:v>2.27326857253</c:v>
                </c:pt>
                <c:pt idx="3">
                  <c:v>4.3162256222</c:v>
                </c:pt>
                <c:pt idx="4">
                  <c:v>7.6537027007</c:v>
                </c:pt>
                <c:pt idx="5">
                  <c:v>7.61368112492</c:v>
                </c:pt>
                <c:pt idx="6">
                  <c:v>4.30177928041</c:v>
                </c:pt>
                <c:pt idx="7">
                  <c:v>2.26604154457</c:v>
                </c:pt>
                <c:pt idx="8">
                  <c:v>1.14768563007</c:v>
                </c:pt>
                <c:pt idx="9">
                  <c:v>0.766322159977</c:v>
                </c:pt>
                <c:pt idx="10">
                  <c:v>1.13828985579</c:v>
                </c:pt>
                <c:pt idx="11">
                  <c:v>2.20394594401</c:v>
                </c:pt>
                <c:pt idx="12">
                  <c:v>3.83961300417</c:v>
                </c:pt>
                <c:pt idx="13">
                  <c:v>5.4446958037</c:v>
                </c:pt>
                <c:pt idx="14">
                  <c:v>7.78748558996</c:v>
                </c:pt>
                <c:pt idx="15">
                  <c:v>5.45909456287</c:v>
                </c:pt>
                <c:pt idx="16">
                  <c:v>3.85601816011</c:v>
                </c:pt>
                <c:pt idx="17">
                  <c:v>2.20713760689</c:v>
                </c:pt>
                <c:pt idx="18">
                  <c:v>1.14118933871</c:v>
                </c:pt>
                <c:pt idx="19">
                  <c:v>1.11324358702</c:v>
                </c:pt>
                <c:pt idx="20">
                  <c:v>2.03359183493</c:v>
                </c:pt>
                <c:pt idx="21">
                  <c:v>3.05423087481</c:v>
                </c:pt>
                <c:pt idx="22">
                  <c:v>3.72030318578</c:v>
                </c:pt>
                <c:pt idx="23">
                  <c:v>4.39028287599</c:v>
                </c:pt>
                <c:pt idx="24">
                  <c:v>3.70436720871</c:v>
                </c:pt>
                <c:pt idx="25">
                  <c:v>3.0586756769</c:v>
                </c:pt>
                <c:pt idx="26">
                  <c:v>2.03485192975</c:v>
                </c:pt>
                <c:pt idx="27">
                  <c:v>1.11968928182</c:v>
                </c:pt>
                <c:pt idx="28">
                  <c:v>1.02734601508</c:v>
                </c:pt>
                <c:pt idx="29">
                  <c:v>1.60556129456</c:v>
                </c:pt>
                <c:pt idx="30">
                  <c:v>1.98655681676</c:v>
                </c:pt>
                <c:pt idx="31">
                  <c:v>2.15408592226</c:v>
                </c:pt>
                <c:pt idx="32">
                  <c:v>2.24749162913</c:v>
                </c:pt>
                <c:pt idx="33">
                  <c:v>2.13733667396</c:v>
                </c:pt>
                <c:pt idx="34">
                  <c:v>1.98471510706</c:v>
                </c:pt>
                <c:pt idx="35">
                  <c:v>1.60629881723</c:v>
                </c:pt>
                <c:pt idx="36">
                  <c:v>1.03245305867</c:v>
                </c:pt>
                <c:pt idx="37">
                  <c:v>0.813963717373</c:v>
                </c:pt>
                <c:pt idx="38">
                  <c:v>1.01798597511</c:v>
                </c:pt>
                <c:pt idx="39">
                  <c:v>1.09432825837</c:v>
                </c:pt>
                <c:pt idx="40">
                  <c:v>1.11445255089</c:v>
                </c:pt>
                <c:pt idx="41">
                  <c:v>1.12450894393</c:v>
                </c:pt>
                <c:pt idx="42">
                  <c:v>1.10918642501</c:v>
                </c:pt>
                <c:pt idx="43">
                  <c:v>1.08434505818</c:v>
                </c:pt>
                <c:pt idx="44">
                  <c:v>1.01058986889</c:v>
                </c:pt>
                <c:pt idx="45">
                  <c:v>0.814828671449</c:v>
                </c:pt>
                <c:pt idx="46">
                  <c:v>0.748660497548</c:v>
                </c:pt>
              </c:numCache>
            </c:numRef>
          </c:val>
          <c:smooth val="0"/>
        </c:ser>
        <c:ser>
          <c:idx val="1"/>
          <c:order val="1"/>
          <c:tx>
            <c:strRef>
              <c:f>Sheet1!$C$1</c:f>
              <c:strCache>
                <c:ptCount val="1"/>
                <c:pt idx="0">
                  <c:v>설계 한계5%</c:v>
                </c:pt>
              </c:strCache>
            </c:strRef>
          </c:tx>
          <c:spPr>
            <a:solidFill>
              <a:srgbClr val="C00000"/>
            </a:solidFill>
            <a:ln w="22860">
              <a:noFill/>
            </a:ln>
          </c:spPr>
          <c:marker>
            <c:symbol val="circle"/>
            <c:size val="4"/>
            <c:spPr>
              <a:solidFill>
                <a:srgbClr val="C00000"/>
              </a:solidFill>
              <a:ln>
                <a:solidFill>
                  <a:srgbClr val="C00000"/>
                </a:solidFill>
              </a:ln>
            </c:spPr>
          </c:marker>
          <c:cat>
            <c:strRef>
              <c:f>Sheet1!$A$2:$A$48</c:f>
              <c:strCache>
                <c:ptCount val="47"/>
                <c:pt idx="0">
                  <c:v>N001</c:v>
                </c:pt>
                <c:pt idx="1">
                  <c:v/>
                </c:pt>
                <c:pt idx="2">
                  <c:v/>
                </c:pt>
                <c:pt idx="3">
                  <c:v/>
                </c:pt>
                <c:pt idx="4">
                  <c:v/>
                </c:pt>
                <c:pt idx="5">
                  <c:v/>
                </c:pt>
                <c:pt idx="6">
                  <c:v>N007</c:v>
                </c:pt>
                <c:pt idx="7">
                  <c:v/>
                </c:pt>
                <c:pt idx="8">
                  <c:v/>
                </c:pt>
                <c:pt idx="9">
                  <c:v/>
                </c:pt>
                <c:pt idx="10">
                  <c:v/>
                </c:pt>
                <c:pt idx="11">
                  <c:v/>
                </c:pt>
                <c:pt idx="12">
                  <c:v>N013</c:v>
                </c:pt>
                <c:pt idx="13">
                  <c:v/>
                </c:pt>
                <c:pt idx="14">
                  <c:v/>
                </c:pt>
                <c:pt idx="15">
                  <c:v/>
                </c:pt>
                <c:pt idx="16">
                  <c:v/>
                </c:pt>
                <c:pt idx="17">
                  <c:v/>
                </c:pt>
                <c:pt idx="18">
                  <c:v>N019</c:v>
                </c:pt>
                <c:pt idx="19">
                  <c:v/>
                </c:pt>
                <c:pt idx="20">
                  <c:v/>
                </c:pt>
                <c:pt idx="21">
                  <c:v/>
                </c:pt>
                <c:pt idx="22">
                  <c:v/>
                </c:pt>
                <c:pt idx="23">
                  <c:v/>
                </c:pt>
                <c:pt idx="24">
                  <c:v>N025</c:v>
                </c:pt>
                <c:pt idx="25">
                  <c:v/>
                </c:pt>
                <c:pt idx="26">
                  <c:v/>
                </c:pt>
                <c:pt idx="27">
                  <c:v/>
                </c:pt>
                <c:pt idx="28">
                  <c:v/>
                </c:pt>
                <c:pt idx="29">
                  <c:v/>
                </c:pt>
                <c:pt idx="30">
                  <c:v>N031</c:v>
                </c:pt>
                <c:pt idx="31">
                  <c:v/>
                </c:pt>
                <c:pt idx="32">
                  <c:v/>
                </c:pt>
                <c:pt idx="33">
                  <c:v/>
                </c:pt>
                <c:pt idx="34">
                  <c:v/>
                </c:pt>
                <c:pt idx="35">
                  <c:v/>
                </c:pt>
                <c:pt idx="36">
                  <c:v>N037</c:v>
                </c:pt>
                <c:pt idx="37">
                  <c:v/>
                </c:pt>
                <c:pt idx="38">
                  <c:v/>
                </c:pt>
                <c:pt idx="39">
                  <c:v/>
                </c:pt>
                <c:pt idx="40">
                  <c:v/>
                </c:pt>
                <c:pt idx="41">
                  <c:v/>
                </c:pt>
                <c:pt idx="42">
                  <c:v>N043</c:v>
                </c:pt>
                <c:pt idx="43">
                  <c:v/>
                </c:pt>
                <c:pt idx="44">
                  <c:v/>
                </c:pt>
                <c:pt idx="45">
                  <c:v/>
                </c:pt>
                <c:pt idx="46">
                  <c:v>N047</c:v>
                </c:pt>
              </c:strCache>
            </c:strRef>
          </c:cat>
          <c:val>
            <c:numRef>
              <c:f>Sheet1!$C$2:$C$48</c:f>
              <c:numCache>
                <c:formatCode>General</c:formatCode>
                <c:ptCount val="47"/>
                <c:pt idx="0">
                  <c:v>5.0</c:v>
                </c:pt>
                <c:pt idx="1">
                  <c:v>5.0</c:v>
                </c:pt>
                <c:pt idx="2">
                  <c:v>5.0</c:v>
                </c:pt>
                <c:pt idx="3">
                  <c:v>5.0</c:v>
                </c:pt>
                <c:pt idx="4">
                  <c:v>5.0</c:v>
                </c:pt>
                <c:pt idx="5">
                  <c:v>5.0</c:v>
                </c:pt>
                <c:pt idx="6">
                  <c:v>5.0</c:v>
                </c:pt>
                <c:pt idx="7">
                  <c:v>5.0</c:v>
                </c:pt>
                <c:pt idx="8">
                  <c:v>5.0</c:v>
                </c:pt>
                <c:pt idx="9">
                  <c:v>5.0</c:v>
                </c:pt>
                <c:pt idx="10">
                  <c:v>5.0</c:v>
                </c:pt>
                <c:pt idx="11">
                  <c:v>5.0</c:v>
                </c:pt>
                <c:pt idx="12">
                  <c:v>5.0</c:v>
                </c:pt>
                <c:pt idx="13">
                  <c:v>5.0</c:v>
                </c:pt>
                <c:pt idx="14">
                  <c:v>5.0</c:v>
                </c:pt>
                <c:pt idx="15">
                  <c:v>5.0</c:v>
                </c:pt>
                <c:pt idx="16">
                  <c:v>5.0</c:v>
                </c:pt>
                <c:pt idx="17">
                  <c:v>5.0</c:v>
                </c:pt>
                <c:pt idx="18">
                  <c:v>5.0</c:v>
                </c:pt>
                <c:pt idx="19">
                  <c:v>5.0</c:v>
                </c:pt>
                <c:pt idx="20">
                  <c:v>5.0</c:v>
                </c:pt>
                <c:pt idx="21">
                  <c:v>5.0</c:v>
                </c:pt>
                <c:pt idx="22">
                  <c:v>5.0</c:v>
                </c:pt>
                <c:pt idx="23">
                  <c:v>5.0</c:v>
                </c:pt>
                <c:pt idx="24">
                  <c:v>5.0</c:v>
                </c:pt>
                <c:pt idx="25">
                  <c:v>5.0</c:v>
                </c:pt>
                <c:pt idx="26">
                  <c:v>5.0</c:v>
                </c:pt>
                <c:pt idx="27">
                  <c:v>5.0</c:v>
                </c:pt>
                <c:pt idx="28">
                  <c:v>5.0</c:v>
                </c:pt>
                <c:pt idx="29">
                  <c:v>5.0</c:v>
                </c:pt>
                <c:pt idx="30">
                  <c:v>5.0</c:v>
                </c:pt>
                <c:pt idx="31">
                  <c:v>5.0</c:v>
                </c:pt>
                <c:pt idx="32">
                  <c:v>5.0</c:v>
                </c:pt>
                <c:pt idx="33">
                  <c:v>5.0</c:v>
                </c:pt>
                <c:pt idx="34">
                  <c:v>5.0</c:v>
                </c:pt>
                <c:pt idx="35">
                  <c:v>5.0</c:v>
                </c:pt>
                <c:pt idx="36">
                  <c:v>5.0</c:v>
                </c:pt>
                <c:pt idx="37">
                  <c:v>5.0</c:v>
                </c:pt>
                <c:pt idx="38">
                  <c:v>5.0</c:v>
                </c:pt>
                <c:pt idx="39">
                  <c:v>5.0</c:v>
                </c:pt>
                <c:pt idx="40">
                  <c:v>5.0</c:v>
                </c:pt>
                <c:pt idx="41">
                  <c:v>5.0</c:v>
                </c:pt>
                <c:pt idx="42">
                  <c:v>5.0</c:v>
                </c:pt>
                <c:pt idx="43">
                  <c:v>5.0</c:v>
                </c:pt>
                <c:pt idx="44">
                  <c:v>5.0</c:v>
                </c:pt>
                <c:pt idx="45">
                  <c:v>5.0</c:v>
                </c:pt>
                <c:pt idx="46">
                  <c:v>5.0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tickLblSkip val="1"/>
        <c:tickMarkSkip val="1"/>
        <c:noMultiLvlLbl val="0"/>
      </c:catAx>
      <c:valAx>
        <c:axId val="2140495176"/>
        <c:scaling>
          <c:max val="9.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Kr 평균 THD</c:v>
                </c:pt>
              </c:strCache>
            </c:strRef>
          </c:tx>
          <c:spPr>
            <a:solidFill>
              <a:srgbClr val="0056A6"/>
            </a:solidFill>
            <a:ln w="22860">
              <a:solidFill>
                <a:srgbClr val="0056A6"/>
              </a:solidFill>
            </a:ln>
          </c:spPr>
          <c:marker>
            <c:symbol val="circle"/>
            <c:size val="4"/>
            <c:spPr>
              <a:solidFill>
                <a:srgbClr val="0056A6"/>
              </a:solidFill>
              <a:ln>
                <a:solidFill>
                  <a:srgbClr val="0056A6"/>
                </a:solidFill>
              </a:ln>
            </c:spPr>
          </c:marker>
          <c:cat>
            <c:strRef>
              <c:f>Sheet1!$A$2:$A$4</c:f>
              <c:strCache>
                <c:ptCount val="3"/>
                <c:pt idx="0">
                  <c:v>6 Ω</c:v>
                </c:pt>
                <c:pt idx="1">
                  <c:v>12 Ω</c:v>
                </c:pt>
                <c:pt idx="2">
                  <c:v>18 Ω</c:v>
                </c:pt>
              </c:strCache>
            </c:strRef>
          </c:cat>
          <c:val>
            <c:numRef>
              <c:f>Sheet1!$B$2:$B$4</c:f>
              <c:numCache>
                <c:formatCode>General</c:formatCode>
                <c:ptCount val="3"/>
                <c:pt idx="0">
                  <c:v>2.42322577791</c:v>
                </c:pt>
                <c:pt idx="1">
                  <c:v>2.0921103517</c:v>
                </c:pt>
                <c:pt idx="2">
                  <c:v>1.96548318505</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3.2"/>
          <c:min val="1.3"/>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fc 평균 THD</c:v>
                </c:pt>
              </c:strCache>
            </c:strRef>
          </c:tx>
          <c:spPr>
            <a:solidFill>
              <a:srgbClr val="757575"/>
            </a:solidFill>
            <a:ln w="22860">
              <a:solidFill>
                <a:srgbClr val="757575"/>
              </a:solidFill>
            </a:ln>
          </c:spPr>
          <c:marker>
            <c:symbol val="circle"/>
            <c:size val="4"/>
            <c:spPr>
              <a:solidFill>
                <a:srgbClr val="757575"/>
              </a:solidFill>
              <a:ln>
                <a:solidFill>
                  <a:srgbClr val="757575"/>
                </a:solidFill>
              </a:ln>
            </c:spPr>
          </c:marker>
          <c:cat>
            <c:strRef>
              <c:f>Sheet1!$A$2:$A$4</c:f>
              <c:strCache>
                <c:ptCount val="3"/>
                <c:pt idx="0">
                  <c:v>4 Hz</c:v>
                </c:pt>
                <c:pt idx="1">
                  <c:v>8 Hz</c:v>
                </c:pt>
                <c:pt idx="2">
                  <c:v>16 Hz</c:v>
                </c:pt>
              </c:strCache>
            </c:strRef>
          </c:cat>
          <c:val>
            <c:numRef>
              <c:f>Sheet1!$B$2:$B$4</c:f>
              <c:numCache>
                <c:formatCode>General</c:formatCode>
                <c:ptCount val="3"/>
                <c:pt idx="0">
                  <c:v>2.15204749791</c:v>
                </c:pt>
                <c:pt idx="1">
                  <c:v>2.17182095559</c:v>
                </c:pt>
                <c:pt idx="2">
                  <c:v>2.15695086117</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3.2"/>
          <c:min val="1.3"/>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차수 평균 THD</c:v>
                </c:pt>
              </c:strCache>
            </c:strRef>
          </c:tx>
          <c:spPr>
            <a:solidFill>
              <a:srgbClr val="008000"/>
            </a:solidFill>
            <a:ln w="22860">
              <a:solidFill>
                <a:srgbClr val="008000"/>
              </a:solidFill>
            </a:ln>
          </c:spPr>
          <c:marker>
            <c:symbol val="circle"/>
            <c:size val="4"/>
            <c:spPr>
              <a:solidFill>
                <a:srgbClr val="008000"/>
              </a:solidFill>
              <a:ln>
                <a:solidFill>
                  <a:srgbClr val="008000"/>
                </a:solidFill>
              </a:ln>
            </c:spPr>
          </c:marker>
          <c:cat>
            <c:strRef>
              <c:f>Sheet1!$A$2:$A$4</c:f>
              <c:strCache>
                <c:ptCount val="3"/>
                <c:pt idx="0">
                  <c:v>3</c:v>
                </c:pt>
                <c:pt idx="1">
                  <c:v>3·5</c:v>
                </c:pt>
                <c:pt idx="2">
                  <c:v>3·5·7</c:v>
                </c:pt>
              </c:strCache>
            </c:strRef>
          </c:cat>
          <c:val>
            <c:numRef>
              <c:f>Sheet1!$B$2:$B$4</c:f>
              <c:numCache>
                <c:formatCode>General</c:formatCode>
                <c:ptCount val="3"/>
                <c:pt idx="0">
                  <c:v>2.58963225997</c:v>
                </c:pt>
                <c:pt idx="1">
                  <c:v>2.07422319331</c:v>
                </c:pt>
                <c:pt idx="2">
                  <c:v>1.81696386138</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3.2"/>
          <c:min val="1.3"/>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3차</c:v>
                </c:pt>
              </c:strCache>
            </c:strRef>
          </c:tx>
          <c:spPr>
            <a:solidFill>
              <a:srgbClr val="757575"/>
            </a:solidFill>
            <a:ln w="22860">
              <a:solidFill>
                <a:srgbClr val="757575"/>
              </a:solidFill>
            </a:ln>
          </c:spPr>
          <c:marker>
            <c:symbol val="circle"/>
            <c:size val="4"/>
            <c:spPr>
              <a:solidFill>
                <a:srgbClr val="757575"/>
              </a:solidFill>
              <a:ln>
                <a:solidFill>
                  <a:srgbClr val="757575"/>
                </a:solidFill>
              </a:ln>
            </c:spPr>
          </c:marker>
          <c:cat>
            <c:strRef>
              <c:f>Sheet1!$A$2:$A$4</c:f>
              <c:strCache>
                <c:ptCount val="3"/>
                <c:pt idx="0">
                  <c:v>6</c:v>
                </c:pt>
                <c:pt idx="1">
                  <c:v>12</c:v>
                </c:pt>
                <c:pt idx="2">
                  <c:v>18</c:v>
                </c:pt>
              </c:strCache>
            </c:strRef>
          </c:cat>
          <c:val>
            <c:numRef>
              <c:f>Sheet1!$B$2:$B$4</c:f>
              <c:numCache>
                <c:formatCode>General</c:formatCode>
                <c:ptCount val="3"/>
                <c:pt idx="0">
                  <c:v>2.761484328454815</c:v>
                </c:pt>
                <c:pt idx="1">
                  <c:v>2.545606155264815</c:v>
                </c:pt>
                <c:pt idx="2">
                  <c:v>2.461806296201852</c:v>
                </c:pt>
              </c:numCache>
            </c:numRef>
          </c:val>
          <c:smooth val="0"/>
        </c:ser>
        <c:ser>
          <c:idx val="1"/>
          <c:order val="1"/>
          <c:tx>
            <c:strRef>
              <c:f>Sheet1!$C$1</c:f>
              <c:strCache>
                <c:ptCount val="1"/>
                <c:pt idx="0">
                  <c:v>3·5차</c:v>
                </c:pt>
              </c:strCache>
            </c:strRef>
          </c:tx>
          <c:spPr>
            <a:solidFill>
              <a:srgbClr val="0056A6"/>
            </a:solidFill>
            <a:ln w="22860">
              <a:solidFill>
                <a:srgbClr val="0056A6"/>
              </a:solidFill>
            </a:ln>
          </c:spPr>
          <c:marker>
            <c:symbol val="circle"/>
            <c:size val="4"/>
            <c:spPr>
              <a:solidFill>
                <a:srgbClr val="0056A6"/>
              </a:solidFill>
              <a:ln>
                <a:solidFill>
                  <a:srgbClr val="0056A6"/>
                </a:solidFill>
              </a:ln>
            </c:spPr>
          </c:marker>
          <c:cat>
            <c:strRef>
              <c:f>Sheet1!$A$2:$A$4</c:f>
              <c:strCache>
                <c:ptCount val="3"/>
                <c:pt idx="0">
                  <c:v>6</c:v>
                </c:pt>
                <c:pt idx="1">
                  <c:v>12</c:v>
                </c:pt>
                <c:pt idx="2">
                  <c:v>18</c:v>
                </c:pt>
              </c:strCache>
            </c:strRef>
          </c:cat>
          <c:val>
            <c:numRef>
              <c:f>Sheet1!$C$2:$C$4</c:f>
              <c:numCache>
                <c:formatCode>General</c:formatCode>
                <c:ptCount val="3"/>
                <c:pt idx="0">
                  <c:v>2.347229453251111</c:v>
                </c:pt>
                <c:pt idx="1">
                  <c:v>2.002967059895926</c:v>
                </c:pt>
                <c:pt idx="2">
                  <c:v>1.872473066782037</c:v>
                </c:pt>
              </c:numCache>
            </c:numRef>
          </c:val>
          <c:smooth val="0"/>
        </c:ser>
        <c:ser>
          <c:idx val="2"/>
          <c:order val="2"/>
          <c:tx>
            <c:strRef>
              <c:f>Sheet1!$D$1</c:f>
              <c:strCache>
                <c:ptCount val="1"/>
                <c:pt idx="0">
                  <c:v>3·5·7차</c:v>
                </c:pt>
              </c:strCache>
            </c:strRef>
          </c:tx>
          <c:spPr>
            <a:solidFill>
              <a:srgbClr val="008000"/>
            </a:solidFill>
            <a:ln w="22860">
              <a:solidFill>
                <a:srgbClr val="008000"/>
              </a:solidFill>
            </a:ln>
          </c:spPr>
          <c:marker>
            <c:symbol val="circle"/>
            <c:size val="4"/>
            <c:spPr>
              <a:solidFill>
                <a:srgbClr val="008000"/>
              </a:solidFill>
              <a:ln>
                <a:solidFill>
                  <a:srgbClr val="008000"/>
                </a:solidFill>
              </a:ln>
            </c:spPr>
          </c:marker>
          <c:cat>
            <c:strRef>
              <c:f>Sheet1!$A$2:$A$4</c:f>
              <c:strCache>
                <c:ptCount val="3"/>
                <c:pt idx="0">
                  <c:v>6</c:v>
                </c:pt>
                <c:pt idx="1">
                  <c:v>12</c:v>
                </c:pt>
                <c:pt idx="2">
                  <c:v>18</c:v>
                </c:pt>
              </c:strCache>
            </c:strRef>
          </c:cat>
          <c:val>
            <c:numRef>
              <c:f>Sheet1!$D$2:$D$4</c:f>
              <c:numCache>
                <c:formatCode>General</c:formatCode>
                <c:ptCount val="3"/>
                <c:pt idx="0">
                  <c:v>2.160963552036963</c:v>
                </c:pt>
                <c:pt idx="1">
                  <c:v>1.7277578399254443</c:v>
                </c:pt>
                <c:pt idx="2">
                  <c:v>1.5621701921789255</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3.5"/>
          <c:min val="0.9"/>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초기 THD</c:v>
                </c:pt>
              </c:strCache>
            </c:strRef>
          </c:tx>
          <c:spPr>
            <a:solidFill>
              <a:srgbClr val="757575"/>
            </a:solidFill>
            <a:ln w="22860">
              <a:noFill/>
            </a:ln>
          </c:spPr>
          <c:marker>
            <c:symbol val="circle"/>
            <c:size val="4"/>
            <c:spPr>
              <a:solidFill>
                <a:srgbClr val="757575"/>
              </a:solidFill>
              <a:ln>
                <a:solidFill>
                  <a:srgbClr val="757575"/>
                </a:solidFill>
              </a:ln>
            </c:spPr>
          </c:marker>
          <c:cat>
            <c:strRef>
              <c:f>Sheet1!$A$2:$A$48</c:f>
              <c:strCache>
                <c:ptCount val="47"/>
                <c:pt idx="0">
                  <c:v>N001</c:v>
                </c:pt>
                <c:pt idx="1">
                  <c:v/>
                </c:pt>
                <c:pt idx="2">
                  <c:v/>
                </c:pt>
                <c:pt idx="3">
                  <c:v/>
                </c:pt>
                <c:pt idx="4">
                  <c:v/>
                </c:pt>
                <c:pt idx="5">
                  <c:v/>
                </c:pt>
                <c:pt idx="6">
                  <c:v>N007</c:v>
                </c:pt>
                <c:pt idx="7">
                  <c:v/>
                </c:pt>
                <c:pt idx="8">
                  <c:v/>
                </c:pt>
                <c:pt idx="9">
                  <c:v/>
                </c:pt>
                <c:pt idx="10">
                  <c:v/>
                </c:pt>
                <c:pt idx="11">
                  <c:v/>
                </c:pt>
                <c:pt idx="12">
                  <c:v>N013</c:v>
                </c:pt>
                <c:pt idx="13">
                  <c:v/>
                </c:pt>
                <c:pt idx="14">
                  <c:v/>
                </c:pt>
                <c:pt idx="15">
                  <c:v/>
                </c:pt>
                <c:pt idx="16">
                  <c:v/>
                </c:pt>
                <c:pt idx="17">
                  <c:v/>
                </c:pt>
                <c:pt idx="18">
                  <c:v>N019</c:v>
                </c:pt>
                <c:pt idx="19">
                  <c:v/>
                </c:pt>
                <c:pt idx="20">
                  <c:v/>
                </c:pt>
                <c:pt idx="21">
                  <c:v/>
                </c:pt>
                <c:pt idx="22">
                  <c:v/>
                </c:pt>
                <c:pt idx="23">
                  <c:v/>
                </c:pt>
                <c:pt idx="24">
                  <c:v>N025</c:v>
                </c:pt>
                <c:pt idx="25">
                  <c:v/>
                </c:pt>
                <c:pt idx="26">
                  <c:v/>
                </c:pt>
                <c:pt idx="27">
                  <c:v/>
                </c:pt>
                <c:pt idx="28">
                  <c:v/>
                </c:pt>
                <c:pt idx="29">
                  <c:v/>
                </c:pt>
                <c:pt idx="30">
                  <c:v>N031</c:v>
                </c:pt>
                <c:pt idx="31">
                  <c:v/>
                </c:pt>
                <c:pt idx="32">
                  <c:v/>
                </c:pt>
                <c:pt idx="33">
                  <c:v/>
                </c:pt>
                <c:pt idx="34">
                  <c:v/>
                </c:pt>
                <c:pt idx="35">
                  <c:v/>
                </c:pt>
                <c:pt idx="36">
                  <c:v>N037</c:v>
                </c:pt>
                <c:pt idx="37">
                  <c:v/>
                </c:pt>
                <c:pt idx="38">
                  <c:v/>
                </c:pt>
                <c:pt idx="39">
                  <c:v/>
                </c:pt>
                <c:pt idx="40">
                  <c:v/>
                </c:pt>
                <c:pt idx="41">
                  <c:v/>
                </c:pt>
                <c:pt idx="42">
                  <c:v>N043</c:v>
                </c:pt>
                <c:pt idx="43">
                  <c:v/>
                </c:pt>
                <c:pt idx="44">
                  <c:v/>
                </c:pt>
                <c:pt idx="45">
                  <c:v/>
                </c:pt>
                <c:pt idx="46">
                  <c:v>N047</c:v>
                </c:pt>
              </c:strCache>
            </c:strRef>
          </c:cat>
          <c:val>
            <c:numRef>
              <c:f>Sheet1!$B$2:$B$48</c:f>
              <c:numCache>
                <c:formatCode>General</c:formatCode>
                <c:ptCount val="47"/>
                <c:pt idx="0">
                  <c:v>0.766021576659</c:v>
                </c:pt>
                <c:pt idx="1">
                  <c:v>1.14806328765</c:v>
                </c:pt>
                <c:pt idx="2">
                  <c:v>2.27326857253</c:v>
                </c:pt>
                <c:pt idx="3">
                  <c:v>4.3162256222</c:v>
                </c:pt>
                <c:pt idx="4">
                  <c:v>7.6537027007</c:v>
                </c:pt>
                <c:pt idx="5">
                  <c:v>7.61368112492</c:v>
                </c:pt>
                <c:pt idx="6">
                  <c:v>4.30177928041</c:v>
                </c:pt>
                <c:pt idx="7">
                  <c:v>2.26604154457</c:v>
                </c:pt>
                <c:pt idx="8">
                  <c:v>1.14768563007</c:v>
                </c:pt>
                <c:pt idx="9">
                  <c:v>0.766322159977</c:v>
                </c:pt>
                <c:pt idx="10">
                  <c:v>1.13828985579</c:v>
                </c:pt>
                <c:pt idx="11">
                  <c:v>2.20394594401</c:v>
                </c:pt>
                <c:pt idx="12">
                  <c:v>3.83961300417</c:v>
                </c:pt>
                <c:pt idx="13">
                  <c:v>5.4446958037</c:v>
                </c:pt>
                <c:pt idx="14">
                  <c:v>7.78748558996</c:v>
                </c:pt>
                <c:pt idx="15">
                  <c:v>5.45909456287</c:v>
                </c:pt>
                <c:pt idx="16">
                  <c:v>3.85601816011</c:v>
                </c:pt>
                <c:pt idx="17">
                  <c:v>2.20713760689</c:v>
                </c:pt>
                <c:pt idx="18">
                  <c:v>1.14118933871</c:v>
                </c:pt>
                <c:pt idx="19">
                  <c:v>1.11324358702</c:v>
                </c:pt>
                <c:pt idx="20">
                  <c:v>2.03359183493</c:v>
                </c:pt>
                <c:pt idx="21">
                  <c:v>3.05423087481</c:v>
                </c:pt>
                <c:pt idx="22">
                  <c:v>3.72030318578</c:v>
                </c:pt>
                <c:pt idx="23">
                  <c:v>4.39028287599</c:v>
                </c:pt>
                <c:pt idx="24">
                  <c:v>3.70436720871</c:v>
                </c:pt>
                <c:pt idx="25">
                  <c:v>3.0586756769</c:v>
                </c:pt>
                <c:pt idx="26">
                  <c:v>2.03485192975</c:v>
                </c:pt>
                <c:pt idx="27">
                  <c:v>1.11968928182</c:v>
                </c:pt>
                <c:pt idx="28">
                  <c:v>1.02734601508</c:v>
                </c:pt>
                <c:pt idx="29">
                  <c:v>1.60556129456</c:v>
                </c:pt>
                <c:pt idx="30">
                  <c:v>1.98655681676</c:v>
                </c:pt>
                <c:pt idx="31">
                  <c:v>2.15408592226</c:v>
                </c:pt>
                <c:pt idx="32">
                  <c:v>2.24749162913</c:v>
                </c:pt>
                <c:pt idx="33">
                  <c:v>2.13733667396</c:v>
                </c:pt>
                <c:pt idx="34">
                  <c:v>1.98471510706</c:v>
                </c:pt>
                <c:pt idx="35">
                  <c:v>1.60629881723</c:v>
                </c:pt>
                <c:pt idx="36">
                  <c:v>1.03245305867</c:v>
                </c:pt>
                <c:pt idx="37">
                  <c:v>0.813963717373</c:v>
                </c:pt>
                <c:pt idx="38">
                  <c:v>1.01798597511</c:v>
                </c:pt>
                <c:pt idx="39">
                  <c:v>1.09432825837</c:v>
                </c:pt>
                <c:pt idx="40">
                  <c:v>1.11445255089</c:v>
                </c:pt>
                <c:pt idx="41">
                  <c:v>1.12450894393</c:v>
                </c:pt>
                <c:pt idx="42">
                  <c:v>1.10918642501</c:v>
                </c:pt>
                <c:pt idx="43">
                  <c:v>1.08434505818</c:v>
                </c:pt>
                <c:pt idx="44">
                  <c:v>1.01058986889</c:v>
                </c:pt>
                <c:pt idx="45">
                  <c:v>0.814828671449</c:v>
                </c:pt>
                <c:pt idx="46">
                  <c:v>0.748660497548</c:v>
                </c:pt>
              </c:numCache>
            </c:numRef>
          </c:val>
          <c:smooth val="0"/>
        </c:ser>
        <c:ser>
          <c:idx val="1"/>
          <c:order val="1"/>
          <c:tx>
            <c:strRef>
              <c:f>Sheet1!$C$1</c:f>
              <c:strCache>
                <c:ptCount val="1"/>
                <c:pt idx="0">
                  <c:v>선정 THD</c:v>
                </c:pt>
              </c:strCache>
            </c:strRef>
          </c:tx>
          <c:spPr>
            <a:solidFill>
              <a:srgbClr val="008000"/>
            </a:solidFill>
            <a:ln w="22860">
              <a:noFill/>
            </a:ln>
          </c:spPr>
          <c:marker>
            <c:symbol val="circle"/>
            <c:size val="4"/>
            <c:spPr>
              <a:solidFill>
                <a:srgbClr val="008000"/>
              </a:solidFill>
              <a:ln>
                <a:solidFill>
                  <a:srgbClr val="008000"/>
                </a:solidFill>
              </a:ln>
            </c:spPr>
          </c:marker>
          <c:cat>
            <c:strRef>
              <c:f>Sheet1!$A$2:$A$48</c:f>
              <c:strCache>
                <c:ptCount val="47"/>
                <c:pt idx="0">
                  <c:v>N001</c:v>
                </c:pt>
                <c:pt idx="1">
                  <c:v/>
                </c:pt>
                <c:pt idx="2">
                  <c:v/>
                </c:pt>
                <c:pt idx="3">
                  <c:v/>
                </c:pt>
                <c:pt idx="4">
                  <c:v/>
                </c:pt>
                <c:pt idx="5">
                  <c:v/>
                </c:pt>
                <c:pt idx="6">
                  <c:v>N007</c:v>
                </c:pt>
                <c:pt idx="7">
                  <c:v/>
                </c:pt>
                <c:pt idx="8">
                  <c:v/>
                </c:pt>
                <c:pt idx="9">
                  <c:v/>
                </c:pt>
                <c:pt idx="10">
                  <c:v/>
                </c:pt>
                <c:pt idx="11">
                  <c:v/>
                </c:pt>
                <c:pt idx="12">
                  <c:v>N013</c:v>
                </c:pt>
                <c:pt idx="13">
                  <c:v/>
                </c:pt>
                <c:pt idx="14">
                  <c:v/>
                </c:pt>
                <c:pt idx="15">
                  <c:v/>
                </c:pt>
                <c:pt idx="16">
                  <c:v/>
                </c:pt>
                <c:pt idx="17">
                  <c:v/>
                </c:pt>
                <c:pt idx="18">
                  <c:v>N019</c:v>
                </c:pt>
                <c:pt idx="19">
                  <c:v/>
                </c:pt>
                <c:pt idx="20">
                  <c:v/>
                </c:pt>
                <c:pt idx="21">
                  <c:v/>
                </c:pt>
                <c:pt idx="22">
                  <c:v/>
                </c:pt>
                <c:pt idx="23">
                  <c:v/>
                </c:pt>
                <c:pt idx="24">
                  <c:v>N025</c:v>
                </c:pt>
                <c:pt idx="25">
                  <c:v/>
                </c:pt>
                <c:pt idx="26">
                  <c:v/>
                </c:pt>
                <c:pt idx="27">
                  <c:v/>
                </c:pt>
                <c:pt idx="28">
                  <c:v/>
                </c:pt>
                <c:pt idx="29">
                  <c:v/>
                </c:pt>
                <c:pt idx="30">
                  <c:v>N031</c:v>
                </c:pt>
                <c:pt idx="31">
                  <c:v/>
                </c:pt>
                <c:pt idx="32">
                  <c:v/>
                </c:pt>
                <c:pt idx="33">
                  <c:v/>
                </c:pt>
                <c:pt idx="34">
                  <c:v/>
                </c:pt>
                <c:pt idx="35">
                  <c:v/>
                </c:pt>
                <c:pt idx="36">
                  <c:v>N037</c:v>
                </c:pt>
                <c:pt idx="37">
                  <c:v/>
                </c:pt>
                <c:pt idx="38">
                  <c:v/>
                </c:pt>
                <c:pt idx="39">
                  <c:v/>
                </c:pt>
                <c:pt idx="40">
                  <c:v/>
                </c:pt>
                <c:pt idx="41">
                  <c:v/>
                </c:pt>
                <c:pt idx="42">
                  <c:v>N043</c:v>
                </c:pt>
                <c:pt idx="43">
                  <c:v/>
                </c:pt>
                <c:pt idx="44">
                  <c:v/>
                </c:pt>
                <c:pt idx="45">
                  <c:v/>
                </c:pt>
                <c:pt idx="46">
                  <c:v>N047</c:v>
                </c:pt>
              </c:strCache>
            </c:strRef>
          </c:cat>
          <c:val>
            <c:numRef>
              <c:f>Sheet1!$C$2:$C$48</c:f>
              <c:numCache>
                <c:formatCode>General</c:formatCode>
                <c:ptCount val="47"/>
                <c:pt idx="0">
                  <c:v>0.352220372561</c:v>
                </c:pt>
                <c:pt idx="1">
                  <c:v>0.52667566131</c:v>
                </c:pt>
                <c:pt idx="2">
                  <c:v>1.01744170737</c:v>
                </c:pt>
                <c:pt idx="3">
                  <c:v>1.78448168034</c:v>
                </c:pt>
                <c:pt idx="4">
                  <c:v>2.77425686389</c:v>
                </c:pt>
                <c:pt idx="5">
                  <c:v>2.731112906</c:v>
                </c:pt>
                <c:pt idx="6">
                  <c:v>1.75430164001</c:v>
                </c:pt>
                <c:pt idx="7">
                  <c:v>1.00755096926</c:v>
                </c:pt>
                <c:pt idx="8">
                  <c:v>0.520782780192</c:v>
                </c:pt>
                <c:pt idx="9">
                  <c:v>0.349601324932</c:v>
                </c:pt>
                <c:pt idx="10">
                  <c:v>0.522928391201</c:v>
                </c:pt>
                <c:pt idx="11">
                  <c:v>0.988442711593</c:v>
                </c:pt>
                <c:pt idx="12">
                  <c:v>1.55494298693</c:v>
                </c:pt>
                <c:pt idx="13">
                  <c:v>1.90249149679</c:v>
                </c:pt>
                <c:pt idx="14">
                  <c:v>3.14509756558</c:v>
                </c:pt>
                <c:pt idx="15">
                  <c:v>1.90762732473</c:v>
                </c:pt>
                <c:pt idx="16">
                  <c:v>1.56386319544</c:v>
                </c:pt>
                <c:pt idx="17">
                  <c:v>0.98304696967</c:v>
                </c:pt>
                <c:pt idx="18">
                  <c:v>0.520322835048</c:v>
                </c:pt>
                <c:pt idx="19">
                  <c:v>0.51328082022</c:v>
                </c:pt>
                <c:pt idx="20">
                  <c:v>0.911142021196</c:v>
                </c:pt>
                <c:pt idx="21">
                  <c:v>1.22523160826</c:v>
                </c:pt>
                <c:pt idx="22">
                  <c:v>1.44643725574</c:v>
                </c:pt>
                <c:pt idx="23">
                  <c:v>1.97679912827</c:v>
                </c:pt>
                <c:pt idx="24">
                  <c:v>1.45424025044</c:v>
                </c:pt>
                <c:pt idx="25">
                  <c:v>1.22211900996</c:v>
                </c:pt>
                <c:pt idx="26">
                  <c:v>0.910227722038</c:v>
                </c:pt>
                <c:pt idx="27">
                  <c:v>0.51364349354</c:v>
                </c:pt>
                <c:pt idx="28">
                  <c:v>0.473622531949</c:v>
                </c:pt>
                <c:pt idx="29">
                  <c:v>0.711958254087</c:v>
                </c:pt>
                <c:pt idx="30">
                  <c:v>0.872307274869</c:v>
                </c:pt>
                <c:pt idx="31">
                  <c:v>0.960432767675</c:v>
                </c:pt>
                <c:pt idx="32">
                  <c:v>1.02337634531</c:v>
                </c:pt>
                <c:pt idx="33">
                  <c:v>0.947819208569</c:v>
                </c:pt>
                <c:pt idx="34">
                  <c:v>0.881206692522</c:v>
                </c:pt>
                <c:pt idx="35">
                  <c:v>0.710272369541</c:v>
                </c:pt>
                <c:pt idx="36">
                  <c:v>0.47414081625</c:v>
                </c:pt>
                <c:pt idx="37">
                  <c:v>0.372568415863</c:v>
                </c:pt>
                <c:pt idx="38">
                  <c:v>0.468407842407</c:v>
                </c:pt>
                <c:pt idx="39">
                  <c:v>0.502256288554</c:v>
                </c:pt>
                <c:pt idx="40">
                  <c:v>0.510472370377</c:v>
                </c:pt>
                <c:pt idx="41">
                  <c:v>0.512864779238</c:v>
                </c:pt>
                <c:pt idx="42">
                  <c:v>0.495755264889</c:v>
                </c:pt>
                <c:pt idx="43">
                  <c:v>0.491300623783</c:v>
                </c:pt>
                <c:pt idx="44">
                  <c:v>0.472684686709</c:v>
                </c:pt>
                <c:pt idx="45">
                  <c:v>0.371716991423</c:v>
                </c:pt>
                <c:pt idx="46">
                  <c:v>0.341644869016</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tickLblSkip val="1"/>
        <c:tickMarkSkip val="1"/>
        <c:noMultiLvlLbl val="0"/>
      </c:catAx>
      <c:valAx>
        <c:axId val="2140495176"/>
        <c:scaling>
          <c:max val="9.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초기 THD</c:v>
                </c:pt>
              </c:strCache>
            </c:strRef>
          </c:tx>
          <c:spPr>
            <a:solidFill>
              <a:srgbClr val="757575"/>
            </a:solidFill>
            <a:ln w="22860">
              <a:solidFill>
                <a:srgbClr val="757575"/>
              </a:solidFill>
            </a:ln>
          </c:spPr>
          <c:cat>
            <c:strRef>
              <c:f>Sheet1!$A$2:$A$9</c:f>
              <c:strCache>
                <c:ptCount val="8"/>
                <c:pt idx="0">
                  <c:v>N004</c:v>
                </c:pt>
                <c:pt idx="1">
                  <c:v>N005</c:v>
                </c:pt>
                <c:pt idx="2">
                  <c:v>N006</c:v>
                </c:pt>
                <c:pt idx="3">
                  <c:v>N007</c:v>
                </c:pt>
                <c:pt idx="4">
                  <c:v>N014</c:v>
                </c:pt>
                <c:pt idx="5">
                  <c:v>N015</c:v>
                </c:pt>
                <c:pt idx="6">
                  <c:v>N016</c:v>
                </c:pt>
                <c:pt idx="7">
                  <c:v>N024</c:v>
                </c:pt>
              </c:strCache>
            </c:strRef>
          </c:cat>
          <c:val>
            <c:numRef>
              <c:f>Sheet1!$B$2:$B$9</c:f>
              <c:numCache>
                <c:formatCode>General</c:formatCode>
                <c:ptCount val="8"/>
                <c:pt idx="0">
                  <c:v>4.3162256222</c:v>
                </c:pt>
                <c:pt idx="1">
                  <c:v>7.6537027007</c:v>
                </c:pt>
                <c:pt idx="2">
                  <c:v>7.61368112492</c:v>
                </c:pt>
                <c:pt idx="3">
                  <c:v>4.30177928041</c:v>
                </c:pt>
                <c:pt idx="4">
                  <c:v>5.4446958037</c:v>
                </c:pt>
                <c:pt idx="5">
                  <c:v>7.78748558996</c:v>
                </c:pt>
                <c:pt idx="6">
                  <c:v>5.45909456287</c:v>
                </c:pt>
                <c:pt idx="7">
                  <c:v>4.39028287599</c:v>
                </c:pt>
              </c:numCache>
            </c:numRef>
          </c:val>
        </c:ser>
        <c:ser>
          <c:idx val="1"/>
          <c:order val="1"/>
          <c:tx>
            <c:strRef>
              <c:f>Sheet1!$C$1</c:f>
              <c:strCache>
                <c:ptCount val="1"/>
                <c:pt idx="0">
                  <c:v>선정 THD</c:v>
                </c:pt>
              </c:strCache>
            </c:strRef>
          </c:tx>
          <c:spPr>
            <a:solidFill>
              <a:srgbClr val="008000"/>
            </a:solidFill>
            <a:ln w="22860">
              <a:solidFill>
                <a:srgbClr val="008000"/>
              </a:solidFill>
            </a:ln>
          </c:spPr>
          <c:cat>
            <c:strRef>
              <c:f>Sheet1!$A$2:$A$9</c:f>
              <c:strCache>
                <c:ptCount val="8"/>
                <c:pt idx="0">
                  <c:v>N004</c:v>
                </c:pt>
                <c:pt idx="1">
                  <c:v>N005</c:v>
                </c:pt>
                <c:pt idx="2">
                  <c:v>N006</c:v>
                </c:pt>
                <c:pt idx="3">
                  <c:v>N007</c:v>
                </c:pt>
                <c:pt idx="4">
                  <c:v>N014</c:v>
                </c:pt>
                <c:pt idx="5">
                  <c:v>N015</c:v>
                </c:pt>
                <c:pt idx="6">
                  <c:v>N016</c:v>
                </c:pt>
                <c:pt idx="7">
                  <c:v>N024</c:v>
                </c:pt>
              </c:strCache>
            </c:strRef>
          </c:cat>
          <c:val>
            <c:numRef>
              <c:f>Sheet1!$C$2:$C$9</c:f>
              <c:numCache>
                <c:formatCode>General</c:formatCode>
                <c:ptCount val="8"/>
                <c:pt idx="0">
                  <c:v>1.78448168034</c:v>
                </c:pt>
                <c:pt idx="1">
                  <c:v>2.77425686389</c:v>
                </c:pt>
                <c:pt idx="2">
                  <c:v>2.731112906</c:v>
                </c:pt>
                <c:pt idx="3">
                  <c:v>1.75430164001</c:v>
                </c:pt>
                <c:pt idx="4">
                  <c:v>1.90249149679</c:v>
                </c:pt>
                <c:pt idx="5">
                  <c:v>3.14509756558</c:v>
                </c:pt>
                <c:pt idx="6">
                  <c:v>1.90762732473</c:v>
                </c:pt>
                <c:pt idx="7">
                  <c:v>1.97679912827</c:v>
                </c:pt>
              </c:numCache>
            </c:numRef>
          </c:val>
        </c:ser>
        <c:dLbls>
          <c:numFmt formatCode="0.00" sourceLinked="0"/>
          <c:txPr>
            <a:bodyPr/>
            <a:lstStyle/>
            <a:p>
              <a:pPr>
                <a:defRPr sz="1000">
                  <a:latin typeface="Malgun Gothic"/>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13994440"/>
        <c:crosses val="autoZero"/>
        <c:auto val="1"/>
        <c:lblAlgn val="ctr"/>
        <c:lblOffset val="100"/>
        <c:noMultiLvlLbl val="0"/>
      </c:catAx>
      <c:valAx>
        <c:axId val="-2113994440"/>
        <c:scaling>
          <c:max val="9.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068027336"/>
        <c:crosses val="autoZero"/>
      </c:valAx>
    </c:plotArea>
    <c:legend>
      <c:legendPos val="b"/>
      <c:overlay val="0"/>
      <c:txPr>
        <a:bodyPr/>
        <a:lstStyle/>
        <a:p>
          <a:pPr>
            <a:defRPr sz="1000">
              <a:latin typeface="Malgun Gothic"/>
            </a:defRPr>
          </a:pPr>
        </a:p>
      </c:txPr>
    </c:legend>
    <c:dispBlanksAs val="gap"/>
  </c:chart>
  <c:txPr>
    <a:bodyPr/>
    <a:lstStyle/>
    <a:p>
      <a:pPr>
        <a:defRPr sz="1000">
          <a:latin typeface="Malgun Gothic"/>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초기</c:v>
                </c:pt>
              </c:strCache>
            </c:strRef>
          </c:tx>
          <c:spPr>
            <a:solidFill>
              <a:srgbClr val="757575"/>
            </a:solidFill>
            <a:ln w="22860">
              <a:solidFill>
                <a:srgbClr val="757575"/>
              </a:solidFill>
            </a:ln>
          </c:spPr>
          <c:marker>
            <c:symbol val="none"/>
          </c:marker>
          <c:cat>
            <c:strRef>
              <c:f>Sheet1!$A$2:$A$302</c:f>
              <c:strCache>
                <c:ptCount val="301"/>
                <c:pt idx="0">
                  <c:v>0.00</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3.33</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6.67</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10.00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13.33</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16.67</c:v>
                </c:pt>
              </c:strCache>
            </c:strRef>
          </c:cat>
          <c:val>
            <c:numRef>
              <c:f>Sheet1!$B$2:$B$302</c:f>
              <c:numCache>
                <c:formatCode>General</c:formatCode>
                <c:ptCount val="301"/>
                <c:pt idx="0">
                  <c:v>5.953738689422607</c:v>
                </c:pt>
                <c:pt idx="1">
                  <c:v>5.886314127179643</c:v>
                </c:pt>
                <c:pt idx="2">
                  <c:v>6.075534555657829</c:v>
                </c:pt>
                <c:pt idx="3">
                  <c:v>5.834443092346191</c:v>
                </c:pt>
                <c:pt idx="4">
                  <c:v>6.198202080187676</c:v>
                </c:pt>
                <c:pt idx="5">
                  <c:v>5.759127193029827</c:v>
                </c:pt>
                <c:pt idx="6">
                  <c:v>6.165409564967741</c:v>
                </c:pt>
                <c:pt idx="7">
                  <c:v>5.660029464295698</c:v>
                </c:pt>
                <c:pt idx="8">
                  <c:v>6.075991471610641</c:v>
                </c:pt>
                <c:pt idx="9">
                  <c:v>5.546388149268097</c:v>
                </c:pt>
                <c:pt idx="10">
                  <c:v>5.9729656643330165</c:v>
                </c:pt>
                <c:pt idx="11">
                  <c:v>5.41428327560271</c:v>
                </c:pt>
                <c:pt idx="12">
                  <c:v>5.858104546864827</c:v>
                </c:pt>
                <c:pt idx="13">
                  <c:v>5.261767758261054</c:v>
                </c:pt>
                <c:pt idx="14">
                  <c:v>5.723800129363113</c:v>
                </c:pt>
                <c:pt idx="15">
                  <c:v>5.290256500235639</c:v>
                </c:pt>
                <c:pt idx="16">
                  <c:v>5.577781677247854</c:v>
                </c:pt>
                <c:pt idx="17">
                  <c:v>5.394186973589844</c:v>
                </c:pt>
                <c:pt idx="18">
                  <c:v>5.410794258117676</c:v>
                </c:pt>
                <c:pt idx="19">
                  <c:v>5.48975149788819</c:v>
                </c:pt>
                <c:pt idx="20">
                  <c:v>5.225208812287772</c:v>
                </c:pt>
                <c:pt idx="21">
                  <c:v>5.588111559558681</c:v>
                </c:pt>
                <c:pt idx="22">
                  <c:v>5.017768753896268</c:v>
                </c:pt>
                <c:pt idx="23">
                  <c:v>5.631096680962369</c:v>
                </c:pt>
                <c:pt idx="24">
                  <c:v>4.793101151784261</c:v>
                </c:pt>
                <c:pt idx="25">
                  <c:v>5.44098605050205</c:v>
                </c:pt>
                <c:pt idx="26">
                  <c:v>4.542660501269396</c:v>
                </c:pt>
                <c:pt idx="27">
                  <c:v>5.238288879394531</c:v>
                </c:pt>
                <c:pt idx="28">
                  <c:v>4.30914258956831</c:v>
                </c:pt>
                <c:pt idx="29">
                  <c:v>5.01542944378728</c:v>
                </c:pt>
                <c:pt idx="30">
                  <c:v>4.127144336700291</c:v>
                </c:pt>
                <c:pt idx="31">
                  <c:v>4.764673286009798</c:v>
                </c:pt>
                <c:pt idx="32">
                  <c:v>4.0226978726006815</c:v>
                </c:pt>
                <c:pt idx="33">
                  <c:v>4.497215112050374</c:v>
                </c:pt>
                <c:pt idx="34">
                  <c:v>4.071827305670462</c:v>
                </c:pt>
                <c:pt idx="35">
                  <c:v>4.2092133628014</c:v>
                </c:pt>
                <c:pt idx="36">
                  <c:v>4.091937065124512</c:v>
                </c:pt>
                <c:pt idx="37">
                  <c:v>3.8914492395171494</c:v>
                </c:pt>
                <c:pt idx="38">
                  <c:v>4.085504081530176</c:v>
                </c:pt>
                <c:pt idx="39">
                  <c:v>3.5520246028900146</c:v>
                </c:pt>
                <c:pt idx="40">
                  <c:v>4.054866870231574</c:v>
                </c:pt>
                <c:pt idx="41">
                  <c:v>3.1841056346972976</c:v>
                </c:pt>
                <c:pt idx="42">
                  <c:v>3.9501040776662206</c:v>
                </c:pt>
                <c:pt idx="43">
                  <c:v>2.7907108465767005</c:v>
                </c:pt>
                <c:pt idx="44">
                  <c:v>3.8664472632880913</c:v>
                </c:pt>
                <c:pt idx="45">
                  <c:v>2.4293329715900613</c:v>
                </c:pt>
                <c:pt idx="46">
                  <c:v>3.6563523345501485</c:v>
                </c:pt>
                <c:pt idx="47">
                  <c:v>2.398476335731106</c:v>
                </c:pt>
                <c:pt idx="48">
                  <c:v>3.266646941502889</c:v>
                </c:pt>
                <c:pt idx="49">
                  <c:v>2.3383275667885592</c:v>
                </c:pt>
                <c:pt idx="50">
                  <c:v>2.904973745353798</c:v>
                </c:pt>
                <c:pt idx="51">
                  <c:v>2.2530474662725597</c:v>
                </c:pt>
                <c:pt idx="52">
                  <c:v>2.4844698641198337</c:v>
                </c:pt>
                <c:pt idx="53">
                  <c:v>2.143041637218902</c:v>
                </c:pt>
                <c:pt idx="54">
                  <c:v>2.0376665592193604</c:v>
                </c:pt>
                <c:pt idx="55">
                  <c:v>2.0054066578453975</c:v>
                </c:pt>
                <c:pt idx="56">
                  <c:v>1.5656796031738573</c:v>
                </c:pt>
                <c:pt idx="57">
                  <c:v>1.845098574956258</c:v>
                </c:pt>
                <c:pt idx="58">
                  <c:v>1.0659183925957794</c:v>
                </c:pt>
                <c:pt idx="59">
                  <c:v>1.652160406108902</c:v>
                </c:pt>
                <c:pt idx="60">
                  <c:v>0.8010820150375366</c:v>
                </c:pt>
                <c:pt idx="61">
                  <c:v>1.4361187881871524</c:v>
                </c:pt>
                <c:pt idx="62">
                  <c:v>0.6718325813580626</c:v>
                </c:pt>
                <c:pt idx="63">
                  <c:v>1.1951662301931942</c:v>
                </c:pt>
                <c:pt idx="64">
                  <c:v>0.5183779928445458</c:v>
                </c:pt>
                <c:pt idx="65">
                  <c:v>0.9244255224839886</c:v>
                </c:pt>
                <c:pt idx="66">
                  <c:v>0.3355944454627149</c:v>
                </c:pt>
                <c:pt idx="67">
                  <c:v>0.6265070173494522</c:v>
                </c:pt>
                <c:pt idx="68">
                  <c:v>0.21008556418781413</c:v>
                </c:pt>
                <c:pt idx="69">
                  <c:v>0.384460911154747</c:v>
                </c:pt>
                <c:pt idx="70">
                  <c:v>0.16529958943287132</c:v>
                </c:pt>
                <c:pt idx="71">
                  <c:v>0.16301753620404524</c:v>
                </c:pt>
                <c:pt idx="72">
                  <c:v>0.08894334733486176</c:v>
                </c:pt>
                <c:pt idx="73">
                  <c:v>0.010911732293549546</c:v>
                </c:pt>
                <c:pt idx="74">
                  <c:v>-0.018804098583169542</c:v>
                </c:pt>
                <c:pt idx="75">
                  <c:v>-0.025079289451241493</c:v>
                </c:pt>
                <c:pt idx="76">
                  <c:v>0.0343560443972218</c:v>
                </c:pt>
                <c:pt idx="77">
                  <c:v>-0.0940217342635279</c:v>
                </c:pt>
                <c:pt idx="78">
                  <c:v>-0.01095198723487556</c:v>
                </c:pt>
                <c:pt idx="79">
                  <c:v>-0.2562146584202487</c:v>
                </c:pt>
                <c:pt idx="80">
                  <c:v>-0.077154463362822</c:v>
                </c:pt>
                <c:pt idx="81">
                  <c:v>-0.431279599662282</c:v>
                </c:pt>
                <c:pt idx="82">
                  <c:v>-0.15831414858555726</c:v>
                </c:pt>
                <c:pt idx="83">
                  <c:v>-0.6277189188514283</c:v>
                </c:pt>
                <c:pt idx="84">
                  <c:v>-0.28156810005077343</c:v>
                </c:pt>
                <c:pt idx="85">
                  <c:v>-0.9119117260003075</c:v>
                </c:pt>
                <c:pt idx="86">
                  <c:v>-0.5049057073037244</c:v>
                </c:pt>
                <c:pt idx="87">
                  <c:v>-1.0551541646418012</c:v>
                </c:pt>
                <c:pt idx="88">
                  <c:v>-0.7948406471084958</c:v>
                </c:pt>
                <c:pt idx="89">
                  <c:v>-1.0798900392354245</c:v>
                </c:pt>
                <c:pt idx="90">
                  <c:v>-1.1278064250946045</c:v>
                </c:pt>
                <c:pt idx="91">
                  <c:v>-1.1052154965064844</c:v>
                </c:pt>
                <c:pt idx="92">
                  <c:v>-1.4890553818715586</c:v>
                </c:pt>
                <c:pt idx="93">
                  <c:v>-1.1552304824193318</c:v>
                </c:pt>
                <c:pt idx="94">
                  <c:v>-1.8752100600062669</c:v>
                </c:pt>
                <c:pt idx="95">
                  <c:v>-1.282352858119646</c:v>
                </c:pt>
                <c:pt idx="96">
                  <c:v>-2.2822699546813965</c:v>
                </c:pt>
                <c:pt idx="97">
                  <c:v>-1.5273642804896883</c:v>
                </c:pt>
                <c:pt idx="98">
                  <c:v>-2.702297978925695</c:v>
                </c:pt>
                <c:pt idx="99">
                  <c:v>-1.7098091840824856</c:v>
                </c:pt>
                <c:pt idx="100">
                  <c:v>-3.0120057000038285</c:v>
                </c:pt>
                <c:pt idx="101">
                  <c:v>-2.05823878446622</c:v>
                </c:pt>
                <c:pt idx="102">
                  <c:v>-3.145066022884985</c:v>
                </c:pt>
                <c:pt idx="103">
                  <c:v>-2.4236054155625015</c:v>
                </c:pt>
                <c:pt idx="104">
                  <c:v>-3.219060447487868</c:v>
                </c:pt>
                <c:pt idx="105">
                  <c:v>-2.8044962882928326</c:v>
                </c:pt>
                <c:pt idx="106">
                  <c:v>-3.282641543295469</c:v>
                </c:pt>
                <c:pt idx="107">
                  <c:v>-3.195572084848364</c:v>
                </c:pt>
                <c:pt idx="108">
                  <c:v>-3.3574259281158447</c:v>
                </c:pt>
                <c:pt idx="109">
                  <c:v>-3.598716868279646</c:v>
                </c:pt>
                <c:pt idx="110">
                  <c:v>-3.4411889182331965</c:v>
                </c:pt>
                <c:pt idx="111">
                  <c:v>-4.009891112645467</c:v>
                </c:pt>
                <c:pt idx="112">
                  <c:v>-3.5356600814486203</c:v>
                </c:pt>
                <c:pt idx="113">
                  <c:v>-4.389798111383898</c:v>
                </c:pt>
                <c:pt idx="114">
                  <c:v>-3.6343799432118735</c:v>
                </c:pt>
                <c:pt idx="115">
                  <c:v>-4.614807711706942</c:v>
                </c:pt>
                <c:pt idx="116">
                  <c:v>-3.7384919325558545</c:v>
                </c:pt>
                <c:pt idx="117">
                  <c:v>-4.782344818116775</c:v>
                </c:pt>
                <c:pt idx="118">
                  <c:v>-3.90829859839561</c:v>
                </c:pt>
                <c:pt idx="119">
                  <c:v>-4.827562173211934</c:v>
                </c:pt>
                <c:pt idx="120">
                  <c:v>-4.094272454580511</c:v>
                </c:pt>
                <c:pt idx="121">
                  <c:v>-4.876242796588095</c:v>
                </c:pt>
                <c:pt idx="122">
                  <c:v>-4.294341246277492</c:v>
                </c:pt>
                <c:pt idx="123">
                  <c:v>-4.932535330458296</c:v>
                </c:pt>
                <c:pt idx="124">
                  <c:v>-4.6785859531630525</c:v>
                </c:pt>
                <c:pt idx="125">
                  <c:v>-4.993023660449041</c:v>
                </c:pt>
                <c:pt idx="126">
                  <c:v>-5.059552192687988</c:v>
                </c:pt>
                <c:pt idx="127">
                  <c:v>-5.050220701436197</c:v>
                </c:pt>
                <c:pt idx="128">
                  <c:v>-5.405015786468412</c:v>
                </c:pt>
                <c:pt idx="129">
                  <c:v>-5.107922554016113</c:v>
                </c:pt>
                <c:pt idx="130">
                  <c:v>-5.709384070488822</c:v>
                </c:pt>
                <c:pt idx="131">
                  <c:v>-5.166030724847211</c:v>
                </c:pt>
                <c:pt idx="132">
                  <c:v>-5.7932054201761884</c:v>
                </c:pt>
                <c:pt idx="133">
                  <c:v>-5.220460096996851</c:v>
                </c:pt>
                <c:pt idx="134">
                  <c:v>-5.807189570535542</c:v>
                </c:pt>
                <c:pt idx="135">
                  <c:v>-5.263350009925904</c:v>
                </c:pt>
                <c:pt idx="136">
                  <c:v>-5.814027786254052</c:v>
                </c:pt>
                <c:pt idx="137">
                  <c:v>-5.297996468016614</c:v>
                </c:pt>
                <c:pt idx="138">
                  <c:v>-5.8209239641872585</c:v>
                </c:pt>
                <c:pt idx="139">
                  <c:v>-5.331604904603274</c:v>
                </c:pt>
                <c:pt idx="140">
                  <c:v>-5.823655605318415</c:v>
                </c:pt>
                <c:pt idx="141">
                  <c:v>-5.518542289726651</c:v>
                </c:pt>
                <c:pt idx="142">
                  <c:v>-5.817902565006768</c:v>
                </c:pt>
                <c:pt idx="143">
                  <c:v>-5.7434056599911525</c:v>
                </c:pt>
                <c:pt idx="144">
                  <c:v>-5.806976795196533</c:v>
                </c:pt>
                <c:pt idx="145">
                  <c:v>-5.92695946162506</c:v>
                </c:pt>
                <c:pt idx="146">
                  <c:v>-5.78649960624324</c:v>
                </c:pt>
                <c:pt idx="147">
                  <c:v>-6.071346918741862</c:v>
                </c:pt>
                <c:pt idx="148">
                  <c:v>-5.748377429117803</c:v>
                </c:pt>
                <c:pt idx="149">
                  <c:v>-6.1604746712605385</c:v>
                </c:pt>
                <c:pt idx="150">
                  <c:v>-5.703458944956462</c:v>
                </c:pt>
                <c:pt idx="151">
                  <c:v>-6.110084851584181</c:v>
                </c:pt>
                <c:pt idx="152">
                  <c:v>-5.643679830765089</c:v>
                </c:pt>
                <c:pt idx="153">
                  <c:v>-6.045701980596893</c:v>
                </c:pt>
                <c:pt idx="154">
                  <c:v>-5.564800527360022</c:v>
                </c:pt>
                <c:pt idx="155">
                  <c:v>-5.974490960441111</c:v>
                </c:pt>
                <c:pt idx="156">
                  <c:v>-5.477854887648641</c:v>
                </c:pt>
                <c:pt idx="157">
                  <c:v>-5.884726524357278</c:v>
                </c:pt>
                <c:pt idx="158">
                  <c:v>-5.423757659057172</c:v>
                </c:pt>
                <c:pt idx="159">
                  <c:v>-5.783730665844898</c:v>
                </c:pt>
                <c:pt idx="160">
                  <c:v>-5.530404143848217</c:v>
                </c:pt>
                <c:pt idx="161">
                  <c:v>-5.667529847887596</c:v>
                </c:pt>
                <c:pt idx="162">
                  <c:v>-5.636352062225342</c:v>
                </c:pt>
                <c:pt idx="163">
                  <c:v>-5.532272020980599</c:v>
                </c:pt>
                <c:pt idx="164">
                  <c:v>-5.720590008613522</c:v>
                </c:pt>
                <c:pt idx="165">
                  <c:v>-5.378022193908691</c:v>
                </c:pt>
                <c:pt idx="166">
                  <c:v>-5.811344199698106</c:v>
                </c:pt>
                <c:pt idx="167">
                  <c:v>-5.204973273810731</c:v>
                </c:pt>
                <c:pt idx="168">
                  <c:v>-5.725698471077751</c:v>
                </c:pt>
                <c:pt idx="169">
                  <c:v>-5.013511498771058</c:v>
                </c:pt>
                <c:pt idx="170">
                  <c:v>-5.566162851124683</c:v>
                </c:pt>
                <c:pt idx="171">
                  <c:v>-4.800327777871841</c:v>
                </c:pt>
                <c:pt idx="172">
                  <c:v>-5.385918299356031</c:v>
                </c:pt>
                <c:pt idx="173">
                  <c:v>-4.576804002128768</c:v>
                </c:pt>
                <c:pt idx="174">
                  <c:v>-5.185678164171065</c:v>
                </c:pt>
                <c:pt idx="175">
                  <c:v>-4.374430550473304</c:v>
                </c:pt>
                <c:pt idx="176">
                  <c:v>-4.966332435611569</c:v>
                </c:pt>
                <c:pt idx="177">
                  <c:v>-4.396448135366308</c:v>
                </c:pt>
                <c:pt idx="178">
                  <c:v>-4.725241661079613</c:v>
                </c:pt>
                <c:pt idx="179">
                  <c:v>-4.468914614780259</c:v>
                </c:pt>
                <c:pt idx="180">
                  <c:v>-4.459882736206055</c:v>
                </c:pt>
                <c:pt idx="181">
                  <c:v>-4.5141680505358135</c:v>
                </c:pt>
                <c:pt idx="182">
                  <c:v>-4.171903610239952</c:v>
                </c:pt>
                <c:pt idx="183">
                  <c:v>-4.543384552001953</c:v>
                </c:pt>
                <c:pt idx="184">
                  <c:v>-3.8706177075783796</c:v>
                </c:pt>
                <c:pt idx="185">
                  <c:v>-4.503777239056429</c:v>
                </c:pt>
                <c:pt idx="186">
                  <c:v>-3.53537480037951</c:v>
                </c:pt>
                <c:pt idx="187">
                  <c:v>-4.339788860743568</c:v>
                </c:pt>
                <c:pt idx="188">
                  <c:v>-3.179833968485878</c:v>
                </c:pt>
                <c:pt idx="189">
                  <c:v>-4.220557689657595</c:v>
                </c:pt>
                <c:pt idx="190">
                  <c:v>-2.926613993116504</c:v>
                </c:pt>
                <c:pt idx="191">
                  <c:v>-3.9062273767319105</c:v>
                </c:pt>
                <c:pt idx="192">
                  <c:v>-2.824521462110709</c:v>
                </c:pt>
                <c:pt idx="193">
                  <c:v>-3.5627601676643956</c:v>
                </c:pt>
                <c:pt idx="194">
                  <c:v>-2.7711135016478066</c:v>
                </c:pt>
                <c:pt idx="195">
                  <c:v>-3.200973908113211</c:v>
                </c:pt>
                <c:pt idx="196">
                  <c:v>-2.7197674645187266</c:v>
                </c:pt>
                <c:pt idx="197">
                  <c:v>-2.8128738403344054</c:v>
                </c:pt>
                <c:pt idx="198">
                  <c:v>-2.6420257091522217</c:v>
                </c:pt>
                <c:pt idx="199">
                  <c:v>-2.3984376589607717</c:v>
                </c:pt>
                <c:pt idx="200">
                  <c:v>-2.5401109589337167</c:v>
                </c:pt>
                <c:pt idx="201">
                  <c:v>-1.9617222944895427</c:v>
                </c:pt>
                <c:pt idx="202">
                  <c:v>-2.4142193794162132</c:v>
                </c:pt>
                <c:pt idx="203">
                  <c:v>-1.5443587568083088</c:v>
                </c:pt>
                <c:pt idx="204">
                  <c:v>-2.261458555842709</c:v>
                </c:pt>
                <c:pt idx="205">
                  <c:v>-1.2899089256919556</c:v>
                </c:pt>
                <c:pt idx="206">
                  <c:v>-2.086573600764608</c:v>
                </c:pt>
                <c:pt idx="207">
                  <c:v>-1.0966192483849722</c:v>
                </c:pt>
                <c:pt idx="208">
                  <c:v>-1.852003428671502</c:v>
                </c:pt>
                <c:pt idx="209">
                  <c:v>-0.9792129066217741</c:v>
                </c:pt>
                <c:pt idx="210">
                  <c:v>-1.6221389770455645</c:v>
                </c:pt>
                <c:pt idx="211">
                  <c:v>-0.8395975761877356</c:v>
                </c:pt>
                <c:pt idx="212">
                  <c:v>-1.3299707704214547</c:v>
                </c:pt>
                <c:pt idx="213">
                  <c:v>-0.6742777625691252</c:v>
                </c:pt>
                <c:pt idx="214">
                  <c:v>-0.8069612913822385</c:v>
                </c:pt>
                <c:pt idx="215">
                  <c:v>-0.48550260728468414</c:v>
                </c:pt>
                <c:pt idx="216">
                  <c:v>-0.35105928778648376</c:v>
                </c:pt>
                <c:pt idx="217">
                  <c:v>-0.352420899599284</c:v>
                </c:pt>
                <c:pt idx="218">
                  <c:v>-0.15788794641124193</c:v>
                </c:pt>
                <c:pt idx="219">
                  <c:v>-0.28884980579217273</c:v>
                </c:pt>
                <c:pt idx="220">
                  <c:v>-0.019791580586967228</c:v>
                </c:pt>
                <c:pt idx="221">
                  <c:v>-0.19366169306838976</c:v>
                </c:pt>
                <c:pt idx="222">
                  <c:v>0.013745650340785034</c:v>
                </c:pt>
                <c:pt idx="223">
                  <c:v>-0.06883119874498494</c:v>
                </c:pt>
                <c:pt idx="224">
                  <c:v>0.04955183797436091</c:v>
                </c:pt>
                <c:pt idx="225">
                  <c:v>0.02153218165038686</c:v>
                </c:pt>
                <c:pt idx="226">
                  <c:v>0.03865835401754862</c:v>
                </c:pt>
                <c:pt idx="227">
                  <c:v>0.022063769399641945</c:v>
                </c:pt>
                <c:pt idx="228">
                  <c:v>0.23143893480156946</c:v>
                </c:pt>
                <c:pt idx="229">
                  <c:v>0.11495266523434232</c:v>
                </c:pt>
                <c:pt idx="230">
                  <c:v>0.4027902417754904</c:v>
                </c:pt>
                <c:pt idx="231">
                  <c:v>0.22273598114506338</c:v>
                </c:pt>
                <c:pt idx="232">
                  <c:v>0.42920349042780154</c:v>
                </c:pt>
                <c:pt idx="233">
                  <c:v>0.36480368507596733</c:v>
                </c:pt>
                <c:pt idx="234">
                  <c:v>0.4426628649234772</c:v>
                </c:pt>
                <c:pt idx="235">
                  <c:v>0.6112075116851765</c:v>
                </c:pt>
                <c:pt idx="236">
                  <c:v>0.487335377286872</c:v>
                </c:pt>
                <c:pt idx="237">
                  <c:v>0.9290056626001993</c:v>
                </c:pt>
                <c:pt idx="238">
                  <c:v>0.4973579314169253</c:v>
                </c:pt>
                <c:pt idx="239">
                  <c:v>1.2965476910229161</c:v>
                </c:pt>
                <c:pt idx="240">
                  <c:v>0.7241549491789095</c:v>
                </c:pt>
                <c:pt idx="241">
                  <c:v>1.695476955835163</c:v>
                </c:pt>
                <c:pt idx="242">
                  <c:v>1.0470899608382649</c:v>
                </c:pt>
                <c:pt idx="243">
                  <c:v>2.1148838996760615</c:v>
                </c:pt>
                <c:pt idx="244">
                  <c:v>1.3517815007118585</c:v>
                </c:pt>
                <c:pt idx="245">
                  <c:v>2.4032739798242777</c:v>
                </c:pt>
                <c:pt idx="246">
                  <c:v>1.7036896546584257</c:v>
                </c:pt>
                <c:pt idx="247">
                  <c:v>2.627006981113545</c:v>
                </c:pt>
                <c:pt idx="248">
                  <c:v>2.0680630471918295</c:v>
                </c:pt>
                <c:pt idx="249">
                  <c:v>2.709809223818773</c:v>
                </c:pt>
                <c:pt idx="250">
                  <c:v>2.4517976177948797</c:v>
                </c:pt>
                <c:pt idx="251">
                  <c:v>2.778258482640228</c:v>
                </c:pt>
                <c:pt idx="252">
                  <c:v>2.84647274017334</c:v>
                </c:pt>
                <c:pt idx="253">
                  <c:v>2.855038775352314</c:v>
                </c:pt>
                <c:pt idx="254">
                  <c:v>3.254516998911547</c:v>
                </c:pt>
                <c:pt idx="255">
                  <c:v>2.9425633748372397</c:v>
                </c:pt>
                <c:pt idx="256">
                  <c:v>3.67072955766159</c:v>
                </c:pt>
                <c:pt idx="257">
                  <c:v>3.0392151673719505</c:v>
                </c:pt>
                <c:pt idx="258">
                  <c:v>4.035619417814018</c:v>
                </c:pt>
                <c:pt idx="259">
                  <c:v>3.1429422961380853</c:v>
                </c:pt>
                <c:pt idx="260">
                  <c:v>4.328703032596526</c:v>
                </c:pt>
                <c:pt idx="261">
                  <c:v>3.253591775911015</c:v>
                </c:pt>
                <c:pt idx="262">
                  <c:v>4.474761327122262</c:v>
                </c:pt>
                <c:pt idx="263">
                  <c:v>3.5642703374199756</c:v>
                </c:pt>
                <c:pt idx="264">
                  <c:v>4.523342927307166</c:v>
                </c:pt>
                <c:pt idx="265">
                  <c:v>3.8173714213866496</c:v>
                </c:pt>
                <c:pt idx="266">
                  <c:v>4.577721065949884</c:v>
                </c:pt>
                <c:pt idx="267">
                  <c:v>4.157531579326707</c:v>
                </c:pt>
                <c:pt idx="268">
                  <c:v>4.640622350913636</c:v>
                </c:pt>
                <c:pt idx="269">
                  <c:v>4.543630493981361</c:v>
                </c:pt>
                <c:pt idx="270">
                  <c:v>4.703393459320068</c:v>
                </c:pt>
                <c:pt idx="271">
                  <c:v>4.9317548539715315</c:v>
                </c:pt>
                <c:pt idx="272">
                  <c:v>4.770188649504584</c:v>
                </c:pt>
                <c:pt idx="273">
                  <c:v>5.322333176930745</c:v>
                </c:pt>
                <c:pt idx="274">
                  <c:v>4.841502083678515</c:v>
                </c:pt>
                <c:pt idx="275">
                  <c:v>5.631949477730274</c:v>
                </c:pt>
                <c:pt idx="276">
                  <c:v>4.91171296438608</c:v>
                </c:pt>
                <c:pt idx="277">
                  <c:v>5.651417361367627</c:v>
                </c:pt>
                <c:pt idx="278">
                  <c:v>4.980919361117699</c:v>
                </c:pt>
                <c:pt idx="279">
                  <c:v>5.674226284036365</c:v>
                </c:pt>
                <c:pt idx="280">
                  <c:v>5.047091748987347</c:v>
                </c:pt>
                <c:pt idx="281">
                  <c:v>5.694501188069167</c:v>
                </c:pt>
                <c:pt idx="282">
                  <c:v>5.1081161499079615</c:v>
                </c:pt>
                <c:pt idx="283">
                  <c:v>5.7178554534966475</c:v>
                </c:pt>
                <c:pt idx="284">
                  <c:v>5.228455596491517</c:v>
                </c:pt>
                <c:pt idx="285">
                  <c:v>5.732544581097941</c:v>
                </c:pt>
                <c:pt idx="286">
                  <c:v>5.520889017301029</c:v>
                </c:pt>
                <c:pt idx="287">
                  <c:v>5.745832973064447</c:v>
                </c:pt>
                <c:pt idx="288">
                  <c:v>5.786444187164307</c:v>
                </c:pt>
                <c:pt idx="289">
                  <c:v>5.755368391677382</c:v>
                </c:pt>
                <c:pt idx="290">
                  <c:v>5.989570882571212</c:v>
                </c:pt>
                <c:pt idx="291">
                  <c:v>5.75686772664388</c:v>
                </c:pt>
                <c:pt idx="292">
                  <c:v>6.169309192223983</c:v>
                </c:pt>
                <c:pt idx="293">
                  <c:v>5.749822033779013</c:v>
                </c:pt>
                <c:pt idx="294">
                  <c:v>6.189472198492602</c:v>
                </c:pt>
                <c:pt idx="295">
                  <c:v>5.729867193435351</c:v>
                </c:pt>
                <c:pt idx="296">
                  <c:v>6.161243915559902</c:v>
                </c:pt>
                <c:pt idx="297">
                  <c:v>5.704087257391331</c:v>
                </c:pt>
                <c:pt idx="298">
                  <c:v>6.116597493494948</c:v>
                </c:pt>
                <c:pt idx="299">
                  <c:v>5.656723552282009</c:v>
                </c:pt>
                <c:pt idx="300">
                  <c:v>6.062607447310318</c:v>
                </c:pt>
              </c:numCache>
            </c:numRef>
          </c:val>
          <c:smooth val="0"/>
        </c:ser>
        <c:ser>
          <c:idx val="1"/>
          <c:order val="1"/>
          <c:tx>
            <c:strRef>
              <c:f>Sheet1!$C$1</c:f>
              <c:strCache>
                <c:ptCount val="1"/>
                <c:pt idx="0">
                  <c:v>선정</c:v>
                </c:pt>
              </c:strCache>
            </c:strRef>
          </c:tx>
          <c:spPr>
            <a:solidFill>
              <a:srgbClr val="008000"/>
            </a:solidFill>
            <a:ln w="22860">
              <a:solidFill>
                <a:srgbClr val="008000"/>
              </a:solidFill>
            </a:ln>
          </c:spPr>
          <c:marker>
            <c:symbol val="none"/>
          </c:marker>
          <c:cat>
            <c:strRef>
              <c:f>Sheet1!$A$2:$A$302</c:f>
              <c:strCache>
                <c:ptCount val="301"/>
                <c:pt idx="0">
                  <c:v>0.00</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3.33</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6.67</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10.00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13.33</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16.67</c:v>
                </c:pt>
              </c:strCache>
            </c:strRef>
          </c:cat>
          <c:val>
            <c:numRef>
              <c:f>Sheet1!$C$2:$C$302</c:f>
              <c:numCache>
                <c:formatCode>General</c:formatCode>
                <c:ptCount val="301"/>
                <c:pt idx="0">
                  <c:v>5.713943958282471</c:v>
                </c:pt>
                <c:pt idx="1">
                  <c:v>5.651250097486039</c:v>
                </c:pt>
                <c:pt idx="2">
                  <c:v>5.836859915002346</c:v>
                </c:pt>
                <c:pt idx="3">
                  <c:v>5.594381332397461</c:v>
                </c:pt>
                <c:pt idx="4">
                  <c:v>5.970440334734857</c:v>
                </c:pt>
                <c:pt idx="5">
                  <c:v>5.539577643079335</c:v>
                </c:pt>
                <c:pt idx="6">
                  <c:v>5.96463823318063</c:v>
                </c:pt>
                <c:pt idx="7">
                  <c:v>5.479061709507827</c:v>
                </c:pt>
                <c:pt idx="8">
                  <c:v>5.909661293031948</c:v>
                </c:pt>
                <c:pt idx="9">
                  <c:v>5.3943190574712245</c:v>
                </c:pt>
                <c:pt idx="10">
                  <c:v>5.831071535745505</c:v>
                </c:pt>
                <c:pt idx="11">
                  <c:v>5.2899392975685835</c:v>
                </c:pt>
                <c:pt idx="12">
                  <c:v>5.744706948598226</c:v>
                </c:pt>
                <c:pt idx="13">
                  <c:v>5.166480064389662</c:v>
                </c:pt>
                <c:pt idx="14">
                  <c:v>5.639327261185488</c:v>
                </c:pt>
                <c:pt idx="15">
                  <c:v>5.221093177786916</c:v>
                </c:pt>
                <c:pt idx="16">
                  <c:v>5.514498021869301</c:v>
                </c:pt>
                <c:pt idx="17">
                  <c:v>5.339687135502443</c:v>
                </c:pt>
                <c:pt idx="18">
                  <c:v>5.367428302764893</c:v>
                </c:pt>
                <c:pt idx="19">
                  <c:v>5.455382453054527</c:v>
                </c:pt>
                <c:pt idx="20">
                  <c:v>5.195736726123085</c:v>
                </c:pt>
                <c:pt idx="21">
                  <c:v>5.564146518715995</c:v>
                </c:pt>
                <c:pt idx="22">
                  <c:v>5.001249313351292</c:v>
                </c:pt>
                <c:pt idx="23">
                  <c:v>5.617040899068108</c:v>
                </c:pt>
                <c:pt idx="24">
                  <c:v>4.7792361577351885</c:v>
                </c:pt>
                <c:pt idx="25">
                  <c:v>5.429604954191961</c:v>
                </c:pt>
                <c:pt idx="26">
                  <c:v>4.5335530704934355</c:v>
                </c:pt>
                <c:pt idx="27">
                  <c:v>5.231922149658203</c:v>
                </c:pt>
                <c:pt idx="28">
                  <c:v>4.301676008435636</c:v>
                </c:pt>
                <c:pt idx="29">
                  <c:v>5.009443336067012</c:v>
                </c:pt>
                <c:pt idx="30">
                  <c:v>4.127208550770934</c:v>
                </c:pt>
                <c:pt idx="31">
                  <c:v>4.76613330840631</c:v>
                </c:pt>
                <c:pt idx="32">
                  <c:v>4.0270510779636375</c:v>
                </c:pt>
                <c:pt idx="33">
                  <c:v>4.5007697741190595</c:v>
                </c:pt>
                <c:pt idx="34">
                  <c:v>4.077008459285778</c:v>
                </c:pt>
                <c:pt idx="35">
                  <c:v>4.224914921656244</c:v>
                </c:pt>
                <c:pt idx="36">
                  <c:v>4.117962837219238</c:v>
                </c:pt>
                <c:pt idx="37">
                  <c:v>3.9321642716708087</c:v>
                </c:pt>
                <c:pt idx="38">
                  <c:v>4.141853385517468</c:v>
                </c:pt>
                <c:pt idx="39">
                  <c:v>3.62377937634786</c:v>
                </c:pt>
                <c:pt idx="40">
                  <c:v>4.14773326448647</c:v>
                </c:pt>
                <c:pt idx="41">
                  <c:v>3.2949709627443076</c:v>
                </c:pt>
                <c:pt idx="42">
                  <c:v>4.08048168819059</c:v>
                </c:pt>
                <c:pt idx="43">
                  <c:v>2.944252093626669</c:v>
                </c:pt>
                <c:pt idx="44">
                  <c:v>4.038498136726675</c:v>
                </c:pt>
                <c:pt idx="45">
                  <c:v>2.620447397249401</c:v>
                </c:pt>
                <c:pt idx="46">
                  <c:v>3.868586805129496</c:v>
                </c:pt>
                <c:pt idx="47">
                  <c:v>2.6319726837942556</c:v>
                </c:pt>
                <c:pt idx="48">
                  <c:v>3.5276341438293457</c:v>
                </c:pt>
                <c:pt idx="49">
                  <c:v>2.623089128076335</c:v>
                </c:pt>
                <c:pt idx="50">
                  <c:v>3.215534077758038</c:v>
                </c:pt>
                <c:pt idx="51">
                  <c:v>2.5874905586187493</c:v>
                </c:pt>
                <c:pt idx="52">
                  <c:v>2.8385112020867482</c:v>
                </c:pt>
                <c:pt idx="53">
                  <c:v>2.5171475410563224</c:v>
                </c:pt>
                <c:pt idx="54">
                  <c:v>2.429755210876465</c:v>
                </c:pt>
                <c:pt idx="55">
                  <c:v>2.414302693463645</c:v>
                </c:pt>
                <c:pt idx="56">
                  <c:v>1.9855239921356436</c:v>
                </c:pt>
                <c:pt idx="57">
                  <c:v>2.2727060317993164</c:v>
                </c:pt>
                <c:pt idx="58">
                  <c:v>1.5047415229914594</c:v>
                </c:pt>
                <c:pt idx="59">
                  <c:v>2.096988174646633</c:v>
                </c:pt>
                <c:pt idx="60">
                  <c:v>1.2430180311203003</c:v>
                </c:pt>
                <c:pt idx="61">
                  <c:v>1.8765354951200663</c:v>
                </c:pt>
                <c:pt idx="62">
                  <c:v>1.1062012380993083</c:v>
                </c:pt>
                <c:pt idx="63">
                  <c:v>1.616283178320933</c:v>
                </c:pt>
                <c:pt idx="64">
                  <c:v>0.9268072379986111</c:v>
                </c:pt>
                <c:pt idx="65">
                  <c:v>1.3148992988774528</c:v>
                </c:pt>
                <c:pt idx="66">
                  <c:v>0.7075210213618345</c:v>
                </c:pt>
                <c:pt idx="67">
                  <c:v>0.9682263202156484</c:v>
                </c:pt>
                <c:pt idx="68">
                  <c:v>0.448642982375272</c:v>
                </c:pt>
                <c:pt idx="69">
                  <c:v>0.48569443821907043</c:v>
                </c:pt>
                <c:pt idx="70">
                  <c:v>0.1706354270354866</c:v>
                </c:pt>
                <c:pt idx="71">
                  <c:v>0.16860746509599886</c:v>
                </c:pt>
                <c:pt idx="72">
                  <c:v>0.09562695771455765</c:v>
                </c:pt>
                <c:pt idx="73">
                  <c:v>0.01282157231763989</c:v>
                </c:pt>
                <c:pt idx="74">
                  <c:v>-0.019168023434189718</c:v>
                </c:pt>
                <c:pt idx="75">
                  <c:v>-0.02752266637980938</c:v>
                </c:pt>
                <c:pt idx="76">
                  <c:v>0.027418356801777177</c:v>
                </c:pt>
                <c:pt idx="77">
                  <c:v>-0.10666662620110155</c:v>
                </c:pt>
                <c:pt idx="78">
                  <c:v>-0.02715929908057054</c:v>
                </c:pt>
                <c:pt idx="79">
                  <c:v>-0.275151881907679</c:v>
                </c:pt>
                <c:pt idx="80">
                  <c:v>-0.10107965932832386</c:v>
                </c:pt>
                <c:pt idx="81">
                  <c:v>-0.49727728962466794</c:v>
                </c:pt>
                <c:pt idx="82">
                  <c:v>-0.2787888149425979</c:v>
                </c:pt>
                <c:pt idx="83">
                  <c:v>-0.8464470903059625</c:v>
                </c:pt>
                <c:pt idx="84">
                  <c:v>-0.5653073886987395</c:v>
                </c:pt>
                <c:pt idx="85">
                  <c:v>-1.2732854286853479</c:v>
                </c:pt>
                <c:pt idx="86">
                  <c:v>-0.9139017264022158</c:v>
                </c:pt>
                <c:pt idx="87">
                  <c:v>-1.5114900668559554</c:v>
                </c:pt>
                <c:pt idx="88">
                  <c:v>-1.2823777463639459</c:v>
                </c:pt>
                <c:pt idx="89">
                  <c:v>-1.5881090429127915</c:v>
                </c:pt>
                <c:pt idx="90">
                  <c:v>-1.655616044998169</c:v>
                </c:pt>
                <c:pt idx="91">
                  <c:v>-1.6423347261410808</c:v>
                </c:pt>
                <c:pt idx="92">
                  <c:v>-2.0328127675493124</c:v>
                </c:pt>
                <c:pt idx="93">
                  <c:v>-1.6921989917755127</c:v>
                </c:pt>
                <c:pt idx="94">
                  <c:v>-2.401669926106149</c:v>
                </c:pt>
                <c:pt idx="95">
                  <c:v>-1.7902530166838462</c:v>
                </c:pt>
                <c:pt idx="96">
                  <c:v>-2.77095897992452</c:v>
                </c:pt>
                <c:pt idx="97">
                  <c:v>-1.9957127836024595</c:v>
                </c:pt>
                <c:pt idx="98">
                  <c:v>-3.139532062737134</c:v>
                </c:pt>
                <c:pt idx="99">
                  <c:v>-2.1146423816758992</c:v>
                </c:pt>
                <c:pt idx="100">
                  <c:v>-3.381556007595615</c:v>
                </c:pt>
                <c:pt idx="101">
                  <c:v>-2.3943514294035215</c:v>
                </c:pt>
                <c:pt idx="102">
                  <c:v>-3.4426849683244125</c:v>
                </c:pt>
                <c:pt idx="103">
                  <c:v>-2.683668904840661</c:v>
                </c:pt>
                <c:pt idx="104">
                  <c:v>-3.441180229193935</c:v>
                </c:pt>
                <c:pt idx="105">
                  <c:v>-2.988655408216741</c:v>
                </c:pt>
                <c:pt idx="106">
                  <c:v>-3.4318338500259493</c:v>
                </c:pt>
                <c:pt idx="107">
                  <c:v>-3.309446785182701</c:v>
                </c:pt>
                <c:pt idx="108">
                  <c:v>-3.4406044483184814</c:v>
                </c:pt>
                <c:pt idx="109">
                  <c:v>-3.656566169511877</c:v>
                </c:pt>
                <c:pt idx="110">
                  <c:v>-3.476420587977052</c:v>
                </c:pt>
                <c:pt idx="111">
                  <c:v>-4.02199657758077</c:v>
                </c:pt>
                <c:pt idx="112">
                  <c:v>-3.5251252386395793</c:v>
                </c:pt>
                <c:pt idx="113">
                  <c:v>-4.363844235736175</c:v>
                </c:pt>
                <c:pt idx="114">
                  <c:v>-3.590461810429891</c:v>
                </c:pt>
                <c:pt idx="115">
                  <c:v>-4.558504210577774</c:v>
                </c:pt>
                <c:pt idx="116">
                  <c:v>-3.671208937967639</c:v>
                </c:pt>
                <c:pt idx="117">
                  <c:v>-4.710019111634756</c:v>
                </c:pt>
                <c:pt idx="118">
                  <c:v>-3.8277751869627057</c:v>
                </c:pt>
                <c:pt idx="119">
                  <c:v>-4.746182123824321</c:v>
                </c:pt>
                <c:pt idx="120">
                  <c:v>-4.010416189830296</c:v>
                </c:pt>
                <c:pt idx="121">
                  <c:v>-4.7951581743109415</c:v>
                </c:pt>
                <c:pt idx="122">
                  <c:v>-4.218027326786254</c:v>
                </c:pt>
                <c:pt idx="123">
                  <c:v>-4.8576065699297315</c:v>
                </c:pt>
                <c:pt idx="124">
                  <c:v>-4.601413938714676</c:v>
                </c:pt>
                <c:pt idx="125">
                  <c:v>-4.91343773736012</c:v>
                </c:pt>
                <c:pt idx="126">
                  <c:v>-4.980825901031494</c:v>
                </c:pt>
                <c:pt idx="127">
                  <c:v>-4.97152789434459</c:v>
                </c:pt>
                <c:pt idx="128">
                  <c:v>-5.321253882493675</c:v>
                </c:pt>
                <c:pt idx="129">
                  <c:v>-5.021417617797852</c:v>
                </c:pt>
                <c:pt idx="130">
                  <c:v>-5.618415726542142</c:v>
                </c:pt>
                <c:pt idx="131">
                  <c:v>-5.067547851142513</c:v>
                </c:pt>
                <c:pt idx="132">
                  <c:v>-5.686038017272949</c:v>
                </c:pt>
                <c:pt idx="133">
                  <c:v>-5.103114551969861</c:v>
                </c:pt>
                <c:pt idx="134">
                  <c:v>-5.683600107831414</c:v>
                </c:pt>
                <c:pt idx="135">
                  <c:v>-5.129808902748172</c:v>
                </c:pt>
                <c:pt idx="136">
                  <c:v>-5.676094584994015</c:v>
                </c:pt>
                <c:pt idx="137">
                  <c:v>-5.146068890891914</c:v>
                </c:pt>
                <c:pt idx="138">
                  <c:v>-5.662645975753422</c:v>
                </c:pt>
                <c:pt idx="139">
                  <c:v>-5.155683623424483</c:v>
                </c:pt>
                <c:pt idx="140">
                  <c:v>-5.643745528329349</c:v>
                </c:pt>
                <c:pt idx="141">
                  <c:v>-5.322558879845032</c:v>
                </c:pt>
                <c:pt idx="142">
                  <c:v>-5.613050301874039</c:v>
                </c:pt>
                <c:pt idx="143">
                  <c:v>-5.528575950196366</c:v>
                </c:pt>
                <c:pt idx="144">
                  <c:v>-5.584641933441162</c:v>
                </c:pt>
                <c:pt idx="145">
                  <c:v>-5.690762148952041</c:v>
                </c:pt>
                <c:pt idx="146">
                  <c:v>-5.542392518790036</c:v>
                </c:pt>
                <c:pt idx="147">
                  <c:v>-5.825932661692302</c:v>
                </c:pt>
                <c:pt idx="148">
                  <c:v>-5.501555972632481</c:v>
                </c:pt>
                <c:pt idx="149">
                  <c:v>-5.913998550841568</c:v>
                </c:pt>
                <c:pt idx="150">
                  <c:v>-5.458646933237712</c:v>
                </c:pt>
                <c:pt idx="151">
                  <c:v>-5.8689534399257886</c:v>
                </c:pt>
                <c:pt idx="152">
                  <c:v>-5.409776687624086</c:v>
                </c:pt>
                <c:pt idx="153">
                  <c:v>-5.82036209107053</c:v>
                </c:pt>
                <c:pt idx="154">
                  <c:v>-5.3502773708760545</c:v>
                </c:pt>
                <c:pt idx="155">
                  <c:v>-5.763143433466964</c:v>
                </c:pt>
                <c:pt idx="156">
                  <c:v>-5.27446254094861</c:v>
                </c:pt>
                <c:pt idx="157">
                  <c:v>-5.694913175375212</c:v>
                </c:pt>
                <c:pt idx="158">
                  <c:v>-5.250978151950009</c:v>
                </c:pt>
                <c:pt idx="159">
                  <c:v>-5.628146012626312</c:v>
                </c:pt>
                <c:pt idx="160">
                  <c:v>-5.385492589723654</c:v>
                </c:pt>
                <c:pt idx="161">
                  <c:v>-5.531843768226545</c:v>
                </c:pt>
                <c:pt idx="162">
                  <c:v>-5.518060684204102</c:v>
                </c:pt>
                <c:pt idx="163">
                  <c:v>-5.4233163197883805</c:v>
                </c:pt>
                <c:pt idx="164">
                  <c:v>-5.625337759637627</c:v>
                </c:pt>
                <c:pt idx="165">
                  <c:v>-5.296818574269612</c:v>
                </c:pt>
                <c:pt idx="166">
                  <c:v>-5.739915317946954</c:v>
                </c:pt>
                <c:pt idx="167">
                  <c:v>-5.146093686425342</c:v>
                </c:pt>
                <c:pt idx="168">
                  <c:v>-5.676017443347447</c:v>
                </c:pt>
                <c:pt idx="169">
                  <c:v>-4.97249990039595</c:v>
                </c:pt>
                <c:pt idx="170">
                  <c:v>-5.52887206607694</c:v>
                </c:pt>
                <c:pt idx="171">
                  <c:v>-4.770014762887711</c:v>
                </c:pt>
                <c:pt idx="172">
                  <c:v>-5.360419909158277</c:v>
                </c:pt>
                <c:pt idx="173">
                  <c:v>-4.5556851493014765</c:v>
                </c:pt>
                <c:pt idx="174">
                  <c:v>-5.1658034324714395</c:v>
                </c:pt>
                <c:pt idx="175">
                  <c:v>-4.359383106235686</c:v>
                </c:pt>
                <c:pt idx="176">
                  <c:v>-4.948694070183916</c:v>
                </c:pt>
                <c:pt idx="177">
                  <c:v>-4.383938948303726</c:v>
                </c:pt>
                <c:pt idx="178">
                  <c:v>-4.710578176718177</c:v>
                </c:pt>
                <c:pt idx="179">
                  <c:v>-4.45640659331962</c:v>
                </c:pt>
                <c:pt idx="180">
                  <c:v>-4.454156875610352</c:v>
                </c:pt>
                <c:pt idx="181">
                  <c:v>-4.51268211998704</c:v>
                </c:pt>
                <c:pt idx="182">
                  <c:v>-4.172357771142187</c:v>
                </c:pt>
                <c:pt idx="183">
                  <c:v>-4.547895431518555</c:v>
                </c:pt>
                <c:pt idx="184">
                  <c:v>-3.8779011302604</c:v>
                </c:pt>
                <c:pt idx="185">
                  <c:v>-4.520651234519524</c:v>
                </c:pt>
                <c:pt idx="186">
                  <c:v>-3.5658384164327726</c:v>
                </c:pt>
                <c:pt idx="187">
                  <c:v>-4.381729020011431</c:v>
                </c:pt>
                <c:pt idx="188">
                  <c:v>-3.235238896481347</c:v>
                </c:pt>
                <c:pt idx="189">
                  <c:v>-4.287888050070333</c:v>
                </c:pt>
                <c:pt idx="190">
                  <c:v>-3.0086527930381672</c:v>
                </c:pt>
                <c:pt idx="191">
                  <c:v>-4.0029612117403195</c:v>
                </c:pt>
                <c:pt idx="192">
                  <c:v>-2.940866390852283</c:v>
                </c:pt>
                <c:pt idx="193">
                  <c:v>-3.6993175612682485</c:v>
                </c:pt>
                <c:pt idx="194">
                  <c:v>-2.930475685324631</c:v>
                </c:pt>
                <c:pt idx="195">
                  <c:v>-3.3825802008378196</c:v>
                </c:pt>
                <c:pt idx="196">
                  <c:v>-2.925248199025967</c:v>
                </c:pt>
                <c:pt idx="197">
                  <c:v>-3.04154639774136</c:v>
                </c:pt>
                <c:pt idx="198">
                  <c:v>-2.899082660675049</c:v>
                </c:pt>
                <c:pt idx="199">
                  <c:v>-2.6828056176653985</c:v>
                </c:pt>
                <c:pt idx="200">
                  <c:v>-2.84481056529934</c:v>
                </c:pt>
                <c:pt idx="201">
                  <c:v>-2.292306343714396</c:v>
                </c:pt>
                <c:pt idx="202">
                  <c:v>-2.762550327504114</c:v>
                </c:pt>
                <c:pt idx="203">
                  <c:v>-1.9142248762991294</c:v>
                </c:pt>
                <c:pt idx="204">
                  <c:v>-2.6516602833919367</c:v>
                </c:pt>
                <c:pt idx="205">
                  <c:v>-1.6934757497573025</c:v>
                </c:pt>
                <c:pt idx="206">
                  <c:v>-2.504515753847559</c:v>
                </c:pt>
                <c:pt idx="207">
                  <c:v>-1.5231554508157523</c:v>
                </c:pt>
                <c:pt idx="208">
                  <c:v>-2.2869115405616536</c:v>
                </c:pt>
                <c:pt idx="209">
                  <c:v>-1.4157813390058385</c:v>
                </c:pt>
                <c:pt idx="210">
                  <c:v>-2.058901945744707</c:v>
                </c:pt>
                <c:pt idx="211">
                  <c:v>-1.2728656927678457</c:v>
                </c:pt>
                <c:pt idx="212">
                  <c:v>-1.7562525140009089</c:v>
                </c:pt>
                <c:pt idx="213">
                  <c:v>-1.090298374491069</c:v>
                </c:pt>
                <c:pt idx="214">
                  <c:v>-1.2097075780392466</c:v>
                </c:pt>
                <c:pt idx="215">
                  <c:v>-0.8682398862229699</c:v>
                </c:pt>
                <c:pt idx="216">
                  <c:v>-0.712135374546051</c:v>
                </c:pt>
                <c:pt idx="217">
                  <c:v>-0.6160853770005903</c:v>
                </c:pt>
                <c:pt idx="218">
                  <c:v>-0.30119670431758605</c:v>
                </c:pt>
                <c:pt idx="219">
                  <c:v>-0.31666938463846844</c:v>
                </c:pt>
                <c:pt idx="220">
                  <c:v>-0.030421056686599612</c:v>
                </c:pt>
                <c:pt idx="221">
                  <c:v>-0.2034079879509521</c:v>
                </c:pt>
                <c:pt idx="222">
                  <c:v>0.006694329904684996</c:v>
                </c:pt>
                <c:pt idx="223">
                  <c:v>-0.07197156382899729</c:v>
                </c:pt>
                <c:pt idx="224">
                  <c:v>0.049553874880311884</c:v>
                </c:pt>
                <c:pt idx="225">
                  <c:v>0.05968156829474957</c:v>
                </c:pt>
                <c:pt idx="226">
                  <c:v>0.04710835963495527</c:v>
                </c:pt>
                <c:pt idx="227">
                  <c:v>0.03411990176424608</c:v>
                </c:pt>
                <c:pt idx="228">
                  <c:v>0.24458225071286233</c:v>
                </c:pt>
                <c:pt idx="229">
                  <c:v>0.13526832643290512</c:v>
                </c:pt>
                <c:pt idx="230">
                  <c:v>0.4334193021103251</c:v>
                </c:pt>
                <c:pt idx="231">
                  <c:v>0.2973427871848731</c:v>
                </c:pt>
                <c:pt idx="232">
                  <c:v>0.5911991894365953</c:v>
                </c:pt>
                <c:pt idx="233">
                  <c:v>0.6026443242963062</c:v>
                </c:pt>
                <c:pt idx="234">
                  <c:v>0.7541072964668274</c:v>
                </c:pt>
                <c:pt idx="235">
                  <c:v>0.9782518413284216</c:v>
                </c:pt>
                <c:pt idx="236">
                  <c:v>0.9023489952265944</c:v>
                </c:pt>
                <c:pt idx="237">
                  <c:v>1.3956465323766072</c:v>
                </c:pt>
                <c:pt idx="238">
                  <c:v>0.9964761601704615</c:v>
                </c:pt>
                <c:pt idx="239">
                  <c:v>1.8253416485212504</c:v>
                </c:pt>
                <c:pt idx="240">
                  <c:v>1.2674499352680908</c:v>
                </c:pt>
                <c:pt idx="241">
                  <c:v>2.244147327208655</c:v>
                </c:pt>
                <c:pt idx="242">
                  <c:v>1.5988276269683432</c:v>
                </c:pt>
                <c:pt idx="243">
                  <c:v>2.6611249446742207</c:v>
                </c:pt>
                <c:pt idx="244">
                  <c:v>1.8855013185092027</c:v>
                </c:pt>
                <c:pt idx="245">
                  <c:v>2.92110882865205</c:v>
                </c:pt>
                <c:pt idx="246">
                  <c:v>2.2007926305037566</c:v>
                </c:pt>
                <c:pt idx="247">
                  <c:v>3.099854575268614</c:v>
                </c:pt>
                <c:pt idx="248">
                  <c:v>2.5145023663785673</c:v>
                </c:pt>
                <c:pt idx="249">
                  <c:v>3.1218722661415654</c:v>
                </c:pt>
                <c:pt idx="250">
                  <c:v>2.826051500097053</c:v>
                </c:pt>
                <c:pt idx="251">
                  <c:v>3.1127216021470567</c:v>
                </c:pt>
                <c:pt idx="252">
                  <c:v>3.1456217765808105</c:v>
                </c:pt>
                <c:pt idx="253">
                  <c:v>3.1138249503384086</c:v>
                </c:pt>
                <c:pt idx="254">
                  <c:v>3.4706463018900595</c:v>
                </c:pt>
                <c:pt idx="255">
                  <c:v>3.1254467169443765</c:v>
                </c:pt>
                <c:pt idx="256">
                  <c:v>3.8196494579199705</c:v>
                </c:pt>
                <c:pt idx="257">
                  <c:v>3.155742883690716</c:v>
                </c:pt>
                <c:pt idx="258">
                  <c:v>4.125779628741127</c:v>
                </c:pt>
                <c:pt idx="259">
                  <c:v>3.2038091553621926</c:v>
                </c:pt>
                <c:pt idx="260">
                  <c:v>4.366941610968992</c:v>
                </c:pt>
                <c:pt idx="261">
                  <c:v>3.268988370912236</c:v>
                </c:pt>
                <c:pt idx="262">
                  <c:v>4.471436712491457</c:v>
                </c:pt>
                <c:pt idx="263">
                  <c:v>3.54133955637337</c:v>
                </c:pt>
                <c:pt idx="264">
                  <c:v>4.486040751149533</c:v>
                </c:pt>
                <c:pt idx="265">
                  <c:v>3.762598594026228</c:v>
                </c:pt>
                <c:pt idx="266">
                  <c:v>4.516491519085057</c:v>
                </c:pt>
                <c:pt idx="267">
                  <c:v>4.08565537133924</c:v>
                </c:pt>
                <c:pt idx="268">
                  <c:v>4.560094515491546</c:v>
                </c:pt>
                <c:pt idx="269">
                  <c:v>4.462413310974228</c:v>
                </c:pt>
                <c:pt idx="270">
                  <c:v>4.620210647583008</c:v>
                </c:pt>
                <c:pt idx="271">
                  <c:v>4.851000361953574</c:v>
                </c:pt>
                <c:pt idx="272">
                  <c:v>4.69062768089361</c:v>
                </c:pt>
                <c:pt idx="273">
                  <c:v>5.248195966084798</c:v>
                </c:pt>
                <c:pt idx="274">
                  <c:v>4.765463617119</c:v>
                </c:pt>
                <c:pt idx="275">
                  <c:v>5.5551391707573465</c:v>
                </c:pt>
                <c:pt idx="276">
                  <c:v>4.835064093282159</c:v>
                </c:pt>
                <c:pt idx="277">
                  <c:v>5.574905289546202</c:v>
                </c:pt>
                <c:pt idx="278">
                  <c:v>4.900529384616235</c:v>
                </c:pt>
                <c:pt idx="279">
                  <c:v>5.591679573068349</c:v>
                </c:pt>
                <c:pt idx="280">
                  <c:v>4.960473166579715</c:v>
                </c:pt>
                <c:pt idx="281">
                  <c:v>5.605913109252436</c:v>
                </c:pt>
                <c:pt idx="282">
                  <c:v>5.007881959284997</c:v>
                </c:pt>
                <c:pt idx="283">
                  <c:v>5.608916918442124</c:v>
                </c:pt>
                <c:pt idx="284">
                  <c:v>5.112235334175977</c:v>
                </c:pt>
                <c:pt idx="285">
                  <c:v>5.609697818758668</c:v>
                </c:pt>
                <c:pt idx="286">
                  <c:v>5.3904065026016195</c:v>
                </c:pt>
                <c:pt idx="287">
                  <c:v>5.601187282146482</c:v>
                </c:pt>
                <c:pt idx="288">
                  <c:v>5.630590438842773</c:v>
                </c:pt>
                <c:pt idx="289">
                  <c:v>5.584945837661271</c:v>
                </c:pt>
                <c:pt idx="290">
                  <c:v>5.813461303696796</c:v>
                </c:pt>
                <c:pt idx="291">
                  <c:v>5.561901728312175</c:v>
                </c:pt>
                <c:pt idx="292">
                  <c:v>5.9664370748634985</c:v>
                </c:pt>
                <c:pt idx="293">
                  <c:v>5.535901811390642</c:v>
                </c:pt>
                <c:pt idx="294">
                  <c:v>5.97634172440203</c:v>
                </c:pt>
                <c:pt idx="295">
                  <c:v>5.502719773187956</c:v>
                </c:pt>
                <c:pt idx="296">
                  <c:v>5.922139962516284</c:v>
                </c:pt>
                <c:pt idx="297">
                  <c:v>5.457808017736795</c:v>
                </c:pt>
                <c:pt idx="298">
                  <c:v>5.870250172090601</c:v>
                </c:pt>
                <c:pt idx="299">
                  <c:v>5.410883426668268</c:v>
                </c:pt>
                <c:pt idx="300">
                  <c:v>5.81916236877842</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tickLblSkip val="1"/>
        <c:tickMarkSkip val="1"/>
        <c:noMultiLvlLbl val="0"/>
      </c:catAx>
      <c:valAx>
        <c:axId val="2140495176"/>
        <c:scaling>
          <c:max val="7.0"/>
          <c:min val="-7.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[1/47] 11.52 kVA 북미 V2G AC단</a:t>
            </a:r>
          </a:p>
          <a:p>
            <a:r>
              <a:t>dq 전류제어의 THD 개선 검토</a:t>
            </a:r>
          </a:p>
          <a:p>
            <a:r>
              <a:t>이번 공개본은 기술 사양·수치모델·분석과 검증만 담는다. 실제 제품 회로를 식별한 모델이나 인증된 제어기라는 의미는 아니다. 원시 데이터는 V7 모델에서 전부 새로 생성했다.</a:t>
            </a:r>
          </a:p>
          <a:p/>
          <a:p>
            <a:r>
              <a:t>근거: specification.json; results/summary.json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[2/47] 1. Define / 대상 사양</a:t>
            </a:r>
          </a:p>
          <a:p>
            <a:r>
              <a:t>[목적 및 방법]</a:t>
            </a:r>
          </a:p>
          <a:p>
            <a:r>
              <a:t>확정 사양을 실행 전 검사와 데이터 기록에 연결함</a:t>
            </a:r>
          </a:p>
          <a:p>
            <a:r>
              <a:t>[결과 해석]</a:t>
            </a:r>
          </a:p>
          <a:p>
            <a:r>
              <a:t>공칭 전압·전류·용량의 산술관계가 일치하며, dq 단위와 두 클록을 별도로 고정함.</a:t>
            </a:r>
          </a:p>
          <a:p/>
          <a:p>
            <a:r>
              <a:t>[적용 범위]</a:t>
            </a:r>
          </a:p>
          <a:p>
            <a:r>
              <a:t>240 Vac · 48 Arms · 11.52 kVA · Peak dq · PWM/제어 62.5 kHz(16 μs). 회로·검출계·LF 전환 및 잠정 판정은 참조모델의 가정이며 실물 검증이 아님.</a:t>
            </a:r>
          </a:p>
          <a:p/>
          <a:p>
            <a:r>
              <a:t>근거: specification.json; src/model.py assert_spec(); qa/unit_tests.json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[3/47] 1. Define / 변경 범위와 비교 원칙</a:t>
            </a:r>
          </a:p>
          <a:p>
            <a:r>
              <a:t>[목적 및 방법]</a:t>
            </a:r>
          </a:p>
          <a:p>
            <a:r>
              <a:t>전압 변경과 제어 개선의 효과를 혼합하지 않음</a:t>
            </a:r>
          </a:p>
          <a:p>
            <a:r>
              <a:t>[결과 해석]</a:t>
            </a:r>
          </a:p>
          <a:p>
            <a:r>
              <a:t>230 V 기준이었던 이전 해석을 240 V로 변경하고, 초기·DOE·개선·검증을 새로 계산함.</a:t>
            </a:r>
          </a:p>
          <a:p>
            <a:r>
              <a:t>수치해석 구현 및 문서 템플릿을 재사용하는 것과 이전 성능 데이터의 재사용은 다르다. 검증된 모델 구현을 사양에 맞춰 수정하고 모든 수치 실행을 새로 수행했다. 전압 ±10%는 연구자가 설정한 시험범위이며 규격 운전범위의 인용이 아니다.</a:t>
            </a:r>
          </a:p>
          <a:p>
            <a:r>
              <a:t>[적용 범위]</a:t>
            </a:r>
          </a:p>
          <a:p>
            <a:r>
              <a:t>240 Vac · 48 Arms · 11.52 kVA · Peak dq · PWM/제어 62.5 kHz(16 μs). 회로·검출계·LF 전환 및 잠정 판정은 참조모델의 가정이며 실물 검증이 아님.</a:t>
            </a:r>
          </a:p>
          <a:p/>
          <a:p>
            <a:r>
              <a:t>근거: specification.json; qa/frozen_protocol.json; source_lineage.json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[4/47] 1. Define / Project Y와 기술 목표</a:t>
            </a:r>
          </a:p>
          <a:p>
            <a:r>
              <a:t>[목적 및 방법]</a:t>
            </a:r>
          </a:p>
          <a:p>
            <a:r>
              <a:t>시험집합과 판정식을 먼저 고정함</a:t>
            </a:r>
          </a:p>
          <a:p>
            <a:r>
              <a:t>[결과 해석]</a:t>
            </a:r>
          </a:p>
          <a:p>
            <a:r>
              <a:t>동일 운전조건에서 THD 기준 만족률을 높이되, 다른 제약조건 미달을 숨기지 않음.</a:t>
            </a:r>
          </a:p>
          <a:p>
            <a:r>
              <a:t>THD 기준 만족과 모든 보조조건 만족을 분리한다. 어떤 후보도 보조조건을 만족하지 못하면 제약충족 최적안으로 부르지 않는다. 목표값을 맞추기 위한 초기 모델 보정 또는 실패조건 삭제는 수행하지 않았다.</a:t>
            </a:r>
          </a:p>
          <a:p>
            <a:r>
              <a:t>[적용 범위]</a:t>
            </a:r>
          </a:p>
          <a:p>
            <a:r>
              <a:t>240 Vac · 48 Arms · 11.52 kVA · Peak dq · PWM/제어 62.5 kHz(16 μs). 회로·검출계·LF 전환 및 잠정 판정은 참조모델의 가정이며 실물 검증이 아님.</a:t>
            </a:r>
          </a:p>
          <a:p/>
          <a:p>
            <a:r>
              <a:t>근거: specification.json; qa/frozen_protocol.json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[5/47] 1. Define / 업무 목표와 개선 지표</a:t>
            </a:r>
          </a:p>
          <a:p>
            <a:r>
              <a:t>[목적 및 방법]</a:t>
            </a:r>
          </a:p>
          <a:p>
            <a:r>
              <a:t>큰 목표에서 직접 측정할 수 있는 지표로 범위를 좁힘</a:t>
            </a:r>
          </a:p>
          <a:p>
            <a:r>
              <a:t>[결과 해석]</a:t>
            </a:r>
          </a:p>
          <a:p>
            <a:r>
              <a:t>제품의 계통연계 품질 확보를 위해 전류 품질을 개선하고, 모델 내 목표 달성 여부를 확인함.</a:t>
            </a:r>
          </a:p>
          <a:p/>
          <a:p>
            <a:r>
              <a:t>[적용 범위]</a:t>
            </a:r>
          </a:p>
          <a:p>
            <a:r>
              <a:t>240 Vac · 48 Arms · 11.52 kVA · Peak dq · PWM/제어 62.5 kHz(16 μs). 회로·검출계·LF 전환 및 잠정 판정은 참조모델의 가정이며 실물 검증이 아님.</a:t>
            </a:r>
          </a:p>
          <a:p/>
          <a:p>
            <a:r>
              <a:t>근거: specification.json; src/model.py; results/summary.json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[6/47] 1. Define / Peak dq 지령과 전력</a:t>
            </a:r>
          </a:p>
          <a:p>
            <a:r>
              <a:t>[목적 및 방법]</a:t>
            </a:r>
          </a:p>
          <a:p>
            <a:r>
              <a:t>Theta는 내부 동기각이며 외부 명령이 아님</a:t>
            </a:r>
          </a:p>
          <a:p>
            <a:r>
              <a:t>[결과 해석]</a:t>
            </a:r>
          </a:p>
          <a:p>
            <a:r>
              <a:t>전류제어기는 피크값 기준 id*와 iq*를 직접 입력받고, 각각의 DC 성분을 추종함.</a:t>
            </a:r>
          </a:p>
          <a:p>
            <a:r>
              <a:t>양의 d축은 계통 송전 유효전류이다. q축은 이 Park 정의에서 양수일 때 진상이며 Q는 음수다. DC 지령은 피크값으로 정의되므로 RMS 환산은 표시를 위해 한 번만 수행한다. 실제 고객 Q 부호를 확인한 것은 아니다.</a:t>
            </a:r>
          </a:p>
          <a:p>
            <a:r>
              <a:t>[적용 범위]</a:t>
            </a:r>
          </a:p>
          <a:p>
            <a:r>
              <a:t>240 Vac · 48 Arms · 11.52 kVA · Peak dq · PWM/제어 62.5 kHz(16 μs). 회로·검출계·LF 전환 및 잠정 판정은 참조모델의 가정이며 실물 검증이 아님.</a:t>
            </a:r>
          </a:p>
          <a:p/>
          <a:p>
            <a:r>
              <a:t>근거: src/model.py validate(), run_core(), measure(); qa/unit_tests.log</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[7/47] 1. Define / 시험 구성과 수량</a:t>
            </a:r>
          </a:p>
          <a:p>
            <a:r>
              <a:t>[목적 및 방법]</a:t>
            </a:r>
          </a:p>
          <a:p>
            <a:r>
              <a:t>조건 수와 해석 실행 수를 구분함</a:t>
            </a:r>
          </a:p>
          <a:p>
            <a:r>
              <a:t>[결과 해석]</a:t>
            </a:r>
          </a:p>
          <a:p>
            <a:r>
              <a:t>기준조건 47개 안에서 선정용 9개와 미사용 38개를 구분하며, 검증 집합별 분모를 유지함.</a:t>
            </a:r>
          </a:p>
          <a:p>
            <a:r>
              <a:t>기준전류 격자는 RMS 환산 설명용 값 d={0,4,8,16,32,48}, q=0 및 ±같은 수준으로 생성하고 합성48 A 이내의 비영 지령만 선택한다. 실제 API는 모두 Peak A이다. 9개 선정용 조건은 d=4,8,16에서 q=−d,0,+d이다. 38개는 47개에 포함된다.</a:t>
            </a:r>
          </a:p>
          <a:p>
            <a:r>
              <a:t>[적용 범위]</a:t>
            </a:r>
          </a:p>
          <a:p>
            <a:r>
              <a:t>240 Vac · 48 Arms · 11.52 kVA · Peak dq · PWM/제어 62.5 kHz(16 μs). 회로·검출계·LF 전환 및 잠정 판정은 참조모델의 가정이며 실물 검증이 아님.</a:t>
            </a:r>
          </a:p>
          <a:p/>
          <a:p>
            <a:r>
              <a:t>근거: results/*_conditions.csv; results/candidate_plan.csv; qa/frozen_protocol.json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[8/47] 1. Define / THD 측정과 판정</a:t>
            </a:r>
          </a:p>
          <a:p>
            <a:r>
              <a:t>[목적 및 방법]</a:t>
            </a:r>
          </a:p>
          <a:p>
            <a:r>
              <a:t>고조파 정의·평가 구간·분모를 고정함</a:t>
            </a:r>
          </a:p>
          <a:p>
            <a:r>
              <a:t>[결과 해석]</a:t>
            </a:r>
          </a:p>
          <a:p>
            <a:r>
              <a:t>THD₂–₄₀와 정격전류 대비 고조파 비율을 구분하고, 실제 전체 RMS 전류도 별도로 계산함.</a:t>
            </a:r>
          </a:p>
          <a:p>
            <a:r>
              <a:t>고조파 RMS를 기본파 RMS로 정규화하므로 낮은 전류에서 상대왜곡이 커질 수 있다. ih_over_rated_pct는 Iₕ합성을48 A로 나눈 별도 진단지표다. 인증용 지표와의 동등성은 본 해석에서 검증하지 않았다.</a:t>
            </a:r>
          </a:p>
          <a:p>
            <a:r>
              <a:t>[적용 범위]</a:t>
            </a:r>
          </a:p>
          <a:p>
            <a:r>
              <a:t>240 Vac · 48 Arms · 11.52 kVA · Peak dq · PWM/제어 62.5 kHz(16 μs). 회로·검출계·LF 전환 및 잠정 판정은 참조모델의 가정이며 실물 검증이 아님.</a:t>
            </a:r>
          </a:p>
          <a:p/>
          <a:p>
            <a:r>
              <a:t>근거: src/model.py harmonics_projection(), measure(); specification.json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[9/47] 1. Define / 보조 조건과 종합 판정</a:t>
            </a:r>
          </a:p>
          <a:p>
            <a:r>
              <a:t>[목적 및 방법]</a:t>
            </a:r>
          </a:p>
          <a:p>
            <a:r>
              <a:t>THD 개선만으로 제어안을 채택하지 않음</a:t>
            </a:r>
          </a:p>
          <a:p>
            <a:r>
              <a:t>[결과 해석]</a:t>
            </a:r>
          </a:p>
          <a:p>
            <a:r>
              <a:t>각 조건의 THD·전류 추종·전류 한계·제한 동작·주기적 정상상태를 동시에 판정함.</a:t>
            </a:r>
          </a:p>
          <a:p>
            <a:r>
              <a:t>주기성 판정은 PWM 리플의 주기별 비동기를 피하기 위해 1~7차 Fourier 계수 변화를 사용한다. 전체 비선형 폐루프 안정성 증명이 아니다. 전류피크75 A도 실제 보호사양이 아니며 RMS 정격에서 자동 도출된 값이 아니다.</a:t>
            </a:r>
          </a:p>
          <a:p>
            <a:r>
              <a:t>[적용 범위]</a:t>
            </a:r>
          </a:p>
          <a:p>
            <a:r>
              <a:t>240 Vac · 48 Arms · 11.52 kVA · Peak dq · PWM/제어 62.5 kHz(16 μs). 회로·검출계·LF 전환 및 잠정 판정은 참조모델의 가정이며 실물 검증이 아님.</a:t>
            </a:r>
          </a:p>
          <a:p/>
          <a:p>
            <a:r>
              <a:t>근거: src/model.py measure(); specification.json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[10/47] 2. Measure / 측정 시스템 구성</a:t>
            </a:r>
          </a:p>
          <a:p>
            <a:r>
              <a:t>[목적 및 방법]</a:t>
            </a:r>
          </a:p>
          <a:p>
            <a:r>
              <a:t>회로·제어·검출 경로를 분리함</a:t>
            </a:r>
          </a:p>
          <a:p>
            <a:r>
              <a:t>[결과 해석]</a:t>
            </a:r>
          </a:p>
          <a:p>
            <a:r>
              <a:t>기본 dq PI와 PLL은 유지하고, 개선 단계에서는 고조파 전류오차 피드백만 추가함.</a:t>
            </a:r>
          </a:p>
          <a:p>
            <a:r>
              <a:t>SOGI의 가상β축을 이용하는 단상 dq 모델이다. DC-link는 강성 전원이며 외부 전압제어와 CLLC 동역학은 포함하지 않는다. 실제 OBCM 전체 제어도 또는 확인된 양산SW 블록도로 사용하지 않는다.</a:t>
            </a:r>
          </a:p>
          <a:p>
            <a:r>
              <a:t>[적용 범위]</a:t>
            </a:r>
          </a:p>
          <a:p>
            <a:r>
              <a:t>240 Vac · 48 Arms · 11.52 kVA · Peak dq · PWM/제어 62.5 kHz(16 μs). 회로·검출계·LF 전환 및 잠정 판정은 참조모델의 가정이며 실물 검증이 아님.</a:t>
            </a:r>
          </a:p>
          <a:p/>
          <a:p>
            <a:r>
              <a:t>근거: src/model.py; specification.json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[11/47] 2. Measure / PWM·제어 동기</a:t>
            </a:r>
          </a:p>
          <a:p>
            <a:r>
              <a:t>[목적 및 방법]</a:t>
            </a:r>
          </a:p>
          <a:p>
            <a:r>
              <a:t>매 PWM 주기마다 제어 연산 1회 수행함</a:t>
            </a:r>
          </a:p>
          <a:p>
            <a:r>
              <a:t>[결과 해석]</a:t>
            </a:r>
          </a:p>
          <a:p>
            <a:r>
              <a:t>16 μs의 제어 주기와 ADC 샘플→PWM 반영 지연을 서로 다른 항목으로 기록함.</a:t>
            </a:r>
          </a:p>
          <a:p>
            <a:r>
              <a:t>TI 문서에서 ADC 이벤트와 PWM shadow load는 구분된 설정이다. 샘플링 및 적용 지연은 실제 MCU 설정을 제공받지 않아 가정했다. 제어 주기가16 μs라는 사실만으로 그 지연값이 확인되었다고 말하지 않는다.</a:t>
            </a:r>
          </a:p>
          <a:p>
            <a:r>
              <a:t>[적용 범위]</a:t>
            </a:r>
          </a:p>
          <a:p>
            <a:r>
              <a:t>240 Vac · 48 Arms · 11.52 kVA · Peak dq · PWM/제어 62.5 kHz(16 μs). 회로·검출계·LF 전환 및 잠정 판정은 참조모델의 가정이며 실물 검증이 아님.</a:t>
            </a:r>
          </a:p>
          <a:p/>
          <a:p>
            <a:r>
              <a:t>근거: src/model.py run_core(); qa/raw_audit.json; TI ePWM API</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[12/47] 2. Measure / 회로 모델 및 가정</a:t>
            </a:r>
          </a:p>
          <a:p>
            <a:r>
              <a:t>[목적 및 방법]</a:t>
            </a:r>
          </a:p>
          <a:p>
            <a:r>
              <a:t>스위칭 상태를 계산하되 실제 HW 모델로 과장하지 않음</a:t>
            </a:r>
          </a:p>
          <a:p>
            <a:r>
              <a:t>[결과 해석]</a:t>
            </a:r>
          </a:p>
          <a:p>
            <a:r>
              <a:t>구간별 브리지 전압으로 RL 전류와 센서 응답을 계산하며, 미제공 회로 정수는 가정값임.</a:t>
            </a:r>
          </a:p>
          <a:p>
            <a:r>
              <a:t>수치 출력 간격은2 μs지만 switching/dead-time 사건의 시각에서 내부 구간을 나누므로200 ns를2 μs로 반올림하지 않는다. 계통전압은 각 구간 중앙값으로 근사하며 대표 시간간격 세분화로 민감도를 확인한다. LF 전환 가정이 제품과 일치하는지는 별도 확인이 필요하다.</a:t>
            </a:r>
          </a:p>
          <a:p>
            <a:r>
              <a:t>[적용 범위]</a:t>
            </a:r>
          </a:p>
          <a:p>
            <a:r>
              <a:t>240 Vac · 48 Arms · 11.52 kVA · Peak dq · PWM/제어 62.5 kHz(16 μs). 회로·검출계·LF 전환 및 잠정 판정은 참조모델의 가정이며 실물 검증이 아님.</a:t>
            </a:r>
          </a:p>
          <a:p/>
          <a:p>
            <a:r>
              <a:t>근거: specification.json; src/model.py grid(), rl_sensor(), run_core()</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[13/47] 2. Measure / 데이터 신뢰성 확인</a:t>
            </a:r>
          </a:p>
          <a:p>
            <a:r>
              <a:t>[목적 및 방법]</a:t>
            </a:r>
          </a:p>
          <a:p>
            <a:r>
              <a:t>구현 검증·수치 검증·실물 검증을 구분함</a:t>
            </a:r>
          </a:p>
          <a:p>
            <a:r>
              <a:t>[결과 해석]</a:t>
            </a:r>
          </a:p>
          <a:p>
            <a:r>
              <a:t>결정론적 동일 입력 반복을 Gage R&amp;R 표본으로 만들지 않고, 계산 체계의 재현성을 확인함.</a:t>
            </a:r>
          </a:p>
          <a:p>
            <a:r>
              <a:t>데이터와 코드가 일치한다는 검증과 실제 제품을 재현한다는 검증은 다르다. 실제 측정시스템 평가의 대체 인정 여부도 별도 판단 사항이며 본 보고서가 스스로 승인하지 않는다.</a:t>
            </a:r>
          </a:p>
          <a:p>
            <a:r>
              <a:t>[적용 범위]</a:t>
            </a:r>
          </a:p>
          <a:p>
            <a:r>
              <a:t>240 Vac · 48 Arms · 11.52 kVA · Peak dq · PWM/제어 62.5 kHz(16 μs). 회로·검출계·LF 전환 및 잠정 판정은 참조모델의 가정이며 실물 검증이 아님.</a:t>
            </a:r>
          </a:p>
          <a:p/>
          <a:p>
            <a:r>
              <a:t>근거: qa/unit_tests.json; qa/raw_audit.json; qa/replay.json; results/refinement_comparison.csv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[14/47] 2. Measure / 현 수준 파악</a:t>
            </a:r>
          </a:p>
          <a:p>
            <a:r>
              <a:t>[목적 및 방법]</a:t>
            </a:r>
          </a:p>
          <a:p>
            <a:r>
              <a:t>240 V 기준의 초기 제어를 새로 계산함</a:t>
            </a:r>
          </a:p>
          <a:p>
            <a:r>
              <a:t>[결과 해석]</a:t>
            </a:r>
          </a:p>
          <a:p>
            <a:r>
              <a:t>47개 기준조건의 초기 평균 THD는 2.453%, 최대 7.787%로 확인됨.</a:t>
            </a:r>
          </a:p>
          <a:p>
            <a:r>
              <a:t>그래프의 가로축은 시간 순서가 아닌 조건 ID다. 출력전류가 넓은 범위로 구성된 유한집합의 평균이지 평균적인 제품/산업 성능 추정값이 아니다. 임의 초기 5~8% 보정은 하지 않았다.</a:t>
            </a:r>
          </a:p>
          <a:p>
            <a:r>
              <a:t>[적용 범위]</a:t>
            </a:r>
          </a:p>
          <a:p>
            <a:r>
              <a:t>240 Vac · 48 Arms · 11.52 kVA · Peak dq · PWM/제어 62.5 kHz(16 μs). 회로·검출계·LF 전환 및 잠정 판정은 참조모델의 가정이며 실물 검증이 아님.</a:t>
            </a:r>
          </a:p>
          <a:p/>
          <a:p>
            <a:r>
              <a:t>근거: results/baseline.csv; qa/frozen_protocol.json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[15/47] 2. Measure / 전류 수준별 현 수준</a:t>
            </a:r>
          </a:p>
          <a:p>
            <a:r>
              <a:t>[목적 및 방법]</a:t>
            </a:r>
          </a:p>
          <a:p>
            <a:r>
              <a:t>전류 크기로 층별 분석하여 취약 영역을 구분함</a:t>
            </a:r>
          </a:p>
          <a:p>
            <a:r>
              <a:t>[결과 해석]</a:t>
            </a:r>
          </a:p>
          <a:p>
            <a:r>
              <a:t>P=0이어도 Q 지령이 있으면 전류가 흐르므로, 저전류 여부는 dq 벡터 크기로 판단함.</a:t>
            </a:r>
          </a:p>
          <a:p>
            <a:r>
              <a:t>층별 경계는 사전에 정의한8/24/48 Arms 환산값이며 API는Peak A다. 시험분포를 알고리즘에 유리하게 바꾸거나 저전류 미달을 분모에서 제외하지 않는다.</a:t>
            </a:r>
          </a:p>
          <a:p>
            <a:r>
              <a:t>[적용 범위]</a:t>
            </a:r>
          </a:p>
          <a:p>
            <a:r>
              <a:t>240 Vac · 48 Arms · 11.52 kVA · Peak dq · PWM/제어 62.5 kHz(16 μs). 회로·검출계·LF 전환 및 잠정 판정은 참조모델의 가정이며 실물 검증이 아님.</a:t>
            </a:r>
          </a:p>
          <a:p/>
          <a:p>
            <a:r>
              <a:t>근거: results/current_strata.csv; results/baseline.csv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[16/47] 3. Analyze / 가인자 도출</a:t>
            </a:r>
          </a:p>
          <a:p>
            <a:r>
              <a:t>[목적 및 방법]</a:t>
            </a:r>
          </a:p>
          <a:p>
            <a:r>
              <a:t>영향 가능성과 변경 가능성으로 후보를 분류함</a:t>
            </a:r>
          </a:p>
          <a:p>
            <a:r>
              <a:t>[결과 해석]</a:t>
            </a:r>
          </a:p>
          <a:p>
            <a:r>
              <a:t>원인을 이미 확인한 것으로 가정하지 않고, 모델에 구현된 경로와 제어로 변경할 항목을 구분함.</a:t>
            </a:r>
          </a:p>
          <a:p/>
          <a:p>
            <a:r>
              <a:t>[적용 범위]</a:t>
            </a:r>
          </a:p>
          <a:p>
            <a:r>
              <a:t>240 Vac · 48 Arms · 11.52 kVA · Peak dq · PWM/제어 62.5 kHz(16 μs). 회로·검출계·LF 전환 및 잠정 판정은 참조모델의 가정이며 실물 검증이 아님.</a:t>
            </a:r>
          </a:p>
          <a:p/>
          <a:p>
            <a:r>
              <a:t>근거: src/model.py; results/ablation.csv; results/candidate_plan.csv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[17/47] 3. Analyze / 가정한 왜곡 경로 검토</a:t>
            </a:r>
          </a:p>
          <a:p>
            <a:r>
              <a:t>[목적 및 방법]</a:t>
            </a:r>
          </a:p>
          <a:p>
            <a:r>
              <a:t>하나의 가정만 변경한 진단 결과를 비교함</a:t>
            </a:r>
          </a:p>
          <a:p>
            <a:r>
              <a:t>[결과 해석]</a:t>
            </a:r>
          </a:p>
          <a:p>
            <a:r>
              <a:t>dead-time 제거와 검출계 이상화를 구분하여 초기 모델의 민감도를 확인함.</a:t>
            </a:r>
          </a:p>
          <a:p>
            <a:r>
              <a:t>이 비교에서 출력이 변했다는 것은 모델이 해당 요소에 민감하다는 증거이다. 단독 경로의 제거가 다른 폐루프 응답도 바꿀 수 있으므로 개선량을 선형적으로 더하거나 원인 기여율로 계산하지 않는다.</a:t>
            </a:r>
          </a:p>
          <a:p>
            <a:r>
              <a:t>[적용 범위]</a:t>
            </a:r>
          </a:p>
          <a:p>
            <a:r>
              <a:t>240 Vac · 48 Arms · 11.52 kVA · Peak dq · PWM/제어 62.5 kHz(16 μs). 회로·검출계·LF 전환 및 잠정 판정은 참조모델의 가정이며 실물 검증이 아님.</a:t>
            </a:r>
          </a:p>
          <a:p/>
          <a:p>
            <a:r>
              <a:t>근거: results/ablation.csv; src/study.py</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[18/47] 4. Improve / 개선 제어 구조</a:t>
            </a:r>
          </a:p>
          <a:p>
            <a:r>
              <a:t>[목적 및 방법]</a:t>
            </a:r>
          </a:p>
          <a:p>
            <a:r>
              <a:t>기본 dq PI에 선택 차수의 준공진 피드백을 추가함</a:t>
            </a:r>
          </a:p>
          <a:p>
            <a:r>
              <a:t>[결과 해석]</a:t>
            </a:r>
          </a:p>
          <a:p>
            <a:r>
              <a:t>회로와 기본 dq 지령을 유지한 채, 실제 전류오차의 고조파 성분에 보상 전압을 생성함.</a:t>
            </a:r>
          </a:p>
          <a:p>
            <a:r>
              <a:t>유한 대역 공진항을 사용한다. 추가 가정에 해당하는 전압 제한과 주파수 고정값을 기록한다. 공진 필터 극점의 안정성은 전체 비선형 폐루프의 안정여유를 보증하지 않는다.</a:t>
            </a:r>
          </a:p>
          <a:p>
            <a:r>
              <a:t>[적용 범위]</a:t>
            </a:r>
          </a:p>
          <a:p>
            <a:r>
              <a:t>240 Vac · 48 Arms · 11.52 kVA · Peak dq · PWM/제어 62.5 kHz(16 μs). 회로·검출계·LF 전환 및 잠정 판정은 참조모델의 가정이며 실물 검증이 아님.</a:t>
            </a:r>
          </a:p>
          <a:p/>
          <a:p>
            <a:r>
              <a:t>근거: src/model.py coefficients(), run_core(); Imperix TN110</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[19/47] 4. Improve / 실험계획과 선정 규칙</a:t>
            </a:r>
          </a:p>
          <a:p>
            <a:r>
              <a:t>[목적 및 방법]</a:t>
            </a:r>
          </a:p>
          <a:p>
            <a:r>
              <a:t>3인자 3수준의 모든 조합을 계산함</a:t>
            </a:r>
          </a:p>
          <a:p>
            <a:r>
              <a:t>[결과 해석]</a:t>
            </a:r>
          </a:p>
          <a:p>
            <a:r>
              <a:t>선정용 9개 운전조건에서 27개 제어 후보를 비교하고, 검증 결과를 보기 전에 설정을 고정함.</a:t>
            </a:r>
          </a:p>
          <a:p>
            <a:r>
              <a:t>완전요인배치는 각 인자를 다른 인자와 균형 있게 비교할 수 있는 설계다. 각 후보의9개 반응은 목적이 다른 운전조건이므로 순수 반복오차를 추정하는 데 사용하지 않는다. 결정론적 해석이므로 실행 순서는고정되며 실험 드리프트를 모사한 무작위 반복을 추가하지 않았다.</a:t>
            </a:r>
          </a:p>
          <a:p>
            <a:r>
              <a:t>[적용 범위]</a:t>
            </a:r>
          </a:p>
          <a:p>
            <a:r>
              <a:t>240 Vac · 48 Arms · 11.52 kVA · Peak dq · PWM/제어 62.5 kHz(16 μs). 회로·검출계·LF 전환 및 잠정 판정은 참조모델의 가정이며 실물 검증이 아님.</a:t>
            </a:r>
          </a:p>
          <a:p/>
          <a:p>
            <a:r>
              <a:t>근거: qa/frozen_protocol.json; results/candidate_plan.csv; src/study.py</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[20/47] 4. Improve / 주효과 해석</a:t>
            </a:r>
          </a:p>
          <a:p>
            <a:r>
              <a:t>[목적 및 방법]</a:t>
            </a:r>
          </a:p>
          <a:p>
            <a:r>
              <a:t>수준별 평균 차이로 우선 검토 인자를 판단함</a:t>
            </a:r>
          </a:p>
          <a:p>
            <a:r>
              <a:t>[결과 해석]</a:t>
            </a:r>
          </a:p>
          <a:p>
            <a:r>
              <a:t>다른 두 인자와 운전조건을 동일 가중 평균한 결과이며, 선택한 범위에서의 영향도임.</a:t>
            </a:r>
          </a:p>
          <a:p>
            <a:r>
              <a:t>세 그래프는 동일 세로축을 사용한다. 범위 밖 값의 효과 또는 실제 제조 산포에 대한 기여도는 알 수 없다. 다음 페이지에서 Kr와 차수의 조건 의존성을 확인한다.</a:t>
            </a:r>
          </a:p>
          <a:p>
            <a:r>
              <a:t>[적용 범위]</a:t>
            </a:r>
          </a:p>
          <a:p>
            <a:r>
              <a:t>240 Vac · 48 Arms · 11.52 kVA · Peak dq · PWM/제어 62.5 kHz(16 μs). 회로·검출계·LF 전환 및 잠정 판정은 참조모델의 가정이며 실물 검증이 아님.</a:t>
            </a:r>
          </a:p>
          <a:p/>
          <a:p>
            <a:r>
              <a:t>근거: results/main_effects.csv; results/doe.csv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[21/47] 4. Improve / 교호작용 해석</a:t>
            </a:r>
          </a:p>
          <a:p>
            <a:r>
              <a:t>[목적 및 방법]</a:t>
            </a:r>
          </a:p>
          <a:p>
            <a:r>
              <a:t>Kr의 효과가 차수 조합에 따라 달라지는지 확인함</a:t>
            </a:r>
          </a:p>
          <a:p>
            <a:r>
              <a:t>[결과 해석]</a:t>
            </a:r>
          </a:p>
          <a:p>
            <a:r>
              <a:t>다른 fc 수준과 운전조건을 평균하여, 이득 변경의 효과를 차수별로 비교함.</a:t>
            </a:r>
          </a:p>
          <a:p>
            <a:r>
              <a:t>교호작용은 한 인자 변화의 효과가 다른 인자에 의존하는 현상이다. 이 설계에서는 차수 조합별 Kr 효과를 비교한다. 그 자체가 특정 제품의 물리적 원인을 독립적으로 규명한다는 의미는 아니다.</a:t>
            </a:r>
          </a:p>
          <a:p>
            <a:r>
              <a:t>[적용 범위]</a:t>
            </a:r>
          </a:p>
          <a:p>
            <a:r>
              <a:t>240 Vac · 48 Arms · 11.52 kVA · Peak dq · PWM/제어 62.5 kHz(16 μs). 회로·검출계·LF 전환 및 잠정 판정은 참조모델의 가정이며 실물 검증이 아님.</a:t>
            </a:r>
          </a:p>
          <a:p/>
          <a:p>
            <a:r>
              <a:t>근거: results/interactions.csv; results/candidates.csv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[22/47] 4. Improve / 제어조건 선정</a:t>
            </a:r>
          </a:p>
          <a:p>
            <a:r>
              <a:t>[목적 및 방법]</a:t>
            </a:r>
          </a:p>
          <a:p>
            <a:r>
              <a:t>사전에 정한 순서로 후보를 선택하고 설정을 고정함</a:t>
            </a:r>
          </a:p>
          <a:p>
            <a:r>
              <a:t>[결과 해석]</a:t>
            </a:r>
          </a:p>
          <a:p>
            <a:r>
              <a:t>C21: Kr=18 Ω, fc=4 Hz, 3·5·7차를 검토 범위 내 선정안으로 결정함.</a:t>
            </a:r>
          </a:p>
          <a:p>
            <a:r>
              <a:t>종합 만족을 우선하므로 THD만 최저인 후보가 반드시 선정되는 것은 아니다. 표의 다른 후보도 모두 보존하며 부록에27개 결과 전체를 제시한다.</a:t>
            </a:r>
          </a:p>
          <a:p>
            <a:r>
              <a:t>[적용 범위]</a:t>
            </a:r>
          </a:p>
          <a:p>
            <a:r>
              <a:t>240 Vac · 48 Arms · 11.52 kVA · Peak dq · PWM/제어 62.5 kHz(16 μs). 회로·검출계·LF 전환 및 잠정 판정은 참조모델의 가정이며 실물 검증이 아님.</a:t>
            </a:r>
          </a:p>
          <a:p/>
          <a:p>
            <a:r>
              <a:t>근거: results/selected_control.json; results/candidates.csv; qa/execution.json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[23/47] 4. Improve / 기준조건 개선 효과</a:t>
            </a:r>
          </a:p>
          <a:p>
            <a:r>
              <a:t>[목적 및 방법]</a:t>
            </a:r>
          </a:p>
          <a:p>
            <a:r>
              <a:t>동일한 47개 조건을 초기·선정 제어로 대응 비교함</a:t>
            </a:r>
          </a:p>
          <a:p>
            <a:r>
              <a:t>[결과 해석]</a:t>
            </a:r>
          </a:p>
          <a:p>
            <a:r>
              <a:t>평균 THD 2.453% → 1.014%; THD 만족 42/47 → 47/47.</a:t>
            </a:r>
          </a:p>
          <a:p>
            <a:r>
              <a:t>동일Case별 초기−선정 THD의 평균은 1.43827817%p다. 미사용 조건은 기준집합 안에 포함된다. 다른 버전의 초기값을 사용하여 개선량을 계산하지 않는다.</a:t>
            </a:r>
          </a:p>
          <a:p>
            <a:r>
              <a:t>[적용 범위]</a:t>
            </a:r>
          </a:p>
          <a:p>
            <a:r>
              <a:t>240 Vac · 48 Arms · 11.52 kVA · Peak dq · PWM/제어 62.5 kHz(16 μs). 회로·검출계·LF 전환 및 잠정 판정은 참조모델의 가정이며 실물 검증이 아님.</a:t>
            </a:r>
          </a:p>
          <a:p/>
          <a:p>
            <a:r>
              <a:t>근거: results/baseline.csv; results/improved.csv; results/main_paired.csv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[24/47] 4. Improve / 저전류 영역 개선</a:t>
            </a:r>
          </a:p>
          <a:p>
            <a:r>
              <a:t>[목적 및 방법]</a:t>
            </a:r>
          </a:p>
          <a:p>
            <a:r>
              <a:t>전체 평균에 가려지는 취약 영역을 별도로 확인함</a:t>
            </a:r>
          </a:p>
          <a:p>
            <a:r>
              <a:t>[결과 해석]</a:t>
            </a:r>
          </a:p>
          <a:p>
            <a:r>
              <a:t>합성 지령의 RMS 환산값이 8 A 이하인 8개 조건: 평균 THD 5.871% → 2.247%.</a:t>
            </a:r>
          </a:p>
          <a:p>
            <a:r>
              <a:t>전류 수준별 분포가 다르므로 전체 평균과 저전류 평균을 동시에 보여준다. 초기5~8%의 숫자를 요구조건처럼 만들어 맞춘 것은 아니며 계산된 결과만 제시한다.</a:t>
            </a:r>
          </a:p>
          <a:p>
            <a:r>
              <a:t>[적용 범위]</a:t>
            </a:r>
          </a:p>
          <a:p>
            <a:r>
              <a:t>240 Vac · 48 Arms · 11.52 kVA · Peak dq · PWM/제어 62.5 kHz(16 μs). 회로·검출계·LF 전환 및 잠정 판정은 참조모델의 가정이며 실물 검증이 아님.</a:t>
            </a:r>
          </a:p>
          <a:p/>
          <a:p>
            <a:r>
              <a:t>근거: results/current_strata.csv; results/baseline.csv; results/improved.csv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[25/47] 4. Improve / 선정 미사용 조건</a:t>
            </a:r>
          </a:p>
          <a:p>
            <a:r>
              <a:t>[목적 및 방법]</a:t>
            </a:r>
          </a:p>
          <a:p>
            <a:r>
              <a:t>선정에 사용하지 않은 38개 운전조건을 분리함</a:t>
            </a:r>
          </a:p>
          <a:p>
            <a:r>
              <a:t>[결과 해석]</a:t>
            </a:r>
          </a:p>
          <a:p>
            <a:r>
              <a:t>같은 수치모델에서 조건 선정에 사용하지 않은 영역도 개선되는지 확인함.</a:t>
            </a:r>
          </a:p>
          <a:p/>
          <a:p>
            <a:r>
              <a:t>[적용 범위]</a:t>
            </a:r>
          </a:p>
          <a:p>
            <a:r>
              <a:t>240 Vac · 48 Arms · 11.52 kVA · Peak dq · PWM/제어 62.5 kHz(16 μs). 회로·검출계·LF 전환 및 잠정 판정은 참조모델의 가정이며 실물 검증이 아님.</a:t>
            </a:r>
          </a:p>
          <a:p/>
          <a:p>
            <a:r>
              <a:t>근거: results/main_conditions.csv; qa/frozen_protocol.json; results/summary.json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[26/47] 4. Improve / 전압 변화 확인</a:t>
            </a:r>
          </a:p>
          <a:p>
            <a:r>
              <a:t>[목적 및 방법]</a:t>
            </a:r>
          </a:p>
          <a:p>
            <a:r>
              <a:t>216 V·264 V에서 같은 Peak dq 전류를 지령함</a:t>
            </a:r>
          </a:p>
          <a:p>
            <a:r>
              <a:t>[결과 해석]</a:t>
            </a:r>
          </a:p>
          <a:p>
            <a:r>
              <a:t>전압 변화에 따라 전력도 달라지는 시험이며, 일정전력 제어 시험으로 해석하지 않음.</a:t>
            </a:r>
          </a:p>
          <a:p>
            <a:r>
              <a:t>사양의공칭용량과전체전압범위의전류/전력capability는별개이다. 전압시험은고정전류지령모델의스트레스확인이다. 요구사항미확인상태에서해당조건을공식정격영역으로승인하지않는다.</a:t>
            </a:r>
          </a:p>
          <a:p>
            <a:r>
              <a:t>[적용 범위]</a:t>
            </a:r>
          </a:p>
          <a:p>
            <a:r>
              <a:t>240 Vac · 48 Arms · 11.52 kVA · Peak dq · PWM/제어 62.5 kHz(16 μs). 회로·검출계·LF 전환 및 잠정 판정은 참조모델의 가정이며 실물 검증이 아님.</a:t>
            </a:r>
          </a:p>
          <a:p/>
          <a:p>
            <a:r>
              <a:t>근거: results/voltage_conditions.csv; results/voltage.csv; results/voltage_paired.csv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[27/47] 4. Improve / 회로·검출계 편차</a:t>
            </a:r>
          </a:p>
          <a:p>
            <a:r>
              <a:t>[목적 및 방법]</a:t>
            </a:r>
          </a:p>
          <a:p>
            <a:r>
              <a:t>선정한 설정을 고정하고 24개 가정 변경 조건을 확인함</a:t>
            </a:r>
          </a:p>
          <a:p>
            <a:r>
              <a:t>[결과 해석]</a:t>
            </a:r>
          </a:p>
          <a:p>
            <a:r>
              <a:t>범위별 배치(LHS)를 사용했으며 제조공차 분포나 제품 신뢰도 표본으로 취급하지 않음.</a:t>
            </a:r>
          </a:p>
          <a:p>
            <a:r>
              <a:t>LHS는분포구간을고르게배치하는설계도구다. 이번실제제조분포는없으므로24개조건의비율에제품불량확률의의미를부여하지않는다. 공진주파수는60Hz기준으로고정되어주파수변동을계수재튜닝으로제거하지않는다.</a:t>
            </a:r>
          </a:p>
          <a:p>
            <a:r>
              <a:t>[적용 범위]</a:t>
            </a:r>
          </a:p>
          <a:p>
            <a:r>
              <a:t>240 Vac · 48 Arms · 11.52 kVA · Peak dq · PWM/제어 62.5 kHz(16 μs). 회로·검출계·LF 전환 및 잠정 판정은 참조모델의 가정이며 실물 검증이 아님.</a:t>
            </a:r>
          </a:p>
          <a:p/>
          <a:p>
            <a:r>
              <a:t>근거: results/variation_conditions.csv; results/variation.csv; results/variation_paired.csv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[28/47] 4. Improve / LF 전환 가정 검증</a:t>
            </a:r>
          </a:p>
          <a:p>
            <a:r>
              <a:t>[목적 및 방법]</a:t>
            </a:r>
          </a:p>
          <a:p>
            <a:r>
              <a:t>저주파 레그의 전환 규칙을 바꾸어 모델 의존성을 확인함</a:t>
            </a:r>
          </a:p>
          <a:p>
            <a:r>
              <a:t>[결과 해석]</a:t>
            </a:r>
          </a:p>
          <a:p>
            <a:r>
              <a:t>기준은 브리지 전압 명령 부호형이며, 아래는 계통전압 부호형으로 변경한 별도 결과임.</a:t>
            </a:r>
          </a:p>
          <a:p>
            <a:r>
              <a:t>실물 totem-pole의영교차·LF blanking·실제스위칭상태에따라성능과포화가달라질수있다. 본질적인모델불확도로기록하며THD가낮다는이유로이검증을생략하지않는다.</a:t>
            </a:r>
          </a:p>
          <a:p>
            <a:r>
              <a:t>[적용 범위]</a:t>
            </a:r>
          </a:p>
          <a:p>
            <a:r>
              <a:t>240 Vac · 48 Arms · 11.52 kVA · Peak dq · PWM/제어 62.5 kHz(16 μs). 회로·검출계·LF 전환 및 잠정 판정은 참조모델의 가정이며 실물 검증이 아님.</a:t>
            </a:r>
          </a:p>
          <a:p/>
          <a:p>
            <a:r>
              <a:t>근거: results/structure.csv; src/model.py lf_grid_polarity</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[29/47] 4. Improve / 잔여 미달과 부작용</a:t>
            </a:r>
          </a:p>
          <a:p>
            <a:r>
              <a:t>[목적 및 방법]</a:t>
            </a:r>
          </a:p>
          <a:p>
            <a:r>
              <a:t>실패조건을 보존하고 판정 항목별로 구분함</a:t>
            </a:r>
          </a:p>
          <a:p>
            <a:r>
              <a:t>[결과 해석]</a:t>
            </a:r>
          </a:p>
          <a:p>
            <a:r>
              <a:t>기준조건 2개, 회로·검출 편차조건 3개의 종합 미달을 별도 추적함.</a:t>
            </a:r>
          </a:p>
          <a:p>
            <a:r>
              <a:t>기본파 지령을48Arms로맞춰도리플·고조파·검출오차로전체RMS가한계를넘을수있다. 지령여유나전체RMS제한제어는별도개선대안이며이번DOE에포함하지않았다. 미달을삭제하여성공률을높이지않는다.</a:t>
            </a:r>
          </a:p>
          <a:p>
            <a:r>
              <a:t>[적용 범위]</a:t>
            </a:r>
          </a:p>
          <a:p>
            <a:r>
              <a:t>240 Vac · 48 Arms · 11.52 kVA · Peak dq · PWM/제어 62.5 kHz(16 μs). 회로·검출계·LF 전환 및 잠정 판정은 참조모델의 가정이며 실물 검증이 아님.</a:t>
            </a:r>
          </a:p>
          <a:p/>
          <a:p>
            <a:r>
              <a:t>근거: results/main_failures.csv; results/variation.csv; results/refinement_comparison.csv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[30/47] 4. Improve / d·q축 과도응답</a:t>
            </a:r>
          </a:p>
          <a:p>
            <a:r>
              <a:t>[목적 및 방법]</a:t>
            </a:r>
          </a:p>
          <a:p>
            <a:r>
              <a:t>정상상태 THD와 과도응답의 성과를 구분함</a:t>
            </a:r>
          </a:p>
          <a:p>
            <a:r>
              <a:t>[결과 해석]</a:t>
            </a:r>
          </a:p>
          <a:p>
            <a:r>
              <a:t>d축 단독 변화, q축 단독 변화, q축 반전 및 정격 접근을 각각 확인함.</a:t>
            </a:r>
          </a:p>
          <a:p>
            <a:r>
              <a:t>필터는오프라인후처리이며실제제어피드백에추가하지않는다. 축간과도변화는THD지표만으로평가할수없다. 과도피크는정상상태raw평가구간과동일하지않으므로이보고서가전시간구간의순간피크보호를검증했다고표현하지않는다.</a:t>
            </a:r>
          </a:p>
          <a:p>
            <a:r>
              <a:t>[적용 범위]</a:t>
            </a:r>
          </a:p>
          <a:p>
            <a:r>
              <a:t>240 Vac · 48 Arms · 11.52 kVA · Peak dq · PWM/제어 62.5 kHz(16 μs). 회로·검출계·LF 전환 및 잠정 판정은 참조모델의 가정이며 실물 검증이 아님.</a:t>
            </a:r>
          </a:p>
          <a:p/>
          <a:p>
            <a:r>
              <a:t>근거: results/transient_envelope.csv; results/transient.csv; src/analyze.py</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[31/47] 4. Improve / 수치 민감도 확인</a:t>
            </a:r>
          </a:p>
          <a:p>
            <a:r>
              <a:t>[목적 및 방법]</a:t>
            </a:r>
          </a:p>
          <a:p>
            <a:r>
              <a:t>시간간격·계산기간·고조파 계산법을 교차 확인함</a:t>
            </a:r>
          </a:p>
          <a:p>
            <a:r>
              <a:t>[결과 해석]</a:t>
            </a:r>
          </a:p>
          <a:p>
            <a:r>
              <a:t>대표조건의 관측 민감도를 기록하며, 이를 모든 운전조건의 오차 상한으로 확대하지 않음.</a:t>
            </a:r>
          </a:p>
          <a:p/>
          <a:p>
            <a:r>
              <a:t>[적용 범위]</a:t>
            </a:r>
          </a:p>
          <a:p>
            <a:r>
              <a:t>240 Vac · 48 Arms · 11.52 kVA · Peak dq · PWM/제어 62.5 kHz(16 μs). 회로·검출계·LF 전환 및 잠정 판정은 참조모델의 가정이며 실물 검증이 아님.</a:t>
            </a:r>
          </a:p>
          <a:p/>
          <a:p>
            <a:r>
              <a:t>근거: results/refinement_comparison.csv; results/duration_comparison.csv; qa/fft_crosscheck.csv; qa/replay.json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[32/47] 5. Control / 표준화와 재검증</a:t>
            </a:r>
          </a:p>
          <a:p>
            <a:r>
              <a:t>[목적 및 방법]</a:t>
            </a:r>
          </a:p>
          <a:p>
            <a:r>
              <a:t>사양·조건·선정값·원자료·보고서를 함께 관리함</a:t>
            </a:r>
          </a:p>
          <a:p>
            <a:r>
              <a:t>[결과 해석]</a:t>
            </a:r>
          </a:p>
          <a:p>
            <a:r>
              <a:t>사양 변경 시 문서 숫자만 수정하지 않고, 같은 검증 절차로 다시 계산함.</a:t>
            </a:r>
          </a:p>
          <a:p/>
          <a:p>
            <a:r>
              <a:t>[적용 범위]</a:t>
            </a:r>
          </a:p>
          <a:p>
            <a:r>
              <a:t>240 Vac · 48 Arms · 11.52 kVA · Peak dq · PWM/제어 62.5 kHz(16 μs). 회로·검출계·LF 전환 및 잠정 판정은 참조모델의 가정이며 실물 검증이 아님.</a:t>
            </a:r>
          </a:p>
          <a:p/>
          <a:p>
            <a:r>
              <a:t>근거: qa/frozen_protocol.json; results/selected_control.json; docs/Model_and_Conventions.md</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[33/47] 5. Control / 성과와 적용 범위</a:t>
            </a:r>
          </a:p>
          <a:p>
            <a:r>
              <a:t>[목적 및 방법]</a:t>
            </a:r>
          </a:p>
          <a:p>
            <a:r>
              <a:t>수치 성과와 실제 제품 성과를 구분함</a:t>
            </a:r>
          </a:p>
          <a:p>
            <a:r>
              <a:t>[결과 해석]</a:t>
            </a:r>
          </a:p>
          <a:p>
            <a:r>
              <a:t>동일조건 THD 개선은 확인했으나, 실물 신뢰성·제조 수율·비용 절감액으로 확대하지 않음.</a:t>
            </a:r>
          </a:p>
          <a:p>
            <a:r>
              <a:t>비용절감액은시험장비가없어서발생하지않은금액을임의추정한것이아니다. 실제과제에서승인된성과산정방식과기초자료가주어지면별도로계산할수있으나이번결론에는없다.</a:t>
            </a:r>
          </a:p>
          <a:p>
            <a:r>
              <a:t>[적용 범위]</a:t>
            </a:r>
          </a:p>
          <a:p>
            <a:r>
              <a:t>240 Vac · 48 Arms · 11.52 kVA · Peak dq · PWM/제어 62.5 kHz(16 μs). 회로·검출계·LF 전환 및 잠정 판정은 참조모델의 가정이며 실물 검증이 아님.</a:t>
            </a:r>
          </a:p>
          <a:p/>
          <a:p>
            <a:r>
              <a:t>근거: results/summary.json; specification.json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[34/47] 5. Control / 최종 기술 판단</a:t>
            </a:r>
          </a:p>
          <a:p>
            <a:r>
              <a:t>[목적 및 방법]</a:t>
            </a:r>
          </a:p>
          <a:p>
            <a:r>
              <a:t>목표 달성과 미달 항목을 함께 결론에 반영함</a:t>
            </a:r>
          </a:p>
          <a:p>
            <a:r>
              <a:t>[결과 해석]</a:t>
            </a:r>
          </a:p>
          <a:p>
            <a:r>
              <a:t>240 V 기준 THD 목표: 달성 (47/47). 종합 판정과 모델 한계는 별도 관리함.</a:t>
            </a:r>
          </a:p>
          <a:p>
            <a:r>
              <a:t>목표는기준47개에대한THD만족률95%다. 인증상태와제품승인에는다른근거가필요하다. 해석데이터생성과검토완료를과제최종승인또는양산적용완료로표현하지않는다.</a:t>
            </a:r>
          </a:p>
          <a:p>
            <a:r>
              <a:t>[적용 범위]</a:t>
            </a:r>
          </a:p>
          <a:p>
            <a:r>
              <a:t>240 Vac · 48 Arms · 11.52 kVA · Peak dq · PWM/제어 62.5 kHz(16 μs). 회로·검출계·LF 전환 및 잠정 판정은 참조모델의 가정이며 실물 검증이 아님.</a:t>
            </a:r>
          </a:p>
          <a:p/>
          <a:p>
            <a:r>
              <a:t>근거: results/summary.json; results/*_paired.csv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[35/47] 용어집 01 / 사양·신호</a:t>
            </a:r>
          </a:p>
          <a:p>
            <a:r>
              <a:t>[목적 및 방법]</a:t>
            </a:r>
          </a:p>
          <a:p>
            <a:r>
              <a:t>용어의 정의와 이번 과제의 적용 범위를 함께 설명함</a:t>
            </a:r>
          </a:p>
          <a:p>
            <a:r>
              <a:t>[결과 해석]</a:t>
            </a:r>
          </a:p>
          <a:p>
            <a:r>
              <a:t>숫자·단위·평가 집합이 혼동되지 않도록 본문과 같은 정의를 사용함.</a:t>
            </a:r>
          </a:p>
          <a:p/>
          <a:p>
            <a:r>
              <a:t>[적용 범위]</a:t>
            </a:r>
          </a:p>
          <a:p>
            <a:r>
              <a:t>240 Vac · 48 Arms · 11.52 kVA · Peak dq · PWM/제어 62.5 kHz(16 μs). 회로·검출계·LF 전환 및 잠정 판정은 참조모델의 가정이며 실물 검증이 아님.</a:t>
            </a:r>
          </a:p>
          <a:p/>
          <a:p>
            <a:r>
              <a:t>근거: docs/Glossary.md; src/model.py; specification.json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[36/47] 용어집 02 / 측정·판정</a:t>
            </a:r>
          </a:p>
          <a:p>
            <a:r>
              <a:t>[목적 및 방법]</a:t>
            </a:r>
          </a:p>
          <a:p>
            <a:r>
              <a:t>용어의 정의와 이번 과제의 적용 범위를 함께 설명함</a:t>
            </a:r>
          </a:p>
          <a:p>
            <a:r>
              <a:t>[결과 해석]</a:t>
            </a:r>
          </a:p>
          <a:p>
            <a:r>
              <a:t>숫자·단위·평가 집합이 혼동되지 않도록 본문과 같은 정의를 사용함.</a:t>
            </a:r>
          </a:p>
          <a:p/>
          <a:p>
            <a:r>
              <a:t>[적용 범위]</a:t>
            </a:r>
          </a:p>
          <a:p>
            <a:r>
              <a:t>240 Vac · 48 Arms · 11.52 kVA · Peak dq · PWM/제어 62.5 kHz(16 μs). 회로·검출계·LF 전환 및 잠정 판정은 참조모델의 가정이며 실물 검증이 아님.</a:t>
            </a:r>
          </a:p>
          <a:p/>
          <a:p>
            <a:r>
              <a:t>근거: docs/Glossary.md; src/model.py; specification.json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[37/47] 용어집 03 / 모델·시간축</a:t>
            </a:r>
          </a:p>
          <a:p>
            <a:r>
              <a:t>[목적 및 방법]</a:t>
            </a:r>
          </a:p>
          <a:p>
            <a:r>
              <a:t>용어의 정의와 이번 과제의 적용 범위를 함께 설명함</a:t>
            </a:r>
          </a:p>
          <a:p>
            <a:r>
              <a:t>[결과 해석]</a:t>
            </a:r>
          </a:p>
          <a:p>
            <a:r>
              <a:t>숫자·단위·평가 집합이 혼동되지 않도록 본문과 같은 정의를 사용함.</a:t>
            </a:r>
          </a:p>
          <a:p/>
          <a:p>
            <a:r>
              <a:t>[적용 범위]</a:t>
            </a:r>
          </a:p>
          <a:p>
            <a:r>
              <a:t>240 Vac · 48 Arms · 11.52 kVA · Peak dq · PWM/제어 62.5 kHz(16 μs). 회로·검출계·LF 전환 및 잠정 판정은 참조모델의 가정이며 실물 검증이 아님.</a:t>
            </a:r>
          </a:p>
          <a:p/>
          <a:p>
            <a:r>
              <a:t>근거: docs/Glossary.md; src/model.py; specification.json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[38/47] 용어집 04 / 제어·통계</a:t>
            </a:r>
          </a:p>
          <a:p>
            <a:r>
              <a:t>[목적 및 방법]</a:t>
            </a:r>
          </a:p>
          <a:p>
            <a:r>
              <a:t>용어의 정의와 이번 과제의 적용 범위를 함께 설명함</a:t>
            </a:r>
          </a:p>
          <a:p>
            <a:r>
              <a:t>[결과 해석]</a:t>
            </a:r>
          </a:p>
          <a:p>
            <a:r>
              <a:t>숫자·단위·평가 집합이 혼동되지 않도록 본문과 같은 정의를 사용함.</a:t>
            </a:r>
          </a:p>
          <a:p/>
          <a:p>
            <a:r>
              <a:t>[적용 범위]</a:t>
            </a:r>
          </a:p>
          <a:p>
            <a:r>
              <a:t>240 Vac · 48 Arms · 11.52 kVA · Peak dq · PWM/제어 62.5 kHz(16 μs). 회로·검출계·LF 전환 및 잠정 판정은 참조모델의 가정이며 실물 검증이 아님.</a:t>
            </a:r>
          </a:p>
          <a:p/>
          <a:p>
            <a:r>
              <a:t>근거: docs/Glossary.md; src/model.py; specification.json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[39/47] 용어집 05 / 시험·증거</a:t>
            </a:r>
          </a:p>
          <a:p>
            <a:r>
              <a:t>[목적 및 방법]</a:t>
            </a:r>
          </a:p>
          <a:p>
            <a:r>
              <a:t>용어의 정의와 이번 과제의 적용 범위를 함께 설명함</a:t>
            </a:r>
          </a:p>
          <a:p>
            <a:r>
              <a:t>[결과 해석]</a:t>
            </a:r>
          </a:p>
          <a:p>
            <a:r>
              <a:t>숫자·단위·평가 집합이 혼동되지 않도록 본문과 같은 정의를 사용함.</a:t>
            </a:r>
          </a:p>
          <a:p/>
          <a:p>
            <a:r>
              <a:t>[적용 범위]</a:t>
            </a:r>
          </a:p>
          <a:p>
            <a:r>
              <a:t>240 Vac · 48 Arms · 11.52 kVA · Peak dq · PWM/제어 62.5 kHz(16 μs). 회로·검출계·LF 전환 및 잠정 판정은 참조모델의 가정이며 실물 검증이 아님.</a:t>
            </a:r>
          </a:p>
          <a:p/>
          <a:p>
            <a:r>
              <a:t>근거: docs/Glossary.md; src/model.py; specification.json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[40/47] 부록 / 제곱합 분해</a:t>
            </a:r>
          </a:p>
          <a:p>
            <a:r>
              <a:t>[목적 및 방법]</a:t>
            </a:r>
          </a:p>
          <a:p>
            <a:r>
              <a:t>27개 후보 평균의 반응 변동을 분해함</a:t>
            </a:r>
          </a:p>
          <a:p>
            <a:r>
              <a:t>[결과 해석]</a:t>
            </a:r>
          </a:p>
          <a:p>
            <a:r>
              <a:t>3인자3수준의 모든 교호항을 포함하면 오차 자유도가 남지 않으므로 F·p를 계산하지 않음.</a:t>
            </a:r>
          </a:p>
          <a:p>
            <a:r>
              <a:t>자유도 합은2+2+2+4+4+4+8=26이다. 각반응은9개운전조건의동일가중평균이다. 독립반복오차가없으며고차교호항을0으로가정하는별도정당화도하지않았으므로F통계량이나p-value를추가하지않는다. 실제모집단과오차구조가정의된다면다른추론설계를검토할수있다.</a:t>
            </a:r>
          </a:p>
          <a:p>
            <a:r>
              <a:t>[적용 범위]</a:t>
            </a:r>
          </a:p>
          <a:p>
            <a:r>
              <a:t>240 Vac · 48 Arms · 11.52 kVA · Peak dq · PWM/제어 62.5 kHz(16 μs). 회로·검출계·LF 전환 및 잠정 판정은 참조모델의 가정이며 실물 검증이 아님.</a:t>
            </a:r>
          </a:p>
          <a:p/>
          <a:p>
            <a:r>
              <a:t>근거: results/factorial_decomposition.csv; NIST §5.3.3.9</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[41/47] 부록 / 제어식과 해석식</a:t>
            </a:r>
          </a:p>
          <a:p>
            <a:r>
              <a:t>[목적 및 방법]</a:t>
            </a:r>
          </a:p>
          <a:p>
            <a:r>
              <a:t>디지털 구현에 사용한 부호·시간축을 정리함</a:t>
            </a:r>
          </a:p>
          <a:p>
            <a:r>
              <a:t>[결과 해석]</a:t>
            </a:r>
          </a:p>
          <a:p>
            <a:r>
              <a:t>기본파60 Hz와 Ts=16 μs를 구분하고, 피크값 dq의 변환 및 보상 계수를 명시함.</a:t>
            </a:r>
          </a:p>
          <a:p/>
          <a:p>
            <a:r>
              <a:t>[적용 범위]</a:t>
            </a:r>
          </a:p>
          <a:p>
            <a:r>
              <a:t>240 Vac · 48 Arms · 11.52 kVA · Peak dq · PWM/제어 62.5 kHz(16 μs). 회로·검출계·LF 전환 및 잠정 판정은 참조모델의 가정이며 실물 검증이 아님.</a:t>
            </a:r>
          </a:p>
          <a:p/>
          <a:p>
            <a:r>
              <a:t>근거: src/model.py coefficients(), run_core(); Imperix TN110</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[42/47] 부록 / DOE 전체 후보 1~14</a:t>
            </a:r>
          </a:p>
          <a:p>
            <a:r>
              <a:t>[목적 및 방법]</a:t>
            </a:r>
          </a:p>
          <a:p>
            <a:r>
              <a:t>선정 외 후보를 포함한 모든 반응값을 보존함</a:t>
            </a:r>
          </a:p>
          <a:p>
            <a:r>
              <a:t>[결과 해석]</a:t>
            </a:r>
          </a:p>
          <a:p>
            <a:r>
              <a:t>Kr[Ω], fc[Hz], THD[%]. 후보1개는 서로 다른9개 운전조건을 요약한 결과임.</a:t>
            </a:r>
          </a:p>
          <a:p/>
          <a:p>
            <a:r>
              <a:t>[적용 범위]</a:t>
            </a:r>
          </a:p>
          <a:p>
            <a:r>
              <a:t>240 Vac · 48 Arms · 11.52 kVA · Peak dq · PWM/제어 62.5 kHz(16 μs). 회로·검출계·LF 전환 및 잠정 판정은 참조모델의 가정이며 실물 검증이 아님.</a:t>
            </a:r>
          </a:p>
          <a:p/>
          <a:p>
            <a:r>
              <a:t>근거: results/candidates.csv; results/doe.csv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[43/47] 부록 / DOE 전체 후보 15~27</a:t>
            </a:r>
          </a:p>
          <a:p>
            <a:r>
              <a:t>[목적 및 방법]</a:t>
            </a:r>
          </a:p>
          <a:p>
            <a:r>
              <a:t>선정 외 후보를 포함한 모든 반응값을 보존함</a:t>
            </a:r>
          </a:p>
          <a:p>
            <a:r>
              <a:t>[결과 해석]</a:t>
            </a:r>
          </a:p>
          <a:p>
            <a:r>
              <a:t>Kr[Ω], fc[Hz], THD[%]. 후보1개는 서로 다른9개 운전조건을 요약한 결과임.</a:t>
            </a:r>
          </a:p>
          <a:p/>
          <a:p>
            <a:r>
              <a:t>[적용 범위]</a:t>
            </a:r>
          </a:p>
          <a:p>
            <a:r>
              <a:t>240 Vac · 48 Arms · 11.52 kVA · Peak dq · PWM/제어 62.5 kHz(16 μs). 회로·검출계·LF 전환 및 잠정 판정은 참조모델의 가정이며 실물 검증이 아님.</a:t>
            </a:r>
          </a:p>
          <a:p/>
          <a:p>
            <a:r>
              <a:t>근거: results/candidates.csv; results/doe.csv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[44/47] 부록 / 기준 운전조건 ID 1~24</a:t>
            </a:r>
          </a:p>
          <a:p>
            <a:r>
              <a:t>[목적 및 방법]</a:t>
            </a:r>
          </a:p>
          <a:p>
            <a:r>
              <a:t>240 V의 모든 dq 입력을 Peak A로 표시함</a:t>
            </a:r>
          </a:p>
          <a:p>
            <a:r>
              <a:t>[결과 해석]</a:t>
            </a:r>
          </a:p>
          <a:p>
            <a:r>
              <a:t>9개 선정용과38개 미사용 조건을 구분함. 반올림 전 입력값은 CSV에 보존함.</a:t>
            </a:r>
          </a:p>
          <a:p/>
          <a:p>
            <a:r>
              <a:t>[적용 범위]</a:t>
            </a:r>
          </a:p>
          <a:p>
            <a:r>
              <a:t>240 Vac · 48 Arms · 11.52 kVA · Peak dq · PWM/제어 62.5 kHz(16 μs). 회로·검출계·LF 전환 및 잠정 판정은 참조모델의 가정이며 실물 검증이 아님.</a:t>
            </a:r>
          </a:p>
          <a:p/>
          <a:p>
            <a:r>
              <a:t>근거: results/main_conditions.csv; qa/frozen_protocol.json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[45/47] 부록 / 기준 운전조건 ID 25~47</a:t>
            </a:r>
          </a:p>
          <a:p>
            <a:r>
              <a:t>[목적 및 방법]</a:t>
            </a:r>
          </a:p>
          <a:p>
            <a:r>
              <a:t>240 V의 모든 dq 입력을 Peak A로 표시함</a:t>
            </a:r>
          </a:p>
          <a:p>
            <a:r>
              <a:t>[결과 해석]</a:t>
            </a:r>
          </a:p>
          <a:p>
            <a:r>
              <a:t>9개 선정용과38개 미사용 조건을 구분함. 반올림 전 입력값은 CSV에 보존함.</a:t>
            </a:r>
          </a:p>
          <a:p/>
          <a:p>
            <a:r>
              <a:t>[적용 범위]</a:t>
            </a:r>
          </a:p>
          <a:p>
            <a:r>
              <a:t>240 Vac · 48 Arms · 11.52 kVA · Peak dq · PWM/제어 62.5 kHz(16 μs). 회로·검출계·LF 전환 및 잠정 판정은 참조모델의 가정이며 실물 검증이 아님.</a:t>
            </a:r>
          </a:p>
          <a:p/>
          <a:p>
            <a:r>
              <a:t>근거: results/main_conditions.csv; qa/frozen_protocol.json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[46/47] 부록 / 대표 파형과 차수별 변화</a:t>
            </a:r>
          </a:p>
          <a:p>
            <a:r>
              <a:t>[목적 및 방법]</a:t>
            </a:r>
          </a:p>
          <a:p>
            <a:r>
              <a:t>표시 파형과 계산에 사용한 원시 데이터를 구분함</a:t>
            </a:r>
          </a:p>
          <a:p>
            <a:r>
              <a:t>[결과 해석]</a:t>
            </a:r>
          </a:p>
          <a:p>
            <a:r>
              <a:t>N015: id*=5.657 Apeak, iq*=0, 240 V / THD 7.787% → 3.145%.</a:t>
            </a:r>
          </a:p>
          <a:p/>
          <a:p>
            <a:r>
              <a:t>[적용 범위]</a:t>
            </a:r>
          </a:p>
          <a:p>
            <a:r>
              <a:t>240 Vac · 48 Arms · 11.52 kVA · Peak dq · PWM/제어 62.5 kHz(16 μs). 회로·검출계·LF 전환 및 잠정 판정은 참조모델의 가정이며 실물 검증이 아님.</a:t>
            </a:r>
          </a:p>
          <a:p/>
          <a:p>
            <a:r>
              <a:t>근거: waveforms/*N015*.npz; results/baseline.csv; results/improved.csv</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[47/47] 부록 / 데이터 추적 및 재현</a:t>
            </a:r>
          </a:p>
          <a:p>
            <a:r>
              <a:t>[목적 및 방법]</a:t>
            </a:r>
          </a:p>
          <a:p>
            <a:r>
              <a:t>사양과 실행 결과의 연결을 파일 단위로 유지함</a:t>
            </a:r>
          </a:p>
          <a:p>
            <a:r>
              <a:t>[결과 해석]</a:t>
            </a:r>
          </a:p>
          <a:p>
            <a:r>
              <a:t>공개본은 수치모델·코드·데이터·방법 근거로 구성하며 사내 절차자료를 포함하지 않음.</a:t>
            </a:r>
          </a:p>
          <a:p>
            <a:r>
              <a:t>기존파형이있으면study.py는덮어쓰지않고중단한다. 보고서만재생성할경우make_report.py를사용한다. 공개한파일목록과해시를기록하며이전데이터가성과입력에들어오지않았는지검사한다.</a:t>
            </a:r>
          </a:p>
          <a:p>
            <a:r>
              <a:t>[적용 범위]</a:t>
            </a:r>
          </a:p>
          <a:p>
            <a:r>
              <a:t>240 Vac · 48 Arms · 11.52 kVA · Peak dq · PWM/제어 62.5 kHz(16 μs). 회로·검출계·LF 전환 및 잠정 판정은 참조모델의 가정이며 실물 검증이 아님.</a:t>
            </a:r>
          </a:p>
          <a:p/>
          <a:p>
            <a:r>
              <a:t>근거: README.md; sources/references.md; qa/frozen_protocol.json</a:t>
            </a:r>
          </a:p>
          <a:p>
            <a:r>
              <a:t>데이터 출처: SSBB-V7-20260928 / 502 freshly computed runs / Peak dq / 16 us</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 Id="rId4" Type="http://schemas.openxmlformats.org/officeDocument/2006/relationships/slide" Target="slide7.xml"/><Relationship Id="rId5" Type="http://schemas.openxmlformats.org/officeDocument/2006/relationships/slide" Target="slide35.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20.xml"/><Relationship Id="rId6" Type="http://schemas.openxmlformats.org/officeDocument/2006/relationships/slide" Target="slide7.xml"/><Relationship Id="rId7" Type="http://schemas.openxmlformats.org/officeDocument/2006/relationships/slide" Target="slide35.xml"/><Relationship Id="rId8" Type="http://schemas.openxmlformats.org/officeDocument/2006/relationships/slide" Target="slide2.xml"/><Relationship Id="rId9" Type="http://schemas.openxmlformats.org/officeDocument/2006/relationships/slide" Target="slide10.xml"/><Relationship Id="rId10" Type="http://schemas.openxmlformats.org/officeDocument/2006/relationships/slide" Target="slide16.xml"/><Relationship Id="rId11" Type="http://schemas.openxmlformats.org/officeDocument/2006/relationships/slide" Target="slide18.xml"/><Relationship Id="rId12" Type="http://schemas.openxmlformats.org/officeDocument/2006/relationships/slide" Target="slide3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21.xml"/><Relationship Id="rId4" Type="http://schemas.openxmlformats.org/officeDocument/2006/relationships/slide" Target="slide7.xml"/><Relationship Id="rId5" Type="http://schemas.openxmlformats.org/officeDocument/2006/relationships/slide" Target="slide35.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23.xml"/><Relationship Id="rId4" Type="http://schemas.openxmlformats.org/officeDocument/2006/relationships/slide" Target="slide7.xml"/><Relationship Id="rId5" Type="http://schemas.openxmlformats.org/officeDocument/2006/relationships/slide" Target="slide35.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24.xml"/><Relationship Id="rId4" Type="http://schemas.openxmlformats.org/officeDocument/2006/relationships/slide" Target="slide7.xml"/><Relationship Id="rId5" Type="http://schemas.openxmlformats.org/officeDocument/2006/relationships/slide" Target="slide35.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18.xml"/><Relationship Id="rId9" Type="http://schemas.openxmlformats.org/officeDocument/2006/relationships/slide" Target="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46.xml"/><Relationship Id="rId4" Type="http://schemas.openxmlformats.org/officeDocument/2006/relationships/slide" Target="slide7.xml"/><Relationship Id="rId5" Type="http://schemas.openxmlformats.org/officeDocument/2006/relationships/slide" Target="slide35.xml"/><Relationship Id="rId6" Type="http://schemas.openxmlformats.org/officeDocument/2006/relationships/slide" Target="slide23.xml"/><Relationship Id="rId7" Type="http://schemas.openxmlformats.org/officeDocument/2006/relationships/slide" Target="slide2.xml"/><Relationship Id="rId8" Type="http://schemas.openxmlformats.org/officeDocument/2006/relationships/slide" Target="slide10.xml"/><Relationship Id="rId9" Type="http://schemas.openxmlformats.org/officeDocument/2006/relationships/slide" Target="slide16.xml"/><Relationship Id="rId10" Type="http://schemas.openxmlformats.org/officeDocument/2006/relationships/slide" Target="slide18.xml"/><Relationship Id="rId11" Type="http://schemas.openxmlformats.org/officeDocument/2006/relationships/slide" Target="slide3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slide" Target="slide7.xml"/><Relationship Id="rId4" Type="http://schemas.openxmlformats.org/officeDocument/2006/relationships/slide" Target="slide35.xml"/><Relationship Id="rId5" Type="http://schemas.openxmlformats.org/officeDocument/2006/relationships/slide" Target="slide23.xml"/><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4632" y="365760"/>
            <a:ext cx="8686800" cy="41148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Six Sigma BB 과제 보고서</a:t>
            </a:r>
          </a:p>
        </p:txBody>
      </p:sp>
      <p:cxnSp>
        <p:nvCxnSpPr>
          <p:cNvPr id="3" name="Connector 2"/>
          <p:cNvCxnSpPr/>
          <p:nvPr/>
        </p:nvCxnSpPr>
        <p:spPr>
          <a:xfrm>
            <a:off x="0" y="941832"/>
            <a:ext cx="9905999" cy="0"/>
          </a:xfrm>
          <a:prstGeom prst="line">
            <a:avLst/>
          </a:prstGeom>
          <a:ln w="8890">
            <a:solidFill>
              <a:srgbClr val="000000"/>
            </a:solidFill>
          </a:ln>
          <a:effectLst/>
        </p:spPr>
      </p:cxnSp>
      <p:sp>
        <p:nvSpPr>
          <p:cNvPr id="4" name="TextBox 3"/>
          <p:cNvSpPr txBox="1"/>
          <p:nvPr/>
        </p:nvSpPr>
        <p:spPr>
          <a:xfrm>
            <a:off x="566928" y="1481328"/>
            <a:ext cx="8759952" cy="129844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700" b="1">
                <a:solidFill>
                  <a:srgbClr val="000000"/>
                </a:solidFill>
                <a:latin typeface="Malgun Gothic"/>
                <a:ea typeface="Malgun Gothic"/>
                <a:cs typeface="Malgun Gothic"/>
              </a:rPr>
              <a:t>11.52 kVA 북미 V2G AC단</a:t>
            </a:r>
          </a:p>
          <a:p>
            <a:pPr algn="l">
              <a:lnSpc>
                <a:spcPct val="108000"/>
              </a:lnSpc>
              <a:spcBef>
                <a:spcPts val="0"/>
              </a:spcBef>
              <a:spcAft>
                <a:spcPts val="200"/>
              </a:spcAft>
            </a:pPr>
            <a:r>
              <a:rPr sz="2700" b="1">
                <a:solidFill>
                  <a:srgbClr val="000000"/>
                </a:solidFill>
                <a:latin typeface="Malgun Gothic"/>
                <a:ea typeface="Malgun Gothic"/>
                <a:cs typeface="Malgun Gothic"/>
              </a:rPr>
              <a:t>dq 전류제어의 THD 개선 검토</a:t>
            </a:r>
          </a:p>
        </p:txBody>
      </p:sp>
      <p:sp>
        <p:nvSpPr>
          <p:cNvPr id="5" name="TextBox 4"/>
          <p:cNvSpPr txBox="1"/>
          <p:nvPr/>
        </p:nvSpPr>
        <p:spPr>
          <a:xfrm>
            <a:off x="594360" y="3063240"/>
            <a:ext cx="8595360" cy="64008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600" b="1">
                <a:solidFill>
                  <a:srgbClr val="000000"/>
                </a:solidFill>
                <a:latin typeface="Malgun Gothic"/>
                <a:ea typeface="Malgun Gothic"/>
                <a:cs typeface="Malgun Gothic"/>
              </a:rPr>
              <a:t>240 Vac · 48 Arms · Peak dq</a:t>
            </a:r>
          </a:p>
          <a:p>
            <a:pPr algn="l">
              <a:lnSpc>
                <a:spcPct val="108000"/>
              </a:lnSpc>
              <a:spcBef>
                <a:spcPts val="0"/>
              </a:spcBef>
              <a:spcAft>
                <a:spcPts val="200"/>
              </a:spcAft>
            </a:pPr>
            <a:r>
              <a:rPr sz="1600" b="1">
                <a:solidFill>
                  <a:srgbClr val="000000"/>
                </a:solidFill>
                <a:latin typeface="Malgun Gothic"/>
                <a:ea typeface="Malgun Gothic"/>
                <a:cs typeface="Malgun Gothic"/>
              </a:rPr>
              <a:t>PWM 및 제어 연산 모두 62.5 kHz / 16 μs</a:t>
            </a:r>
          </a:p>
        </p:txBody>
      </p:sp>
      <p:sp>
        <p:nvSpPr>
          <p:cNvPr id="6" name="Rectangle 5"/>
          <p:cNvSpPr/>
          <p:nvPr/>
        </p:nvSpPr>
        <p:spPr>
          <a:xfrm>
            <a:off x="594360" y="3730752"/>
            <a:ext cx="8732520" cy="438912"/>
          </a:xfrm>
          <a:prstGeom prst="rect">
            <a:avLst/>
          </a:prstGeom>
          <a:solidFill>
            <a:srgbClr val="EFEFEF"/>
          </a:solidFill>
          <a:ln w="8255">
            <a:solidFill>
              <a:srgbClr val="B8B8B8"/>
            </a:solidFill>
          </a:ln>
          <a:effectLst/>
        </p:spPr>
        <p:txBody>
          <a:bodyPr rtlCol="0" anchor="ctr"/>
          <a:lstStyle/>
          <a:p>
            <a:pPr algn="ctr"/>
          </a:p>
        </p:txBody>
      </p:sp>
      <p:sp>
        <p:nvSpPr>
          <p:cNvPr id="7" name="TextBox 6"/>
          <p:cNvSpPr txBox="1"/>
          <p:nvPr/>
        </p:nvSpPr>
        <p:spPr>
          <a:xfrm>
            <a:off x="731520" y="3813048"/>
            <a:ext cx="8412480" cy="292608"/>
          </a:xfrm>
          <a:prstGeom prst="rect">
            <a:avLst/>
          </a:prstGeom>
          <a:noFill/>
        </p:spPr>
        <p:txBody>
          <a:bodyPr wrap="square" lIns="22860" rIns="22860" tIns="22860" bIns="22860" anchor="t">
            <a:spAutoFit/>
          </a:bodyPr>
          <a:lstStyle/>
          <a:p>
            <a:pPr algn="ctr">
              <a:lnSpc>
                <a:spcPct val="108000"/>
              </a:lnSpc>
              <a:spcBef>
                <a:spcPts val="0"/>
              </a:spcBef>
              <a:spcAft>
                <a:spcPts val="200"/>
              </a:spcAft>
            </a:pPr>
            <a:r>
              <a:rPr sz="1400" b="1">
                <a:solidFill>
                  <a:srgbClr val="000000"/>
                </a:solidFill>
                <a:latin typeface="Malgun Gothic"/>
                <a:ea typeface="Malgun Gothic"/>
                <a:cs typeface="Malgun Gothic"/>
              </a:rPr>
              <a:t>Define  →  Measure  →  Analyze  →  Improve  →  Control</a:t>
            </a:r>
          </a:p>
        </p:txBody>
      </p:sp>
      <p:sp>
        <p:nvSpPr>
          <p:cNvPr id="8" name="TextBox 7"/>
          <p:cNvSpPr txBox="1"/>
          <p:nvPr/>
        </p:nvSpPr>
        <p:spPr>
          <a:xfrm>
            <a:off x="621792" y="4800600"/>
            <a:ext cx="8412480" cy="47548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500" b="0">
                <a:solidFill>
                  <a:srgbClr val="000000"/>
                </a:solidFill>
                <a:latin typeface="Malgun Gothic"/>
                <a:ea typeface="Malgun Gothic"/>
                <a:cs typeface="Malgun Gothic"/>
              </a:rPr>
              <a:t>SSBB 수치해석 연구 | V7 기술 공개본</a:t>
            </a:r>
          </a:p>
        </p:txBody>
      </p:sp>
      <p:sp>
        <p:nvSpPr>
          <p:cNvPr id="9" name="TextBox 8"/>
          <p:cNvSpPr txBox="1"/>
          <p:nvPr/>
        </p:nvSpPr>
        <p:spPr>
          <a:xfrm>
            <a:off x="621792" y="5504688"/>
            <a:ext cx="84124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V7 · 2026.09.28</a:t>
            </a:r>
          </a:p>
          <a:p>
            <a:pPr algn="l">
              <a:lnSpc>
                <a:spcPct val="108000"/>
              </a:lnSpc>
              <a:spcBef>
                <a:spcPts val="0"/>
              </a:spcBef>
              <a:spcAft>
                <a:spcPts val="200"/>
              </a:spcAft>
            </a:pPr>
            <a:r>
              <a:rPr sz="1100" b="0">
                <a:solidFill>
                  <a:srgbClr val="555555"/>
                </a:solidFill>
                <a:latin typeface="Malgun Gothic"/>
                <a:ea typeface="Malgun Gothic"/>
                <a:cs typeface="Malgun Gothic"/>
              </a:rPr>
              <a:t>240×48=11.52 kVA | 새 수치해석 결과 기반</a:t>
            </a:r>
          </a:p>
        </p:txBody>
      </p:sp>
      <p:cxnSp>
        <p:nvCxnSpPr>
          <p:cNvPr id="10" name="Connector 9"/>
          <p:cNvCxnSpPr/>
          <p:nvPr/>
        </p:nvCxnSpPr>
        <p:spPr>
          <a:xfrm>
            <a:off x="365760" y="6419088"/>
            <a:ext cx="9180576" cy="0"/>
          </a:xfrm>
          <a:prstGeom prst="line">
            <a:avLst/>
          </a:prstGeom>
          <a:ln w="5715">
            <a:solidFill>
              <a:srgbClr val="000000"/>
            </a:solidFill>
          </a:ln>
          <a:effectLst/>
        </p:spPr>
      </p:cxnSp>
      <p:sp>
        <p:nvSpPr>
          <p:cNvPr id="11" name="TextBox 10"/>
          <p:cNvSpPr txBox="1"/>
          <p:nvPr/>
        </p:nvSpPr>
        <p:spPr>
          <a:xfrm>
            <a:off x="393192" y="6510528"/>
            <a:ext cx="8961120" cy="20116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819" b="0">
                <a:solidFill>
                  <a:srgbClr val="555555"/>
                </a:solidFill>
                <a:latin typeface="Malgun Gothic"/>
                <a:ea typeface="Malgun Gothic"/>
                <a:cs typeface="Malgun Gothic"/>
              </a:rPr>
              <a:t>문서·수치 데이터 V7  |  240 Vac · 48 Arms | PWM·제어 62.5 kHz / 16 μs | Peak dq  |  실제 제품 검증과 구분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대상 사양</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확정 사양을 실행 전 검사와 데이터 기록에 연결함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공칭 전압·전류·용량의 산술관계가 일치하며, dq 단위와 두 클록을 별도로 고정함.</a:t>
            </a:r>
          </a:p>
        </p:txBody>
      </p:sp>
      <p:graphicFrame>
        <p:nvGraphicFramePr>
          <p:cNvPr id="17" name="Table 16"/>
          <p:cNvGraphicFramePr>
            <a:graphicFrameLocks noGrp="1"/>
          </p:cNvGraphicFramePr>
          <p:nvPr/>
        </p:nvGraphicFramePr>
        <p:xfrm>
          <a:off x="502920" y="2011680"/>
          <a:ext cx="8869680" cy="3474716"/>
        </p:xfrm>
        <a:graphic>
          <a:graphicData uri="http://schemas.openxmlformats.org/drawingml/2006/table">
            <a:tbl>
              <a:tblPr firstRow="1" bandRow="1">
                <a:tableStyleId>{5C22544A-7EE6-4342-B048-85BDC9FD1C3A}</a:tableStyleId>
              </a:tblPr>
              <a:tblGrid>
                <a:gridCol w="2011680"/>
                <a:gridCol w="3657600"/>
                <a:gridCol w="3200400"/>
              </a:tblGrid>
              <a:tr h="496388">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V7 적용값</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확인 방법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공칭 AC 전압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240 Vrms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조건 및 사양 검사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정격 AC 전류 / 용량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 Arms / 11.52 kVA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240×48=11,520 VA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외부 dq 입력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id*, iq*: 피크값 A의 DC 지령</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API 및 제어 로그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PWM / 제어 주파수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각각 62.5 kHz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실행 횟수 1:1 검사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PWM / 제어 주기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각각 16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8 μs 중앙샘플은 별도 가정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dq 벡터 한계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√(id*²+iq*²) ≤ 67.882 Apeak</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각 축 동시 정격 지령은 거부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실제 파형의 RMS ≤48 A 판정은 기본파 dq 지령 제한과 별도로 수행함.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specification.json; src/model.py assert_spec(); qa/unit_tests.json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변경 범위와 비교 원칙</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전압 변경과 제어 개선의 효과를 혼합하지 않음</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230 V 기준이었던 이전 해석을 240 V로 변경하고, 초기·DOE·개선·검증을 새로 계산함.</a:t>
            </a:r>
          </a:p>
        </p:txBody>
      </p:sp>
      <p:graphicFrame>
        <p:nvGraphicFramePr>
          <p:cNvPr id="17" name="Table 16"/>
          <p:cNvGraphicFramePr>
            <a:graphicFrameLocks noGrp="1"/>
          </p:cNvGraphicFramePr>
          <p:nvPr/>
        </p:nvGraphicFramePr>
        <p:xfrm>
          <a:off x="502920" y="2011680"/>
          <a:ext cx="8869680" cy="3383275"/>
        </p:xfrm>
        <a:graphic>
          <a:graphicData uri="http://schemas.openxmlformats.org/drawingml/2006/table">
            <a:tbl>
              <a:tblPr firstRow="1" bandRow="1">
                <a:tableStyleId>{5C22544A-7EE6-4342-B048-85BDC9FD1C3A}</a:tableStyleId>
              </a:tblPr>
              <a:tblGrid>
                <a:gridCol w="2103120"/>
                <a:gridCol w="3108960"/>
                <a:gridCol w="3657600"/>
              </a:tblGrid>
              <a:tr h="483325">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변경 / 유지</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이유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공칭 전압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230 → 240 Vrms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사용자 사양 정정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공칭 용량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11.04 → 11.52 kVA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동일 48 Arms에서 산출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전압 변화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216 / 264 Vrms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240 V의 ±10%로 설계한 추가 시험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Peak dq / PWM / 제어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정의 및 16 μs 유지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사용자 확인 사양</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회로·제어 후보·시험 격자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명시한 가정과 후보 범위 유지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전압 이외의 변경을 최소화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성능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V7 초기 ↔ V7 선정안</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V6→V7 차이를 개선 성과에 합산하지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이전 결과 CSV·파형·선정값은 V7 계산 입력으로 읽지 않음.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specification.json; qa/frozen_protocol.json; source_lineage.json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Project Y와 기술 목표</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시험집합과 판정식을 먼저 고정함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동일 운전조건에서 THD 기준 만족률을 높이되, 다른 제약조건 미달을 숨기지 않음.</a:t>
            </a:r>
          </a:p>
        </p:txBody>
      </p:sp>
      <p:graphicFrame>
        <p:nvGraphicFramePr>
          <p:cNvPr id="17" name="Table 16"/>
          <p:cNvGraphicFramePr>
            <a:graphicFrameLocks noGrp="1"/>
          </p:cNvGraphicFramePr>
          <p:nvPr/>
        </p:nvGraphicFramePr>
        <p:xfrm>
          <a:off x="502920" y="2011680"/>
          <a:ext cx="8869680" cy="3291834"/>
        </p:xfrm>
        <a:graphic>
          <a:graphicData uri="http://schemas.openxmlformats.org/drawingml/2006/table">
            <a:tbl>
              <a:tblPr firstRow="1" bandRow="1">
                <a:tableStyleId>{5C22544A-7EE6-4342-B048-85BDC9FD1C3A}</a:tableStyleId>
              </a:tblPr>
              <a:tblGrid>
                <a:gridCol w="2377440"/>
                <a:gridCol w="6492240"/>
              </a:tblGrid>
              <a:tr h="470262">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7026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과제 범위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북미 V2G AC단의 참조 수치모델에서 고조파 전류제어 개선</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26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Project Y</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240 V 기준 운전조건 47개 중 THD₂–₄₀ ≤5%인 조건의 비율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26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기술 목표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THD 만족률 ≥95% : 47개 중 최소 45개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26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제품 적용 전 확인조건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전류·추종·피크·포화·정상상태 조건 동시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26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대상 밖</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실물 제품 인증, 제조 수율, DC-link/CLLC 통합 및 실제 배포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26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목표의 성격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자체 설계 목표. 고객 또는 외부 인증 요구와 구분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THD 5%와 만족률 95%는 서로 다른 지표이며 사전에 고정한 설계 기준임.</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specification.json; qa/frozen_protocol.json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업무 목표와 개선 지표</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큰 목표에서 직접 측정할 수 있는 지표로 범위를 좁힘</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제품의 계통연계 품질 확보를 위해 전류 품질을 개선하고, 모델 내 목표 달성 여부를 확인함.</a:t>
            </a:r>
          </a:p>
        </p:txBody>
      </p:sp>
      <p:sp>
        <p:nvSpPr>
          <p:cNvPr id="17" name="Rectangle 16"/>
          <p:cNvSpPr/>
          <p:nvPr/>
        </p:nvSpPr>
        <p:spPr>
          <a:xfrm>
            <a:off x="594360" y="2194560"/>
            <a:ext cx="2468880" cy="914400"/>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676656" y="2258568"/>
            <a:ext cx="2304288" cy="78638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Big Y</a:t>
            </a:r>
          </a:p>
          <a:p>
            <a:pPr algn="ctr">
              <a:lnSpc>
                <a:spcPct val="108000"/>
              </a:lnSpc>
              <a:spcBef>
                <a:spcPts val="0"/>
              </a:spcBef>
              <a:spcAft>
                <a:spcPts val="200"/>
              </a:spcAft>
            </a:pPr>
            <a:r>
              <a:rPr sz="1300" b="0">
                <a:solidFill>
                  <a:srgbClr val="000000"/>
                </a:solidFill>
                <a:latin typeface="Malgun Gothic"/>
                <a:ea typeface="Malgun Gothic"/>
                <a:cs typeface="Malgun Gothic"/>
              </a:rPr>
              <a:t>V2G 계통연계 품질</a:t>
            </a:r>
          </a:p>
        </p:txBody>
      </p:sp>
      <p:sp>
        <p:nvSpPr>
          <p:cNvPr id="19" name="Rectangle 18"/>
          <p:cNvSpPr/>
          <p:nvPr/>
        </p:nvSpPr>
        <p:spPr>
          <a:xfrm>
            <a:off x="3657600" y="2194560"/>
            <a:ext cx="2377440" cy="914400"/>
          </a:xfrm>
          <a:prstGeom prst="rect">
            <a:avLst/>
          </a:prstGeom>
          <a:solidFill>
            <a:srgbClr val="FFFFFF"/>
          </a:solidFill>
          <a:ln w="8255">
            <a:solidFill>
              <a:srgbClr val="B8B8B8"/>
            </a:solidFill>
          </a:ln>
          <a:effectLst/>
        </p:spPr>
        <p:txBody>
          <a:bodyPr rtlCol="0" anchor="ctr"/>
          <a:lstStyle/>
          <a:p>
            <a:pPr algn="ctr"/>
          </a:p>
        </p:txBody>
      </p:sp>
      <p:sp>
        <p:nvSpPr>
          <p:cNvPr id="20" name="TextBox 19"/>
          <p:cNvSpPr txBox="1"/>
          <p:nvPr/>
        </p:nvSpPr>
        <p:spPr>
          <a:xfrm>
            <a:off x="3739896" y="2258568"/>
            <a:ext cx="2212848" cy="78638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Little y</a:t>
            </a:r>
          </a:p>
          <a:p>
            <a:pPr algn="ctr">
              <a:lnSpc>
                <a:spcPct val="108000"/>
              </a:lnSpc>
              <a:spcBef>
                <a:spcPts val="0"/>
              </a:spcBef>
              <a:spcAft>
                <a:spcPts val="200"/>
              </a:spcAft>
            </a:pPr>
            <a:r>
              <a:rPr sz="1300" b="0">
                <a:solidFill>
                  <a:srgbClr val="000000"/>
                </a:solidFill>
                <a:latin typeface="Malgun Gothic"/>
                <a:ea typeface="Malgun Gothic"/>
                <a:cs typeface="Malgun Gothic"/>
              </a:rPr>
              <a:t>AC 전류 품질</a:t>
            </a:r>
          </a:p>
        </p:txBody>
      </p:sp>
      <p:sp>
        <p:nvSpPr>
          <p:cNvPr id="21" name="Rectangle 20"/>
          <p:cNvSpPr/>
          <p:nvPr/>
        </p:nvSpPr>
        <p:spPr>
          <a:xfrm>
            <a:off x="6583680" y="2194560"/>
            <a:ext cx="2468880" cy="914400"/>
          </a:xfrm>
          <a:prstGeom prst="rect">
            <a:avLst/>
          </a:prstGeom>
          <a:solidFill>
            <a:srgbClr val="FFFFFF"/>
          </a:solidFill>
          <a:ln w="8255">
            <a:solidFill>
              <a:srgbClr val="B8B8B8"/>
            </a:solidFill>
          </a:ln>
          <a:effectLst/>
        </p:spPr>
        <p:txBody>
          <a:bodyPr rtlCol="0" anchor="ctr"/>
          <a:lstStyle/>
          <a:p>
            <a:pPr algn="ctr"/>
          </a:p>
        </p:txBody>
      </p:sp>
      <p:sp>
        <p:nvSpPr>
          <p:cNvPr id="22" name="TextBox 21"/>
          <p:cNvSpPr txBox="1"/>
          <p:nvPr/>
        </p:nvSpPr>
        <p:spPr>
          <a:xfrm>
            <a:off x="6665976" y="2258568"/>
            <a:ext cx="2304288" cy="78638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Project Y</a:t>
            </a:r>
          </a:p>
          <a:p>
            <a:pPr algn="ctr">
              <a:lnSpc>
                <a:spcPct val="108000"/>
              </a:lnSpc>
              <a:spcBef>
                <a:spcPts val="0"/>
              </a:spcBef>
              <a:spcAft>
                <a:spcPts val="200"/>
              </a:spcAft>
            </a:pPr>
            <a:r>
              <a:rPr sz="1300" b="0">
                <a:solidFill>
                  <a:srgbClr val="000000"/>
                </a:solidFill>
                <a:latin typeface="Malgun Gothic"/>
                <a:ea typeface="Malgun Gothic"/>
                <a:cs typeface="Malgun Gothic"/>
              </a:rPr>
              <a:t>THD 설계기준 만족률</a:t>
            </a:r>
          </a:p>
        </p:txBody>
      </p:sp>
      <p:cxnSp>
        <p:nvCxnSpPr>
          <p:cNvPr id="23" name="Connector 22"/>
          <p:cNvCxnSpPr/>
          <p:nvPr/>
        </p:nvCxnSpPr>
        <p:spPr>
          <a:xfrm>
            <a:off x="3108960" y="2651760"/>
            <a:ext cx="512064" cy="0"/>
          </a:xfrm>
          <a:prstGeom prst="line">
            <a:avLst/>
          </a:prstGeom>
          <a:ln w="12700">
            <a:solidFill>
              <a:srgbClr val="000000"/>
            </a:solidFill>
            <a:tailEnd type="triangle" w="sm" len="sm"/>
          </a:ln>
          <a:effectLst/>
        </p:spPr>
      </p:cxnSp>
      <p:cxnSp>
        <p:nvCxnSpPr>
          <p:cNvPr id="24" name="Connector 23"/>
          <p:cNvCxnSpPr/>
          <p:nvPr/>
        </p:nvCxnSpPr>
        <p:spPr>
          <a:xfrm>
            <a:off x="6089904" y="2651760"/>
            <a:ext cx="448056" cy="0"/>
          </a:xfrm>
          <a:prstGeom prst="line">
            <a:avLst/>
          </a:prstGeom>
          <a:ln w="12700">
            <a:solidFill>
              <a:srgbClr val="000000"/>
            </a:solidFill>
            <a:tailEnd type="triangle" w="sm" len="sm"/>
          </a:ln>
          <a:effectLst/>
        </p:spPr>
      </p:cxnSp>
      <p:graphicFrame>
        <p:nvGraphicFramePr>
          <p:cNvPr id="25" name="Table 24"/>
          <p:cNvGraphicFramePr>
            <a:graphicFrameLocks noGrp="1"/>
          </p:cNvGraphicFramePr>
          <p:nvPr/>
        </p:nvGraphicFramePr>
        <p:xfrm>
          <a:off x="502920" y="3703320"/>
          <a:ext cx="8869680" cy="1874516"/>
        </p:xfrm>
        <a:graphic>
          <a:graphicData uri="http://schemas.openxmlformats.org/drawingml/2006/table">
            <a:tbl>
              <a:tblPr firstRow="1" bandRow="1">
                <a:tableStyleId>{5C22544A-7EE6-4342-B048-85BDC9FD1C3A}</a:tableStyleId>
              </a:tblPr>
              <a:tblGrid>
                <a:gridCol w="4434840"/>
                <a:gridCol w="4434840"/>
              </a:tblGrid>
              <a:tr h="468629">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이번에 확인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확보되지 않은 근거</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68629">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Peak dq 추종과 저차 고조파 저감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실제 회로·부품·검출계·LF 전환 로직</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8629">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동일조건 초기·개선 대응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HW 파형과의 모델 일치성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8629">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 이후 조건·모델 가정의 변화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고객 규격·제조 분포·전체 안정도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26" name="TextBox 25"/>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수치모델의 만족률을 양산 수율 또는 인증 통과율로 환산하지 않음.</a:t>
            </a:r>
          </a:p>
        </p:txBody>
      </p:sp>
      <p:cxnSp>
        <p:nvCxnSpPr>
          <p:cNvPr id="27" name="Connector 26"/>
          <p:cNvCxnSpPr/>
          <p:nvPr/>
        </p:nvCxnSpPr>
        <p:spPr>
          <a:xfrm>
            <a:off x="365760" y="6428232"/>
            <a:ext cx="9189720" cy="0"/>
          </a:xfrm>
          <a:prstGeom prst="line">
            <a:avLst/>
          </a:prstGeom>
          <a:ln w="5715">
            <a:solidFill>
              <a:srgbClr val="000000"/>
            </a:solidFill>
          </a:ln>
          <a:effectLst/>
        </p:spPr>
      </p:cxnSp>
      <p:sp>
        <p:nvSpPr>
          <p:cNvPr id="28" name="TextBox 27"/>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specification.json; src/model.py; results/summary.json</a:t>
            </a:r>
          </a:p>
        </p:txBody>
      </p:sp>
      <p:sp>
        <p:nvSpPr>
          <p:cNvPr id="29" name="TextBox 28"/>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5/47</a:t>
            </a:r>
          </a:p>
        </p:txBody>
      </p:sp>
      <p:sp>
        <p:nvSpPr>
          <p:cNvPr id="30" name="TextBox 29">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31" name="TextBox 30">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Peak dq 지령과 전력</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Theta는 내부 동기각이며 외부 명령이 아님</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전류제어기는 피크값 기준 id*와 iq*를 직접 입력받고, 각각의 DC 성분을 추종함.</a:t>
            </a:r>
          </a:p>
        </p:txBody>
      </p:sp>
      <p:sp>
        <p:nvSpPr>
          <p:cNvPr id="17" name="TextBox 16"/>
          <p:cNvSpPr txBox="1"/>
          <p:nvPr/>
        </p:nvSpPr>
        <p:spPr>
          <a:xfrm>
            <a:off x="502920" y="1993392"/>
            <a:ext cx="8869680" cy="85039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800" b="1">
                <a:solidFill>
                  <a:srgbClr val="000000"/>
                </a:solidFill>
                <a:latin typeface="Malgun Gothic"/>
                <a:ea typeface="Malgun Gothic"/>
                <a:cs typeface="Malgun Gothic"/>
              </a:rPr>
              <a:t>iα* = id* cosθ − iq* sinθ</a:t>
            </a:r>
          </a:p>
          <a:p>
            <a:pPr algn="l">
              <a:lnSpc>
                <a:spcPct val="108000"/>
              </a:lnSpc>
              <a:spcBef>
                <a:spcPts val="0"/>
              </a:spcBef>
              <a:spcAft>
                <a:spcPts val="200"/>
              </a:spcAft>
            </a:pPr>
            <a:r>
              <a:rPr sz="1800" b="1">
                <a:solidFill>
                  <a:srgbClr val="000000"/>
                </a:solidFill>
                <a:latin typeface="Malgun Gothic"/>
                <a:ea typeface="Malgun Gothic"/>
                <a:cs typeface="Malgun Gothic"/>
              </a:rPr>
              <a:t>P₁* = V₁ id*/√2,   Q₁* = −V₁ iq*/√2</a:t>
            </a:r>
          </a:p>
        </p:txBody>
      </p:sp>
      <p:graphicFrame>
        <p:nvGraphicFramePr>
          <p:cNvPr id="18" name="Table 17"/>
          <p:cNvGraphicFramePr>
            <a:graphicFrameLocks noGrp="1"/>
          </p:cNvGraphicFramePr>
          <p:nvPr/>
        </p:nvGraphicFramePr>
        <p:xfrm>
          <a:off x="502920" y="3072384"/>
          <a:ext cx="8869680" cy="2286000"/>
        </p:xfrm>
        <a:graphic>
          <a:graphicData uri="http://schemas.openxmlformats.org/drawingml/2006/table">
            <a:tbl>
              <a:tblPr firstRow="1" bandRow="1">
                <a:tableStyleId>{5C22544A-7EE6-4342-B048-85BDC9FD1C3A}</a:tableStyleId>
              </a:tblPr>
              <a:tblGrid>
                <a:gridCol w="2468880"/>
                <a:gridCol w="2468880"/>
                <a:gridCol w="3931920"/>
              </a:tblGrid>
              <a:tr h="45720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id* / iq* [Apeak]</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기본파 RMS [A]</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240 V 기본파 전력</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67.882 / 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P₁*=11.52 kW, Q₁*=0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 / +67.882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P₁*=0, Q₁*=−11.52 kvar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48.000 / 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33.941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 Arms 운전과 다름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720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67.882 / 67.882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67.882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합성 전류 초과로 입력 거부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769864"/>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00" b="0">
                <a:solidFill>
                  <a:srgbClr val="C00000"/>
                </a:solidFill>
                <a:latin typeface="Malgun Gothic"/>
                <a:ea typeface="Malgun Gothic"/>
                <a:cs typeface="Malgun Gothic"/>
              </a:rPr>
              <a:t>+Iq는 진상전류로 정의한 모델 규약임. 실제 통신·SW 부호 규약은 별도 확인 필요.</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validate(), run_core(), measure(); qa/unit_tests.log</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6/47</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시험 구성과 수량</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조건 수와 해석 실행 수를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기준조건 47개 안에서 선정용 9개와 미사용 38개를 구분하며, 검증 집합별 분모를 유지함.</a:t>
            </a:r>
          </a:p>
        </p:txBody>
      </p:sp>
      <p:graphicFrame>
        <p:nvGraphicFramePr>
          <p:cNvPr id="17" name="Table 16"/>
          <p:cNvGraphicFramePr>
            <a:graphicFrameLocks noGrp="1"/>
          </p:cNvGraphicFramePr>
          <p:nvPr/>
        </p:nvGraphicFramePr>
        <p:xfrm>
          <a:off x="502920" y="2011680"/>
          <a:ext cx="8869680" cy="3383275"/>
        </p:xfrm>
        <a:graphic>
          <a:graphicData uri="http://schemas.openxmlformats.org/drawingml/2006/table">
            <a:tbl>
              <a:tblPr firstRow="1" bandRow="1">
                <a:tableStyleId>{5C22544A-7EE6-4342-B048-85BDC9FD1C3A}</a:tableStyleId>
              </a:tblPr>
              <a:tblGrid>
                <a:gridCol w="2103120"/>
                <a:gridCol w="3566160"/>
                <a:gridCol w="3200400"/>
              </a:tblGrid>
              <a:tr h="483325">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대상</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수량·구성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확인 목적</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운전조건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240 V, 직접 dq 조합 47개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초기·선정안 전체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제어 선정용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기준조건 중 9개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27개 후보의 선택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 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47−9=38개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 후 같은 모델의 나머지 조건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전압 변화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216 / 264 V × dq 12조합 =24개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같은 전류지령의 전압 민감도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회로·검출계 편차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가정 범위의 24개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후속 변동 영향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LF 전환 방식 변경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별도 6개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회로 구조 가정의 영향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DOE: 27후보×9조건=243회. 같은 조건의 초기·선정 비교는 2회 실행임.</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results/*_conditions.csv; results/candidate_plan.csv; qa/frozen_protocol.json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7/47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THD 측정과 판정</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고조파 정의·평가 구간·분모를 고정함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THD₂–₄₀와 정격전류 대비 고조파 비율을 구분하고, 실제 전체 RMS 전류도 별도로 계산함.</a:t>
            </a:r>
          </a:p>
        </p:txBody>
      </p:sp>
      <p:sp>
        <p:nvSpPr>
          <p:cNvPr id="17" name="TextBox 16"/>
          <p:cNvSpPr txBox="1"/>
          <p:nvPr/>
        </p:nvSpPr>
        <p:spPr>
          <a:xfrm>
            <a:off x="502920" y="1975104"/>
            <a:ext cx="8869680" cy="98755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700" b="1">
                <a:solidFill>
                  <a:srgbClr val="000000"/>
                </a:solidFill>
                <a:latin typeface="Malgun Gothic"/>
                <a:ea typeface="Malgun Gothic"/>
                <a:cs typeface="Malgun Gothic"/>
              </a:rPr>
              <a:t>THD₂–₄₀ [%] = 100 × √(Σₕ₌₂⁴⁰ Iₕ²) / I₁</a:t>
            </a:r>
          </a:p>
          <a:p>
            <a:pPr algn="l">
              <a:lnSpc>
                <a:spcPct val="108000"/>
              </a:lnSpc>
              <a:spcBef>
                <a:spcPts val="0"/>
              </a:spcBef>
              <a:spcAft>
                <a:spcPts val="200"/>
              </a:spcAft>
            </a:pPr>
            <a:r>
              <a:rPr sz="1700" b="1">
                <a:solidFill>
                  <a:srgbClr val="000000"/>
                </a:solidFill>
                <a:latin typeface="Malgun Gothic"/>
                <a:ea typeface="Malgun Gothic"/>
                <a:cs typeface="Malgun Gothic"/>
              </a:rPr>
              <a:t>Project Y [%] = THD 기준 만족 조건 수 / 47 × 100</a:t>
            </a:r>
          </a:p>
        </p:txBody>
      </p:sp>
      <p:graphicFrame>
        <p:nvGraphicFramePr>
          <p:cNvPr id="18" name="Table 17"/>
          <p:cNvGraphicFramePr>
            <a:graphicFrameLocks noGrp="1"/>
          </p:cNvGraphicFramePr>
          <p:nvPr/>
        </p:nvGraphicFramePr>
        <p:xfrm>
          <a:off x="502920" y="3255264"/>
          <a:ext cx="8869680" cy="2331720"/>
        </p:xfrm>
        <a:graphic>
          <a:graphicData uri="http://schemas.openxmlformats.org/drawingml/2006/table">
            <a:tbl>
              <a:tblPr firstRow="1" bandRow="1">
                <a:tableStyleId>{5C22544A-7EE6-4342-B048-85BDC9FD1C3A}</a:tableStyleId>
              </a:tblPr>
              <a:tblGrid>
                <a:gridCol w="2011680"/>
                <a:gridCol w="6858000"/>
              </a:tblGrid>
              <a:tr h="38862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이번 해석의 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38862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기본파 / 차수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60 Hz 기준 2~40차, 상한 2.4 kHz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862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평가 구간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마지막 계통 15주기; 60 Hz일 때 0.25 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862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DC / 스위칭 리플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THD₂–₄₀에서 제외, 실제 RMS 전류에는 포함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862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시간 표본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 μs로 저장한 파형값. 독립 실험 표본 수가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862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미포함 규격 판정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개별 고조파·DC 주입·인증용 왜곡 지표와 동일성 미검증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수치 판정용 THD 5%를 북미 계통연계 인증의 합격기준으로 인용하지 않음.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harmonics_projection(), measure(); specification.json</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8/47</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보조 조건과 종합 판정</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THD 개선만으로 제어안을 채택하지 않음</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각 조건의 THD·전류 추종·전류 한계·제한 동작·주기적 정상상태를 동시에 판정함.</a:t>
            </a:r>
          </a:p>
        </p:txBody>
      </p:sp>
      <p:graphicFrame>
        <p:nvGraphicFramePr>
          <p:cNvPr id="17" name="Table 16"/>
          <p:cNvGraphicFramePr>
            <a:graphicFrameLocks noGrp="1"/>
          </p:cNvGraphicFramePr>
          <p:nvPr/>
        </p:nvGraphicFramePr>
        <p:xfrm>
          <a:off x="502920" y="2011680"/>
          <a:ext cx="8869679" cy="3611874"/>
        </p:xfrm>
        <a:graphic>
          <a:graphicData uri="http://schemas.openxmlformats.org/drawingml/2006/table">
            <a:tbl>
              <a:tblPr firstRow="1" bandRow="1">
                <a:tableStyleId>{5C22544A-7EE6-4342-B048-85BDC9FD1C3A}</a:tableStyleId>
              </a:tblPr>
              <a:tblGrid>
                <a:gridCol w="1828800"/>
                <a:gridCol w="5166360"/>
                <a:gridCol w="1874519"/>
              </a:tblGrid>
              <a:tr h="515982">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판정식 / 한계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근거 구분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1598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d축·q축 오차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각각 |e|≤max(0.3, 0.02×|idq*|) Apeak</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자체 설계 기준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598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실제 RMS 전류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평가 파형 전체 RMS≤48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사용자 정격 반영</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598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전류 피크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평가 구간 |i|max≤75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가정한 한계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598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전압·보상 제한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전압 제한 시간비≤1%; 공진·적분 제한 미발생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자체 설계 기준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598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주기적 정상상태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연속주기 1~7차 계수변화의 RMS≤max(0.03,0.002 Iref,rms)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자체 수치 판정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598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THD와 위 항목을 모두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논리 AND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879592"/>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80" b="0">
                <a:solidFill>
                  <a:srgbClr val="C00000"/>
                </a:solidFill>
                <a:latin typeface="Malgun Gothic"/>
                <a:ea typeface="Malgun Gothic"/>
                <a:cs typeface="Malgun Gothic"/>
              </a:rPr>
              <a:t>48 A 이외의 보조 한계는 확인된 제품 요구사항이 아니며 적용 전 합의가 필요함.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measure(); specification.json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9/47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측정 시스템 구성</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회로·제어·검출 경로를 분리함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기본 dq PI와 PLL은 유지하고, 개선 단계에서는 고조파 전류오차 피드백만 추가함.</a:t>
            </a:r>
          </a:p>
        </p:txBody>
      </p:sp>
      <p:sp>
        <p:nvSpPr>
          <p:cNvPr id="17" name="Rectangle 16"/>
          <p:cNvSpPr/>
          <p:nvPr/>
        </p:nvSpPr>
        <p:spPr>
          <a:xfrm>
            <a:off x="502920" y="2286000"/>
            <a:ext cx="1463040" cy="786384"/>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585216" y="2350008"/>
            <a:ext cx="1298448" cy="658368"/>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id* · iq*</a:t>
            </a:r>
          </a:p>
          <a:p>
            <a:pPr algn="ctr">
              <a:lnSpc>
                <a:spcPct val="108000"/>
              </a:lnSpc>
              <a:spcBef>
                <a:spcPts val="0"/>
              </a:spcBef>
              <a:spcAft>
                <a:spcPts val="200"/>
              </a:spcAft>
            </a:pPr>
            <a:r>
              <a:rPr sz="1300" b="0">
                <a:solidFill>
                  <a:srgbClr val="000000"/>
                </a:solidFill>
                <a:latin typeface="Malgun Gothic"/>
                <a:ea typeface="Malgun Gothic"/>
                <a:cs typeface="Malgun Gothic"/>
              </a:rPr>
              <a:t>Peak A, DC</a:t>
            </a:r>
          </a:p>
        </p:txBody>
      </p:sp>
      <p:sp>
        <p:nvSpPr>
          <p:cNvPr id="19" name="Rectangle 18"/>
          <p:cNvSpPr/>
          <p:nvPr/>
        </p:nvSpPr>
        <p:spPr>
          <a:xfrm>
            <a:off x="2377440" y="2286000"/>
            <a:ext cx="1874519" cy="786384"/>
          </a:xfrm>
          <a:prstGeom prst="rect">
            <a:avLst/>
          </a:prstGeom>
          <a:solidFill>
            <a:srgbClr val="FFFFFF"/>
          </a:solidFill>
          <a:ln w="8255">
            <a:solidFill>
              <a:srgbClr val="B8B8B8"/>
            </a:solidFill>
          </a:ln>
          <a:effectLst/>
        </p:spPr>
        <p:txBody>
          <a:bodyPr rtlCol="0" anchor="ctr"/>
          <a:lstStyle/>
          <a:p>
            <a:pPr algn="ctr"/>
          </a:p>
        </p:txBody>
      </p:sp>
      <p:sp>
        <p:nvSpPr>
          <p:cNvPr id="20" name="TextBox 19"/>
          <p:cNvSpPr txBox="1"/>
          <p:nvPr/>
        </p:nvSpPr>
        <p:spPr>
          <a:xfrm>
            <a:off x="2459736" y="2350008"/>
            <a:ext cx="1709928" cy="658368"/>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dq PI</a:t>
            </a:r>
          </a:p>
          <a:p>
            <a:pPr algn="ctr">
              <a:lnSpc>
                <a:spcPct val="108000"/>
              </a:lnSpc>
              <a:spcBef>
                <a:spcPts val="0"/>
              </a:spcBef>
              <a:spcAft>
                <a:spcPts val="200"/>
              </a:spcAft>
            </a:pPr>
            <a:r>
              <a:rPr sz="1300" b="0">
                <a:solidFill>
                  <a:srgbClr val="000000"/>
                </a:solidFill>
                <a:latin typeface="Malgun Gothic"/>
                <a:ea typeface="Malgun Gothic"/>
                <a:cs typeface="Malgun Gothic"/>
              </a:rPr>
              <a:t>전향·교차결합 보상</a:t>
            </a:r>
          </a:p>
        </p:txBody>
      </p:sp>
      <p:sp>
        <p:nvSpPr>
          <p:cNvPr id="21" name="Rectangle 20"/>
          <p:cNvSpPr/>
          <p:nvPr/>
        </p:nvSpPr>
        <p:spPr>
          <a:xfrm>
            <a:off x="4690872" y="2286000"/>
            <a:ext cx="1737360" cy="786384"/>
          </a:xfrm>
          <a:prstGeom prst="rect">
            <a:avLst/>
          </a:prstGeom>
          <a:solidFill>
            <a:srgbClr val="FFFFFF"/>
          </a:solidFill>
          <a:ln w="8255">
            <a:solidFill>
              <a:srgbClr val="B8B8B8"/>
            </a:solidFill>
          </a:ln>
          <a:effectLst/>
        </p:spPr>
        <p:txBody>
          <a:bodyPr rtlCol="0" anchor="ctr"/>
          <a:lstStyle/>
          <a:p>
            <a:pPr algn="ctr"/>
          </a:p>
        </p:txBody>
      </p:sp>
      <p:sp>
        <p:nvSpPr>
          <p:cNvPr id="22" name="TextBox 21"/>
          <p:cNvSpPr txBox="1"/>
          <p:nvPr/>
        </p:nvSpPr>
        <p:spPr>
          <a:xfrm>
            <a:off x="4773168" y="2350008"/>
            <a:ext cx="1572768" cy="658368"/>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16 μs 연산</a:t>
            </a:r>
          </a:p>
          <a:p>
            <a:pPr algn="ctr">
              <a:lnSpc>
                <a:spcPct val="108000"/>
              </a:lnSpc>
              <a:spcBef>
                <a:spcPts val="0"/>
              </a:spcBef>
              <a:spcAft>
                <a:spcPts val="200"/>
              </a:spcAft>
            </a:pPr>
            <a:r>
              <a:rPr sz="1300" b="0">
                <a:solidFill>
                  <a:srgbClr val="000000"/>
                </a:solidFill>
                <a:latin typeface="Malgun Gothic"/>
                <a:ea typeface="Malgun Gothic"/>
                <a:cs typeface="Malgun Gothic"/>
              </a:rPr>
              <a:t>명령 갱신 FIFO</a:t>
            </a:r>
          </a:p>
        </p:txBody>
      </p:sp>
      <p:sp>
        <p:nvSpPr>
          <p:cNvPr id="23" name="Rectangle 22"/>
          <p:cNvSpPr/>
          <p:nvPr/>
        </p:nvSpPr>
        <p:spPr>
          <a:xfrm>
            <a:off x="6876288" y="2286000"/>
            <a:ext cx="2258568" cy="786384"/>
          </a:xfrm>
          <a:prstGeom prst="rect">
            <a:avLst/>
          </a:prstGeom>
          <a:solidFill>
            <a:srgbClr val="FFFFFF"/>
          </a:solidFill>
          <a:ln w="8255">
            <a:solidFill>
              <a:srgbClr val="B8B8B8"/>
            </a:solidFill>
          </a:ln>
          <a:effectLst/>
        </p:spPr>
        <p:txBody>
          <a:bodyPr rtlCol="0" anchor="ctr"/>
          <a:lstStyle/>
          <a:p>
            <a:pPr algn="ctr"/>
          </a:p>
        </p:txBody>
      </p:sp>
      <p:sp>
        <p:nvSpPr>
          <p:cNvPr id="24" name="TextBox 23"/>
          <p:cNvSpPr txBox="1"/>
          <p:nvPr/>
        </p:nvSpPr>
        <p:spPr>
          <a:xfrm>
            <a:off x="6958583" y="2350008"/>
            <a:ext cx="2093976" cy="658368"/>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PWM 62.5 kHz</a:t>
            </a:r>
          </a:p>
          <a:p>
            <a:pPr algn="ctr">
              <a:lnSpc>
                <a:spcPct val="108000"/>
              </a:lnSpc>
              <a:spcBef>
                <a:spcPts val="0"/>
              </a:spcBef>
              <a:spcAft>
                <a:spcPts val="200"/>
              </a:spcAft>
            </a:pPr>
            <a:r>
              <a:rPr sz="1300" b="0">
                <a:solidFill>
                  <a:srgbClr val="000000"/>
                </a:solidFill>
                <a:latin typeface="Malgun Gothic"/>
                <a:ea typeface="Malgun Gothic"/>
                <a:cs typeface="Malgun Gothic"/>
              </a:rPr>
              <a:t>브리지·RL·계통</a:t>
            </a:r>
          </a:p>
        </p:txBody>
      </p:sp>
      <p:cxnSp>
        <p:nvCxnSpPr>
          <p:cNvPr id="25" name="Connector 24"/>
          <p:cNvCxnSpPr/>
          <p:nvPr/>
        </p:nvCxnSpPr>
        <p:spPr>
          <a:xfrm>
            <a:off x="1993392" y="2679192"/>
            <a:ext cx="356616" cy="0"/>
          </a:xfrm>
          <a:prstGeom prst="line">
            <a:avLst/>
          </a:prstGeom>
          <a:ln w="12700">
            <a:solidFill>
              <a:srgbClr val="000000"/>
            </a:solidFill>
            <a:tailEnd type="triangle" w="sm" len="sm"/>
          </a:ln>
          <a:effectLst/>
        </p:spPr>
      </p:cxnSp>
      <p:cxnSp>
        <p:nvCxnSpPr>
          <p:cNvPr id="26" name="Connector 25"/>
          <p:cNvCxnSpPr/>
          <p:nvPr/>
        </p:nvCxnSpPr>
        <p:spPr>
          <a:xfrm>
            <a:off x="4279392" y="2679192"/>
            <a:ext cx="384048" cy="0"/>
          </a:xfrm>
          <a:prstGeom prst="line">
            <a:avLst/>
          </a:prstGeom>
          <a:ln w="12700">
            <a:solidFill>
              <a:srgbClr val="000000"/>
            </a:solidFill>
            <a:tailEnd type="triangle" w="sm" len="sm"/>
          </a:ln>
          <a:effectLst/>
        </p:spPr>
      </p:cxnSp>
      <p:cxnSp>
        <p:nvCxnSpPr>
          <p:cNvPr id="27" name="Connector 26"/>
          <p:cNvCxnSpPr/>
          <p:nvPr/>
        </p:nvCxnSpPr>
        <p:spPr>
          <a:xfrm>
            <a:off x="6455664" y="2679192"/>
            <a:ext cx="393192" cy="0"/>
          </a:xfrm>
          <a:prstGeom prst="line">
            <a:avLst/>
          </a:prstGeom>
          <a:ln w="12700">
            <a:solidFill>
              <a:srgbClr val="000000"/>
            </a:solidFill>
            <a:tailEnd type="triangle" w="sm" len="sm"/>
          </a:ln>
          <a:effectLst/>
        </p:spPr>
      </p:cxnSp>
      <p:sp>
        <p:nvSpPr>
          <p:cNvPr id="28" name="Rectangle 27"/>
          <p:cNvSpPr/>
          <p:nvPr/>
        </p:nvSpPr>
        <p:spPr>
          <a:xfrm>
            <a:off x="5669280" y="3886200"/>
            <a:ext cx="1874519" cy="758952"/>
          </a:xfrm>
          <a:prstGeom prst="rect">
            <a:avLst/>
          </a:prstGeom>
          <a:solidFill>
            <a:srgbClr val="FFFFFF"/>
          </a:solidFill>
          <a:ln w="8255">
            <a:solidFill>
              <a:srgbClr val="B8B8B8"/>
            </a:solidFill>
          </a:ln>
          <a:effectLst/>
        </p:spPr>
        <p:txBody>
          <a:bodyPr rtlCol="0" anchor="ctr"/>
          <a:lstStyle/>
          <a:p>
            <a:pPr algn="ctr"/>
          </a:p>
        </p:txBody>
      </p:sp>
      <p:sp>
        <p:nvSpPr>
          <p:cNvPr id="29" name="TextBox 28"/>
          <p:cNvSpPr txBox="1"/>
          <p:nvPr/>
        </p:nvSpPr>
        <p:spPr>
          <a:xfrm>
            <a:off x="5751576" y="3950208"/>
            <a:ext cx="1709928" cy="630936"/>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LPF + ADC</a:t>
            </a:r>
          </a:p>
          <a:p>
            <a:pPr algn="ctr">
              <a:lnSpc>
                <a:spcPct val="108000"/>
              </a:lnSpc>
              <a:spcBef>
                <a:spcPts val="0"/>
              </a:spcBef>
              <a:spcAft>
                <a:spcPts val="200"/>
              </a:spcAft>
            </a:pPr>
            <a:r>
              <a:rPr sz="1300" b="0">
                <a:solidFill>
                  <a:srgbClr val="000000"/>
                </a:solidFill>
                <a:latin typeface="Malgun Gothic"/>
                <a:ea typeface="Malgun Gothic"/>
                <a:cs typeface="Malgun Gothic"/>
              </a:rPr>
              <a:t>전류 검출</a:t>
            </a:r>
          </a:p>
        </p:txBody>
      </p:sp>
      <p:sp>
        <p:nvSpPr>
          <p:cNvPr id="30" name="Rectangle 29"/>
          <p:cNvSpPr/>
          <p:nvPr/>
        </p:nvSpPr>
        <p:spPr>
          <a:xfrm>
            <a:off x="2423160" y="3886200"/>
            <a:ext cx="1920240" cy="758952"/>
          </a:xfrm>
          <a:prstGeom prst="rect">
            <a:avLst/>
          </a:prstGeom>
          <a:solidFill>
            <a:srgbClr val="FFFFFF"/>
          </a:solidFill>
          <a:ln w="8255">
            <a:solidFill>
              <a:srgbClr val="B8B8B8"/>
            </a:solidFill>
          </a:ln>
          <a:effectLst/>
        </p:spPr>
        <p:txBody>
          <a:bodyPr rtlCol="0" anchor="ctr"/>
          <a:lstStyle/>
          <a:p>
            <a:pPr algn="ctr"/>
          </a:p>
        </p:txBody>
      </p:sp>
      <p:sp>
        <p:nvSpPr>
          <p:cNvPr id="31" name="TextBox 30"/>
          <p:cNvSpPr txBox="1"/>
          <p:nvPr/>
        </p:nvSpPr>
        <p:spPr>
          <a:xfrm>
            <a:off x="2505456" y="3950208"/>
            <a:ext cx="1755648" cy="630936"/>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SOGI 직교축</a:t>
            </a:r>
          </a:p>
          <a:p>
            <a:pPr algn="ctr">
              <a:lnSpc>
                <a:spcPct val="108000"/>
              </a:lnSpc>
              <a:spcBef>
                <a:spcPts val="0"/>
              </a:spcBef>
              <a:spcAft>
                <a:spcPts val="200"/>
              </a:spcAft>
            </a:pPr>
            <a:r>
              <a:rPr sz="1300" b="0">
                <a:solidFill>
                  <a:srgbClr val="000000"/>
                </a:solidFill>
                <a:latin typeface="Malgun Gothic"/>
                <a:ea typeface="Malgun Gothic"/>
                <a:cs typeface="Malgun Gothic"/>
              </a:rPr>
              <a:t>dq 변환</a:t>
            </a:r>
          </a:p>
        </p:txBody>
      </p:sp>
      <p:cxnSp>
        <p:nvCxnSpPr>
          <p:cNvPr id="32" name="Connector 31"/>
          <p:cNvCxnSpPr/>
          <p:nvPr/>
        </p:nvCxnSpPr>
        <p:spPr>
          <a:xfrm>
            <a:off x="8046720" y="3099816"/>
            <a:ext cx="0" cy="1170432"/>
          </a:xfrm>
          <a:prstGeom prst="line">
            <a:avLst/>
          </a:prstGeom>
          <a:ln w="12700">
            <a:solidFill>
              <a:srgbClr val="000000"/>
            </a:solidFill>
            <a:tailEnd type="triangle" w="sm" len="sm"/>
          </a:ln>
          <a:effectLst/>
        </p:spPr>
      </p:cxnSp>
      <p:cxnSp>
        <p:nvCxnSpPr>
          <p:cNvPr id="33" name="Connector 32"/>
          <p:cNvCxnSpPr/>
          <p:nvPr/>
        </p:nvCxnSpPr>
        <p:spPr>
          <a:xfrm flipH="1">
            <a:off x="7571231" y="4270248"/>
            <a:ext cx="438913" cy="0"/>
          </a:xfrm>
          <a:prstGeom prst="line">
            <a:avLst/>
          </a:prstGeom>
          <a:ln w="12700">
            <a:solidFill>
              <a:srgbClr val="000000"/>
            </a:solidFill>
            <a:tailEnd type="triangle" w="sm" len="sm"/>
          </a:ln>
          <a:effectLst/>
        </p:spPr>
      </p:cxnSp>
      <p:cxnSp>
        <p:nvCxnSpPr>
          <p:cNvPr id="34" name="Connector 33"/>
          <p:cNvCxnSpPr/>
          <p:nvPr/>
        </p:nvCxnSpPr>
        <p:spPr>
          <a:xfrm flipH="1">
            <a:off x="4370832" y="4270248"/>
            <a:ext cx="1261872" cy="0"/>
          </a:xfrm>
          <a:prstGeom prst="line">
            <a:avLst/>
          </a:prstGeom>
          <a:ln w="12700">
            <a:solidFill>
              <a:srgbClr val="000000"/>
            </a:solidFill>
            <a:tailEnd type="triangle" w="sm" len="sm"/>
          </a:ln>
          <a:effectLst/>
        </p:spPr>
      </p:cxnSp>
      <p:cxnSp>
        <p:nvCxnSpPr>
          <p:cNvPr id="35" name="Connector 34"/>
          <p:cNvCxnSpPr/>
          <p:nvPr/>
        </p:nvCxnSpPr>
        <p:spPr>
          <a:xfrm flipV="1">
            <a:off x="3383280" y="3108960"/>
            <a:ext cx="0" cy="740664"/>
          </a:xfrm>
          <a:prstGeom prst="line">
            <a:avLst/>
          </a:prstGeom>
          <a:ln w="12700">
            <a:solidFill>
              <a:srgbClr val="000000"/>
            </a:solidFill>
            <a:tailEnd type="triangle" w="sm" len="sm"/>
          </a:ln>
          <a:effectLst/>
        </p:spPr>
      </p:cxnSp>
      <p:sp>
        <p:nvSpPr>
          <p:cNvPr id="36" name="Rectangle 35"/>
          <p:cNvSpPr/>
          <p:nvPr/>
        </p:nvSpPr>
        <p:spPr>
          <a:xfrm>
            <a:off x="594360" y="5120640"/>
            <a:ext cx="3977639" cy="594360"/>
          </a:xfrm>
          <a:prstGeom prst="rect">
            <a:avLst/>
          </a:prstGeom>
          <a:solidFill>
            <a:srgbClr val="FFFFFF"/>
          </a:solidFill>
          <a:ln w="8255">
            <a:solidFill>
              <a:srgbClr val="B8B8B8"/>
            </a:solidFill>
          </a:ln>
          <a:effectLst/>
        </p:spPr>
        <p:txBody>
          <a:bodyPr rtlCol="0" anchor="ctr"/>
          <a:lstStyle/>
          <a:p>
            <a:pPr algn="ctr"/>
          </a:p>
        </p:txBody>
      </p:sp>
      <p:sp>
        <p:nvSpPr>
          <p:cNvPr id="37" name="TextBox 36"/>
          <p:cNvSpPr txBox="1"/>
          <p:nvPr/>
        </p:nvSpPr>
        <p:spPr>
          <a:xfrm>
            <a:off x="676656" y="5184648"/>
            <a:ext cx="3813048" cy="46634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200" b="0">
                <a:solidFill>
                  <a:srgbClr val="000000"/>
                </a:solidFill>
                <a:latin typeface="Malgun Gothic"/>
                <a:ea typeface="Malgun Gothic"/>
                <a:cs typeface="Malgun Gothic"/>
              </a:rPr>
              <a:t>SOGI-PLL → θ</a:t>
            </a:r>
          </a:p>
          <a:p>
            <a:pPr algn="ctr">
              <a:lnSpc>
                <a:spcPct val="108000"/>
              </a:lnSpc>
              <a:spcBef>
                <a:spcPts val="0"/>
              </a:spcBef>
              <a:spcAft>
                <a:spcPts val="200"/>
              </a:spcAft>
            </a:pPr>
            <a:r>
              <a:rPr sz="1200" b="0">
                <a:solidFill>
                  <a:srgbClr val="000000"/>
                </a:solidFill>
                <a:latin typeface="Malgun Gothic"/>
                <a:ea typeface="Malgun Gothic"/>
                <a:cs typeface="Malgun Gothic"/>
              </a:rPr>
              <a:t>계통전압으로 내부 동기각 생성</a:t>
            </a:r>
          </a:p>
        </p:txBody>
      </p:sp>
      <p:sp>
        <p:nvSpPr>
          <p:cNvPr id="38" name="Rectangle 37"/>
          <p:cNvSpPr/>
          <p:nvPr/>
        </p:nvSpPr>
        <p:spPr>
          <a:xfrm>
            <a:off x="4956048" y="5120640"/>
            <a:ext cx="4160520" cy="594360"/>
          </a:xfrm>
          <a:prstGeom prst="rect">
            <a:avLst/>
          </a:prstGeom>
          <a:solidFill>
            <a:srgbClr val="FFFFFF"/>
          </a:solidFill>
          <a:ln w="8255">
            <a:solidFill>
              <a:srgbClr val="B8B8B8"/>
            </a:solidFill>
          </a:ln>
          <a:effectLst/>
        </p:spPr>
        <p:txBody>
          <a:bodyPr rtlCol="0" anchor="ctr"/>
          <a:lstStyle/>
          <a:p>
            <a:pPr algn="ctr"/>
          </a:p>
        </p:txBody>
      </p:sp>
      <p:sp>
        <p:nvSpPr>
          <p:cNvPr id="39" name="TextBox 38"/>
          <p:cNvSpPr txBox="1"/>
          <p:nvPr/>
        </p:nvSpPr>
        <p:spPr>
          <a:xfrm>
            <a:off x="5038344" y="5184648"/>
            <a:ext cx="3995928" cy="46634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200" b="0">
                <a:solidFill>
                  <a:srgbClr val="000000"/>
                </a:solidFill>
                <a:latin typeface="Malgun Gothic"/>
                <a:ea typeface="Malgun Gothic"/>
                <a:cs typeface="Malgun Gothic"/>
              </a:rPr>
              <a:t>준공진 피드백 추가</a:t>
            </a:r>
          </a:p>
          <a:p>
            <a:pPr algn="ctr">
              <a:lnSpc>
                <a:spcPct val="108000"/>
              </a:lnSpc>
              <a:spcBef>
                <a:spcPts val="0"/>
              </a:spcBef>
              <a:spcAft>
                <a:spcPts val="200"/>
              </a:spcAft>
            </a:pPr>
            <a:r>
              <a:rPr sz="1200" b="0">
                <a:solidFill>
                  <a:srgbClr val="000000"/>
                </a:solidFill>
                <a:latin typeface="Malgun Gothic"/>
                <a:ea typeface="Malgun Gothic"/>
                <a:cs typeface="Malgun Gothic"/>
              </a:rPr>
              <a:t>기본 dq 명령·회로는 변경하지 않음</a:t>
            </a:r>
          </a:p>
        </p:txBody>
      </p:sp>
      <p:cxnSp>
        <p:nvCxnSpPr>
          <p:cNvPr id="40" name="Connector 39"/>
          <p:cNvCxnSpPr/>
          <p:nvPr/>
        </p:nvCxnSpPr>
        <p:spPr>
          <a:xfrm>
            <a:off x="365760" y="6428232"/>
            <a:ext cx="9189720" cy="0"/>
          </a:xfrm>
          <a:prstGeom prst="line">
            <a:avLst/>
          </a:prstGeom>
          <a:ln w="5715">
            <a:solidFill>
              <a:srgbClr val="000000"/>
            </a:solidFill>
          </a:ln>
          <a:effectLst/>
        </p:spPr>
      </p:cxnSp>
      <p:sp>
        <p:nvSpPr>
          <p:cNvPr id="41" name="TextBox 4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specification.json</a:t>
            </a:r>
          </a:p>
        </p:txBody>
      </p:sp>
      <p:sp>
        <p:nvSpPr>
          <p:cNvPr id="42" name="TextBox 4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10/47</a:t>
            </a:r>
          </a:p>
        </p:txBody>
      </p:sp>
      <p:sp>
        <p:nvSpPr>
          <p:cNvPr id="43" name="TextBox 4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44" name="TextBox 4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PWM·제어 동기</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매 PWM 주기마다 제어 연산 1회 수행함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16 μs의 제어 주기와 ADC 샘플→PWM 반영 지연을 서로 다른 항목으로 기록함.</a:t>
            </a:r>
          </a:p>
        </p:txBody>
      </p:sp>
      <p:graphicFrame>
        <p:nvGraphicFramePr>
          <p:cNvPr id="17" name="Table 16"/>
          <p:cNvGraphicFramePr>
            <a:graphicFrameLocks noGrp="1"/>
          </p:cNvGraphicFramePr>
          <p:nvPr/>
        </p:nvGraphicFramePr>
        <p:xfrm>
          <a:off x="502920" y="2011680"/>
          <a:ext cx="8869680" cy="2423160"/>
        </p:xfrm>
        <a:graphic>
          <a:graphicData uri="http://schemas.openxmlformats.org/drawingml/2006/table">
            <a:tbl>
              <a:tblPr firstRow="1" bandRow="1">
                <a:tableStyleId>{5C22544A-7EE6-4342-B048-85BDC9FD1C3A}</a:tableStyleId>
              </a:tblPr>
              <a:tblGrid>
                <a:gridCol w="2103120"/>
                <a:gridCol w="2560320"/>
                <a:gridCol w="2103120"/>
                <a:gridCol w="2103120"/>
              </a:tblGrid>
              <a:tr h="484632">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PWM 구간 [μs]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ADC·연산 시각 [μs]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명령 반영 [μs]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명령 유지 구간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16~32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16~32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32~48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32~48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48~64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실행0.75 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제어46,875회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PWM46,875주기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1:1 검사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709160"/>
            <a:ext cx="8869680" cy="91440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확정: PWM=제어=16 μs.</a:t>
            </a:r>
          </a:p>
          <a:p>
            <a:pPr algn="l">
              <a:lnSpc>
                <a:spcPct val="108000"/>
              </a:lnSpc>
              <a:spcBef>
                <a:spcPts val="0"/>
              </a:spcBef>
              <a:spcAft>
                <a:spcPts val="200"/>
              </a:spcAft>
            </a:pPr>
            <a:r>
              <a:rPr sz="1300" b="0">
                <a:solidFill>
                  <a:srgbClr val="000000"/>
                </a:solidFill>
                <a:latin typeface="Malgun Gothic"/>
                <a:ea typeface="Malgun Gothic"/>
                <a:cs typeface="Malgun Gothic"/>
              </a:rPr>
              <a:t>가정: 중앙 샘플링, 다음 경계 반영(기본 지연 8 μs).</a:t>
            </a:r>
          </a:p>
          <a:p>
            <a:pPr algn="l">
              <a:lnSpc>
                <a:spcPct val="108000"/>
              </a:lnSpc>
              <a:spcBef>
                <a:spcPts val="0"/>
              </a:spcBef>
              <a:spcAft>
                <a:spcPts val="200"/>
              </a:spcAft>
            </a:pPr>
            <a:r>
              <a:rPr sz="1300" b="0">
                <a:solidFill>
                  <a:srgbClr val="000000"/>
                </a:solidFill>
                <a:latin typeface="Malgun Gothic"/>
                <a:ea typeface="Malgun Gothic"/>
                <a:cs typeface="Malgun Gothic"/>
              </a:rPr>
              <a:t>추가 지연에서는 FIFO의 적용 시각만 늦추며 연산 주기는 바꾸지 않음.</a:t>
            </a:r>
          </a:p>
        </p:txBody>
      </p:sp>
      <p:sp>
        <p:nvSpPr>
          <p:cNvPr id="19" name="TextBox 18"/>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명령의 순서·출처·반영 주기를 저장 로그로 확인함.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run_core(); qa/raw_audit.json; TI ePWM API</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11/47</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회로 모델 및 가정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스위칭 상태를 계산하되 실제 HW 모델로 과장하지 않음</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구간별 브리지 전압으로 RL 전류와 센서 응답을 계산하며, 미제공 회로 정수는 가정값임.</a:t>
            </a:r>
          </a:p>
        </p:txBody>
      </p:sp>
      <p:sp>
        <p:nvSpPr>
          <p:cNvPr id="17" name="TextBox 16"/>
          <p:cNvSpPr txBox="1"/>
          <p:nvPr/>
        </p:nvSpPr>
        <p:spPr>
          <a:xfrm>
            <a:off x="502920" y="1993392"/>
            <a:ext cx="8869680" cy="7315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700" b="1">
                <a:solidFill>
                  <a:srgbClr val="000000"/>
                </a:solidFill>
                <a:latin typeface="Malgun Gothic"/>
                <a:ea typeface="Malgun Gothic"/>
                <a:cs typeface="Malgun Gothic"/>
              </a:rPr>
              <a:t>L di/dt = ubridge − vg − Ri</a:t>
            </a:r>
          </a:p>
          <a:p>
            <a:pPr algn="l">
              <a:lnSpc>
                <a:spcPct val="108000"/>
              </a:lnSpc>
              <a:spcBef>
                <a:spcPts val="0"/>
              </a:spcBef>
              <a:spcAft>
                <a:spcPts val="200"/>
              </a:spcAft>
            </a:pPr>
            <a:r>
              <a:rPr sz="1700" b="1">
                <a:solidFill>
                  <a:srgbClr val="000000"/>
                </a:solidFill>
                <a:latin typeface="Malgun Gothic"/>
                <a:ea typeface="Malgun Gothic"/>
                <a:cs typeface="Malgun Gothic"/>
              </a:rPr>
              <a:t>ubridge = (HF pole − LF pole) Vdc</a:t>
            </a:r>
          </a:p>
        </p:txBody>
      </p:sp>
      <p:graphicFrame>
        <p:nvGraphicFramePr>
          <p:cNvPr id="18" name="Table 17"/>
          <p:cNvGraphicFramePr>
            <a:graphicFrameLocks noGrp="1"/>
          </p:cNvGraphicFramePr>
          <p:nvPr/>
        </p:nvGraphicFramePr>
        <p:xfrm>
          <a:off x="502920" y="2898648"/>
          <a:ext cx="8869679" cy="2788919"/>
        </p:xfrm>
        <a:graphic>
          <a:graphicData uri="http://schemas.openxmlformats.org/drawingml/2006/table">
            <a:tbl>
              <a:tblPr firstRow="1" bandRow="1">
                <a:tableStyleId>{5C22544A-7EE6-4342-B048-85BDC9FD1C3A}</a:tableStyleId>
              </a:tblPr>
              <a:tblGrid>
                <a:gridCol w="2194560"/>
                <a:gridCol w="6675119"/>
              </a:tblGrid>
              <a:tr h="398417">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기준 가정 / 구현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398417">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DC-link / Lf / Lg</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400 V 강성 전원 / 1.0 mH / 0.1 mH</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98417">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Rf / Rg</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0.08 Ω / 0.10 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98417">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HF 스위칭</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중앙정렬 PWM, 200 ns dead-time, 경계 이벤트 분할</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98417">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LF 전환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기준: 전압 명령 부호 / 계통 부호형은 별도 민감도 시험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98417">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전류 검출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10 kHz 1차 LPF, 12 bit, ±100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98417">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미포함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LF blanking·Coss·열·EMI 필터·DC-link/CLLC 에너지 동역학</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specification.json; src/model.py grid(), rl_sensor(), run_core()</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12/47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데이터 신뢰성 확인</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구현 검증·수치 검증·실물 검증을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결정론적 동일 입력 반복을 Gage R&amp;R 표본으로 만들지 않고, 계산 체계의 재현성을 확인함.</a:t>
            </a:r>
          </a:p>
        </p:txBody>
      </p:sp>
      <p:graphicFrame>
        <p:nvGraphicFramePr>
          <p:cNvPr id="17" name="Table 16"/>
          <p:cNvGraphicFramePr>
            <a:graphicFrameLocks noGrp="1"/>
          </p:cNvGraphicFramePr>
          <p:nvPr/>
        </p:nvGraphicFramePr>
        <p:xfrm>
          <a:off x="502920" y="2011680"/>
          <a:ext cx="8869680" cy="3383275"/>
        </p:xfrm>
        <a:graphic>
          <a:graphicData uri="http://schemas.openxmlformats.org/drawingml/2006/table">
            <a:tbl>
              <a:tblPr firstRow="1" bandRow="1">
                <a:tableStyleId>{5C22544A-7EE6-4342-B048-85BDC9FD1C3A}</a:tableStyleId>
              </a:tblPr>
              <a:tblGrid>
                <a:gridCol w="1828800"/>
                <a:gridCol w="3200400"/>
                <a:gridCol w="3840480"/>
              </a:tblGrid>
              <a:tr h="483325">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구분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수행한 검증</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결과의 의미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구현 검사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28개 단위 검사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단위·좌표·클록·RL·필터 계산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원자료 검사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502개 저장 파형 재계산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해시·지표·40개 고조파·판정 대조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별도 계산법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60 Hz 452회 FFT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고조파 계산 경로 교차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수치 민감도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2→1→0.5 μs / 0.75→1.5 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대표조건 시간·기간 민감도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재실행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대표4회 전류 배열 대조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동일 환경에서의 결정론적 재현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33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실물 일치성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실제 HW 파형·회로 실측 없음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검증되지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자동검사 통과를 실물 측정시스템 검증 또는 제품 인증으로 대체하지 않음.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qa/unit_tests.json; qa/raw_audit.json; qa/replay.json; results/refinement_comparison.csv</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13/47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현 수준 파악</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240 V 기준의 초기 제어를 새로 계산함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47개 기준조건의 초기 평균 THD는 2.453%, 최대 7.787%로 확인됨.</a:t>
            </a:r>
          </a:p>
        </p:txBody>
      </p:sp>
      <p:graphicFrame>
        <p:nvGraphicFramePr>
          <p:cNvPr id="17" name="Chart 16"/>
          <p:cNvGraphicFramePr>
            <a:graphicFrameLocks noGrp="1"/>
          </p:cNvGraphicFramePr>
          <p:nvPr/>
        </p:nvGraphicFramePr>
        <p:xfrm>
          <a:off x="502920" y="2011680"/>
          <a:ext cx="5532120" cy="3200400"/>
        </p:xfrm>
        <a:graphic>
          <a:graphicData uri="http://schemas.openxmlformats.org/drawingml/2006/chart">
            <c:chart xmlns:c="http://schemas.openxmlformats.org/drawingml/2006/chart" r:id="rId2"/>
          </a:graphicData>
        </a:graphic>
      </p:graphicFrame>
      <p:graphicFrame>
        <p:nvGraphicFramePr>
          <p:cNvPr id="18" name="Table 17"/>
          <p:cNvGraphicFramePr>
            <a:graphicFrameLocks noGrp="1"/>
          </p:cNvGraphicFramePr>
          <p:nvPr/>
        </p:nvGraphicFramePr>
        <p:xfrm>
          <a:off x="6327648" y="2331720"/>
          <a:ext cx="2999231" cy="2423160"/>
        </p:xfrm>
        <a:graphic>
          <a:graphicData uri="http://schemas.openxmlformats.org/drawingml/2006/table">
            <a:tbl>
              <a:tblPr firstRow="1" bandRow="1">
                <a:tableStyleId>{5C22544A-7EE6-4342-B048-85BDC9FD1C3A}</a:tableStyleId>
              </a:tblPr>
              <a:tblGrid>
                <a:gridCol w="1363287"/>
                <a:gridCol w="1635944"/>
              </a:tblGrid>
              <a:tr h="484632">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초기 현 수준</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평균 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2.453%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최대 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7.787%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THD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42/47 (89.4%)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40/47 (85.1%)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이전 THD에 정격비를 곱하거나 초기 성능을 특정 값에 맞추지 않았음.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results/baseline.csv; qa/frozen_protocol.json</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14/47</a:t>
            </a:r>
          </a:p>
        </p:txBody>
      </p:sp>
      <p:sp>
        <p:nvSpPr>
          <p:cNvPr id="23" name="TextBox 22">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전류 수준별 현 수준</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전류 크기로 층별 분석하여 취약 영역을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P=0이어도 Q 지령이 있으면 전류가 흐르므로, 저전류 여부는 dq 벡터 크기로 판단함.</a:t>
            </a:r>
          </a:p>
        </p:txBody>
      </p:sp>
      <p:graphicFrame>
        <p:nvGraphicFramePr>
          <p:cNvPr id="17" name="Table 16"/>
          <p:cNvGraphicFramePr>
            <a:graphicFrameLocks noGrp="1"/>
          </p:cNvGraphicFramePr>
          <p:nvPr/>
        </p:nvGraphicFramePr>
        <p:xfrm>
          <a:off x="502920" y="2011680"/>
          <a:ext cx="8869680" cy="2212848"/>
        </p:xfrm>
        <a:graphic>
          <a:graphicData uri="http://schemas.openxmlformats.org/drawingml/2006/table">
            <a:tbl>
              <a:tblPr firstRow="1" bandRow="1">
                <a:tableStyleId>{5C22544A-7EE6-4342-B048-85BDC9FD1C3A}</a:tableStyleId>
              </a:tblPr>
              <a:tblGrid>
                <a:gridCol w="2926080"/>
                <a:gridCol w="1097280"/>
                <a:gridCol w="1828800"/>
                <a:gridCol w="1828800"/>
                <a:gridCol w="1188720"/>
              </a:tblGrid>
              <a:tr h="553212">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지령 벡터의 RMS 환산 범위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조건 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초기 평균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초기 최대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THD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53212">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0 초과~8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5.871%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7.787%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53212">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8 초과~24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2.525%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3.856%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19/19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53212">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24 초과~48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1.017%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1.148%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20/20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617720"/>
            <a:ext cx="8869680" cy="9601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저전류 8개 조건의 평균 THD: 5.871%</a:t>
            </a:r>
          </a:p>
          <a:p>
            <a:pPr algn="l">
              <a:lnSpc>
                <a:spcPct val="108000"/>
              </a:lnSpc>
              <a:spcBef>
                <a:spcPts val="0"/>
              </a:spcBef>
              <a:spcAft>
                <a:spcPts val="200"/>
              </a:spcAft>
            </a:pPr>
            <a:r>
              <a:rPr sz="1300" b="0">
                <a:solidFill>
                  <a:srgbClr val="000000"/>
                </a:solidFill>
                <a:latin typeface="Malgun Gothic"/>
                <a:ea typeface="Malgun Gothic"/>
                <a:cs typeface="Malgun Gothic"/>
              </a:rPr>
              <a:t>합성 지령의 RMS 환산값 = √(id*²+iq*²)/√2</a:t>
            </a:r>
          </a:p>
          <a:p>
            <a:pPr algn="l">
              <a:lnSpc>
                <a:spcPct val="108000"/>
              </a:lnSpc>
              <a:spcBef>
                <a:spcPts val="0"/>
              </a:spcBef>
              <a:spcAft>
                <a:spcPts val="200"/>
              </a:spcAft>
            </a:pPr>
            <a:r>
              <a:rPr sz="1300" b="0">
                <a:solidFill>
                  <a:srgbClr val="000000"/>
                </a:solidFill>
                <a:latin typeface="Malgun Gothic"/>
                <a:ea typeface="Malgun Gothic"/>
                <a:cs typeface="Malgun Gothic"/>
              </a:rPr>
              <a:t>층별 평균은 서로 다른 운전조건을 같은 가중으로 비교한 기술통계임.</a:t>
            </a:r>
          </a:p>
        </p:txBody>
      </p:sp>
      <p:sp>
        <p:nvSpPr>
          <p:cNvPr id="19" name="TextBox 18"/>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낮은 유효전력을 낮은 전류와 동일시하지 않음.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results/current_strata.csv; results/baseline.csv</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15/47</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3. Analyze / 가인자 도출</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영향 가능성과 변경 가능성으로 후보를 분류함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원인을 이미 확인한 것으로 가정하지 않고, 모델에 구현된 경로와 제어로 변경할 항목을 구분함.</a:t>
            </a:r>
          </a:p>
        </p:txBody>
      </p:sp>
      <p:graphicFrame>
        <p:nvGraphicFramePr>
          <p:cNvPr id="17" name="Table 16"/>
          <p:cNvGraphicFramePr>
            <a:graphicFrameLocks noGrp="1"/>
          </p:cNvGraphicFramePr>
          <p:nvPr/>
        </p:nvGraphicFramePr>
        <p:xfrm>
          <a:off x="502920" y="2011680"/>
          <a:ext cx="8869680" cy="3474716"/>
        </p:xfrm>
        <a:graphic>
          <a:graphicData uri="http://schemas.openxmlformats.org/drawingml/2006/table">
            <a:tbl>
              <a:tblPr firstRow="1" bandRow="1">
                <a:tableStyleId>{5C22544A-7EE6-4342-B048-85BDC9FD1C3A}</a:tableStyleId>
              </a:tblPr>
              <a:tblGrid>
                <a:gridCol w="2468880"/>
                <a:gridCol w="2834640"/>
                <a:gridCol w="3566160"/>
              </a:tblGrid>
              <a:tr h="496388">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후보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이번 과제의 취급</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이유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HF dead-time·검출 지연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원인 가정 / 제거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구현한 비선형·위상 오차의 영향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전류 PI·PLL 기본 설정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유지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고조파 보상 개선의 효과 분리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L/R·계통·센서 편차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 후 검증 인자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실물값 미확인, 강건성 민감도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고조파 보상 이득 Kr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DOE 인자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보상 강도 변화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공진 대역 파라미터 fc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DOE 인자 B</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주파수 주변 응답과 동작 변화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6388">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보상 차수 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DOE 인자 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 / 3·5 / 3·5·7차의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모델에 넣은 오차항을 제거해 확인한 결과는 실제 제품 원인의 독립 규명이 아님.</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results/ablation.csv; results/candidate_plan.csv</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16/47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3. Analyze / 가정한 왜곡 경로 검토</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하나의 가정만 변경한 진단 결과를 비교함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dead-time 제거와 검출계 이상화를 구분하여 초기 모델의 민감도를 확인함.</a:t>
            </a:r>
          </a:p>
        </p:txBody>
      </p:sp>
      <p:graphicFrame>
        <p:nvGraphicFramePr>
          <p:cNvPr id="17" name="Table 16"/>
          <p:cNvGraphicFramePr>
            <a:graphicFrameLocks noGrp="1"/>
          </p:cNvGraphicFramePr>
          <p:nvPr/>
        </p:nvGraphicFramePr>
        <p:xfrm>
          <a:off x="502920" y="2011680"/>
          <a:ext cx="8869680" cy="2057400"/>
        </p:xfrm>
        <a:graphic>
          <a:graphicData uri="http://schemas.openxmlformats.org/drawingml/2006/table">
            <a:tbl>
              <a:tblPr firstRow="1" bandRow="1">
                <a:tableStyleId>{5C22544A-7EE6-4342-B048-85BDC9FD1C3A}</a:tableStyleId>
              </a:tblPr>
              <a:tblGrid>
                <a:gridCol w="1371600"/>
                <a:gridCol w="2286000"/>
                <a:gridCol w="2468880"/>
                <a:gridCol w="2743200"/>
              </a:tblGrid>
              <a:tr h="51435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조건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기준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dead-time=0</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검출계 이상화</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1435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A01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7.787%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0.527%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7.102%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435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A02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3.059%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0.184%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3.256%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435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A03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0.766%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0.044%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0.759%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434840"/>
            <a:ext cx="8869680" cy="109728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검출계 이상화: LPF 200 kHz, 양자화 해제.</a:t>
            </a:r>
          </a:p>
          <a:p>
            <a:pPr algn="l">
              <a:lnSpc>
                <a:spcPct val="108000"/>
              </a:lnSpc>
              <a:spcBef>
                <a:spcPts val="0"/>
              </a:spcBef>
              <a:spcAft>
                <a:spcPts val="200"/>
              </a:spcAft>
            </a:pPr>
            <a:r>
              <a:rPr sz="1300" b="0">
                <a:solidFill>
                  <a:srgbClr val="000000"/>
                </a:solidFill>
                <a:latin typeface="Malgun Gothic"/>
                <a:ea typeface="Malgun Gothic"/>
                <a:cs typeface="Malgun Gothic"/>
              </a:rPr>
              <a:t>실제 제품의 측정오차를 제거했다는 뜻이 아니라 모델 가정을 바꾼 진단임.</a:t>
            </a:r>
          </a:p>
          <a:p>
            <a:pPr algn="l">
              <a:lnSpc>
                <a:spcPct val="108000"/>
              </a:lnSpc>
              <a:spcBef>
                <a:spcPts val="0"/>
              </a:spcBef>
              <a:spcAft>
                <a:spcPts val="200"/>
              </a:spcAft>
            </a:pPr>
            <a:r>
              <a:rPr sz="1300" b="0">
                <a:solidFill>
                  <a:srgbClr val="000000"/>
                </a:solidFill>
                <a:latin typeface="Malgun Gothic"/>
                <a:ea typeface="Malgun Gothic"/>
                <a:cs typeface="Malgun Gothic"/>
              </a:rPr>
              <a:t>고조파 보상은 원인 가정의 정확한 역함수를 주입하지 않고 전류오차를 사용함.</a:t>
            </a:r>
          </a:p>
        </p:txBody>
      </p:sp>
      <p:sp>
        <p:nvSpPr>
          <p:cNvPr id="19" name="TextBox 18"/>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진단에서 얻은 값을 제품의 치명원인 기여율로 해석하지 않음.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results/ablation.csv; src/study.py</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17/47</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개선 제어 구조</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기본 dq PI에 선택 차수의 준공진 피드백을 추가함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회로와 기본 dq 지령을 유지한 채, 실제 전류오차의 고조파 성분에 보상 전압을 생성함.</a:t>
            </a:r>
          </a:p>
        </p:txBody>
      </p:sp>
      <p:sp>
        <p:nvSpPr>
          <p:cNvPr id="17" name="TextBox 16"/>
          <p:cNvSpPr txBox="1"/>
          <p:nvPr/>
        </p:nvSpPr>
        <p:spPr>
          <a:xfrm>
            <a:off x="502920" y="1993392"/>
            <a:ext cx="8869680" cy="12344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650" b="1">
                <a:solidFill>
                  <a:srgbClr val="000000"/>
                </a:solidFill>
                <a:latin typeface="Malgun Gothic"/>
                <a:ea typeface="Malgun Gothic"/>
                <a:cs typeface="Malgun Gothic"/>
              </a:rPr>
              <a:t>eα = id* cosθ − iq* sinθ − iα,meas</a:t>
            </a:r>
          </a:p>
          <a:p>
            <a:pPr algn="l">
              <a:lnSpc>
                <a:spcPct val="108000"/>
              </a:lnSpc>
              <a:spcBef>
                <a:spcPts val="0"/>
              </a:spcBef>
              <a:spcAft>
                <a:spcPts val="200"/>
              </a:spcAft>
            </a:pPr>
            <a:r>
              <a:rPr sz="1650" b="1">
                <a:solidFill>
                  <a:srgbClr val="000000"/>
                </a:solidFill>
                <a:latin typeface="Malgun Gothic"/>
                <a:ea typeface="Malgun Gothic"/>
                <a:cs typeface="Malgun Gothic"/>
              </a:rPr>
              <a:t>u* = u*dq→α + Σ Gₕ(z) eα</a:t>
            </a:r>
          </a:p>
          <a:p>
            <a:pPr algn="l">
              <a:lnSpc>
                <a:spcPct val="108000"/>
              </a:lnSpc>
              <a:spcBef>
                <a:spcPts val="0"/>
              </a:spcBef>
              <a:spcAft>
                <a:spcPts val="200"/>
              </a:spcAft>
            </a:pPr>
            <a:r>
              <a:rPr sz="1650" b="1">
                <a:solidFill>
                  <a:srgbClr val="000000"/>
                </a:solidFill>
                <a:latin typeface="Malgun Gothic"/>
                <a:ea typeface="Malgun Gothic"/>
                <a:cs typeface="Malgun Gothic"/>
              </a:rPr>
              <a:t>Gₕ(s) = 2Krωc s / (s² + 2ωc s + ωh²)</a:t>
            </a:r>
          </a:p>
        </p:txBody>
      </p:sp>
      <p:graphicFrame>
        <p:nvGraphicFramePr>
          <p:cNvPr id="18" name="Table 17"/>
          <p:cNvGraphicFramePr>
            <a:graphicFrameLocks noGrp="1"/>
          </p:cNvGraphicFramePr>
          <p:nvPr/>
        </p:nvGraphicFramePr>
        <p:xfrm>
          <a:off x="502920" y="3566160"/>
          <a:ext cx="8869680" cy="2029965"/>
        </p:xfrm>
        <a:graphic>
          <a:graphicData uri="http://schemas.openxmlformats.org/drawingml/2006/table">
            <a:tbl>
              <a:tblPr firstRow="1" bandRow="1">
                <a:tableStyleId>{5C22544A-7EE6-4342-B048-85BDC9FD1C3A}</a:tableStyleId>
              </a:tblPr>
              <a:tblGrid>
                <a:gridCol w="2286000"/>
                <a:gridCol w="6583680"/>
              </a:tblGrid>
              <a:tr h="405993">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설정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05993">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대상 차수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h=3 / 3·5 / 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05993">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중심 주파수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60 Hz에서 180 / 300 / 420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05993">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제어 시간축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Ts=16 μs로 계수 계산, 사전왜곡 Tustin 이산화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05993">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보상 제한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각 공진 출력 ±30 V; 제한 발생 여부 별도 판정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PLL 동기각은 내부 신호이며 외부 전류 지령 인터페이스는 변경하지 않음.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coefficients(), run_core(); Imperix TN110</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18/47</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실험계획과 선정 규칙</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3인자 3수준의 모든 조합을 계산함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선정용 9개 운전조건에서 27개 제어 후보를 비교하고, 검증 결과를 보기 전에 설정을 고정함.</a:t>
            </a:r>
          </a:p>
        </p:txBody>
      </p:sp>
      <p:graphicFrame>
        <p:nvGraphicFramePr>
          <p:cNvPr id="17" name="Table 16"/>
          <p:cNvGraphicFramePr>
            <a:graphicFrameLocks noGrp="1"/>
          </p:cNvGraphicFramePr>
          <p:nvPr/>
        </p:nvGraphicFramePr>
        <p:xfrm>
          <a:off x="502920" y="2011680"/>
          <a:ext cx="8869680" cy="2423160"/>
        </p:xfrm>
        <a:graphic>
          <a:graphicData uri="http://schemas.openxmlformats.org/drawingml/2006/table">
            <a:tbl>
              <a:tblPr firstRow="1" bandRow="1">
                <a:tableStyleId>{5C22544A-7EE6-4342-B048-85BDC9FD1C3A}</a:tableStyleId>
              </a:tblPr>
              <a:tblGrid>
                <a:gridCol w="2377440"/>
                <a:gridCol w="2926080"/>
                <a:gridCol w="3566160"/>
              </a:tblGrid>
              <a:tr h="484632">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인자</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수준</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분석 목적</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A: Kr [Ω]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 / 12 / 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보상 이득의 영향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B: fc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 / 8 / 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대역 파라미터의 영향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C: 차수 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 / 3·5 / 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보상 차수 확대의 영향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실행 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27후보 ×9운전조건 =243회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다른 운전조건 9개는 반복시험9회가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736592"/>
            <a:ext cx="8869680" cy="89611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80" b="0">
                <a:solidFill>
                  <a:srgbClr val="000000"/>
                </a:solidFill>
                <a:latin typeface="Malgun Gothic"/>
                <a:ea typeface="Malgun Gothic"/>
                <a:cs typeface="Malgun Gothic"/>
              </a:rPr>
              <a:t>선정 순서: 종합 만족 수 최대 → 최대 THD 최소 → 평균 THD 최소</a:t>
            </a:r>
          </a:p>
          <a:p>
            <a:pPr algn="l">
              <a:lnSpc>
                <a:spcPct val="108000"/>
              </a:lnSpc>
              <a:spcBef>
                <a:spcPts val="0"/>
              </a:spcBef>
              <a:spcAft>
                <a:spcPts val="200"/>
              </a:spcAft>
            </a:pPr>
            <a:r>
              <a:rPr sz="1280" b="0">
                <a:solidFill>
                  <a:srgbClr val="000000"/>
                </a:solidFill>
                <a:latin typeface="Malgun Gothic"/>
                <a:ea typeface="Malgun Gothic"/>
                <a:cs typeface="Malgun Gothic"/>
              </a:rPr>
              <a:t>동률이면 Kr·fc·최고 차수가 작은 순으로 선정함.</a:t>
            </a:r>
          </a:p>
          <a:p>
            <a:pPr algn="l">
              <a:lnSpc>
                <a:spcPct val="108000"/>
              </a:lnSpc>
              <a:spcBef>
                <a:spcPts val="0"/>
              </a:spcBef>
              <a:spcAft>
                <a:spcPts val="200"/>
              </a:spcAft>
            </a:pPr>
            <a:r>
              <a:rPr sz="1280" b="0">
                <a:solidFill>
                  <a:srgbClr val="000000"/>
                </a:solidFill>
                <a:latin typeface="Malgun Gothic"/>
                <a:ea typeface="Malgun Gothic"/>
                <a:cs typeface="Malgun Gothic"/>
              </a:rPr>
              <a:t>사전 저장: 사양·조건 CSV·후보·선정용 ID·선정 규칙의 해시.</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qa/frozen_protocol.json; results/candidate_plan.csv; src/study.py</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19/47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주효과 해석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8"/>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9"/>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10"/>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11"/>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2"/>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수준별 평균 차이로 우선 검토 인자를 판단함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다른 두 인자와 운전조건을 동일 가중 평균한 결과이며, 선택한 범위에서의 영향도임.</a:t>
            </a:r>
          </a:p>
        </p:txBody>
      </p:sp>
      <p:graphicFrame>
        <p:nvGraphicFramePr>
          <p:cNvPr id="17" name="Chart 16"/>
          <p:cNvGraphicFramePr>
            <a:graphicFrameLocks noGrp="1"/>
          </p:cNvGraphicFramePr>
          <p:nvPr/>
        </p:nvGraphicFramePr>
        <p:xfrm>
          <a:off x="502920" y="2011680"/>
          <a:ext cx="2816352" cy="2697480"/>
        </p:xfrm>
        <a:graphic>
          <a:graphicData uri="http://schemas.openxmlformats.org/drawingml/2006/chart">
            <c:chart xmlns:c="http://schemas.openxmlformats.org/drawingml/2006/chart" r:id="rId2"/>
          </a:graphicData>
        </a:graphic>
      </p:graphicFrame>
      <p:graphicFrame>
        <p:nvGraphicFramePr>
          <p:cNvPr id="18" name="Chart 17"/>
          <p:cNvGraphicFramePr>
            <a:graphicFrameLocks noGrp="1"/>
          </p:cNvGraphicFramePr>
          <p:nvPr/>
        </p:nvGraphicFramePr>
        <p:xfrm>
          <a:off x="3474720" y="2011680"/>
          <a:ext cx="2816352" cy="2697480"/>
        </p:xfrm>
        <a:graphic>
          <a:graphicData uri="http://schemas.openxmlformats.org/drawingml/2006/chart">
            <c:chart xmlns:c="http://schemas.openxmlformats.org/drawingml/2006/chart" r:id="rId3"/>
          </a:graphicData>
        </a:graphic>
      </p:graphicFrame>
      <p:graphicFrame>
        <p:nvGraphicFramePr>
          <p:cNvPr id="19" name="Chart 18"/>
          <p:cNvGraphicFramePr>
            <a:graphicFrameLocks noGrp="1"/>
          </p:cNvGraphicFramePr>
          <p:nvPr/>
        </p:nvGraphicFramePr>
        <p:xfrm>
          <a:off x="6446520" y="2011680"/>
          <a:ext cx="2816352" cy="2697480"/>
        </p:xfrm>
        <a:graphic>
          <a:graphicData uri="http://schemas.openxmlformats.org/drawingml/2006/chart">
            <c:chart xmlns:c="http://schemas.openxmlformats.org/drawingml/2006/chart" r:id="rId4"/>
          </a:graphicData>
        </a:graphic>
      </p:graphicFrame>
      <p:sp>
        <p:nvSpPr>
          <p:cNvPr id="20" name="TextBox 19"/>
          <p:cNvSpPr txBox="1"/>
          <p:nvPr/>
        </p:nvSpPr>
        <p:spPr>
          <a:xfrm>
            <a:off x="502920" y="4983480"/>
            <a:ext cx="8869680" cy="65836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50" b="0">
                <a:solidFill>
                  <a:srgbClr val="000000"/>
                </a:solidFill>
                <a:latin typeface="Malgun Gothic"/>
                <a:ea typeface="Malgun Gothic"/>
                <a:cs typeface="Malgun Gothic"/>
              </a:rPr>
              <a:t>수준 평균1개: 다른 두 인자9조합 ×9운전조건 =81개 반응의 평균</a:t>
            </a:r>
          </a:p>
          <a:p>
            <a:pPr algn="l">
              <a:lnSpc>
                <a:spcPct val="108000"/>
              </a:lnSpc>
              <a:spcBef>
                <a:spcPts val="0"/>
              </a:spcBef>
              <a:spcAft>
                <a:spcPts val="200"/>
              </a:spcAft>
            </a:pPr>
            <a:r>
              <a:rPr sz="1250" b="0">
                <a:solidFill>
                  <a:srgbClr val="000000"/>
                </a:solidFill>
                <a:latin typeface="Malgun Gothic"/>
                <a:ea typeface="Malgun Gothic"/>
                <a:cs typeface="Malgun Gothic"/>
              </a:rPr>
              <a:t>수준 간 최대−최소: Kr 0.458%p, fc 0.020%p, 차수 0.773%p</a:t>
            </a:r>
          </a:p>
        </p:txBody>
      </p:sp>
      <p:sp>
        <p:nvSpPr>
          <p:cNvPr id="21" name="TextBox 20"/>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주효과가 크다는 판단과 통계적 유의성(p-value)을 구분함.</a:t>
            </a:r>
          </a:p>
        </p:txBody>
      </p:sp>
      <p:cxnSp>
        <p:nvCxnSpPr>
          <p:cNvPr id="22" name="Connector 21"/>
          <p:cNvCxnSpPr/>
          <p:nvPr/>
        </p:nvCxnSpPr>
        <p:spPr>
          <a:xfrm>
            <a:off x="365760" y="6428232"/>
            <a:ext cx="9189720" cy="0"/>
          </a:xfrm>
          <a:prstGeom prst="line">
            <a:avLst/>
          </a:prstGeom>
          <a:ln w="5715">
            <a:solidFill>
              <a:srgbClr val="000000"/>
            </a:solidFill>
          </a:ln>
          <a:effectLst/>
        </p:spPr>
      </p:cxnSp>
      <p:sp>
        <p:nvSpPr>
          <p:cNvPr id="23" name="TextBox 22"/>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results/main_effects.csv; results/doe.csv</a:t>
            </a:r>
          </a:p>
        </p:txBody>
      </p:sp>
      <p:sp>
        <p:nvSpPr>
          <p:cNvPr id="24" name="TextBox 23"/>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20/47</a:t>
            </a:r>
          </a:p>
        </p:txBody>
      </p:sp>
      <p:sp>
        <p:nvSpPr>
          <p:cNvPr id="25" name="TextBox 24">
            <a:hlinkClick action="ppaction://hlinksldjump" r:id="rId6"/>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6" name="TextBox 25">
            <a:hlinkClick action="ppaction://hlinksldjump" r:id="rId7"/>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교호작용 해석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Kr의 효과가 차수 조합에 따라 달라지는지 확인함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다른 fc 수준과 운전조건을 평균하여, 이득 변경의 효과를 차수별로 비교함.</a:t>
            </a:r>
          </a:p>
        </p:txBody>
      </p:sp>
      <p:graphicFrame>
        <p:nvGraphicFramePr>
          <p:cNvPr id="17" name="Chart 16"/>
          <p:cNvGraphicFramePr>
            <a:graphicFrameLocks noGrp="1"/>
          </p:cNvGraphicFramePr>
          <p:nvPr/>
        </p:nvGraphicFramePr>
        <p:xfrm>
          <a:off x="502920" y="2011680"/>
          <a:ext cx="5440680" cy="3200400"/>
        </p:xfrm>
        <a:graphic>
          <a:graphicData uri="http://schemas.openxmlformats.org/drawingml/2006/chart">
            <c:chart xmlns:c="http://schemas.openxmlformats.org/drawingml/2006/chart" r:id="rId2"/>
          </a:graphicData>
        </a:graphic>
      </p:graphicFrame>
      <p:graphicFrame>
        <p:nvGraphicFramePr>
          <p:cNvPr id="18" name="Table 17"/>
          <p:cNvGraphicFramePr>
            <a:graphicFrameLocks noGrp="1"/>
          </p:cNvGraphicFramePr>
          <p:nvPr/>
        </p:nvGraphicFramePr>
        <p:xfrm>
          <a:off x="6181344" y="2377440"/>
          <a:ext cx="3154679" cy="2121408"/>
        </p:xfrm>
        <a:graphic>
          <a:graphicData uri="http://schemas.openxmlformats.org/drawingml/2006/table">
            <a:tbl>
              <a:tblPr firstRow="1" bandRow="1">
                <a:tableStyleId>{5C22544A-7EE6-4342-B048-85BDC9FD1C3A}</a:tableStyleId>
              </a:tblPr>
              <a:tblGrid>
                <a:gridCol w="1087820"/>
                <a:gridCol w="2066859"/>
              </a:tblGrid>
              <a:tr h="530352">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차수 조합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Kr 6→18 Ω의 THD 감소</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3035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0.300%p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035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0.475%p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0352">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0.599%p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6199632" y="4736592"/>
            <a:ext cx="3108960" cy="8229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50" b="0">
                <a:solidFill>
                  <a:srgbClr val="000000"/>
                </a:solidFill>
                <a:latin typeface="Malgun Gothic"/>
                <a:ea typeface="Malgun Gothic"/>
                <a:cs typeface="Malgun Gothic"/>
              </a:rPr>
              <a:t>선이 교차하는지만 보지 않고 수준별 효과의 차이를 확인함.</a:t>
            </a:r>
          </a:p>
        </p:txBody>
      </p:sp>
      <p:sp>
        <p:nvSpPr>
          <p:cNvPr id="20" name="TextBox 19"/>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인자별로 가장 좋은 수준을 따로 고르지 않고, 실제 조합별 결과로 선정함.</a:t>
            </a:r>
          </a:p>
        </p:txBody>
      </p:sp>
      <p:cxnSp>
        <p:nvCxnSpPr>
          <p:cNvPr id="21" name="Connector 20"/>
          <p:cNvCxnSpPr/>
          <p:nvPr/>
        </p:nvCxnSpPr>
        <p:spPr>
          <a:xfrm>
            <a:off x="365760" y="6428232"/>
            <a:ext cx="9189720" cy="0"/>
          </a:xfrm>
          <a:prstGeom prst="line">
            <a:avLst/>
          </a:prstGeom>
          <a:ln w="5715">
            <a:solidFill>
              <a:srgbClr val="000000"/>
            </a:solidFill>
          </a:ln>
          <a:effectLst/>
        </p:spPr>
      </p:cxnSp>
      <p:sp>
        <p:nvSpPr>
          <p:cNvPr id="22" name="TextBox 21"/>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results/interactions.csv; results/candidates.csv</a:t>
            </a:r>
          </a:p>
        </p:txBody>
      </p:sp>
      <p:sp>
        <p:nvSpPr>
          <p:cNvPr id="23" name="TextBox 22"/>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21/47</a:t>
            </a:r>
          </a:p>
        </p:txBody>
      </p:sp>
      <p:sp>
        <p:nvSpPr>
          <p:cNvPr id="24" name="TextBox 23">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5" name="TextBox 24">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제어조건 선정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사전에 정한 순서로 후보를 선택하고 설정을 고정함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C21: Kr=18 Ω, fc=4 Hz, 3·5·7차를 검토 범위 내 선정안으로 결정함.</a:t>
            </a:r>
          </a:p>
        </p:txBody>
      </p:sp>
      <p:graphicFrame>
        <p:nvGraphicFramePr>
          <p:cNvPr id="17" name="Table 16"/>
          <p:cNvGraphicFramePr>
            <a:graphicFrameLocks noGrp="1"/>
          </p:cNvGraphicFramePr>
          <p:nvPr/>
        </p:nvGraphicFramePr>
        <p:xfrm>
          <a:off x="502920" y="2011680"/>
          <a:ext cx="8869679" cy="2724912"/>
        </p:xfrm>
        <a:graphic>
          <a:graphicData uri="http://schemas.openxmlformats.org/drawingml/2006/table">
            <a:tbl>
              <a:tblPr firstRow="1" bandRow="1">
                <a:tableStyleId>{5C22544A-7EE6-4342-B048-85BDC9FD1C3A}</a:tableStyleId>
              </a:tblPr>
              <a:tblGrid>
                <a:gridCol w="1097280"/>
                <a:gridCol w="1188720"/>
                <a:gridCol w="1097280"/>
                <a:gridCol w="1737359"/>
                <a:gridCol w="1554480"/>
                <a:gridCol w="2194560"/>
              </a:tblGrid>
              <a:tr h="454152">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후보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Kr [Ω]</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fc [Hz]</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차수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종합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최대 THD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54152">
                <a:tc>
                  <a:txBody>
                    <a:bodyPr/>
                    <a:lstStyle/>
                    <a:p>
                      <a:pPr algn="l">
                        <a:lnSpc>
                          <a:spcPct val="105000"/>
                        </a:lnSpc>
                        <a:spcBef>
                          <a:spcPts val="0"/>
                        </a:spcBef>
                        <a:spcAft>
                          <a:spcPts val="100"/>
                        </a:spcAft>
                      </a:pPr>
                      <a:r>
                        <a:rPr sz="1160" b="0">
                          <a:solidFill>
                            <a:srgbClr val="008000"/>
                          </a:solidFill>
                          <a:latin typeface="Malgun Gothic"/>
                          <a:ea typeface="Malgun Gothic"/>
                          <a:cs typeface="Malgun Gothic"/>
                        </a:rPr>
                        <a:t>C21</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8000"/>
                          </a:solidFill>
                          <a:latin typeface="Malgun Gothic"/>
                          <a:ea typeface="Malgun Gothic"/>
                          <a:cs typeface="Malgun Gothic"/>
                        </a:rPr>
                        <a:t>18</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8000"/>
                          </a:solidFill>
                          <a:latin typeface="Malgun Gothic"/>
                          <a:ea typeface="Malgun Gothic"/>
                          <a:cs typeface="Malgun Gothic"/>
                        </a:rPr>
                        <a:t>4</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8000"/>
                          </a:solidFill>
                          <a:latin typeface="Malgun Gothic"/>
                          <a:ea typeface="Malgun Gothic"/>
                          <a:cs typeface="Malgun Gothic"/>
                        </a:rPr>
                        <a:t>3·5·7</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8000"/>
                          </a:solidFill>
                          <a:latin typeface="Malgun Gothic"/>
                          <a:ea typeface="Malgun Gothic"/>
                          <a:cs typeface="Malgun Gothic"/>
                        </a:rPr>
                        <a:t>9/9</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8000"/>
                          </a:solidFill>
                          <a:latin typeface="Malgun Gothic"/>
                          <a:ea typeface="Malgun Gothic"/>
                          <a:cs typeface="Malgun Gothic"/>
                        </a:rPr>
                        <a:t>3.145</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r>
              <a:tr h="454152">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C27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3.185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4152">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C24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3.218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4152">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C12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3.466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54152">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C15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3.507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965192"/>
            <a:ext cx="8869680" cy="8046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50" b="0">
                <a:solidFill>
                  <a:srgbClr val="000000"/>
                </a:solidFill>
                <a:latin typeface="Malgun Gothic"/>
                <a:ea typeface="Malgun Gothic"/>
                <a:cs typeface="Malgun Gothic"/>
              </a:rPr>
              <a:t>선정용 종합 만족: 9/9</a:t>
            </a:r>
          </a:p>
          <a:p>
            <a:pPr algn="l">
              <a:lnSpc>
                <a:spcPct val="108000"/>
              </a:lnSpc>
              <a:spcBef>
                <a:spcPts val="0"/>
              </a:spcBef>
              <a:spcAft>
                <a:spcPts val="200"/>
              </a:spcAft>
            </a:pPr>
            <a:r>
              <a:rPr sz="1250" b="0">
                <a:solidFill>
                  <a:srgbClr val="000000"/>
                </a:solidFill>
                <a:latin typeface="Malgun Gothic"/>
                <a:ea typeface="Malgun Gothic"/>
                <a:cs typeface="Malgun Gothic"/>
              </a:rPr>
              <a:t>범위 끝의 이득·대역이 선정되면, 범위 밖 최적성은 추가 확인 대상임.</a:t>
            </a:r>
          </a:p>
          <a:p>
            <a:pPr algn="l">
              <a:lnSpc>
                <a:spcPct val="108000"/>
              </a:lnSpc>
              <a:spcBef>
                <a:spcPts val="0"/>
              </a:spcBef>
              <a:spcAft>
                <a:spcPts val="200"/>
              </a:spcAft>
            </a:pPr>
            <a:r>
              <a:rPr sz="1250" b="0">
                <a:solidFill>
                  <a:srgbClr val="000000"/>
                </a:solidFill>
                <a:latin typeface="Malgun Gothic"/>
                <a:ea typeface="Malgun Gothic"/>
                <a:cs typeface="Malgun Gothic"/>
              </a:rPr>
              <a:t>선정 미사용·전압·편차 검증 결과로 설정을 다시 바꾸지 않음.</a:t>
            </a:r>
          </a:p>
        </p:txBody>
      </p:sp>
      <p:sp>
        <p:nvSpPr>
          <p:cNvPr id="19" name="TextBox 18"/>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선정안은 전역 최적값 또는 실제 제품 적용 승인값이 아님.</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results/selected_control.json; results/candidates.csv; qa/execution.json</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22/47</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기준조건 개선 효과</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동일한 47개 조건을 초기·선정 제어로 대응 비교함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평균 THD 2.453% → 1.014%; THD 만족 42/47 → 47/47.</a:t>
            </a:r>
          </a:p>
        </p:txBody>
      </p:sp>
      <p:graphicFrame>
        <p:nvGraphicFramePr>
          <p:cNvPr id="17" name="Chart 16"/>
          <p:cNvGraphicFramePr>
            <a:graphicFrameLocks noGrp="1"/>
          </p:cNvGraphicFramePr>
          <p:nvPr/>
        </p:nvGraphicFramePr>
        <p:xfrm>
          <a:off x="502920" y="2011680"/>
          <a:ext cx="5550408" cy="3200400"/>
        </p:xfrm>
        <a:graphic>
          <a:graphicData uri="http://schemas.openxmlformats.org/drawingml/2006/chart">
            <c:chart xmlns:c="http://schemas.openxmlformats.org/drawingml/2006/chart" r:id="rId2"/>
          </a:graphicData>
        </a:graphic>
      </p:graphicFrame>
      <p:graphicFrame>
        <p:nvGraphicFramePr>
          <p:cNvPr id="18" name="Table 17"/>
          <p:cNvGraphicFramePr>
            <a:graphicFrameLocks noGrp="1"/>
          </p:cNvGraphicFramePr>
          <p:nvPr/>
        </p:nvGraphicFramePr>
        <p:xfrm>
          <a:off x="6318504" y="2267712"/>
          <a:ext cx="3017518" cy="2688335"/>
        </p:xfrm>
        <a:graphic>
          <a:graphicData uri="http://schemas.openxmlformats.org/drawingml/2006/table">
            <a:tbl>
              <a:tblPr firstRow="1" bandRow="1">
                <a:tableStyleId>{5C22544A-7EE6-4342-B048-85BDC9FD1C3A}</a:tableStyleId>
              </a:tblPr>
              <a:tblGrid>
                <a:gridCol w="1242508"/>
                <a:gridCol w="887505"/>
                <a:gridCol w="887505"/>
              </a:tblGrid>
              <a:tr h="537667">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지표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초기 제어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선정 제어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3766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평균 THD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2.453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1.014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766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최대 THD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7.787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3.145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766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THD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42/47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47/47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766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40/47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45/47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종합 만족 45/47: THD만 만족한 조건과 모든 항목을 만족한 조건을 분리함.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results/baseline.csv; results/improved.csv; results/main_paired.csv</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23/47</a:t>
            </a:r>
          </a:p>
        </p:txBody>
      </p:sp>
      <p:sp>
        <p:nvSpPr>
          <p:cNvPr id="23" name="TextBox 22">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저전류 영역 개선</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전체 평균에 가려지는 취약 영역을 별도로 확인함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합성 지령의 RMS 환산값이 8 A 이하인 8개 조건: 평균 THD 5.871% → 2.247%.</a:t>
            </a:r>
          </a:p>
        </p:txBody>
      </p:sp>
      <p:graphicFrame>
        <p:nvGraphicFramePr>
          <p:cNvPr id="17" name="Chart 16"/>
          <p:cNvGraphicFramePr>
            <a:graphicFrameLocks noGrp="1"/>
          </p:cNvGraphicFramePr>
          <p:nvPr/>
        </p:nvGraphicFramePr>
        <p:xfrm>
          <a:off x="502920" y="2011680"/>
          <a:ext cx="5614416" cy="3200400"/>
        </p:xfrm>
        <a:graphic>
          <a:graphicData uri="http://schemas.openxmlformats.org/drawingml/2006/chart">
            <c:chart xmlns:c="http://schemas.openxmlformats.org/drawingml/2006/chart" r:id="rId2"/>
          </a:graphicData>
        </a:graphic>
      </p:graphicFrame>
      <p:graphicFrame>
        <p:nvGraphicFramePr>
          <p:cNvPr id="18" name="Table 17"/>
          <p:cNvGraphicFramePr>
            <a:graphicFrameLocks noGrp="1"/>
          </p:cNvGraphicFramePr>
          <p:nvPr/>
        </p:nvGraphicFramePr>
        <p:xfrm>
          <a:off x="6364224" y="2386584"/>
          <a:ext cx="2962656" cy="2203704"/>
        </p:xfrm>
        <a:graphic>
          <a:graphicData uri="http://schemas.openxmlformats.org/drawingml/2006/table">
            <a:tbl>
              <a:tblPr firstRow="1" bandRow="1">
                <a:tableStyleId>{5C22544A-7EE6-4342-B048-85BDC9FD1C3A}</a:tableStyleId>
              </a:tblPr>
              <a:tblGrid>
                <a:gridCol w="987552"/>
                <a:gridCol w="987552"/>
                <a:gridCol w="987552"/>
              </a:tblGrid>
              <a:tr h="550926">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지표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초기</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선정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50926">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대상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50926">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평균 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5.871%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2.247%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50926">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THD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8개 저전류 조건은 기준 47개에 포함되며 별도로 합산하지 않음.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results/current_strata.csv; results/baseline.csv; results/improved.csv</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24/47</a:t>
            </a:r>
          </a:p>
        </p:txBody>
      </p:sp>
      <p:sp>
        <p:nvSpPr>
          <p:cNvPr id="23" name="TextBox 22">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선정 미사용 조건</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선정에 사용하지 않은 38개 운전조건을 분리함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같은 수치모델에서 조건 선정에 사용하지 않은 영역도 개선되는지 확인함.</a:t>
            </a:r>
          </a:p>
        </p:txBody>
      </p:sp>
      <p:graphicFrame>
        <p:nvGraphicFramePr>
          <p:cNvPr id="17" name="Table 16"/>
          <p:cNvGraphicFramePr>
            <a:graphicFrameLocks noGrp="1"/>
          </p:cNvGraphicFramePr>
          <p:nvPr/>
        </p:nvGraphicFramePr>
        <p:xfrm>
          <a:off x="502920" y="2011680"/>
          <a:ext cx="8869677" cy="2221992"/>
        </p:xfrm>
        <a:graphic>
          <a:graphicData uri="http://schemas.openxmlformats.org/drawingml/2006/table">
            <a:tbl>
              <a:tblPr firstRow="1" bandRow="1">
                <a:tableStyleId>{5C22544A-7EE6-4342-B048-85BDC9FD1C3A}</a:tableStyleId>
              </a:tblPr>
              <a:tblGrid>
                <a:gridCol w="1920240"/>
                <a:gridCol w="1005839"/>
                <a:gridCol w="2011679"/>
                <a:gridCol w="2011679"/>
                <a:gridCol w="1920240"/>
              </a:tblGrid>
              <a:tr h="555498">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집합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조건 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초기 THD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선정 THD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선정 종합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55498">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선정용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6/9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55498">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선정 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36/38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38/38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36/38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55498">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기준 전체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42/47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47/47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45/47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727448"/>
            <a:ext cx="8869680" cy="88696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47=9+38. 동일 모델의 미사용 조건 검증은 실물 검증과 다름.</a:t>
            </a:r>
          </a:p>
          <a:p>
            <a:pPr algn="l">
              <a:lnSpc>
                <a:spcPct val="108000"/>
              </a:lnSpc>
              <a:spcBef>
                <a:spcPts val="0"/>
              </a:spcBef>
              <a:spcAft>
                <a:spcPts val="200"/>
              </a:spcAft>
            </a:pPr>
            <a:r>
              <a:rPr sz="1300" b="0">
                <a:solidFill>
                  <a:srgbClr val="000000"/>
                </a:solidFill>
                <a:latin typeface="Malgun Gothic"/>
                <a:ea typeface="Malgun Gothic"/>
                <a:cs typeface="Malgun Gothic"/>
              </a:rPr>
              <a:t>모델 계열·부품 가정이 공통이므로 모델 오류에 대해서는 독립적이지 않음.</a:t>
            </a:r>
          </a:p>
        </p:txBody>
      </p:sp>
      <p:sp>
        <p:nvSpPr>
          <p:cNvPr id="19" name="TextBox 18"/>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선정 이후 확인한 결과를 다시 선정 데이터에 섞지 않음.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results/main_conditions.csv; qa/frozen_protocol.json; results/summary.json</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25/47</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전압 변화 확인</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216 V·264 V에서 같은 Peak dq 전류를 지령함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전압 변화에 따라 전력도 달라지는 시험이며, 일정전력 제어 시험으로 해석하지 않음.</a:t>
            </a:r>
          </a:p>
        </p:txBody>
      </p:sp>
      <p:graphicFrame>
        <p:nvGraphicFramePr>
          <p:cNvPr id="17" name="Table 16"/>
          <p:cNvGraphicFramePr>
            <a:graphicFrameLocks noGrp="1"/>
          </p:cNvGraphicFramePr>
          <p:nvPr/>
        </p:nvGraphicFramePr>
        <p:xfrm>
          <a:off x="502920" y="2011680"/>
          <a:ext cx="8869680" cy="2715765"/>
        </p:xfrm>
        <a:graphic>
          <a:graphicData uri="http://schemas.openxmlformats.org/drawingml/2006/table">
            <a:tbl>
              <a:tblPr firstRow="1" bandRow="1">
                <a:tableStyleId>{5C22544A-7EE6-4342-B048-85BDC9FD1C3A}</a:tableStyleId>
              </a:tblPr>
              <a:tblGrid>
                <a:gridCol w="2926080"/>
                <a:gridCol w="2926080"/>
                <a:gridCol w="3017520"/>
              </a:tblGrid>
              <a:tr h="543153">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지표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초기 제어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선정 제어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43153">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평균 THD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3.087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1.232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3153">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최대 THD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8.116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3.209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3153">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THD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18/24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3153">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14/24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20/24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937760"/>
            <a:ext cx="8869680" cy="950976"/>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0">
                <a:solidFill>
                  <a:srgbClr val="C00000"/>
                </a:solidFill>
                <a:latin typeface="Malgun Gothic"/>
                <a:ea typeface="Malgun Gothic"/>
                <a:cs typeface="Malgun Gothic"/>
              </a:rPr>
              <a:t>추가 범위는 240 V의 ±10%로 설정한 수치 민감도 시험임.</a:t>
            </a:r>
          </a:p>
          <a:p>
            <a:pPr algn="l">
              <a:lnSpc>
                <a:spcPct val="108000"/>
              </a:lnSpc>
              <a:spcBef>
                <a:spcPts val="0"/>
              </a:spcBef>
              <a:spcAft>
                <a:spcPts val="200"/>
              </a:spcAft>
            </a:pPr>
            <a:r>
              <a:rPr sz="1230" b="0">
                <a:solidFill>
                  <a:srgbClr val="C00000"/>
                </a:solidFill>
                <a:latin typeface="Malgun Gothic"/>
                <a:ea typeface="Malgun Gothic"/>
                <a:cs typeface="Malgun Gothic"/>
              </a:rPr>
              <a:t>216×48=10.368 kVA / 264×48=12.672 kVA.</a:t>
            </a:r>
          </a:p>
          <a:p>
            <a:pPr algn="l">
              <a:lnSpc>
                <a:spcPct val="108000"/>
              </a:lnSpc>
              <a:spcBef>
                <a:spcPts val="0"/>
              </a:spcBef>
              <a:spcAft>
                <a:spcPts val="200"/>
              </a:spcAft>
            </a:pPr>
            <a:r>
              <a:rPr sz="1230" b="0">
                <a:solidFill>
                  <a:srgbClr val="C00000"/>
                </a:solidFill>
                <a:latin typeface="Malgun Gothic"/>
                <a:ea typeface="Malgun Gothic"/>
                <a:cs typeface="Malgun Gothic"/>
              </a:rPr>
              <a:t>264 V·48 A는 공칭11.52 kVA를 초과하므로 해당 연속운전 허용을 입증한 결과가 아님.</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results/voltage_conditions.csv; results/voltage.csv; results/voltage_paired.csv</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26/47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회로·검출계 편차</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선정한 설정을 고정하고 24개 가정 변경 조건을 확인함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범위별 배치(LHS)를 사용했으며 제조공차 분포나 제품 신뢰도 표본으로 취급하지 않음.</a:t>
            </a:r>
          </a:p>
        </p:txBody>
      </p:sp>
      <p:graphicFrame>
        <p:nvGraphicFramePr>
          <p:cNvPr id="17" name="Table 16"/>
          <p:cNvGraphicFramePr>
            <a:graphicFrameLocks noGrp="1"/>
          </p:cNvGraphicFramePr>
          <p:nvPr/>
        </p:nvGraphicFramePr>
        <p:xfrm>
          <a:off x="502920" y="2011680"/>
          <a:ext cx="5285231" cy="3108960"/>
        </p:xfrm>
        <a:graphic>
          <a:graphicData uri="http://schemas.openxmlformats.org/drawingml/2006/table">
            <a:tbl>
              <a:tblPr firstRow="1" bandRow="1">
                <a:tableStyleId>{5C22544A-7EE6-4342-B048-85BDC9FD1C3A}</a:tableStyleId>
              </a:tblPr>
              <a:tblGrid>
                <a:gridCol w="1947190"/>
                <a:gridCol w="3338041"/>
              </a:tblGrid>
              <a:tr h="518160">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변경항목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설정한 범위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18160">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Vdc / 주파수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380~420 V / 59.5~60.5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8160">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Lf / Lg</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0.9~1.1 mH / 0.05~0.25 mH</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8160">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dead-time / LPF</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100~300 ns / 8~12 kHz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8160">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offset / gain</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±0.05 A / 0.995~1.005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8160">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추가 지연 / 계통 고조파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 또는16 μs / 3차0~1.5%, 5차0~0.75%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graphicFrame>
        <p:nvGraphicFramePr>
          <p:cNvPr id="18" name="Table 17"/>
          <p:cNvGraphicFramePr>
            <a:graphicFrameLocks noGrp="1"/>
          </p:cNvGraphicFramePr>
          <p:nvPr/>
        </p:nvGraphicFramePr>
        <p:xfrm>
          <a:off x="6117336" y="2258568"/>
          <a:ext cx="3209542" cy="2688335"/>
        </p:xfrm>
        <a:graphic>
          <a:graphicData uri="http://schemas.openxmlformats.org/drawingml/2006/table">
            <a:tbl>
              <a:tblPr firstRow="1" bandRow="1">
                <a:tableStyleId>{5C22544A-7EE6-4342-B048-85BDC9FD1C3A}</a:tableStyleId>
              </a:tblPr>
              <a:tblGrid>
                <a:gridCol w="1348938"/>
                <a:gridCol w="930302"/>
                <a:gridCol w="930302"/>
              </a:tblGrid>
              <a:tr h="537667">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지표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초기 제어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선정 제어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37667">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평균 THD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2.922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1.200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7667">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최대 THD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9.298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3.651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7667">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THD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20/24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24/24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37667">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17/24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21/24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실행조건과 seed를 보존하고, 미달은 원인별로 별도 기록함.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results/variation_conditions.csv; results/variation.csv; results/variation_paired.csv</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27/47</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LF 전환 가정 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저주파 레그의 전환 규칙을 바꾸어 모델 의존성을 확인함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기준은 브리지 전압 명령 부호형이며, 아래는 계통전압 부호형으로 변경한 별도 결과임.</a:t>
            </a:r>
          </a:p>
        </p:txBody>
      </p:sp>
      <p:graphicFrame>
        <p:nvGraphicFramePr>
          <p:cNvPr id="17" name="Table 16"/>
          <p:cNvGraphicFramePr>
            <a:graphicFrameLocks noGrp="1"/>
          </p:cNvGraphicFramePr>
          <p:nvPr/>
        </p:nvGraphicFramePr>
        <p:xfrm>
          <a:off x="502920" y="2011680"/>
          <a:ext cx="8869679" cy="2971794"/>
        </p:xfrm>
        <a:graphic>
          <a:graphicData uri="http://schemas.openxmlformats.org/drawingml/2006/table">
            <a:tbl>
              <a:tblPr firstRow="1" bandRow="1">
                <a:tableStyleId>{5C22544A-7EE6-4342-B048-85BDC9FD1C3A}</a:tableStyleId>
              </a:tblPr>
              <a:tblGrid>
                <a:gridCol w="923925"/>
                <a:gridCol w="1478280"/>
                <a:gridCol w="1478280"/>
                <a:gridCol w="1755457"/>
                <a:gridCol w="1663065"/>
                <a:gridCol w="1570672"/>
              </a:tblGrid>
              <a:tr h="424542">
                <a:tc>
                  <a:txBody>
                    <a:bodyPr/>
                    <a:lstStyle/>
                    <a:p>
                      <a:pPr algn="ctr">
                        <a:lnSpc>
                          <a:spcPct val="105000"/>
                        </a:lnSpc>
                        <a:spcBef>
                          <a:spcPts val="0"/>
                        </a:spcBef>
                        <a:spcAft>
                          <a:spcPts val="100"/>
                        </a:spcAft>
                      </a:pPr>
                      <a:r>
                        <a:rPr sz="1125" b="1">
                          <a:solidFill>
                            <a:srgbClr val="000000"/>
                          </a:solidFill>
                          <a:latin typeface="Malgun Gothic"/>
                          <a:ea typeface="Malgun Gothic"/>
                          <a:cs typeface="Malgun Gothic"/>
                        </a:rPr>
                        <a:t>조건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5" b="1">
                          <a:solidFill>
                            <a:srgbClr val="000000"/>
                          </a:solidFill>
                          <a:latin typeface="Malgun Gothic"/>
                          <a:ea typeface="Malgun Gothic"/>
                          <a:cs typeface="Malgun Gothic"/>
                        </a:rPr>
                        <a:t>id* [Apeak]</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5" b="1">
                          <a:solidFill>
                            <a:srgbClr val="000000"/>
                          </a:solidFill>
                          <a:latin typeface="Malgun Gothic"/>
                          <a:ea typeface="Malgun Gothic"/>
                          <a:cs typeface="Malgun Gothic"/>
                        </a:rPr>
                        <a:t>iq* [Apeak]</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5" b="1">
                          <a:solidFill>
                            <a:srgbClr val="000000"/>
                          </a:solidFill>
                          <a:latin typeface="Malgun Gothic"/>
                          <a:ea typeface="Malgun Gothic"/>
                          <a:cs typeface="Malgun Gothic"/>
                        </a:rPr>
                        <a:t>선정 THD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5" b="1">
                          <a:solidFill>
                            <a:srgbClr val="000000"/>
                          </a:solidFill>
                          <a:latin typeface="Malgun Gothic"/>
                          <a:ea typeface="Malgun Gothic"/>
                          <a:cs typeface="Malgun Gothic"/>
                        </a:rPr>
                        <a:t>전압 제한비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5" b="1">
                          <a:solidFill>
                            <a:srgbClr val="000000"/>
                          </a:solidFill>
                          <a:latin typeface="Malgun Gothic"/>
                          <a:ea typeface="Malgun Gothic"/>
                          <a:cs typeface="Malgun Gothic"/>
                        </a:rPr>
                        <a:t>종합 판정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24542">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L01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3.143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0.16%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4542">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L02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1.250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1.09%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4542">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L03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1.233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0.19%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4542">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L04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0.529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1.28%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4542">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L05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0.553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1.38%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4542">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L06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-67.88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0.378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1.70%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5" b="0">
                          <a:solidFill>
                            <a:srgbClr val="000000"/>
                          </a:solidFill>
                          <a:latin typeface="Malgun Gothic"/>
                          <a:ea typeface="Malgun Gothic"/>
                          <a:cs typeface="Malgun Gothic"/>
                        </a:rPr>
                        <a:t>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349240"/>
            <a:ext cx="8869680" cy="74980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40" b="0">
                <a:solidFill>
                  <a:srgbClr val="C00000"/>
                </a:solidFill>
                <a:latin typeface="Malgun Gothic"/>
                <a:ea typeface="Malgun Gothic"/>
                <a:cs typeface="Malgun Gothic"/>
              </a:rPr>
              <a:t>실제 LF 동작이 확인되기 전에는, 기준 모델의 무효전력 성능을 제품 성능으로 확정할 수 없음.</a:t>
            </a:r>
          </a:p>
          <a:p>
            <a:pPr algn="l">
              <a:lnSpc>
                <a:spcPct val="108000"/>
              </a:lnSpc>
              <a:spcBef>
                <a:spcPts val="0"/>
              </a:spcBef>
              <a:spcAft>
                <a:spcPts val="200"/>
              </a:spcAft>
            </a:pPr>
            <a:r>
              <a:rPr sz="1240" b="0">
                <a:solidFill>
                  <a:srgbClr val="C00000"/>
                </a:solidFill>
                <a:latin typeface="Malgun Gothic"/>
                <a:ea typeface="Malgun Gothic"/>
                <a:cs typeface="Malgun Gothic"/>
              </a:rPr>
              <a:t>6개 구조 변경 조건을 기준47개 또는 편차24개의 성과 분모에 넣지 않음.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results/structure.csv; src/model.py lf_grid_polarity</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28/47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잔여 미달과 부작용</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실패조건을 보존하고 판정 항목별로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기준조건 2개, 회로·검출 편차조건 3개의 종합 미달을 별도 추적함.</a:t>
            </a:r>
          </a:p>
        </p:txBody>
      </p:sp>
      <p:graphicFrame>
        <p:nvGraphicFramePr>
          <p:cNvPr id="17" name="Table 16"/>
          <p:cNvGraphicFramePr>
            <a:graphicFrameLocks noGrp="1"/>
          </p:cNvGraphicFramePr>
          <p:nvPr/>
        </p:nvGraphicFramePr>
        <p:xfrm>
          <a:off x="502920" y="2011680"/>
          <a:ext cx="8869680" cy="2651760"/>
        </p:xfrm>
        <a:graphic>
          <a:graphicData uri="http://schemas.openxmlformats.org/drawingml/2006/table">
            <a:tbl>
              <a:tblPr firstRow="1" bandRow="1">
                <a:tableStyleId>{5C22544A-7EE6-4342-B048-85BDC9FD1C3A}</a:tableStyleId>
              </a:tblPr>
              <a:tblGrid>
                <a:gridCol w="2377440"/>
                <a:gridCol w="2377440"/>
                <a:gridCol w="2103120"/>
                <a:gridCol w="2011680"/>
              </a:tblGrid>
              <a:tr h="441960">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조건 / 집합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RMS [A]</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48 A 대비 [mA]</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미달 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1960">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N001 / 기준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48.002285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2.285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1960">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N010 / 기준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48.002602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2.602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1960">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R010 / 편차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48.317674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317.674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1960">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R012 / 편차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48.023672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23.672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1960">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R023 / 편차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48.102244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102.244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522976"/>
            <a:ext cx="8869680" cy="7315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5" b="0">
                <a:solidFill>
                  <a:srgbClr val="000000"/>
                </a:solidFill>
                <a:latin typeface="Malgun Gothic"/>
                <a:ea typeface="Malgun Gothic"/>
                <a:cs typeface="Malgun Gothic"/>
              </a:rPr>
              <a:t>수 mA 수준의 경계 초과는 수치 오차와 계측 허용차를 함께 검토해야 함.</a:t>
            </a:r>
          </a:p>
          <a:p>
            <a:pPr algn="l">
              <a:lnSpc>
                <a:spcPct val="108000"/>
              </a:lnSpc>
              <a:spcBef>
                <a:spcPts val="0"/>
              </a:spcBef>
              <a:spcAft>
                <a:spcPts val="200"/>
              </a:spcAft>
            </a:pPr>
            <a:r>
              <a:rPr sz="1215" b="0">
                <a:solidFill>
                  <a:srgbClr val="000000"/>
                </a:solidFill>
                <a:latin typeface="Malgun Gothic"/>
                <a:ea typeface="Malgun Gothic"/>
                <a:cs typeface="Malgun Gothic"/>
              </a:rPr>
              <a:t>편차조건의 큰 초과와 동일 위험도로 단정하지 않으며, 48 A 기준을 임의 완화하지 않음.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results/main_failures.csv; results/variation.csv; results/refinement_comparison.csv</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29/47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d·q축 과도응답</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정상상태 THD와 과도응답의 성과를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d축 단독 변화, q축 단독 변화, q축 반전 및 정격 접근을 각각 확인함.</a:t>
            </a:r>
          </a:p>
        </p:txBody>
      </p:sp>
      <p:graphicFrame>
        <p:nvGraphicFramePr>
          <p:cNvPr id="17" name="Table 16"/>
          <p:cNvGraphicFramePr>
            <a:graphicFrameLocks noGrp="1"/>
          </p:cNvGraphicFramePr>
          <p:nvPr/>
        </p:nvGraphicFramePr>
        <p:xfrm>
          <a:off x="502920" y="2011680"/>
          <a:ext cx="8869680" cy="2523740"/>
        </p:xfrm>
        <a:graphic>
          <a:graphicData uri="http://schemas.openxmlformats.org/drawingml/2006/table">
            <a:tbl>
              <a:tblPr firstRow="1" bandRow="1">
                <a:tableStyleId>{5C22544A-7EE6-4342-B048-85BDC9FD1C3A}</a:tableStyleId>
              </a:tblPr>
              <a:tblGrid>
                <a:gridCol w="914400"/>
                <a:gridCol w="4297680"/>
                <a:gridCol w="1828800"/>
                <a:gridCol w="1828800"/>
              </a:tblGrid>
              <a:tr h="504748">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시험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축별 Peak 지령 변경 [Apeak]</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초기 정착 [ms]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선정 정착 [ms]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04748">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T01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d:11.314→22.627, q:0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21.864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21.464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04748">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T02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d:22.627, q:0→22.627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21.176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20.760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04748">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T03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d:22.627, q:+22.627→−22.627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28.744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29.848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04748">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T04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d:56.569→67.882, q:0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8.344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8.344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4901184"/>
            <a:ext cx="8869680" cy="96926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5" b="0">
                <a:solidFill>
                  <a:srgbClr val="000000"/>
                </a:solidFill>
                <a:latin typeface="Malgun Gothic"/>
                <a:ea typeface="Malgun Gothic"/>
                <a:cs typeface="Malgun Gothic"/>
              </a:rPr>
              <a:t>관측 정의: dq 피드백의 중심정렬 1계통주기 이동평균이 허용오차에 들어와 유지되는 시각.</a:t>
            </a:r>
          </a:p>
          <a:p>
            <a:pPr algn="l">
              <a:lnSpc>
                <a:spcPct val="108000"/>
              </a:lnSpc>
              <a:spcBef>
                <a:spcPts val="0"/>
              </a:spcBef>
              <a:spcAft>
                <a:spcPts val="200"/>
              </a:spcAft>
            </a:pPr>
            <a:r>
              <a:rPr sz="1215" b="0">
                <a:solidFill>
                  <a:srgbClr val="000000"/>
                </a:solidFill>
                <a:latin typeface="Malgun Gothic"/>
                <a:ea typeface="Malgun Gothic"/>
                <a:cs typeface="Malgun Gothic"/>
              </a:rPr>
              <a:t>최소 관측 지연은 약8.33 ms이며, 표의 정착시간은 실제 제어 대역폭이나 일반적 2%정착시간이 아님.</a:t>
            </a:r>
          </a:p>
          <a:p>
            <a:pPr algn="l">
              <a:lnSpc>
                <a:spcPct val="108000"/>
              </a:lnSpc>
              <a:spcBef>
                <a:spcPts val="0"/>
              </a:spcBef>
              <a:spcAft>
                <a:spcPts val="200"/>
              </a:spcAft>
            </a:pPr>
            <a:r>
              <a:rPr sz="1215" b="0">
                <a:solidFill>
                  <a:srgbClr val="000000"/>
                </a:solidFill>
                <a:latin typeface="Malgun Gothic"/>
                <a:ea typeface="Malgun Gothic"/>
                <a:cs typeface="Malgun Gothic"/>
              </a:rPr>
              <a:t>변경하지 않은 축의 일시 편차도 결과 CSV에 보존함.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results/transient_envelope.csv; results/transient.csv; src/analyze.py</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30/47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수치 민감도 확인</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시간간격·계산기간·고조파 계산법을 교차 확인함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대표조건의 관측 민감도를 기록하며, 이를 모든 운전조건의 오차 상한으로 확대하지 않음.</a:t>
            </a:r>
          </a:p>
        </p:txBody>
      </p:sp>
      <p:graphicFrame>
        <p:nvGraphicFramePr>
          <p:cNvPr id="17" name="Table 16"/>
          <p:cNvGraphicFramePr>
            <a:graphicFrameLocks noGrp="1"/>
          </p:cNvGraphicFramePr>
          <p:nvPr/>
        </p:nvGraphicFramePr>
        <p:xfrm>
          <a:off x="502920" y="2011680"/>
          <a:ext cx="8869680" cy="2560315"/>
        </p:xfrm>
        <a:graphic>
          <a:graphicData uri="http://schemas.openxmlformats.org/drawingml/2006/table">
            <a:tbl>
              <a:tblPr firstRow="1" bandRow="1">
                <a:tableStyleId>{5C22544A-7EE6-4342-B048-85BDC9FD1C3A}</a:tableStyleId>
              </a:tblPr>
              <a:tblGrid>
                <a:gridCol w="1828800"/>
                <a:gridCol w="2286000"/>
                <a:gridCol w="2377440"/>
                <a:gridCol w="2377440"/>
              </a:tblGrid>
              <a:tr h="512063">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검증</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비교</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최대 THD 차이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최대 RMS 차이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12063">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시간간격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2→1→0.5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0.007165%p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0.5144 mA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2063">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기간 연장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0.75→1.5 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0.000541%p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0.0774 mA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2063">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계산법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직접 투영 / FFT</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2.83e-07%p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THD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12063">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대표4회 재실행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동일조건 전류 배열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완전 일치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동일 환경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056632"/>
            <a:ext cx="8869680" cy="69494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60" b="0">
                <a:solidFill>
                  <a:srgbClr val="000000"/>
                </a:solidFill>
                <a:latin typeface="Malgun Gothic"/>
                <a:ea typeface="Malgun Gothic"/>
                <a:cs typeface="Malgun Gothic"/>
              </a:rPr>
              <a:t>세분화 판정 일치: True / 기간 연장 판정 일치: True</a:t>
            </a:r>
          </a:p>
          <a:p>
            <a:pPr algn="l">
              <a:lnSpc>
                <a:spcPct val="108000"/>
              </a:lnSpc>
              <a:spcBef>
                <a:spcPts val="0"/>
              </a:spcBef>
              <a:spcAft>
                <a:spcPts val="200"/>
              </a:spcAft>
            </a:pPr>
            <a:r>
              <a:rPr sz="1260" b="0">
                <a:solidFill>
                  <a:srgbClr val="000000"/>
                </a:solidFill>
                <a:latin typeface="Malgun Gothic"/>
                <a:ea typeface="Malgun Gothic"/>
                <a:cs typeface="Malgun Gothic"/>
              </a:rPr>
              <a:t>동일값 반복은 재현성 검사이며, 통계적 표본 수가 증가한 것이 아님.</a:t>
            </a:r>
          </a:p>
        </p:txBody>
      </p:sp>
      <p:sp>
        <p:nvSpPr>
          <p:cNvPr id="19" name="TextBox 18"/>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계산의 재현성과 실물 모델의 타당성은 별개임.</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results/refinement_comparison.csv; results/duration_comparison.csv; qa/fft_crosscheck.csv; qa/replay.json</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31/47</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5. Control / 표준화와 재검증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사양·조건·선정값·원자료·보고서를 함께 관리함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사양 변경 시 문서 숫자만 수정하지 않고, 같은 검증 절차로 다시 계산함.</a:t>
            </a:r>
          </a:p>
        </p:txBody>
      </p:sp>
      <p:graphicFrame>
        <p:nvGraphicFramePr>
          <p:cNvPr id="17" name="Table 16"/>
          <p:cNvGraphicFramePr>
            <a:graphicFrameLocks noGrp="1"/>
          </p:cNvGraphicFramePr>
          <p:nvPr/>
        </p:nvGraphicFramePr>
        <p:xfrm>
          <a:off x="502920" y="2011680"/>
          <a:ext cx="8869680" cy="3456425"/>
        </p:xfrm>
        <a:graphic>
          <a:graphicData uri="http://schemas.openxmlformats.org/drawingml/2006/table">
            <a:tbl>
              <a:tblPr firstRow="1" bandRow="1">
                <a:tableStyleId>{5C22544A-7EE6-4342-B048-85BDC9FD1C3A}</a:tableStyleId>
              </a:tblPr>
              <a:tblGrid>
                <a:gridCol w="1920240"/>
                <a:gridCol w="3657600"/>
                <a:gridCol w="3291840"/>
              </a:tblGrid>
              <a:tr h="493775">
                <a:tc>
                  <a:txBody>
                    <a:bodyPr/>
                    <a:lstStyle/>
                    <a:p>
                      <a:pPr algn="ctr">
                        <a:lnSpc>
                          <a:spcPct val="105000"/>
                        </a:lnSpc>
                        <a:spcBef>
                          <a:spcPts val="0"/>
                        </a:spcBef>
                        <a:spcAft>
                          <a:spcPts val="100"/>
                        </a:spcAft>
                      </a:pPr>
                      <a:r>
                        <a:rPr sz="1155" b="1">
                          <a:solidFill>
                            <a:srgbClr val="000000"/>
                          </a:solidFill>
                          <a:latin typeface="Malgun Gothic"/>
                          <a:ea typeface="Malgun Gothic"/>
                          <a:cs typeface="Malgun Gothic"/>
                        </a:rPr>
                        <a:t>관리 대상</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5" b="1">
                          <a:solidFill>
                            <a:srgbClr val="000000"/>
                          </a:solidFill>
                          <a:latin typeface="Malgun Gothic"/>
                          <a:ea typeface="Malgun Gothic"/>
                          <a:cs typeface="Malgun Gothic"/>
                        </a:rPr>
                        <a:t>산출물 / 규칙</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5" b="1">
                          <a:solidFill>
                            <a:srgbClr val="000000"/>
                          </a:solidFill>
                          <a:latin typeface="Malgun Gothic"/>
                          <a:ea typeface="Malgun Gothic"/>
                          <a:cs typeface="Malgun Gothic"/>
                        </a:rPr>
                        <a:t>재검증 조건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93775">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확정 사양·가정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specification.json + 입력 검사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정격·dq단위·클록·회로 변경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3775">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조건·판정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CSV·seed·사전 프로토콜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조건집합 또는 한계값 변경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3775">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선정 제어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selected_control.json + 선정 규칙</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기본 PI·PLL·보상·지연 변경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3775">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원시 데이터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실행ID·파형·metadata·SHA-256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조건·코드·사양 해시 불일치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3775">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적용 전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실물 회로·검출·LF·RMS 제한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새 HW 근거 또는 미달 해소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93775">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버전 관리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V7 별도 저장; 이전판 보존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5" b="0">
                          <a:solidFill>
                            <a:srgbClr val="000000"/>
                          </a:solidFill>
                          <a:latin typeface="Malgun Gothic"/>
                          <a:ea typeface="Malgun Gothic"/>
                          <a:cs typeface="Malgun Gothic"/>
                        </a:rPr>
                        <a:t>과거 성과를 새 결과에 혼합하지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본 산출물은 설계 검토용이며 실제 SW의 적용·승인은 별도 절차임.</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qa/frozen_protocol.json; results/selected_control.json; docs/Model_and_Conventions.md</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32/47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5. Control / 성과와 적용 범위</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수치 성과와 실제 제품 성과를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동일조건 THD 개선은 확인했으나, 실물 신뢰성·제조 수율·비용 절감액으로 확대하지 않음.</a:t>
            </a:r>
          </a:p>
        </p:txBody>
      </p:sp>
      <p:graphicFrame>
        <p:nvGraphicFramePr>
          <p:cNvPr id="17" name="Table 16"/>
          <p:cNvGraphicFramePr>
            <a:graphicFrameLocks noGrp="1"/>
          </p:cNvGraphicFramePr>
          <p:nvPr/>
        </p:nvGraphicFramePr>
        <p:xfrm>
          <a:off x="502920" y="2011680"/>
          <a:ext cx="8869679" cy="3246120"/>
        </p:xfrm>
        <a:graphic>
          <a:graphicData uri="http://schemas.openxmlformats.org/drawingml/2006/table">
            <a:tbl>
              <a:tblPr firstRow="1" bandRow="1">
                <a:tableStyleId>{5C22544A-7EE6-4342-B048-85BDC9FD1C3A}</a:tableStyleId>
              </a:tblPr>
              <a:tblGrid>
                <a:gridCol w="1737359"/>
                <a:gridCol w="3566160"/>
                <a:gridCol w="3566160"/>
              </a:tblGrid>
              <a:tr h="54102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구분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확보한 산출물</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남은 확인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4102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정량 성과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240 V 동일조건 THD 및 기준 만족 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고객 규격과 판정지표의 동일성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102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제어 설계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고조파 후보·선정 규칙·부작용 기록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실제 SW 구현·CPU시간·전체 안정도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102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수치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단위·원자료·시간축·재실행 검사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실물 파형과의 일치성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102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재무 성과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계산하지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공수·단가·물동·적용률 등의 실증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102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후속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실제 회로·검출계·LF 전환·RMS 한계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제품에 적용 가능한 최종 설계 여부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815584"/>
            <a:ext cx="8869680" cy="5029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10" b="1">
                <a:solidFill>
                  <a:srgbClr val="008000"/>
                </a:solidFill>
                <a:latin typeface="Malgun Gothic"/>
                <a:ea typeface="Malgun Gothic"/>
                <a:cs typeface="Malgun Gothic"/>
              </a:rPr>
              <a:t>→ 근거가 없는 비용절감·양산 불량감소 또는 승인 상태를 만들지 않음.</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results/summary.json; specification.json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33/47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5. Control / 최종 기술 판단</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목표 달성과 미달 항목을 함께 결론에 반영함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240 V 기준 THD 목표: 달성 (47/47). 종합 판정과 모델 한계는 별도 관리함.</a:t>
            </a:r>
          </a:p>
        </p:txBody>
      </p:sp>
      <p:graphicFrame>
        <p:nvGraphicFramePr>
          <p:cNvPr id="17" name="Table 16"/>
          <p:cNvGraphicFramePr>
            <a:graphicFrameLocks noGrp="1"/>
          </p:cNvGraphicFramePr>
          <p:nvPr/>
        </p:nvGraphicFramePr>
        <p:xfrm>
          <a:off x="502920" y="2011680"/>
          <a:ext cx="8869678" cy="2423160"/>
        </p:xfrm>
        <a:graphic>
          <a:graphicData uri="http://schemas.openxmlformats.org/drawingml/2006/table">
            <a:tbl>
              <a:tblPr firstRow="1" bandRow="1">
                <a:tableStyleId>{5C22544A-7EE6-4342-B048-85BDC9FD1C3A}</a:tableStyleId>
              </a:tblPr>
              <a:tblGrid>
                <a:gridCol w="2560320"/>
                <a:gridCol w="3154679"/>
                <a:gridCol w="3154679"/>
              </a:tblGrid>
              <a:tr h="484632">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평가 집합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THD 만족: 초기→선정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종합 만족: 초기→선정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기준240 V</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42/47 → 47/47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40/47 → 45/47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전압 변화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18/24 → 24/24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14/24 → 20/24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회로·검출 편차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20/24 → 24/24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17/24 → 21/24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4632">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LF 전환 변경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5/6 → 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1/6 → 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020056"/>
            <a:ext cx="8869680" cy="8046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1">
                <a:solidFill>
                  <a:srgbClr val="C00000"/>
                </a:solidFill>
                <a:latin typeface="Malgun Gothic"/>
                <a:ea typeface="Malgun Gothic"/>
                <a:cs typeface="Malgun Gothic"/>
              </a:rPr>
              <a:t>모델 내 THD 개선 확인 ≠ 모든 제약을 만족하는 실제 제품 설계 확보</a:t>
            </a:r>
          </a:p>
          <a:p>
            <a:pPr algn="l">
              <a:lnSpc>
                <a:spcPct val="108000"/>
              </a:lnSpc>
              <a:spcBef>
                <a:spcPts val="0"/>
              </a:spcBef>
              <a:spcAft>
                <a:spcPts val="200"/>
              </a:spcAft>
            </a:pPr>
            <a:r>
              <a:rPr sz="1300" b="1">
                <a:solidFill>
                  <a:srgbClr val="C00000"/>
                </a:solidFill>
                <a:latin typeface="Malgun Gothic"/>
                <a:ea typeface="Malgun Gothic"/>
                <a:cs typeface="Malgun Gothic"/>
              </a:rPr>
              <a:t>실물 회로·전류 검출·LF 전환과의 일치성 및 고객 요구조건을 우선 확인해야 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results/summary.json; results/*_paired.csv</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34/47</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01 / 사양·신호</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용어의 정의와 이번 과제의 적용 범위를 함께 설명함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숫자·단위·평가 집합이 혼동되지 않도록 본문과 같은 정의를 사용함.</a:t>
            </a:r>
          </a:p>
        </p:txBody>
      </p:sp>
      <p:graphicFrame>
        <p:nvGraphicFramePr>
          <p:cNvPr id="17" name="Table 16"/>
          <p:cNvGraphicFramePr>
            <a:graphicFrameLocks noGrp="1"/>
          </p:cNvGraphicFramePr>
          <p:nvPr/>
        </p:nvGraphicFramePr>
        <p:xfrm>
          <a:off x="502920" y="2011680"/>
          <a:ext cx="8869679" cy="3822189"/>
        </p:xfrm>
        <a:graphic>
          <a:graphicData uri="http://schemas.openxmlformats.org/drawingml/2006/table">
            <a:tbl>
              <a:tblPr firstRow="1" bandRow="1">
                <a:tableStyleId>{5C22544A-7EE6-4342-B048-85BDC9FD1C3A}</a:tableStyleId>
              </a:tblPr>
              <a:tblGrid>
                <a:gridCol w="1828800"/>
                <a:gridCol w="3749039"/>
                <a:gridCol w="3291840"/>
              </a:tblGrid>
              <a:tr h="546027">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용어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주의사항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11.52 kVA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240 Vrms×48 Arms의 공칭 피상전력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역률1일 때 유효전력11.52 kW와 대응</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Peak dq</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피크값을 보존하는 DC d·q 지령</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RMS값과 √2 차이를 구분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id* / iq*</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유효 / 무효 전류 지령 [Apeak]</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q의 양의 방향은 모델부호 규약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θPLL</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계통전압에 동기된 내부 각도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전류 위상 명령이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P₁ / Q₁</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기본파 유효 / 무효전력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이번 모델: P₁=V₁id/√2, Q₁=−V₁iq/√2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Iref,rms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√(id*²+iq*²)/√2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설명용 환산값. 실제 전체 RMS와 다름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docs/Glossary.md; src/model.py; specification.json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35/47</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02 / 측정·판정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용어의 정의와 이번 과제의 적용 범위를 함께 설명함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숫자·단위·평가 집합이 혼동되지 않도록 본문과 같은 정의를 사용함.</a:t>
            </a:r>
          </a:p>
        </p:txBody>
      </p:sp>
      <p:graphicFrame>
        <p:nvGraphicFramePr>
          <p:cNvPr id="17" name="Table 16"/>
          <p:cNvGraphicFramePr>
            <a:graphicFrameLocks noGrp="1"/>
          </p:cNvGraphicFramePr>
          <p:nvPr/>
        </p:nvGraphicFramePr>
        <p:xfrm>
          <a:off x="502920" y="2011680"/>
          <a:ext cx="8869679" cy="3822189"/>
        </p:xfrm>
        <a:graphic>
          <a:graphicData uri="http://schemas.openxmlformats.org/drawingml/2006/table">
            <a:tbl>
              <a:tblPr firstRow="1" bandRow="1">
                <a:tableStyleId>{5C22544A-7EE6-4342-B048-85BDC9FD1C3A}</a:tableStyleId>
              </a:tblPr>
              <a:tblGrid>
                <a:gridCol w="1828800"/>
                <a:gridCol w="3749039"/>
                <a:gridCol w="3291840"/>
              </a:tblGrid>
              <a:tr h="546027">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용어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주의사항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THD₂–₄₀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2~40차 RMS 합성을 기본파 RMS로 나눈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DC·40차 초과·스위칭 리플 제외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전체 RMS 전류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저장 파형의 제곱평균 제곱근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고조파·스위칭 리플 포함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보조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추종·RMS·피크·제한·주기성 판정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48 A 외 한계는 자체 가정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THD와 모든 보조조건 동시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THD 만족률과 구분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포화 시간비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전압명령이 제한된 평가 비율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추가 보상·적분 제한도 따로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주기성 오차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연속주기1~7차 계수 차이의 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전체 폐루프 안정도 증명이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docs/Glossary.md; src/model.py; specification.json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36/47</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03 / 모델·시간축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용어의 정의와 이번 과제의 적용 범위를 함께 설명함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숫자·단위·평가 집합이 혼동되지 않도록 본문과 같은 정의를 사용함.</a:t>
            </a:r>
          </a:p>
        </p:txBody>
      </p:sp>
      <p:graphicFrame>
        <p:nvGraphicFramePr>
          <p:cNvPr id="17" name="Table 16"/>
          <p:cNvGraphicFramePr>
            <a:graphicFrameLocks noGrp="1"/>
          </p:cNvGraphicFramePr>
          <p:nvPr/>
        </p:nvGraphicFramePr>
        <p:xfrm>
          <a:off x="502920" y="2011680"/>
          <a:ext cx="8869679" cy="3822189"/>
        </p:xfrm>
        <a:graphic>
          <a:graphicData uri="http://schemas.openxmlformats.org/drawingml/2006/table">
            <a:tbl>
              <a:tblPr firstRow="1" bandRow="1">
                <a:tableStyleId>{5C22544A-7EE6-4342-B048-85BDC9FD1C3A}</a:tableStyleId>
              </a:tblPr>
              <a:tblGrid>
                <a:gridCol w="1828800"/>
                <a:gridCol w="3749039"/>
                <a:gridCol w="3291840"/>
              </a:tblGrid>
              <a:tr h="546027">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용어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주의사항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HF / LF 레그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고주파 / 저주파 브리지 스위치부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실제 LF 전환 로직 미확인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dead-time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상보 스위치의 turn-on 공백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기준200 ns는 모델 가정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제어 주기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16 μs; PWM과1:1 연산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샘플→적용 지연과 다름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샘플→적용 지연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기준8 μs, 추가1·2 PWM 지연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ADC·shadow 설정은 실제 확인 필요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FIFO</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지연된 명령을 순서대로 반영</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명령출처와 적용값을 기록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수치 시간간격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기본2 μs, 대표1·0.5 μs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제어주기를 변경하지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docs/Glossary.md; src/model.py; specification.json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37/47</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04 / 제어·통계</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용어의 정의와 이번 과제의 적용 범위를 함께 설명함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숫자·단위·평가 집합이 혼동되지 않도록 본문과 같은 정의를 사용함.</a:t>
            </a:r>
          </a:p>
        </p:txBody>
      </p:sp>
      <p:graphicFrame>
        <p:nvGraphicFramePr>
          <p:cNvPr id="17" name="Table 16"/>
          <p:cNvGraphicFramePr>
            <a:graphicFrameLocks noGrp="1"/>
          </p:cNvGraphicFramePr>
          <p:nvPr/>
        </p:nvGraphicFramePr>
        <p:xfrm>
          <a:off x="502920" y="2011680"/>
          <a:ext cx="8869679" cy="3822189"/>
        </p:xfrm>
        <a:graphic>
          <a:graphicData uri="http://schemas.openxmlformats.org/drawingml/2006/table">
            <a:tbl>
              <a:tblPr firstRow="1" bandRow="1">
                <a:tableStyleId>{5C22544A-7EE6-4342-B048-85BDC9FD1C3A}</a:tableStyleId>
              </a:tblPr>
              <a:tblGrid>
                <a:gridCol w="1828800"/>
                <a:gridCol w="3749039"/>
                <a:gridCol w="3291840"/>
              </a:tblGrid>
              <a:tr h="546027">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용어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주의사항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Kr / fc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공진 이득[Ω] / 대역 파라미터[Hz]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전체 전류제어 대역폭이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DOE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인자·수준의 모든27조합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27후보×9조건=243실행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주효과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다른 인자와 조건을 평균한 수준별 차이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이번에는 기술통계; p-value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교호작용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인자 효과가 다른 인자 수준에 의존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그래프선 교차만으로 판단하지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제곱합 기여도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후보 평균 반응변동의 요인별 분해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실물 고장원인 비율이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대응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같은 조건의 초기−선정 차이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집합 밖 제품 모집단 추론과 구분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docs/Glossary.md; src/model.py; specification.json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38/47</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05 / 시험·증거</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용어의 정의와 이번 과제의 적용 범위를 함께 설명함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숫자·단위·평가 집합이 혼동되지 않도록 본문과 같은 정의를 사용함.</a:t>
            </a:r>
          </a:p>
        </p:txBody>
      </p:sp>
      <p:graphicFrame>
        <p:nvGraphicFramePr>
          <p:cNvPr id="17" name="Table 16"/>
          <p:cNvGraphicFramePr>
            <a:graphicFrameLocks noGrp="1"/>
          </p:cNvGraphicFramePr>
          <p:nvPr/>
        </p:nvGraphicFramePr>
        <p:xfrm>
          <a:off x="502920" y="2011680"/>
          <a:ext cx="8869679" cy="3822189"/>
        </p:xfrm>
        <a:graphic>
          <a:graphicData uri="http://schemas.openxmlformats.org/drawingml/2006/table">
            <a:tbl>
              <a:tblPr firstRow="1" bandRow="1">
                <a:tableStyleId>{5C22544A-7EE6-4342-B048-85BDC9FD1C3A}</a:tableStyleId>
              </a:tblPr>
              <a:tblGrid>
                <a:gridCol w="1828800"/>
                <a:gridCol w="3749039"/>
                <a:gridCol w="3291840"/>
              </a:tblGrid>
              <a:tr h="546027">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용어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주의사항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운전조건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id/iq·전압·회로가정의 조합1개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실물 시료1대를 의미하지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해석 실행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조건1개와 제어설정1개의 계산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같은 조건의 전후 비교는2회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선정용 / 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47개 중9개 / 나머지38개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38개를 다시 더하지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시간 표본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파형 저장 시각의 전류값 하나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반복실험 또는 제품 표본 수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모델 보정 /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파라미터 맞춤 / 별도 근거와 대조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V7은 THD값 맞춤 보정을 안 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6027">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재현성 / 실물 타당성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동일계산 반복 / 실제 제품 대응</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자동검사 통과와 실물 검증은 다름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docs/Glossary.md; src/model.py; specification.json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39/47</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 제곱합 분해</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27개 후보 평균의 반응 변동을 분해함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3인자3수준의 모든 교호항을 포함하면 오차 자유도가 남지 않으므로 F·p를 계산하지 않음.</a:t>
            </a:r>
          </a:p>
        </p:txBody>
      </p:sp>
      <p:graphicFrame>
        <p:nvGraphicFramePr>
          <p:cNvPr id="17" name="Table 16"/>
          <p:cNvGraphicFramePr>
            <a:graphicFrameLocks noGrp="1"/>
          </p:cNvGraphicFramePr>
          <p:nvPr/>
        </p:nvGraphicFramePr>
        <p:xfrm>
          <a:off x="502920" y="2011680"/>
          <a:ext cx="8869680" cy="3456432"/>
        </p:xfrm>
        <a:graphic>
          <a:graphicData uri="http://schemas.openxmlformats.org/drawingml/2006/table">
            <a:tbl>
              <a:tblPr firstRow="1" bandRow="1">
                <a:tableStyleId>{5C22544A-7EE6-4342-B048-85BDC9FD1C3A}</a:tableStyleId>
              </a:tblPr>
              <a:tblGrid>
                <a:gridCol w="2286000"/>
                <a:gridCol w="1371600"/>
                <a:gridCol w="2560320"/>
                <a:gridCol w="2651760"/>
              </a:tblGrid>
              <a:tr h="384048">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자유도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제곱합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30" b="1">
                          <a:solidFill>
                            <a:srgbClr val="000000"/>
                          </a:solidFill>
                          <a:latin typeface="Malgun Gothic"/>
                          <a:ea typeface="Malgun Gothic"/>
                          <a:cs typeface="Malgun Gothic"/>
                        </a:rPr>
                        <a:t>기여도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1.005600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25.972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B</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0.001908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0.049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2.786536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71.969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A*B</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0.002012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0.052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A*C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0.072411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1.870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B*C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0.002264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0.058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A*B*C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0.001135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0.029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합계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3.871867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30" b="0">
                          <a:solidFill>
                            <a:srgbClr val="000000"/>
                          </a:solidFill>
                          <a:latin typeface="Malgun Gothic"/>
                          <a:ea typeface="Malgun Gothic"/>
                          <a:cs typeface="Malgun Gothic"/>
                        </a:rPr>
                        <a:t>100.000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742432"/>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00" b="0">
                <a:solidFill>
                  <a:srgbClr val="000000"/>
                </a:solidFill>
                <a:latin typeface="Malgun Gothic"/>
                <a:ea typeface="Malgun Gothic"/>
                <a:cs typeface="Malgun Gothic"/>
              </a:rPr>
              <a:t>A=Kr, B=fc, C=보상 차수. 이 비율은 선택한 설계격자의 변동이며 실제 제품 원인 비율이 아님.</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results/factorial_decomposition.csv; NIST §5.3.3.9</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40/47</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 제어식과 해석식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디지털 구현에 사용한 부호·시간축을 정리함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기본파60 Hz와 Ts=16 μs를 구분하고, 피크값 dq의 변환 및 보상 계수를 명시함.</a:t>
            </a:r>
          </a:p>
        </p:txBody>
      </p:sp>
      <p:sp>
        <p:nvSpPr>
          <p:cNvPr id="17" name="TextBox 16"/>
          <p:cNvSpPr txBox="1"/>
          <p:nvPr/>
        </p:nvSpPr>
        <p:spPr>
          <a:xfrm>
            <a:off x="502920" y="2002536"/>
            <a:ext cx="8869680" cy="120700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600" b="1">
                <a:solidFill>
                  <a:srgbClr val="000000"/>
                </a:solidFill>
                <a:latin typeface="Malgun Gothic"/>
                <a:ea typeface="Malgun Gothic"/>
                <a:cs typeface="Malgun Gothic"/>
              </a:rPr>
              <a:t>id = iα cosθ + iβ sinθ;  iq = −iα sinθ + iβ cosθ</a:t>
            </a:r>
          </a:p>
          <a:p>
            <a:pPr algn="l">
              <a:lnSpc>
                <a:spcPct val="108000"/>
              </a:lnSpc>
              <a:spcBef>
                <a:spcPts val="0"/>
              </a:spcBef>
              <a:spcAft>
                <a:spcPts val="200"/>
              </a:spcAft>
            </a:pPr>
            <a:r>
              <a:rPr sz="1600" b="1">
                <a:solidFill>
                  <a:srgbClr val="000000"/>
                </a:solidFill>
                <a:latin typeface="Malgun Gothic"/>
                <a:ea typeface="Malgun Gothic"/>
                <a:cs typeface="Malgun Gothic"/>
              </a:rPr>
              <a:t>iα = id cosθ − iq sinθ</a:t>
            </a:r>
          </a:p>
          <a:p>
            <a:pPr algn="l">
              <a:lnSpc>
                <a:spcPct val="108000"/>
              </a:lnSpc>
              <a:spcBef>
                <a:spcPts val="0"/>
              </a:spcBef>
              <a:spcAft>
                <a:spcPts val="200"/>
              </a:spcAft>
            </a:pPr>
            <a:r>
              <a:rPr sz="1600" b="1">
                <a:solidFill>
                  <a:srgbClr val="000000"/>
                </a:solidFill>
                <a:latin typeface="Malgun Gothic"/>
                <a:ea typeface="Malgun Gothic"/>
                <a:cs typeface="Malgun Gothic"/>
              </a:rPr>
              <a:t>P₁ = V₁id/√2;  Q₁ = −V₁iq/√2</a:t>
            </a:r>
          </a:p>
        </p:txBody>
      </p:sp>
      <p:sp>
        <p:nvSpPr>
          <p:cNvPr id="18" name="TextBox 17"/>
          <p:cNvSpPr txBox="1"/>
          <p:nvPr/>
        </p:nvSpPr>
        <p:spPr>
          <a:xfrm>
            <a:off x="502920" y="3593592"/>
            <a:ext cx="8869680" cy="135331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80" b="0">
                <a:solidFill>
                  <a:srgbClr val="000000"/>
                </a:solidFill>
                <a:latin typeface="Malgun Gothic"/>
                <a:ea typeface="Malgun Gothic"/>
                <a:cs typeface="Malgun Gothic"/>
              </a:rPr>
              <a:t>ωh=2π·60·h, ωc=2πfc, K=ωh/tan(ωhTs/2)</a:t>
            </a:r>
          </a:p>
          <a:p>
            <a:pPr algn="l">
              <a:lnSpc>
                <a:spcPct val="108000"/>
              </a:lnSpc>
              <a:spcBef>
                <a:spcPts val="0"/>
              </a:spcBef>
              <a:spcAft>
                <a:spcPts val="200"/>
              </a:spcAft>
            </a:pPr>
            <a:r>
              <a:rPr sz="1380" b="0">
                <a:solidFill>
                  <a:srgbClr val="000000"/>
                </a:solidFill>
                <a:latin typeface="Malgun Gothic"/>
                <a:ea typeface="Malgun Gothic"/>
                <a:cs typeface="Malgun Gothic"/>
              </a:rPr>
              <a:t>D=K²+2ωcK+ωh²</a:t>
            </a:r>
          </a:p>
          <a:p>
            <a:pPr algn="l">
              <a:lnSpc>
                <a:spcPct val="108000"/>
              </a:lnSpc>
              <a:spcBef>
                <a:spcPts val="0"/>
              </a:spcBef>
              <a:spcAft>
                <a:spcPts val="200"/>
              </a:spcAft>
            </a:pPr>
            <a:r>
              <a:rPr sz="1380" b="0">
                <a:solidFill>
                  <a:srgbClr val="000000"/>
                </a:solidFill>
                <a:latin typeface="Malgun Gothic"/>
                <a:ea typeface="Malgun Gothic"/>
                <a:cs typeface="Malgun Gothic"/>
              </a:rPr>
              <a:t>b₀=2KrωcK/D, a₁=2(ωh²−K²)/D, a₂=(K²−2ωcK+ωh²)/D</a:t>
            </a:r>
          </a:p>
          <a:p>
            <a:pPr algn="l">
              <a:lnSpc>
                <a:spcPct val="108000"/>
              </a:lnSpc>
              <a:spcBef>
                <a:spcPts val="0"/>
              </a:spcBef>
              <a:spcAft>
                <a:spcPts val="200"/>
              </a:spcAft>
            </a:pPr>
            <a:r>
              <a:rPr sz="1380" b="0">
                <a:solidFill>
                  <a:srgbClr val="000000"/>
                </a:solidFill>
                <a:latin typeface="Malgun Gothic"/>
                <a:ea typeface="Malgun Gothic"/>
                <a:cs typeface="Malgun Gothic"/>
              </a:rPr>
              <a:t>y[n]=b₀(e[n]−e[n−2])−a₁y[n−1]−a₂y[n−2]</a:t>
            </a:r>
          </a:p>
        </p:txBody>
      </p:sp>
      <p:sp>
        <p:nvSpPr>
          <p:cNvPr id="19" name="TextBox 18"/>
          <p:cNvSpPr txBox="1"/>
          <p:nvPr/>
        </p:nvSpPr>
        <p:spPr>
          <a:xfrm>
            <a:off x="502920" y="5632704"/>
            <a:ext cx="8869680" cy="5486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00" b="0">
                <a:solidFill>
                  <a:srgbClr val="000000"/>
                </a:solidFill>
                <a:latin typeface="Malgun Gothic"/>
                <a:ea typeface="Malgun Gothic"/>
                <a:cs typeface="Malgun Gothic"/>
              </a:rPr>
              <a:t>±30 V 공진 출력 제한, ±150 V 적분상태 제한은 모델 가정이며 발생 여부를 별도 기록함.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src/model.py coefficients(), run_core(); Imperix TN110</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41/47</a:t>
            </a:r>
          </a:p>
        </p:txBody>
      </p:sp>
      <p:sp>
        <p:nvSpPr>
          <p:cNvPr id="23" name="TextBox 22">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4" name="TextBox 23">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5" name="TextBox 24">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 DOE 전체 후보 1~14</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선정 외 후보를 포함한 모든 반응값을 보존함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Kr[Ω], fc[Hz], THD[%]. 후보1개는 서로 다른9개 운전조건을 요약한 결과임.</a:t>
            </a:r>
          </a:p>
        </p:txBody>
      </p:sp>
      <p:graphicFrame>
        <p:nvGraphicFramePr>
          <p:cNvPr id="17" name="Table 16"/>
          <p:cNvGraphicFramePr>
            <a:graphicFrameLocks noGrp="1"/>
          </p:cNvGraphicFramePr>
          <p:nvPr/>
        </p:nvGraphicFramePr>
        <p:xfrm>
          <a:off x="502920" y="2011680"/>
          <a:ext cx="8869680" cy="4014210"/>
        </p:xfrm>
        <a:graphic>
          <a:graphicData uri="http://schemas.openxmlformats.org/drawingml/2006/table">
            <a:tbl>
              <a:tblPr firstRow="1" bandRow="1">
                <a:tableStyleId>{5C22544A-7EE6-4342-B048-85BDC9FD1C3A}</a:tableStyleId>
              </a:tblPr>
              <a:tblGrid>
                <a:gridCol w="1005840"/>
                <a:gridCol w="822960"/>
                <a:gridCol w="822960"/>
                <a:gridCol w="1554480"/>
                <a:gridCol w="1508760"/>
                <a:gridCol w="1581912"/>
                <a:gridCol w="1572768"/>
              </a:tblGrid>
              <a:tr h="267614">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후보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Kr</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fc</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차수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종합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최대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평균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5.508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2.755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4.707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2.338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4.361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2.153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5.520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2.765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4.720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2.348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4.370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2.161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5.513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2.764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4.721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2.355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4.367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2.168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5.085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2.546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4.005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1.987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3.466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1.705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5.103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2.559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67614">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4.044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2.013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results/candidates.csv; results/doe.csv</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42/47</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 DOE 전체 후보 15~27</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선정 외 후보를 포함한 모든 반응값을 보존함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Kr[Ω], fc[Hz], THD[%]. 후보1개는 서로 다른9개 운전조건을 요약한 결과임.</a:t>
            </a:r>
          </a:p>
        </p:txBody>
      </p:sp>
      <p:graphicFrame>
        <p:nvGraphicFramePr>
          <p:cNvPr id="17" name="Table 16"/>
          <p:cNvGraphicFramePr>
            <a:graphicFrameLocks noGrp="1"/>
          </p:cNvGraphicFramePr>
          <p:nvPr/>
        </p:nvGraphicFramePr>
        <p:xfrm>
          <a:off x="502920" y="2011680"/>
          <a:ext cx="8869680" cy="4014206"/>
        </p:xfrm>
        <a:graphic>
          <a:graphicData uri="http://schemas.openxmlformats.org/drawingml/2006/table">
            <a:tbl>
              <a:tblPr firstRow="1" bandRow="1">
                <a:tableStyleId>{5C22544A-7EE6-4342-B048-85BDC9FD1C3A}</a:tableStyleId>
              </a:tblPr>
              <a:tblGrid>
                <a:gridCol w="1005840"/>
                <a:gridCol w="822960"/>
                <a:gridCol w="822960"/>
                <a:gridCol w="1554480"/>
                <a:gridCol w="1508760"/>
                <a:gridCol w="1581912"/>
                <a:gridCol w="1572768"/>
              </a:tblGrid>
              <a:tr h="286729">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후보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Kr</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fc</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차수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종합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최대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60" b="1">
                          <a:solidFill>
                            <a:srgbClr val="000000"/>
                          </a:solidFill>
                          <a:latin typeface="Malgun Gothic"/>
                          <a:ea typeface="Malgun Gothic"/>
                          <a:cs typeface="Malgun Gothic"/>
                        </a:rPr>
                        <a:t>평균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1.732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5.039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2.532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4.033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2.009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3.514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1.746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4.963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2.480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3.791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1.867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3.145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1.536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4.971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2.490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3.838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1.898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3.218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1.580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4.816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2.415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3.736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1.852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86729">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C27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3.185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60" b="0">
                          <a:solidFill>
                            <a:srgbClr val="000000"/>
                          </a:solidFill>
                          <a:latin typeface="Malgun Gothic"/>
                          <a:ea typeface="Malgun Gothic"/>
                          <a:cs typeface="Malgun Gothic"/>
                        </a:rPr>
                        <a:t>1.571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results/candidates.csv; results/doe.csv</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43/47</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 기준 운전조건 ID 1~24</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240 V의 모든 dq 입력을 Peak A로 표시함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9개 선정용과38개 미사용 조건을 구분함. 반올림 전 입력값은 CSV에 보존함.</a:t>
            </a:r>
          </a:p>
        </p:txBody>
      </p:sp>
      <p:graphicFrame>
        <p:nvGraphicFramePr>
          <p:cNvPr id="17" name="Table 16"/>
          <p:cNvGraphicFramePr>
            <a:graphicFrameLocks noGrp="1"/>
          </p:cNvGraphicFramePr>
          <p:nvPr/>
        </p:nvGraphicFramePr>
        <p:xfrm>
          <a:off x="502920" y="2011680"/>
          <a:ext cx="8869676" cy="3867903"/>
        </p:xfrm>
        <a:graphic>
          <a:graphicData uri="http://schemas.openxmlformats.org/drawingml/2006/table">
            <a:tbl>
              <a:tblPr firstRow="1" bandRow="1">
                <a:tableStyleId>{5C22544A-7EE6-4342-B048-85BDC9FD1C3A}</a:tableStyleId>
              </a:tblPr>
              <a:tblGrid>
                <a:gridCol w="1037941"/>
                <a:gridCol w="1085120"/>
                <a:gridCol w="1085120"/>
                <a:gridCol w="1226657"/>
                <a:gridCol w="1037941"/>
                <a:gridCol w="1085120"/>
                <a:gridCol w="1085120"/>
                <a:gridCol w="1226657"/>
              </a:tblGrid>
              <a:tr h="297531">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iq*</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용도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iq*</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용도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-67.88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N006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N008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67.88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N013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N014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선정용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선정용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선정용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N017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N021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선정용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N023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선정용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results/main_conditions.csv; qa/frozen_protocol.json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44/47</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 기준 운전조건 ID 25~47</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240 V의 모든 dq 입력을 Peak A로 표시함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9개 선정용과38개 미사용 조건을 구분함. 반올림 전 입력값은 CSV에 보존함.</a:t>
            </a:r>
          </a:p>
        </p:txBody>
      </p:sp>
      <p:graphicFrame>
        <p:nvGraphicFramePr>
          <p:cNvPr id="17" name="Table 16"/>
          <p:cNvGraphicFramePr>
            <a:graphicFrameLocks noGrp="1"/>
          </p:cNvGraphicFramePr>
          <p:nvPr/>
        </p:nvGraphicFramePr>
        <p:xfrm>
          <a:off x="502920" y="2011680"/>
          <a:ext cx="8869676" cy="3867903"/>
        </p:xfrm>
        <a:graphic>
          <a:graphicData uri="http://schemas.openxmlformats.org/drawingml/2006/table">
            <a:tbl>
              <a:tblPr firstRow="1" bandRow="1">
                <a:tableStyleId>{5C22544A-7EE6-4342-B048-85BDC9FD1C3A}</a:tableStyleId>
              </a:tblPr>
              <a:tblGrid>
                <a:gridCol w="1037941"/>
                <a:gridCol w="1085120"/>
                <a:gridCol w="1085120"/>
                <a:gridCol w="1226657"/>
                <a:gridCol w="1037941"/>
                <a:gridCol w="1085120"/>
                <a:gridCol w="1085120"/>
                <a:gridCol w="1226657"/>
              </a:tblGrid>
              <a:tr h="297531">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iq*</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용도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iq*</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45" b="1">
                          <a:solidFill>
                            <a:srgbClr val="000000"/>
                          </a:solidFill>
                          <a:latin typeface="Malgun Gothic"/>
                          <a:ea typeface="Malgun Gothic"/>
                          <a:cs typeface="Malgun Gothic"/>
                        </a:rPr>
                        <a:t>용도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선정용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N028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N029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선정용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N033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선정용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N034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N036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선정용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N037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N039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N040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N041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N042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N043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5.66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N044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11.31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N045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22.63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N046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45.25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7531">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N047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67.88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미사용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45" b="0">
                          <a:solidFill>
                            <a:srgbClr val="000000"/>
                          </a:solidFill>
                          <a:latin typeface="Malgun Gothic"/>
                          <a:ea typeface="Malgun Gothic"/>
                          <a:cs typeface="Malgun Gothic"/>
                        </a:rPr>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results/main_conditions.csv; qa/frozen_protocol.json</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45/47</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 대표 파형과 차수별 변화</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7"/>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8"/>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9"/>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10"/>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1"/>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표시 파형과 계산에 사용한 원시 데이터를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N015: id*=5.657 Apeak, iq*=0, 240 V / THD 7.787% → 3.145%.</a:t>
            </a:r>
          </a:p>
        </p:txBody>
      </p:sp>
      <p:graphicFrame>
        <p:nvGraphicFramePr>
          <p:cNvPr id="17" name="Chart 16"/>
          <p:cNvGraphicFramePr>
            <a:graphicFrameLocks noGrp="1"/>
          </p:cNvGraphicFramePr>
          <p:nvPr/>
        </p:nvGraphicFramePr>
        <p:xfrm>
          <a:off x="502920" y="2011680"/>
          <a:ext cx="5248656" cy="3063240"/>
        </p:xfrm>
        <a:graphic>
          <a:graphicData uri="http://schemas.openxmlformats.org/drawingml/2006/chart">
            <c:chart xmlns:c="http://schemas.openxmlformats.org/drawingml/2006/chart" r:id="rId2"/>
          </a:graphicData>
        </a:graphic>
      </p:graphicFrame>
      <p:graphicFrame>
        <p:nvGraphicFramePr>
          <p:cNvPr id="18" name="Table 17"/>
          <p:cNvGraphicFramePr>
            <a:graphicFrameLocks noGrp="1"/>
          </p:cNvGraphicFramePr>
          <p:nvPr/>
        </p:nvGraphicFramePr>
        <p:xfrm>
          <a:off x="6007608" y="2258568"/>
          <a:ext cx="3319270" cy="2523738"/>
        </p:xfrm>
        <a:graphic>
          <a:graphicData uri="http://schemas.openxmlformats.org/drawingml/2006/table">
            <a:tbl>
              <a:tblPr firstRow="1" bandRow="1">
                <a:tableStyleId>{5C22544A-7EE6-4342-B048-85BDC9FD1C3A}</a:tableStyleId>
              </a:tblPr>
              <a:tblGrid>
                <a:gridCol w="790302"/>
                <a:gridCol w="1264484"/>
                <a:gridCol w="1264484"/>
              </a:tblGrid>
              <a:tr h="420623">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차수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초기 [Arms]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선정 [Arms]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20623">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0.2592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0.0563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0623">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0.1365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0.0328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0623">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0.0815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0.0231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0623">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0.0494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0.0745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0623">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0.0296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0.0505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502920" y="5422392"/>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70" b="0">
                <a:solidFill>
                  <a:srgbClr val="000000"/>
                </a:solidFill>
                <a:latin typeface="Malgun Gothic"/>
                <a:ea typeface="Malgun Gothic"/>
                <a:cs typeface="Malgun Gothic"/>
              </a:rPr>
              <a:t>가로축: 시간[ms] / 세로축: 전류[A]. 표시만301개로 줄이고 지표는 전체 원자료로 계산함.</a:t>
            </a:r>
          </a:p>
        </p:txBody>
      </p:sp>
      <p:sp>
        <p:nvSpPr>
          <p:cNvPr id="20" name="TextBox 19"/>
          <p:cNvSpPr txBox="1"/>
          <p:nvPr/>
        </p:nvSpPr>
        <p:spPr>
          <a:xfrm>
            <a:off x="502920" y="5879592"/>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70" b="0">
                <a:solidFill>
                  <a:srgbClr val="C00000"/>
                </a:solidFill>
                <a:latin typeface="Malgun Gothic"/>
                <a:ea typeface="Malgun Gothic"/>
                <a:cs typeface="Malgun Gothic"/>
              </a:rPr>
              <a:t>증가한 차수: 9, 11차. THD 감소가 모든 차수의 개선을 뜻하지는 않음.</a:t>
            </a:r>
          </a:p>
        </p:txBody>
      </p:sp>
      <p:cxnSp>
        <p:nvCxnSpPr>
          <p:cNvPr id="21" name="Connector 20"/>
          <p:cNvCxnSpPr/>
          <p:nvPr/>
        </p:nvCxnSpPr>
        <p:spPr>
          <a:xfrm>
            <a:off x="365760" y="6428232"/>
            <a:ext cx="9189720" cy="0"/>
          </a:xfrm>
          <a:prstGeom prst="line">
            <a:avLst/>
          </a:prstGeom>
          <a:ln w="5715">
            <a:solidFill>
              <a:srgbClr val="000000"/>
            </a:solidFill>
          </a:ln>
          <a:effectLst/>
        </p:spPr>
      </p:cxnSp>
      <p:sp>
        <p:nvSpPr>
          <p:cNvPr id="22" name="TextBox 21"/>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waveforms/*N015*.npz; results/baseline.csv; results/improved.csv</a:t>
            </a:r>
          </a:p>
        </p:txBody>
      </p:sp>
      <p:sp>
        <p:nvSpPr>
          <p:cNvPr id="23" name="TextBox 22"/>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46/47</a:t>
            </a:r>
          </a:p>
        </p:txBody>
      </p:sp>
      <p:sp>
        <p:nvSpPr>
          <p:cNvPr id="24" name="TextBox 23">
            <a:hlinkClick action="ppaction://hlinksldjump" r:id="rId4"/>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5" name="TextBox 24">
            <a:hlinkClick action="ppaction://hlinksldjump" r:id="rId5"/>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6" name="TextBox 25">
            <a:hlinkClick action="ppaction://hlinksldjump" r:id="rId6"/>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 데이터 추적 및 재현</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사양과 실행 결과의 연결을 파일 단위로 유지함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공개본은 수치모델·코드·데이터·방법 근거로 구성하며 사내 절차자료를 포함하지 않음.</a:t>
            </a:r>
          </a:p>
        </p:txBody>
      </p:sp>
      <p:graphicFrame>
        <p:nvGraphicFramePr>
          <p:cNvPr id="17" name="Table 16"/>
          <p:cNvGraphicFramePr>
            <a:graphicFrameLocks noGrp="1"/>
          </p:cNvGraphicFramePr>
          <p:nvPr/>
        </p:nvGraphicFramePr>
        <p:xfrm>
          <a:off x="502920" y="2011680"/>
          <a:ext cx="8869679" cy="3264408"/>
        </p:xfrm>
        <a:graphic>
          <a:graphicData uri="http://schemas.openxmlformats.org/drawingml/2006/table">
            <a:tbl>
              <a:tblPr firstRow="1" bandRow="1">
                <a:tableStyleId>{5C22544A-7EE6-4342-B048-85BDC9FD1C3A}</a:tableStyleId>
              </a:tblPr>
              <a:tblGrid>
                <a:gridCol w="3474719"/>
                <a:gridCol w="5394960"/>
              </a:tblGrid>
              <a:tr h="466344">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파일</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확인 내용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specification.json / source_lineage.json</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확정 사양·가정·잠정 기준 / 이전 구현과 변경 관계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src/model.py / study.py</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Peak dq·1:1 클록·스위칭 계산·후보 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results/*.csv / selected_control.json</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모든 반응·미달·선정 결과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waveforms/*.npz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전류·제어·PWM 로그·metadata·해시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qa/*.json / *.csv</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사양·원자료 재계산·FFT·시간축·재현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sources/references.md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TI ePWM, Imperix 공진제어, NIST 실험계획</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502920" y="5742432"/>
            <a:ext cx="88696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40" b="0">
                <a:solidFill>
                  <a:srgbClr val="000000"/>
                </a:solidFill>
                <a:latin typeface="Malgun Gothic"/>
                <a:ea typeface="Malgun Gothic"/>
                <a:cs typeface="Malgun Gothic"/>
              </a:rPr>
              <a:t>새 출력폴더에서 test_model.py → study.py → analyze.py → audit_v7.py → make_report.py</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README.md; sources/references.md; qa/frozen_protocol.json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47/47</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7쪽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35쪽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23쪽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11.52 kVA 북미 V2G / 240 Vac 48 Arms / V7</dc:title>
  <dc:subject>Six Sigma BB / Report V7, verified terminology and fresh V7 switching data</dc:subject>
  <dc:creator>SSBB numerical study</dc:creator>
  <cp:keywords>DMAIC,THD,V2G,numerical simulation</cp:keywords>
  <dc:description>Source-grounded presentation. Not hardware validation or BB approval.</dc:description>
  <cp:lastModifiedBy>Steve Canny</cp:lastModifiedBy>
  <cp:revision>1</cp:revision>
  <dcterms:created xsi:type="dcterms:W3CDTF">2013-01-27T09:14:16Z</dcterms:created>
  <dcterms:modified xsi:type="dcterms:W3CDTF">2013-01-27T09:15:58Z</dcterms:modified>
  <cp:category/>
</cp:coreProperties>
</file>